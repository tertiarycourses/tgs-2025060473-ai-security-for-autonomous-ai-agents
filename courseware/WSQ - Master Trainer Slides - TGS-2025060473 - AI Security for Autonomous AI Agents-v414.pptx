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0"/>
  </p:notesMasterIdLst>
  <p:sldIdLst>
    <p:sldId id="256" r:id="rId2"/>
    <p:sldId id="257" r:id="rId3"/>
    <p:sldId id="258" r:id="rId4"/>
    <p:sldId id="259" r:id="rId5"/>
    <p:sldId id="260" r:id="rId6"/>
    <p:sldId id="261" r:id="rId7"/>
    <p:sldId id="262" r:id="rId8"/>
    <p:sldId id="263" r:id="rId9"/>
    <p:sldId id="264" r:id="rId10"/>
    <p:sldId id="265" r:id="rId11"/>
    <p:sldId id="429" r:id="rId175"/>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421" r:id="rId117"/>
    <p:sldId id="422" r:id="rId118"/>
    <p:sldId id="423" r:id="rId119"/>
    <p:sldId id="424" r:id="rId120"/>
    <p:sldId id="425" r:id="rId121"/>
    <p:sldId id="374" r:id="rId122"/>
    <p:sldId id="375" r:id="rId123"/>
    <p:sldId id="426" r:id="rId124"/>
    <p:sldId id="427" r:id="rId125"/>
    <p:sldId id="428"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5" r:id="rId144"/>
    <p:sldId id="394"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1" r:id="rId160"/>
    <p:sldId id="412" r:id="rId161"/>
    <p:sldId id="413" r:id="rId162"/>
    <p:sldId id="414" r:id="rId163"/>
    <p:sldId id="415" r:id="rId164"/>
    <p:sldId id="416" r:id="rId165"/>
    <p:sldId id="417" r:id="rId166"/>
    <p:sldId id="418" r:id="rId167"/>
    <p:sldId id="419" r:id="rId168"/>
    <p:sldId id="420" r:id="rId16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35"/>
  </p:normalViewPr>
  <p:slideViewPr>
    <p:cSldViewPr snapToGrid="0" snapToObjects="1">
      <p:cViewPr varScale="1">
        <p:scale>
          <a:sx n="115" d="100"/>
          <a:sy n="115" d="100"/>
        </p:scale>
        <p:origin x="66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notesMaster" Target="notesMasters/notesMaster1.xml"/><Relationship Id="rId171" Type="http://schemas.openxmlformats.org/officeDocument/2006/relationships/presProps" Target="presProps.xml"/><Relationship Id="rId172" Type="http://schemas.openxmlformats.org/officeDocument/2006/relationships/viewProps" Target="viewProps.xml"/><Relationship Id="rId173" Type="http://schemas.openxmlformats.org/officeDocument/2006/relationships/theme" Target="theme/theme1.xml"/><Relationship Id="rId174" Type="http://schemas.openxmlformats.org/officeDocument/2006/relationships/tableStyles" Target="tableStyles.xml"/><Relationship Id="rId175" Type="http://schemas.openxmlformats.org/officeDocument/2006/relationships/slide" Target="slides/slide1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E64CDE-9092-7545-8D98-9BA1398C9397}" type="datetimeFigureOut">
              <a:rPr lang="en-US" smtClean="0"/>
              <a:t>8/26/26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41E268-4526-DD4D-8958-B557E477CC08}" type="slidenum">
              <a:rPr lang="en-US" smtClean="0"/>
              <a:t>‹#›</a:t>
            </a:fld>
            <a:endParaRPr lang="en-US"/>
          </a:p>
        </p:txBody>
      </p:sp>
    </p:spTree>
    <p:extLst>
      <p:ext uri="{BB962C8B-B14F-4D97-AF65-F5344CB8AC3E}">
        <p14:creationId xmlns:p14="http://schemas.microsoft.com/office/powerpoint/2010/main" val="4080471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0:35-1:25
This is not a future prediction. In roughly three months, healthcare professionals created more than 12,000 agents. The official speech is explicit: professionals build, deploy and manage them, and the doctor still owns the clinical decision. That is job redesign in action.</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3800897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1:25-2:25
WEF does not say every job becomes an agent manager. It says 86 percent of employers expect AI transformation, 77 percent plan to upskill, while 41 percent also anticipate reductions. The opportunity is to add agent direction, checking and governance to existing roles before ambiguity turns into resistance or risk.</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2:25-3:15
This is our operating model. Agents already contribute to websites and software, and we help clients use them in similar workflows. The repeatable pattern is not hands-off automation. It is human framing, agent execution, human challenge and named approval.</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3:15-4:10
The hidden cost is adoption debt when roles lag behind deployment. If we answer fear with a product demo or say "just upskill", we make it worse. The objection may sound technical, but the deeper questions are: am I still valued, what do I own, can I stop the system, and will I be blamed? Treat resistance as design input.</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4:10-5:10
Our solution is a Human Owner role, not a vague instruction to supervise AI. The person sets intent, challenges evidence, approves consequential actions, handles exceptions and improves the workflow. That is a clear job proposition: higher-value judgement with visible authority.</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5:10-6:10
The intervention is a structured redesign conversation. Validate the emotion, explore reality and strengths, co-create specific decision rights, and finish with a safe experiment. Empathy is how we obtain honest design input from the person closest to the work.</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6:10-7:20
This is the practical product: six scenarios spanning fear, anger, anxiety, scepticism, accountability and ethical purpose. In Slide Show mode, click the large gold launch button to open the live simulator, or invite the audience to scan the QR code. Demo one exchange and show that the staff member opens up when the manager combines empathy with concrete ownership. No-key mode makes the practice reliable in workshops.</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7:20-8:35
Sarah begins with the identity question: what do you still need me for? The turning point is not reassurance. It is acknowledging the rushed rollout, drawing out her market strengths and co-creating a more valuable role where she directs, challenges and approves the agent.</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972787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chatgp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www.anthropic.com/engineering/effective-context-engineering-for-ai-agents" TargetMode="External"/><Relationship Id="rId4" Type="http://schemas.openxmlformats.org/officeDocument/2006/relationships/hyperlink" Target="https://x.com/karpathy/status/193790220576560762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code.claude.com/docs/en/how-claude-code-works" TargetMode="External"/><Relationship Id="rId4" Type="http://schemas.openxmlformats.org/officeDocument/2006/relationships/hyperlink" Target="https://openai.com/index/harness-engineer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wikipedia.org/wiki/OpenClaw" TargetMode="External"/><Relationship Id="rId3" Type="http://schemas.openxmlformats.org/officeDocument/2006/relationships/hyperlink" Target="https://hermes-agent.nousresearch.com/doc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petapixel.com/2024/07/16/fashion-brand-mango-launches-photorealistic-ai-generated-campaign/" TargetMode="External"/><Relationship Id="rId4" Type="http://schemas.openxmlformats.org/officeDocument/2006/relationships/hyperlink" Target="https://www.processexcellencenetwork.com/ai/news/hm-debuts-ai-generated-digital-twins-of-fashion-models" TargetMode="External"/><Relationship Id="rId5" Type="http://schemas.openxmlformats.org/officeDocument/2006/relationships/hyperlink" Target="https://abcnews.com/GMA/Style/controversy-stirs-ai-generated-models-new-guess-ads/story?id=124271323" TargetMode="External"/></Relationships>
</file>

<file path=ppt/slides/_rels/slide29.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7.xml"/><Relationship Id="rId4" Type="http://schemas.openxmlformats.org/officeDocument/2006/relationships/image" Target="../media/image7.jpg"/></Relationships>
</file>

<file path=ppt/slides/_rels/slide30.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openxmlformats.org/officeDocument/2006/relationships/slideLayout" Target="../slideLayouts/slideLayout7.xml"/><Relationship Id="rId4" Type="http://schemas.openxmlformats.org/officeDocument/2006/relationships/image" Target="../media/image8.jpg"/></Relationships>
</file>

<file path=ppt/slides/_rels/slide31.xml.rels><?xml version='1.0' encoding='UTF-8' standalone='yes'?>
<Relationships xmlns="http://schemas.openxmlformats.org/package/2006/relationships"><Relationship Id="rId1" Type="http://schemas.microsoft.com/office/2007/relationships/media" Target="../media/media3.mp4"/><Relationship Id="rId2" Type="http://schemas.openxmlformats.org/officeDocument/2006/relationships/video" Target="../media/media3.mp4"/><Relationship Id="rId3" Type="http://schemas.openxmlformats.org/officeDocument/2006/relationships/slideLayout" Target="../slideLayouts/slideLayout7.xml"/><Relationship Id="rId4" Type="http://schemas.openxmlformats.org/officeDocument/2006/relationships/image" Target="../media/image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larna.com/international/press/klarna-ai-assistant-handles-two-thirds-of-customer-service-chats-in-its-first-month/" TargetMode="External"/><Relationship Id="rId3" Type="http://schemas.openxmlformats.org/officeDocument/2006/relationships/hyperlink" Target="https://www.entrepreneur.com/business-news/klarna-ceo-reverses-course-by-hiring-more-humans-not-ai/491396"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nyk.io/blog/clawhub-malicious-google-skill-openclaw-malware/"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www.anthropic.com/engineering/built-multi-agent-research-system"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anlii.org/en/bc/bccrt/doc/2024/2024bccrt149/2024bccrt149.html"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hannelnewsasia.com/singapore/gen-ai-ads-singapore-marketing-backfire-6323236"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straitstimes.com/tech/new-platform-to-create-ai-agents-available-to-all-public-healthcare-professionals" TargetMode="External"/><Relationship Id="rId4" Type="http://schemas.openxmlformats.org/officeDocument/2006/relationships/image" Target="../media/image20.png"/><Relationship Id="rId5" Type="http://schemas.openxmlformats.org/officeDocument/2006/relationships/hyperlink" Target="https://www.moh.gov.sg/newsroom/speech-by-mr-tan-kiat-how--senior-minister-of-state--ministry-of-digital-development-and-information---ministry-of-health--at-himss26-apac-health-conference-and-exhibition--24-august-2026/"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s://www.weforum.org/publications/the-future-of-jobs-report-2025/in-full/4-workforce-strategies/"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hyperlink" Target="https://www.tertiaryinfotech.com/" TargetMode="Externa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s://alfredang.github.io/AICoahcing/"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alfredang.github.io/AICoahcing/"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www.performanceconsultants.com/grow-model" TargetMode="Externa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hyperlink" Target="https://alfredang.github.io/AICoahcing/" TargetMode="External"/><Relationship Id="rId4" Type="http://schemas.openxmlformats.org/officeDocument/2006/relationships/image" Target="../media/image2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s://alfredang.github.io/AICoahcing/"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www.cpaaustralia.com.au/about-cpa-australia/media/media-releases/singapore-businesses-lead-in-ai"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plit.com/blog/doubling-down-on-our-commitment-to-secure-vibe-coding"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ricentis.com/blog/qa-trends-ai-agentic-testing" TargetMode="Externa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paaustralia.com.au/about-cpa-australia/media/media-releases/singapore-businesses-lead-in-ai" TargetMode="External"/><Relationship Id="rId3" Type="http://schemas.openxmlformats.org/officeDocument/2006/relationships/hyperlink" Target="https://www.channelnewsasia.com/singapore/gen-ai-ads-singapore-marketing-backfire-6323236" TargetMode="External"/><Relationship Id="rId4" Type="http://schemas.openxmlformats.org/officeDocument/2006/relationships/hyperlink" Target="https://www.canlii.org/en/bc/bccrt/doc/2024/2024bccrt149/2024bccrt149.html" TargetMode="Externa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3.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hero-ai-agent-security-v2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5897880" cy="68580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1463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711696"/>
            <a:ext cx="12191695" cy="14630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tertiary-infotech-logo.png"/>
          <p:cNvPicPr>
            <a:picLocks noChangeAspect="1"/>
          </p:cNvPicPr>
          <p:nvPr/>
        </p:nvPicPr>
        <p:blipFill>
          <a:blip r:embed="rId3"/>
          <a:stretch>
            <a:fillRect/>
          </a:stretch>
        </p:blipFill>
        <p:spPr>
          <a:xfrm>
            <a:off x="749808" y="566928"/>
            <a:ext cx="713232" cy="713232"/>
          </a:xfrm>
          <a:prstGeom prst="rect">
            <a:avLst/>
          </a:prstGeom>
        </p:spPr>
      </p:pic>
      <p:sp>
        <p:nvSpPr>
          <p:cNvPr id="8" name="Rectangle 7"/>
          <p:cNvSpPr/>
          <p:nvPr/>
        </p:nvSpPr>
        <p:spPr>
          <a:xfrm>
            <a:off x="9802368" y="566928"/>
            <a:ext cx="1691640" cy="85953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02368" y="667512"/>
            <a:ext cx="1691640" cy="420624"/>
          </a:xfrm>
          <a:prstGeom prst="rect">
            <a:avLst/>
          </a:prstGeom>
          <a:noFill/>
        </p:spPr>
        <p:txBody>
          <a:bodyPr wrap="square" anchor="t">
            <a:spAutoFit/>
          </a:bodyPr>
          <a:lstStyle/>
          <a:p>
            <a:pPr algn="ctr">
              <a:spcAft>
                <a:spcPts val="400"/>
              </a:spcAft>
            </a:pPr>
            <a:r>
              <a:rPr sz="2200" b="1">
                <a:solidFill>
                  <a:srgbClr val="FFFFFF"/>
                </a:solidFill>
                <a:latin typeface="Arial"/>
              </a:rPr>
              <a:t>WSQ</a:t>
            </a:r>
          </a:p>
        </p:txBody>
      </p:sp>
      <p:sp>
        <p:nvSpPr>
          <p:cNvPr id="10" name="TextBox 9"/>
          <p:cNvSpPr txBox="1"/>
          <p:nvPr/>
        </p:nvSpPr>
        <p:spPr>
          <a:xfrm>
            <a:off x="9802368" y="1078992"/>
            <a:ext cx="1691640" cy="292608"/>
          </a:xfrm>
          <a:prstGeom prst="rect">
            <a:avLst/>
          </a:prstGeom>
          <a:noFill/>
        </p:spPr>
        <p:txBody>
          <a:bodyPr wrap="square" anchor="t">
            <a:spAutoFit/>
          </a:bodyPr>
          <a:lstStyle/>
          <a:p>
            <a:pPr algn="ctr">
              <a:spcAft>
                <a:spcPts val="400"/>
              </a:spcAft>
            </a:pPr>
            <a:r>
              <a:rPr sz="800" b="1">
                <a:solidFill>
                  <a:srgbClr val="FFFFFF"/>
                </a:solidFill>
                <a:latin typeface="Arial"/>
              </a:rPr>
              <a:t>AI SECURITY</a:t>
            </a:r>
          </a:p>
        </p:txBody>
      </p:sp>
      <p:sp>
        <p:nvSpPr>
          <p:cNvPr id="11" name="TextBox 10"/>
          <p:cNvSpPr txBox="1"/>
          <p:nvPr/>
        </p:nvSpPr>
        <p:spPr>
          <a:xfrm>
            <a:off x="731520" y="1737360"/>
            <a:ext cx="4754880" cy="457200"/>
          </a:xfrm>
          <a:prstGeom prst="rect">
            <a:avLst/>
          </a:prstGeom>
          <a:noFill/>
        </p:spPr>
        <p:txBody>
          <a:bodyPr wrap="square" anchor="t">
            <a:spAutoFit/>
          </a:bodyPr>
          <a:lstStyle/>
          <a:p>
            <a:pPr algn="l">
              <a:spcAft>
                <a:spcPts val="400"/>
              </a:spcAft>
            </a:pPr>
            <a:r>
              <a:rPr sz="1500" b="1">
                <a:solidFill>
                  <a:srgbClr val="9CDCFE"/>
                </a:solidFill>
                <a:latin typeface="Arial"/>
              </a:rPr>
              <a:t>TRAINER SLIDES  ·  WSQ</a:t>
            </a:r>
          </a:p>
        </p:txBody>
      </p:sp>
      <p:sp>
        <p:nvSpPr>
          <p:cNvPr id="12" name="TextBox 11"/>
          <p:cNvSpPr txBox="1"/>
          <p:nvPr/>
        </p:nvSpPr>
        <p:spPr>
          <a:xfrm>
            <a:off x="731520" y="2148840"/>
            <a:ext cx="4892040" cy="1874519"/>
          </a:xfrm>
          <a:prstGeom prst="rect">
            <a:avLst/>
          </a:prstGeom>
          <a:noFill/>
        </p:spPr>
        <p:txBody>
          <a:bodyPr wrap="square" anchor="t">
            <a:spAutoFit/>
          </a:bodyPr>
          <a:lstStyle/>
          <a:p>
            <a:pPr algn="l">
              <a:spcAft>
                <a:spcPts val="400"/>
              </a:spcAft>
            </a:pPr>
            <a:r>
              <a:rPr sz="3400" b="1">
                <a:solidFill>
                  <a:srgbClr val="FFFFFF"/>
                </a:solidFill>
                <a:latin typeface="Arial"/>
              </a:rPr>
              <a:t>AI Security for Autonomous AI Agents</a:t>
            </a:r>
          </a:p>
        </p:txBody>
      </p:sp>
      <p:sp>
        <p:nvSpPr>
          <p:cNvPr id="13" name="Rectangle 12"/>
          <p:cNvSpPr/>
          <p:nvPr/>
        </p:nvSpPr>
        <p:spPr>
          <a:xfrm>
            <a:off x="749808" y="3977639"/>
            <a:ext cx="2011680" cy="5486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224528"/>
            <a:ext cx="4892040" cy="1234440"/>
          </a:xfrm>
          <a:prstGeom prst="rect">
            <a:avLst/>
          </a:prstGeom>
          <a:noFill/>
        </p:spPr>
        <p:txBody>
          <a:bodyPr wrap="square" anchor="t">
            <a:spAutoFit/>
          </a:bodyPr>
          <a:lstStyle/>
          <a:p>
            <a:pPr algn="l">
              <a:spcAft>
                <a:spcPts val="600"/>
              </a:spcAft>
            </a:pPr>
            <a:r>
              <a:rPr sz="1400" b="0">
                <a:solidFill>
                  <a:srgbClr val="FFFFFF"/>
                </a:solidFill>
                <a:latin typeface="Arial"/>
              </a:rPr>
              <a:t>WSQ Course Code: TGS-2025060473  ·  1 Day · 8 Hours</a:t>
            </a:r>
          </a:p>
          <a:p>
            <a:pPr algn="l">
              <a:spcAft>
                <a:spcPts val="600"/>
              </a:spcAft>
            </a:pPr>
            <a:r>
              <a:rPr sz="1200" b="0">
                <a:solidFill>
                  <a:srgbClr val="FFFFFF"/>
                </a:solidFill>
                <a:latin typeface="Arial"/>
              </a:rPr>
              <a:t>Skills Framework TSC: Generative AI Principles and Applications (ICT-INT-0052-1.1)</a:t>
            </a:r>
          </a:p>
          <a:p>
            <a:pPr algn="l">
              <a:spcAft>
                <a:spcPts val="600"/>
              </a:spcAft>
            </a:pPr>
            <a:r>
              <a:rPr sz="1200" b="0">
                <a:solidFill>
                  <a:srgbClr val="FFFFFF"/>
                </a:solidFill>
                <a:latin typeface="Arial"/>
              </a:rPr>
              <a:t>Conducted by Tertiary Infotech Pte Ltd  ·  UEN 201200696W</a:t>
            </a:r>
          </a:p>
        </p:txBody>
      </p:sp>
      <p:sp>
        <p:nvSpPr>
          <p:cNvPr id="15" name="TextBox 14"/>
          <p:cNvSpPr txBox="1"/>
          <p:nvPr/>
        </p:nvSpPr>
        <p:spPr>
          <a:xfrm>
            <a:off x="731520" y="5669280"/>
            <a:ext cx="4892040" cy="329184"/>
          </a:xfrm>
          <a:prstGeom prst="rect">
            <a:avLst/>
          </a:prstGeom>
          <a:noFill/>
        </p:spPr>
        <p:txBody>
          <a:bodyPr wrap="square" anchor="t">
            <a:spAutoFit/>
          </a:bodyPr>
          <a:lstStyle/>
          <a:p>
            <a:pPr algn="l">
              <a:spcAft>
                <a:spcPts val="400"/>
              </a:spcAft>
            </a:pPr>
            <a:r>
              <a:rPr sz="1100" b="0">
                <a:solidFill>
                  <a:srgbClr val="9CDCFE"/>
                </a:solidFill>
                <a:latin typeface="Arial"/>
              </a:rPr>
              <a:t>Version 4.14  ·  26 August 2026</a:t>
            </a:r>
          </a:p>
        </p:txBody>
      </p:sp>
      <p:sp>
        <p:nvSpPr>
          <p:cNvPr id="16" name="TextBox 15"/>
          <p:cNvSpPr txBox="1"/>
          <p:nvPr/>
        </p:nvSpPr>
        <p:spPr>
          <a:xfrm>
            <a:off x="731520" y="6108192"/>
            <a:ext cx="4892040" cy="256032"/>
          </a:xfrm>
          <a:prstGeom prst="rect">
            <a:avLst/>
          </a:prstGeom>
          <a:noFill/>
        </p:spPr>
        <p:txBody>
          <a:bodyPr wrap="square" anchor="t">
            <a:spAutoFit/>
          </a:bodyPr>
          <a:lstStyle/>
          <a:p>
            <a:pPr algn="l">
              <a:spcAft>
                <a:spcPts val="400"/>
              </a:spcAft>
            </a:pPr>
            <a:r>
              <a:rPr sz="850" b="0">
                <a:solidFill>
                  <a:srgbClr val="FFFFFF"/>
                </a:solidFill>
                <a:latin typeface="Arial"/>
              </a:rPr>
              <a:t>© 2026 Tertiary Infotech Pte Ltd. All Rights Reserved.  ·  www.tertiarycourses.com.sg</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 or administrator displays the digital attendance QR code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Complete the TRAQOM survey at the end of the course — it is required for funding.</a:t>
            </a:r>
          </a:p>
        </p:txBody>
      </p:sp>
      <p:sp>
        <p:nvSpPr>
          <p:cNvPr id="8" name="TextBox 7"/>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9" name="TextBox 8"/>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0" name="TextBox 9"/>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1" name="TextBox 10"/>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profile before delivery</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INDUSTRY EXPERIENCE</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TRAINING EXPERIENCE</a:t>
            </a:r>
          </a:p>
          <a:p>
            <a:pPr algn="l">
              <a:spcAft>
                <a:spcPts val="300"/>
              </a:spcAft>
            </a:pPr>
            <a:r>
              <a:rPr sz="1300" b="0">
                <a:solidFill>
                  <a:srgbClr val="E2E8F0"/>
                </a:solidFill>
                <a:latin typeface="Arial"/>
              </a:rPr>
              <a:t>____________________________________________</a:t>
            </a:r>
          </a:p>
        </p:txBody>
      </p:sp>
      <p:sp>
        <p:nvSpPr>
          <p:cNvPr id="25" name="TextBox 2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26" name="TextBox 2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7" name="TextBox 2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8" name="TextBox 2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Pte Ltd</a:t>
            </a:r>
          </a:p>
        </p:txBody>
      </p:sp>
      <p:sp>
        <p:nvSpPr>
          <p:cNvPr id="13" name="Rectangle 12"/>
          <p:cNvSpPr/>
          <p:nvPr/>
        </p:nvSpPr>
        <p:spPr>
          <a:xfrm>
            <a:off x="4480560" y="1783080"/>
            <a:ext cx="694944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80560" y="1783080"/>
            <a:ext cx="91440" cy="2057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73168" y="1783080"/>
            <a:ext cx="6400800" cy="205740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a:t>
            </a:r>
          </a:p>
        </p:txBody>
      </p:sp>
      <p:sp>
        <p:nvSpPr>
          <p:cNvPr id="16" name="Rectangle 15"/>
          <p:cNvSpPr/>
          <p:nvPr/>
        </p:nvSpPr>
        <p:spPr>
          <a:xfrm>
            <a:off x="4480560" y="4023360"/>
            <a:ext cx="694944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480560" y="4023360"/>
            <a:ext cx="91440" cy="2057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73168" y="4023360"/>
            <a:ext cx="6400800" cy="205740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AI security, governance and enterprise IT</a:t>
            </a:r>
          </a:p>
        </p:txBody>
      </p:sp>
      <p:sp>
        <p:nvSpPr>
          <p:cNvPr id="19" name="TextBox 1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20" name="TextBox 1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1" name="TextBox 2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2" name="TextBox 2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Who Is in the Room?</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Role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What service or team do you work in?</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AI today</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Where do you already meet AI at work?</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Goal</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What do you want to be able to do by 6pm?</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Ground Rules for a Hands-On Day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Use the demos</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Every activity is a ready-made website or chatbot — no coding</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Fictional data only</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Never paste real personal or company data into a demo</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Ask and share</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Try prompts, compare answers, and reflect together</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Learning Outcomes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LO1</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Demonstrate generative AI concepts and applications relevant to customer service and hospitality management</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LO2</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Apply prompt engineering techniques and analyse output variations to improve generative AI performance in service settings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LO3</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Identify ethical risks and analyse bias in AI-generated content used in customer engagement</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One-Day Learning Journey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Topic 1 — GenAI, Agentic AI &amp; Agents</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Topic 2 — Prompt Engineering</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Topic 3 — Security &amp; Governance</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Three topics map one-to-one onto LO1, LO2 and LO3; the assessment closes the day.</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Briefing for Assessment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Read each task</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Draw on today's activities</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Write from your own evidence</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Justify your reasoning</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on the LMS</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The briefing for assessment is delivered before the assessment begins.</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How the Day Is Assessed</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2977652"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2758196" cy="1108710"/>
          </a:xfrm>
          <a:prstGeom prst="rect">
            <a:avLst/>
          </a:prstGeom>
          <a:noFill/>
        </p:spPr>
        <p:txBody>
          <a:bodyPr wrap="square" anchor="ctr">
            <a:spAutoFit/>
          </a:bodyPr>
          <a:lstStyle/>
          <a:p>
            <a:pPr algn="l">
              <a:spcAft>
                <a:spcPts val="400"/>
              </a:spcAft>
            </a:pPr>
            <a:r>
              <a:rPr sz="1250" b="1">
                <a:solidFill>
                  <a:srgbClr val="FFFFFF"/>
                </a:solidFill>
                <a:latin typeface="Arial"/>
              </a:rPr>
              <a:t>Instrument</a:t>
            </a:r>
          </a:p>
        </p:txBody>
      </p:sp>
      <p:sp>
        <p:nvSpPr>
          <p:cNvPr id="8" name="Rectangle 7"/>
          <p:cNvSpPr/>
          <p:nvPr/>
        </p:nvSpPr>
        <p:spPr>
          <a:xfrm>
            <a:off x="3754892" y="1783080"/>
            <a:ext cx="1701515"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82908" y="1783080"/>
            <a:ext cx="1482059" cy="1108710"/>
          </a:xfrm>
          <a:prstGeom prst="rect">
            <a:avLst/>
          </a:prstGeom>
          <a:noFill/>
        </p:spPr>
        <p:txBody>
          <a:bodyPr wrap="square" anchor="ctr">
            <a:spAutoFit/>
          </a:bodyPr>
          <a:lstStyle/>
          <a:p>
            <a:pPr algn="l">
              <a:spcAft>
                <a:spcPts val="400"/>
              </a:spcAft>
            </a:pPr>
            <a:r>
              <a:rPr sz="1250" b="1">
                <a:solidFill>
                  <a:srgbClr val="FFFFFF"/>
                </a:solidFill>
                <a:latin typeface="Arial"/>
              </a:rPr>
              <a:t>Covers</a:t>
            </a:r>
          </a:p>
        </p:txBody>
      </p:sp>
      <p:sp>
        <p:nvSpPr>
          <p:cNvPr id="10" name="Rectangle 9"/>
          <p:cNvSpPr/>
          <p:nvPr/>
        </p:nvSpPr>
        <p:spPr>
          <a:xfrm>
            <a:off x="5456407" y="1783080"/>
            <a:ext cx="5955304"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84423" y="1783080"/>
            <a:ext cx="5735848" cy="1108710"/>
          </a:xfrm>
          <a:prstGeom prst="rect">
            <a:avLst/>
          </a:prstGeom>
          <a:noFill/>
        </p:spPr>
        <p:txBody>
          <a:bodyPr wrap="square" anchor="ctr">
            <a:spAutoFit/>
          </a:bodyPr>
          <a:lstStyle/>
          <a:p>
            <a:pPr algn="l">
              <a:spcAft>
                <a:spcPts val="400"/>
              </a:spcAft>
            </a:pPr>
            <a:r>
              <a:rPr sz="1250" b="1">
                <a:solidFill>
                  <a:srgbClr val="FFFFFF"/>
                </a:solidFill>
                <a:latin typeface="Arial"/>
              </a:rPr>
              <a:t>What you do</a:t>
            </a:r>
          </a:p>
        </p:txBody>
      </p:sp>
      <p:sp>
        <p:nvSpPr>
          <p:cNvPr id="12" name="Rectangle 11"/>
          <p:cNvSpPr/>
          <p:nvPr/>
        </p:nvSpPr>
        <p:spPr>
          <a:xfrm>
            <a:off x="777240" y="2891790"/>
            <a:ext cx="2977652"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 y="2891790"/>
            <a:ext cx="2758196" cy="1108710"/>
          </a:xfrm>
          <a:prstGeom prst="rect">
            <a:avLst/>
          </a:prstGeom>
          <a:noFill/>
        </p:spPr>
        <p:txBody>
          <a:bodyPr wrap="square" anchor="ctr">
            <a:spAutoFit/>
          </a:bodyPr>
          <a:lstStyle/>
          <a:p>
            <a:pPr algn="l">
              <a:spcAft>
                <a:spcPts val="400"/>
              </a:spcAft>
            </a:pPr>
            <a:r>
              <a:rPr sz="1150" b="1">
                <a:solidFill>
                  <a:srgbClr val="161B26"/>
                </a:solidFill>
                <a:latin typeface="Arial"/>
              </a:rPr>
              <a:t>Written Assessment (SAQ)</a:t>
            </a:r>
          </a:p>
        </p:txBody>
      </p:sp>
      <p:sp>
        <p:nvSpPr>
          <p:cNvPr id="14" name="Rectangle 13"/>
          <p:cNvSpPr/>
          <p:nvPr/>
        </p:nvSpPr>
        <p:spPr>
          <a:xfrm>
            <a:off x="3754892" y="2891790"/>
            <a:ext cx="1701515"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82908" y="2891790"/>
            <a:ext cx="1482059" cy="1108710"/>
          </a:xfrm>
          <a:prstGeom prst="rect">
            <a:avLst/>
          </a:prstGeom>
          <a:noFill/>
        </p:spPr>
        <p:txBody>
          <a:bodyPr wrap="square" anchor="ctr">
            <a:spAutoFit/>
          </a:bodyPr>
          <a:lstStyle/>
          <a:p>
            <a:pPr algn="l">
              <a:spcAft>
                <a:spcPts val="400"/>
              </a:spcAft>
            </a:pPr>
            <a:r>
              <a:rPr sz="1150" b="0">
                <a:solidFill>
                  <a:srgbClr val="161B26"/>
                </a:solidFill>
                <a:latin typeface="Arial"/>
              </a:rPr>
              <a:t>K1–K5</a:t>
            </a:r>
          </a:p>
        </p:txBody>
      </p:sp>
      <p:sp>
        <p:nvSpPr>
          <p:cNvPr id="16" name="Rectangle 15"/>
          <p:cNvSpPr/>
          <p:nvPr/>
        </p:nvSpPr>
        <p:spPr>
          <a:xfrm>
            <a:off x="5456407" y="2891790"/>
            <a:ext cx="5955304"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84423" y="2891790"/>
            <a:ext cx="5735848" cy="1108710"/>
          </a:xfrm>
          <a:prstGeom prst="rect">
            <a:avLst/>
          </a:prstGeom>
          <a:noFill/>
        </p:spPr>
        <p:txBody>
          <a:bodyPr wrap="square" anchor="ctr">
            <a:spAutoFit/>
          </a:bodyPr>
          <a:lstStyle/>
          <a:p>
            <a:pPr algn="l">
              <a:spcAft>
                <a:spcPts val="400"/>
              </a:spcAft>
            </a:pPr>
            <a:r>
              <a:rPr sz="1150" b="0">
                <a:solidFill>
                  <a:srgbClr val="161B26"/>
                </a:solidFill>
                <a:latin typeface="Arial"/>
              </a:rPr>
              <a:t>Five short written answers, one per knowledge statement</a:t>
            </a:r>
          </a:p>
        </p:txBody>
      </p:sp>
      <p:sp>
        <p:nvSpPr>
          <p:cNvPr id="18" name="Rectangle 17"/>
          <p:cNvSpPr/>
          <p:nvPr/>
        </p:nvSpPr>
        <p:spPr>
          <a:xfrm>
            <a:off x="777240" y="4000500"/>
            <a:ext cx="2977652"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4000500"/>
            <a:ext cx="2758196" cy="1108710"/>
          </a:xfrm>
          <a:prstGeom prst="rect">
            <a:avLst/>
          </a:prstGeom>
          <a:noFill/>
        </p:spPr>
        <p:txBody>
          <a:bodyPr wrap="square" anchor="ctr">
            <a:spAutoFit/>
          </a:bodyPr>
          <a:lstStyle/>
          <a:p>
            <a:pPr algn="l">
              <a:spcAft>
                <a:spcPts val="400"/>
              </a:spcAft>
            </a:pPr>
            <a:r>
              <a:rPr sz="1150" b="1">
                <a:solidFill>
                  <a:srgbClr val="161B26"/>
                </a:solidFill>
                <a:latin typeface="Arial"/>
              </a:rPr>
              <a:t>Case Study</a:t>
            </a:r>
          </a:p>
        </p:txBody>
      </p:sp>
      <p:sp>
        <p:nvSpPr>
          <p:cNvPr id="20" name="Rectangle 19"/>
          <p:cNvSpPr/>
          <p:nvPr/>
        </p:nvSpPr>
        <p:spPr>
          <a:xfrm>
            <a:off x="3754892" y="4000500"/>
            <a:ext cx="1701515"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82908" y="4000500"/>
            <a:ext cx="1482059" cy="1108710"/>
          </a:xfrm>
          <a:prstGeom prst="rect">
            <a:avLst/>
          </a:prstGeom>
          <a:noFill/>
        </p:spPr>
        <p:txBody>
          <a:bodyPr wrap="square" anchor="ctr">
            <a:spAutoFit/>
          </a:bodyPr>
          <a:lstStyle/>
          <a:p>
            <a:pPr algn="l">
              <a:spcAft>
                <a:spcPts val="400"/>
              </a:spcAft>
            </a:pPr>
            <a:r>
              <a:rPr sz="1150" b="0">
                <a:solidFill>
                  <a:srgbClr val="161B26"/>
                </a:solidFill>
                <a:latin typeface="Arial"/>
              </a:rPr>
              <a:t>LO1–LO3 (A1–A5)</a:t>
            </a:r>
          </a:p>
        </p:txBody>
      </p:sp>
      <p:sp>
        <p:nvSpPr>
          <p:cNvPr id="22" name="Rectangle 21"/>
          <p:cNvSpPr/>
          <p:nvPr/>
        </p:nvSpPr>
        <p:spPr>
          <a:xfrm>
            <a:off x="5456407" y="4000500"/>
            <a:ext cx="5955304"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84423" y="4000500"/>
            <a:ext cx="5735848" cy="1108710"/>
          </a:xfrm>
          <a:prstGeom prst="rect">
            <a:avLst/>
          </a:prstGeom>
          <a:noFill/>
        </p:spPr>
        <p:txBody>
          <a:bodyPr wrap="square" anchor="ctr">
            <a:spAutoFit/>
          </a:bodyPr>
          <a:lstStyle/>
          <a:p>
            <a:pPr algn="l">
              <a:spcAft>
                <a:spcPts val="400"/>
              </a:spcAft>
            </a:pPr>
            <a:r>
              <a:rPr sz="1150" b="0">
                <a:solidFill>
                  <a:srgbClr val="161B26"/>
                </a:solidFill>
                <a:latin typeface="Arial"/>
              </a:rPr>
              <a:t>Three reflection tasks (two questions each) on the activities you completed today</a:t>
            </a:r>
          </a:p>
        </p:txBody>
      </p:sp>
      <p:sp>
        <p:nvSpPr>
          <p:cNvPr id="24" name="Rectangle 23"/>
          <p:cNvSpPr/>
          <p:nvPr/>
        </p:nvSpPr>
        <p:spPr>
          <a:xfrm>
            <a:off x="777240" y="5109210"/>
            <a:ext cx="2977652"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256" y="5109210"/>
            <a:ext cx="2758196" cy="1108710"/>
          </a:xfrm>
          <a:prstGeom prst="rect">
            <a:avLst/>
          </a:prstGeom>
          <a:noFill/>
        </p:spPr>
        <p:txBody>
          <a:bodyPr wrap="square" anchor="ctr">
            <a:spAutoFit/>
          </a:bodyPr>
          <a:lstStyle/>
          <a:p>
            <a:pPr algn="l">
              <a:spcAft>
                <a:spcPts val="400"/>
              </a:spcAft>
            </a:pPr>
            <a:r>
              <a:rPr sz="1150" b="1">
                <a:solidFill>
                  <a:srgbClr val="161B26"/>
                </a:solidFill>
                <a:latin typeface="Arial"/>
              </a:rPr>
              <a:t>Format</a:t>
            </a:r>
          </a:p>
        </p:txBody>
      </p:sp>
      <p:sp>
        <p:nvSpPr>
          <p:cNvPr id="26" name="Rectangle 25"/>
          <p:cNvSpPr/>
          <p:nvPr/>
        </p:nvSpPr>
        <p:spPr>
          <a:xfrm>
            <a:off x="3754892" y="5109210"/>
            <a:ext cx="1701515"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82908" y="5109210"/>
            <a:ext cx="1482059" cy="1108710"/>
          </a:xfrm>
          <a:prstGeom prst="rect">
            <a:avLst/>
          </a:prstGeom>
          <a:noFill/>
        </p:spPr>
        <p:txBody>
          <a:bodyPr wrap="square" anchor="ctr">
            <a:spAutoFit/>
          </a:bodyPr>
          <a:lstStyle/>
          <a:p>
            <a:pPr algn="l">
              <a:spcAft>
                <a:spcPts val="400"/>
              </a:spcAft>
            </a:pPr>
            <a:r>
              <a:rPr sz="1150" b="0">
                <a:solidFill>
                  <a:srgbClr val="161B26"/>
                </a:solidFill>
                <a:latin typeface="Arial"/>
              </a:rPr>
              <a:t>—</a:t>
            </a:r>
          </a:p>
        </p:txBody>
      </p:sp>
      <p:sp>
        <p:nvSpPr>
          <p:cNvPr id="28" name="Rectangle 27"/>
          <p:cNvSpPr/>
          <p:nvPr/>
        </p:nvSpPr>
        <p:spPr>
          <a:xfrm>
            <a:off x="5456407" y="5109210"/>
            <a:ext cx="5955304"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84423" y="5109210"/>
            <a:ext cx="5735848" cy="1108710"/>
          </a:xfrm>
          <a:prstGeom prst="rect">
            <a:avLst/>
          </a:prstGeom>
          <a:noFill/>
        </p:spPr>
        <p:txBody>
          <a:bodyPr wrap="square" anchor="ctr">
            <a:spAutoFit/>
          </a:bodyPr>
          <a:lstStyle/>
          <a:p>
            <a:pPr algn="l">
              <a:spcAft>
                <a:spcPts val="400"/>
              </a:spcAft>
            </a:pPr>
            <a:r>
              <a:rPr sz="1150" b="0">
                <a:solidFill>
                  <a:srgbClr val="161B26"/>
                </a:solidFill>
                <a:latin typeface="Arial"/>
              </a:rPr>
              <a:t>Open book · Competent / Not Yet Competent</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 · LO1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Generative AI, Agentic AI and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From a chat box to systems that plan and act — history, mechanics, use cases and agents.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What Topic 1 Will Answer</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How did we get here?</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How does GenAI actually work?</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What is context engineering?</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What is an agentic loop?</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What is an AI agent?</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Each question builds the vocabulary you need for prompt engineering and security later.</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 Very Short History of AI, 2023–2026</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2023 · Generative AI</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2024 · Context Engineering</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2025 · Harness Engineering</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2026 · AI Agents</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Each year did not replace the last — it added a new layer on top of it.</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HIST</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Four Waves in Plain Words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548640"/>
          </a:xfrm>
          <a:prstGeom prst="rect">
            <a:avLst/>
          </a:prstGeom>
          <a:noFill/>
        </p:spPr>
        <p:txBody>
          <a:bodyPr wrap="square" anchor="t">
            <a:spAutoFit/>
          </a:bodyPr>
          <a:lstStyle/>
          <a:p>
            <a:pPr algn="l">
              <a:spcAft>
                <a:spcPts val="400"/>
              </a:spcAft>
            </a:pPr>
            <a:r>
              <a:rPr sz="1400" b="1">
                <a:solidFill>
                  <a:srgbClr val="1F6FEB"/>
                </a:solidFill>
                <a:latin typeface="Arial"/>
              </a:rPr>
              <a:t>2023 — Generative AI</a:t>
            </a:r>
          </a:p>
        </p:txBody>
      </p:sp>
      <p:sp>
        <p:nvSpPr>
          <p:cNvPr id="11" name="TextBox 10"/>
          <p:cNvSpPr txBox="1"/>
          <p:nvPr/>
        </p:nvSpPr>
        <p:spPr>
          <a:xfrm>
            <a:off x="914400" y="2624328"/>
            <a:ext cx="2023110" cy="3374136"/>
          </a:xfrm>
          <a:prstGeom prst="rect">
            <a:avLst/>
          </a:prstGeom>
          <a:noFill/>
        </p:spPr>
        <p:txBody>
          <a:bodyPr wrap="square" anchor="t">
            <a:spAutoFit/>
          </a:bodyPr>
          <a:lstStyle/>
          <a:p>
            <a:pPr algn="l">
              <a:spcAft>
                <a:spcPts val="400"/>
              </a:spcAft>
            </a:pPr>
            <a:r>
              <a:rPr sz="1150" b="0">
                <a:solidFill>
                  <a:srgbClr val="161B26"/>
                </a:solidFill>
                <a:latin typeface="Arial"/>
              </a:rPr>
              <a:t>ChatGPT makes text and image generation mainstream</a:t>
            </a:r>
          </a:p>
        </p:txBody>
      </p:sp>
      <p:sp>
        <p:nvSpPr>
          <p:cNvPr id="12" name="Rectangle 11"/>
          <p:cNvSpPr/>
          <p:nvPr/>
        </p:nvSpPr>
        <p:spPr>
          <a:xfrm>
            <a:off x="3431286"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548640"/>
          </a:xfrm>
          <a:prstGeom prst="rect">
            <a:avLst/>
          </a:prstGeom>
          <a:noFill/>
        </p:spPr>
        <p:txBody>
          <a:bodyPr wrap="square" anchor="t">
            <a:spAutoFit/>
          </a:bodyPr>
          <a:lstStyle/>
          <a:p>
            <a:pPr algn="l">
              <a:spcAft>
                <a:spcPts val="400"/>
              </a:spcAft>
            </a:pPr>
            <a:r>
              <a:rPr sz="1400" b="1">
                <a:solidFill>
                  <a:srgbClr val="10B981"/>
                </a:solidFill>
                <a:latin typeface="Arial"/>
              </a:rPr>
              <a:t>2024 — Context Engineering</a:t>
            </a:r>
          </a:p>
        </p:txBody>
      </p:sp>
      <p:sp>
        <p:nvSpPr>
          <p:cNvPr id="17" name="TextBox 16"/>
          <p:cNvSpPr txBox="1"/>
          <p:nvPr/>
        </p:nvSpPr>
        <p:spPr>
          <a:xfrm>
            <a:off x="3687318" y="2624328"/>
            <a:ext cx="2023110" cy="3374136"/>
          </a:xfrm>
          <a:prstGeom prst="rect">
            <a:avLst/>
          </a:prstGeom>
          <a:noFill/>
        </p:spPr>
        <p:txBody>
          <a:bodyPr wrap="square" anchor="t">
            <a:spAutoFit/>
          </a:bodyPr>
          <a:lstStyle/>
          <a:p>
            <a:pPr algn="l">
              <a:spcAft>
                <a:spcPts val="400"/>
              </a:spcAft>
            </a:pPr>
            <a:r>
              <a:rPr sz="1150" b="0">
                <a:solidFill>
                  <a:srgbClr val="161B26"/>
                </a:solidFill>
                <a:latin typeface="Arial"/>
              </a:rPr>
              <a:t>We learn to feed models the right information, not just a prompt</a:t>
            </a:r>
          </a:p>
        </p:txBody>
      </p:sp>
      <p:sp>
        <p:nvSpPr>
          <p:cNvPr id="18" name="Rectangle 17"/>
          <p:cNvSpPr/>
          <p:nvPr/>
        </p:nvSpPr>
        <p:spPr>
          <a:xfrm>
            <a:off x="6204204"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548640"/>
          </a:xfrm>
          <a:prstGeom prst="rect">
            <a:avLst/>
          </a:prstGeom>
          <a:noFill/>
        </p:spPr>
        <p:txBody>
          <a:bodyPr wrap="square" anchor="t">
            <a:spAutoFit/>
          </a:bodyPr>
          <a:lstStyle/>
          <a:p>
            <a:pPr algn="l">
              <a:spcAft>
                <a:spcPts val="400"/>
              </a:spcAft>
            </a:pPr>
            <a:r>
              <a:rPr sz="1400" b="1">
                <a:solidFill>
                  <a:srgbClr val="7C3AED"/>
                </a:solidFill>
                <a:latin typeface="Arial"/>
              </a:rPr>
              <a:t>2025 — Harness Engineering</a:t>
            </a:r>
          </a:p>
        </p:txBody>
      </p:sp>
      <p:sp>
        <p:nvSpPr>
          <p:cNvPr id="23" name="TextBox 22"/>
          <p:cNvSpPr txBox="1"/>
          <p:nvPr/>
        </p:nvSpPr>
        <p:spPr>
          <a:xfrm>
            <a:off x="6460236" y="2624328"/>
            <a:ext cx="2023110" cy="3374136"/>
          </a:xfrm>
          <a:prstGeom prst="rect">
            <a:avLst/>
          </a:prstGeom>
          <a:noFill/>
        </p:spPr>
        <p:txBody>
          <a:bodyPr wrap="square" anchor="t">
            <a:spAutoFit/>
          </a:bodyPr>
          <a:lstStyle/>
          <a:p>
            <a:pPr algn="l">
              <a:spcAft>
                <a:spcPts val="400"/>
              </a:spcAft>
            </a:pPr>
            <a:r>
              <a:rPr sz="1150" b="0">
                <a:solidFill>
                  <a:srgbClr val="161B26"/>
                </a:solidFill>
                <a:latin typeface="Arial"/>
              </a:rPr>
              <a:t>We wrap models in loops that plan, act and verify — agentic AI</a:t>
            </a:r>
          </a:p>
        </p:txBody>
      </p:sp>
      <p:sp>
        <p:nvSpPr>
          <p:cNvPr id="24" name="Rectangle 23"/>
          <p:cNvSpPr/>
          <p:nvPr/>
        </p:nvSpPr>
        <p:spPr>
          <a:xfrm>
            <a:off x="8977122"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4343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274320"/>
          </a:xfrm>
          <a:prstGeom prst="rect">
            <a:avLst/>
          </a:prstGeom>
          <a:noFill/>
        </p:spPr>
        <p:txBody>
          <a:bodyPr wrap="square" anchor="t">
            <a:spAutoFit/>
          </a:bodyPr>
          <a:lstStyle/>
          <a:p>
            <a:pPr algn="l">
              <a:spcAft>
                <a:spcPts val="400"/>
              </a:spcAft>
            </a:pPr>
            <a:r>
              <a:rPr sz="1400" b="1">
                <a:solidFill>
                  <a:srgbClr val="F59E0B"/>
                </a:solidFill>
                <a:latin typeface="Arial"/>
              </a:rPr>
              <a:t>2026 — AI Agents</a:t>
            </a:r>
          </a:p>
        </p:txBody>
      </p:sp>
      <p:sp>
        <p:nvSpPr>
          <p:cNvPr id="29" name="TextBox 28"/>
          <p:cNvSpPr txBox="1"/>
          <p:nvPr/>
        </p:nvSpPr>
        <p:spPr>
          <a:xfrm>
            <a:off x="9233154"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Deployed agents act across our apps, chats and tools</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2023 — Generative AI Goes Mainstream</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ChatGPT launched on 30 November 2022 and reached mass adoption through 2023</a:t>
            </a:r>
          </a:p>
          <a:p>
            <a:pPr>
              <a:spcAft>
                <a:spcPts val="1000"/>
              </a:spcAft>
            </a:pPr>
            <a:r>
              <a:rPr sz="1700" b="0">
                <a:solidFill>
                  <a:srgbClr val="161B26"/>
                </a:solidFill>
                <a:latin typeface="Arial"/>
              </a:rPr>
              <a:t>•  One natural-language box exposed writing, coding, translation and analysis to everyone</a:t>
            </a:r>
          </a:p>
          <a:p>
            <a:pPr>
              <a:spcAft>
                <a:spcPts val="1000"/>
              </a:spcAft>
            </a:pPr>
            <a:r>
              <a:rPr sz="1700" b="0">
                <a:solidFill>
                  <a:srgbClr val="161B26"/>
                </a:solidFill>
                <a:latin typeface="Arial"/>
              </a:rPr>
              <a:t>•  Businesses began asking not 'can it chat?' but 'what work can it do?'</a:t>
            </a:r>
          </a:p>
        </p:txBody>
      </p:sp>
      <p:sp>
        <p:nvSpPr>
          <p:cNvPr id="7" name="Rectangle 6"/>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OpenAI (openai.com)</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2024 — Context Engineering</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828799"/>
            <a:ext cx="598932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isual-context-engineering-v41.png"/>
          <p:cNvPicPr>
            <a:picLocks noChangeAspect="1"/>
          </p:cNvPicPr>
          <p:nvPr/>
        </p:nvPicPr>
        <p:blipFill>
          <a:blip r:embed="rId2"/>
          <a:srcRect l="11789" r="11789"/>
          <a:stretch>
            <a:fillRect/>
          </a:stretch>
        </p:blipFill>
        <p:spPr>
          <a:xfrm>
            <a:off x="777240" y="1874519"/>
            <a:ext cx="5897880" cy="4343400"/>
          </a:xfrm>
          <a:prstGeom prst="rect">
            <a:avLst/>
          </a:prstGeom>
        </p:spPr>
      </p:pic>
      <p:sp>
        <p:nvSpPr>
          <p:cNvPr id="8" name="Rectangle 7"/>
          <p:cNvSpPr/>
          <p:nvPr/>
        </p:nvSpPr>
        <p:spPr>
          <a:xfrm>
            <a:off x="6949440" y="187451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949440" y="1874519"/>
            <a:ext cx="82296"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05472" y="1874519"/>
            <a:ext cx="4005072" cy="1325880"/>
          </a:xfrm>
          <a:prstGeom prst="rect">
            <a:avLst/>
          </a:prstGeom>
          <a:noFill/>
        </p:spPr>
        <p:txBody>
          <a:bodyPr wrap="square" anchor="ctr">
            <a:spAutoFit/>
          </a:bodyPr>
          <a:lstStyle/>
          <a:p>
            <a:pPr algn="l">
              <a:spcAft>
                <a:spcPts val="300"/>
              </a:spcAft>
            </a:pPr>
            <a:r>
              <a:rPr sz="1400" b="1">
                <a:solidFill>
                  <a:srgbClr val="1F6FEB"/>
                </a:solidFill>
                <a:latin typeface="Arial"/>
              </a:rPr>
              <a:t>Beyond the prompt</a:t>
            </a:r>
          </a:p>
          <a:p>
            <a:pPr algn="l">
              <a:spcAft>
                <a:spcPts val="300"/>
              </a:spcAft>
            </a:pPr>
            <a:r>
              <a:rPr sz="1200" b="0">
                <a:solidFill>
                  <a:srgbClr val="161B26"/>
                </a:solidFill>
                <a:latin typeface="Arial"/>
              </a:rPr>
              <a:t>The model also needs the right supporting information</a:t>
            </a:r>
          </a:p>
        </p:txBody>
      </p:sp>
      <p:sp>
        <p:nvSpPr>
          <p:cNvPr id="11" name="Rectangle 10"/>
          <p:cNvSpPr/>
          <p:nvPr/>
        </p:nvSpPr>
        <p:spPr>
          <a:xfrm>
            <a:off x="6949440" y="338327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949440" y="3383279"/>
            <a:ext cx="82296"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05472" y="3383279"/>
            <a:ext cx="4005072" cy="1325880"/>
          </a:xfrm>
          <a:prstGeom prst="rect">
            <a:avLst/>
          </a:prstGeom>
          <a:noFill/>
        </p:spPr>
        <p:txBody>
          <a:bodyPr wrap="square" anchor="ctr">
            <a:spAutoFit/>
          </a:bodyPr>
          <a:lstStyle/>
          <a:p>
            <a:pPr algn="l">
              <a:spcAft>
                <a:spcPts val="300"/>
              </a:spcAft>
            </a:pPr>
            <a:r>
              <a:rPr sz="1400" b="1">
                <a:solidFill>
                  <a:srgbClr val="10B981"/>
                </a:solidFill>
                <a:latin typeface="Arial"/>
              </a:rPr>
              <a:t>The context window</a:t>
            </a:r>
          </a:p>
          <a:p>
            <a:pPr algn="l">
              <a:spcAft>
                <a:spcPts val="300"/>
              </a:spcAft>
            </a:pPr>
            <a:r>
              <a:rPr sz="1200" b="0">
                <a:solidFill>
                  <a:srgbClr val="161B26"/>
                </a:solidFill>
                <a:latin typeface="Arial"/>
              </a:rPr>
              <a:t>Instructions, history, memory, tools and retrieved data meet here</a:t>
            </a:r>
          </a:p>
        </p:txBody>
      </p:sp>
      <p:sp>
        <p:nvSpPr>
          <p:cNvPr id="14" name="Rectangle 13"/>
          <p:cNvSpPr/>
          <p:nvPr/>
        </p:nvSpPr>
        <p:spPr>
          <a:xfrm>
            <a:off x="6949440" y="489203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949440" y="4892039"/>
            <a:ext cx="82296"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05472" y="4892039"/>
            <a:ext cx="4005072" cy="1325880"/>
          </a:xfrm>
          <a:prstGeom prst="rect">
            <a:avLst/>
          </a:prstGeom>
          <a:noFill/>
        </p:spPr>
        <p:txBody>
          <a:bodyPr wrap="square" anchor="ctr">
            <a:spAutoFit/>
          </a:bodyPr>
          <a:lstStyle/>
          <a:p>
            <a:pPr algn="l">
              <a:spcAft>
                <a:spcPts val="300"/>
              </a:spcAft>
            </a:pPr>
            <a:r>
              <a:rPr sz="1400" b="1">
                <a:solidFill>
                  <a:srgbClr val="7C3AED"/>
                </a:solidFill>
                <a:latin typeface="Arial"/>
              </a:rPr>
              <a:t>The craft</a:t>
            </a:r>
          </a:p>
          <a:p>
            <a:pPr algn="l">
              <a:spcAft>
                <a:spcPts val="300"/>
              </a:spcAft>
            </a:pPr>
            <a:r>
              <a:rPr sz="1200" b="0">
                <a:solidFill>
                  <a:srgbClr val="161B26"/>
                </a:solidFill>
                <a:latin typeface="Arial"/>
              </a:rPr>
              <a:t>Select just the right tokens for the model's next step</a:t>
            </a:r>
          </a:p>
        </p:txBody>
      </p:sp>
      <p:sp>
        <p:nvSpPr>
          <p:cNvPr id="17" name="Rectangle 16"/>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3"/>
              </a:rPr>
              <a:t>Anthropic (anthropic.com)</a:t>
            </a:r>
            <a:r>
              <a:rPr sz="900">
                <a:solidFill>
                  <a:srgbClr val="5B6372"/>
                </a:solidFill>
                <a:latin typeface="Arial"/>
              </a:rPr>
              <a:t>   ·   </a:t>
            </a:r>
            <a:r>
              <a:rPr sz="900">
                <a:solidFill>
                  <a:srgbClr val="1F6FEB"/>
                </a:solidFill>
                <a:latin typeface="Arial"/>
                <a:hlinkClick r:id="rId4"/>
              </a:rPr>
              <a:t>Karpathy on 'context engineering' (X, 25 Ju... (x.com)</a:t>
            </a:r>
          </a:p>
        </p:txBody>
      </p:sp>
      <p:sp>
        <p:nvSpPr>
          <p:cNvPr id="20" name="TextBox 1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1" name="TextBox 2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2" name="TextBox 2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2025 — Harness Engineering and Agentic AI</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828799"/>
            <a:ext cx="598932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isual-harness-engineering-v41.png"/>
          <p:cNvPicPr>
            <a:picLocks noChangeAspect="1"/>
          </p:cNvPicPr>
          <p:nvPr/>
        </p:nvPicPr>
        <p:blipFill>
          <a:blip r:embed="rId2"/>
          <a:srcRect l="11789" r="11789"/>
          <a:stretch>
            <a:fillRect/>
          </a:stretch>
        </p:blipFill>
        <p:spPr>
          <a:xfrm>
            <a:off x="777240" y="1874519"/>
            <a:ext cx="5897880" cy="4343400"/>
          </a:xfrm>
          <a:prstGeom prst="rect">
            <a:avLst/>
          </a:prstGeom>
        </p:spPr>
      </p:pic>
      <p:sp>
        <p:nvSpPr>
          <p:cNvPr id="8" name="Rectangle 7"/>
          <p:cNvSpPr/>
          <p:nvPr/>
        </p:nvSpPr>
        <p:spPr>
          <a:xfrm>
            <a:off x="6949440" y="187451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949440" y="1874519"/>
            <a:ext cx="82296"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05472" y="1874519"/>
            <a:ext cx="4005072" cy="1325880"/>
          </a:xfrm>
          <a:prstGeom prst="rect">
            <a:avLst/>
          </a:prstGeom>
          <a:noFill/>
        </p:spPr>
        <p:txBody>
          <a:bodyPr wrap="square" anchor="ctr">
            <a:spAutoFit/>
          </a:bodyPr>
          <a:lstStyle/>
          <a:p>
            <a:pPr algn="l">
              <a:spcAft>
                <a:spcPts val="300"/>
              </a:spcAft>
            </a:pPr>
            <a:r>
              <a:rPr sz="1400" b="1">
                <a:solidFill>
                  <a:srgbClr val="1F6FEB"/>
                </a:solidFill>
                <a:latin typeface="Arial"/>
              </a:rPr>
              <a:t>Loop</a:t>
            </a:r>
          </a:p>
          <a:p>
            <a:pPr algn="l">
              <a:spcAft>
                <a:spcPts val="300"/>
              </a:spcAft>
            </a:pPr>
            <a:r>
              <a:rPr sz="1200" b="0">
                <a:solidFill>
                  <a:srgbClr val="161B26"/>
                </a:solidFill>
                <a:latin typeface="Arial"/>
              </a:rPr>
              <a:t>Gather context, plan, act and verify until the goal is met</a:t>
            </a:r>
          </a:p>
        </p:txBody>
      </p:sp>
      <p:sp>
        <p:nvSpPr>
          <p:cNvPr id="11" name="Rectangle 10"/>
          <p:cNvSpPr/>
          <p:nvPr/>
        </p:nvSpPr>
        <p:spPr>
          <a:xfrm>
            <a:off x="6949440" y="338327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949440" y="3383279"/>
            <a:ext cx="82296"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05472" y="3383279"/>
            <a:ext cx="4005072" cy="1325880"/>
          </a:xfrm>
          <a:prstGeom prst="rect">
            <a:avLst/>
          </a:prstGeom>
          <a:noFill/>
        </p:spPr>
        <p:txBody>
          <a:bodyPr wrap="square" anchor="ctr">
            <a:spAutoFit/>
          </a:bodyPr>
          <a:lstStyle/>
          <a:p>
            <a:pPr algn="l">
              <a:spcAft>
                <a:spcPts val="300"/>
              </a:spcAft>
            </a:pPr>
            <a:r>
              <a:rPr sz="1400" b="1">
                <a:solidFill>
                  <a:srgbClr val="10B981"/>
                </a:solidFill>
                <a:latin typeface="Arial"/>
              </a:rPr>
              <a:t>Tools</a:t>
            </a:r>
          </a:p>
          <a:p>
            <a:pPr algn="l">
              <a:spcAft>
                <a:spcPts val="300"/>
              </a:spcAft>
            </a:pPr>
            <a:r>
              <a:rPr sz="1200" b="0">
                <a:solidFill>
                  <a:srgbClr val="161B26"/>
                </a:solidFill>
                <a:latin typeface="Arial"/>
              </a:rPr>
              <a:t>The harness gives the model controlled ways to affect real systems</a:t>
            </a:r>
          </a:p>
        </p:txBody>
      </p:sp>
      <p:sp>
        <p:nvSpPr>
          <p:cNvPr id="14" name="Rectangle 13"/>
          <p:cNvSpPr/>
          <p:nvPr/>
        </p:nvSpPr>
        <p:spPr>
          <a:xfrm>
            <a:off x="6949440" y="489203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949440" y="4892039"/>
            <a:ext cx="82296"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05472" y="4892039"/>
            <a:ext cx="4005072" cy="1325880"/>
          </a:xfrm>
          <a:prstGeom prst="rect">
            <a:avLst/>
          </a:prstGeom>
          <a:noFill/>
        </p:spPr>
        <p:txBody>
          <a:bodyPr wrap="square" anchor="ctr">
            <a:spAutoFit/>
          </a:bodyPr>
          <a:lstStyle/>
          <a:p>
            <a:pPr algn="l">
              <a:spcAft>
                <a:spcPts val="300"/>
              </a:spcAft>
            </a:pPr>
            <a:r>
              <a:rPr sz="1400" b="1">
                <a:solidFill>
                  <a:srgbClr val="7C3AED"/>
                </a:solidFill>
                <a:latin typeface="Arial"/>
              </a:rPr>
              <a:t>Safety</a:t>
            </a:r>
          </a:p>
          <a:p>
            <a:pPr algn="l">
              <a:spcAft>
                <a:spcPts val="300"/>
              </a:spcAft>
            </a:pPr>
            <a:r>
              <a:rPr sz="1200" b="0">
                <a:solidFill>
                  <a:srgbClr val="161B26"/>
                </a:solidFill>
                <a:latin typeface="Arial"/>
              </a:rPr>
              <a:t>Permissions, sandboxes and verification constrain each action</a:t>
            </a:r>
          </a:p>
        </p:txBody>
      </p:sp>
      <p:sp>
        <p:nvSpPr>
          <p:cNvPr id="17" name="Rectangle 16"/>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3"/>
              </a:rPr>
              <a:t>Anthropic (code.claude.com)</a:t>
            </a:r>
            <a:r>
              <a:rPr sz="900">
                <a:solidFill>
                  <a:srgbClr val="5B6372"/>
                </a:solidFill>
                <a:latin typeface="Arial"/>
              </a:rPr>
              <a:t>   ·   </a:t>
            </a:r>
            <a:r>
              <a:rPr sz="900">
                <a:solidFill>
                  <a:srgbClr val="1F6FEB"/>
                </a:solidFill>
                <a:latin typeface="Arial"/>
                <a:hlinkClick r:id="rId4"/>
              </a:rPr>
              <a:t>OpenAI (openai.com)</a:t>
            </a:r>
          </a:p>
        </p:txBody>
      </p:sp>
      <p:sp>
        <p:nvSpPr>
          <p:cNvPr id="20" name="TextBox 1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1" name="TextBox 2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2" name="TextBox 2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2026 — The Year of AI Agents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Personal and organisational agents such as OpenClaw and Hermes reached everyday users</a:t>
            </a:r>
          </a:p>
          <a:p>
            <a:pPr>
              <a:spcAft>
                <a:spcPts val="1000"/>
              </a:spcAft>
            </a:pPr>
            <a:r>
              <a:rPr sz="1700" b="0">
                <a:solidFill>
                  <a:srgbClr val="161B26"/>
                </a:solidFill>
                <a:latin typeface="Arial"/>
              </a:rPr>
              <a:t>•  Agents now live inside WhatsApp, Telegram, email and business apps</a:t>
            </a:r>
          </a:p>
          <a:p>
            <a:pPr>
              <a:spcAft>
                <a:spcPts val="1000"/>
              </a:spcAft>
            </a:pPr>
            <a:r>
              <a:rPr sz="1700" b="0">
                <a:solidFill>
                  <a:srgbClr val="161B26"/>
                </a:solidFill>
                <a:latin typeface="Arial"/>
              </a:rPr>
              <a:t>•  The question shifted again: how do we let agents act safely on our behalf?</a:t>
            </a:r>
          </a:p>
        </p:txBody>
      </p:sp>
      <p:sp>
        <p:nvSpPr>
          <p:cNvPr id="7" name="Rectangle 6"/>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OpenClaw (en.wikipedia.org)</a:t>
            </a:r>
            <a:r>
              <a:rPr sz="900">
                <a:solidFill>
                  <a:srgbClr val="5B6372"/>
                </a:solidFill>
                <a:latin typeface="Arial"/>
              </a:rPr>
              <a:t>   ·   </a:t>
            </a:r>
            <a:r>
              <a:rPr sz="900">
                <a:solidFill>
                  <a:srgbClr val="1F6FEB"/>
                </a:solidFill>
                <a:latin typeface="Arial"/>
                <a:hlinkClick r:id="rId3"/>
              </a:rPr>
              <a:t>Hermes Agent (Nous Research) (hermes-agent.nousresearch.com)</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How Generative AI Works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Training, inference, and the autoregressive language model.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20</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What 'Generative' Means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Generative AI</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Produces new text, image, audio, video or code from patterns it has learned</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Discriminative AI</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Sorts or scores existing input — spam / not-spam, fraud / not-fraud</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Why it matters</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Service teams use both: generate a reply, and classify a request</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Two Phases: Training and Inference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Gather large text corpora</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Train — adjust billions of parameters</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Ship the model</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Inference — you prompt, it responds</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Training happens once and is expensive; inference happens every time you use the model.</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S06</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How an Autoregressive LLM Writes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Read your context as tokens</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Predict the next token's probabilities</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Pick one token</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Append it and repeat</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A large language model writes one token at a time, each based on everything before it.</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S05</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Why the Same Prompt Can Differ</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Probabilities</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The model samples from likely next tokens, not a fixed lookup</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Temperature</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Higher settings add variety; lower settings add consistency</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Context</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Change the surrounding information and the whole answer shifts</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Strengths and Limits for Service Work</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Strong at</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Drafting, summarising, translating, reformatting, brainstorming</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Weak at</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Facts it was never given — it can sound confident yet be wrong</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Rule</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Treat fluent output as a draft to verify, not as truth</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Probabilistic Output — Why Traditional Security Struggles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5212080" cy="3703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355080" y="1783080"/>
            <a:ext cx="5074920" cy="3703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7C3AED"/>
                </a:solidFill>
                <a:latin typeface="Arial"/>
              </a:rPr>
              <a:t>Traditional software</a:t>
            </a:r>
          </a:p>
        </p:txBody>
      </p:sp>
      <p:sp>
        <p:nvSpPr>
          <p:cNvPr id="11" name="TextBox 10"/>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 large language model</a:t>
            </a:r>
          </a:p>
        </p:txBody>
      </p:sp>
      <p:sp>
        <p:nvSpPr>
          <p:cNvPr id="12" name="TextBox 11"/>
          <p:cNvSpPr txBox="1"/>
          <p:nvPr/>
        </p:nvSpPr>
        <p:spPr>
          <a:xfrm>
            <a:off x="1005840" y="2468880"/>
            <a:ext cx="4754880" cy="2880360"/>
          </a:xfrm>
          <a:prstGeom prst="rect">
            <a:avLst/>
          </a:prstGeom>
          <a:noFill/>
        </p:spPr>
        <p:txBody>
          <a:bodyPr wrap="square">
            <a:spAutoFit/>
          </a:bodyPr>
          <a:lstStyle/>
          <a:p>
            <a:pPr>
              <a:spcAft>
                <a:spcPts val="1000"/>
              </a:spcAft>
            </a:pPr>
            <a:r>
              <a:rPr sz="1500" b="0">
                <a:solidFill>
                  <a:srgbClr val="161B26"/>
                </a:solidFill>
                <a:latin typeface="Arial"/>
              </a:rPr>
              <a:t>•  Deterministic — the same input always produces the same output</a:t>
            </a:r>
          </a:p>
          <a:p>
            <a:pPr>
              <a:spcAft>
                <a:spcPts val="1000"/>
              </a:spcAft>
            </a:pPr>
            <a:r>
              <a:rPr sz="1500" b="0">
                <a:solidFill>
                  <a:srgbClr val="161B26"/>
                </a:solidFill>
                <a:latin typeface="Arial"/>
              </a:rPr>
              <a:t>•  Behaviour can be fully tested before release</a:t>
            </a:r>
          </a:p>
          <a:p>
            <a:pPr>
              <a:spcAft>
                <a:spcPts val="1000"/>
              </a:spcAft>
            </a:pPr>
            <a:r>
              <a:rPr sz="1500" b="0">
                <a:solidFill>
                  <a:srgbClr val="161B26"/>
                </a:solidFill>
                <a:latin typeface="Arial"/>
              </a:rPr>
              <a:t>•  Firewalls and filters match known, fixed patterns</a:t>
            </a:r>
          </a:p>
          <a:p>
            <a:pPr>
              <a:spcAft>
                <a:spcPts val="1000"/>
              </a:spcAft>
            </a:pPr>
            <a:r>
              <a:rPr sz="1500" b="0">
                <a:solidFill>
                  <a:srgbClr val="161B26"/>
                </a:solidFill>
                <a:latin typeface="Arial"/>
              </a:rPr>
              <a:t>•  An unexpected output is a bug you can reproduce and patch</a:t>
            </a:r>
          </a:p>
        </p:txBody>
      </p:sp>
      <p:sp>
        <p:nvSpPr>
          <p:cNvPr id="13" name="TextBox 12"/>
          <p:cNvSpPr txBox="1"/>
          <p:nvPr/>
        </p:nvSpPr>
        <p:spPr>
          <a:xfrm>
            <a:off x="6583680" y="2468880"/>
            <a:ext cx="4617720" cy="2880360"/>
          </a:xfrm>
          <a:prstGeom prst="rect">
            <a:avLst/>
          </a:prstGeom>
          <a:noFill/>
        </p:spPr>
        <p:txBody>
          <a:bodyPr wrap="square">
            <a:spAutoFit/>
          </a:bodyPr>
          <a:lstStyle/>
          <a:p>
            <a:pPr>
              <a:spcAft>
                <a:spcPts val="1000"/>
              </a:spcAft>
            </a:pPr>
            <a:r>
              <a:rPr sz="1500" b="0">
                <a:solidFill>
                  <a:srgbClr val="161B26"/>
                </a:solidFill>
                <a:latin typeface="Arial"/>
              </a:rPr>
              <a:t>•  Probabilistic — the same prompt can produce a different answer every run</a:t>
            </a:r>
          </a:p>
          <a:p>
            <a:pPr>
              <a:spcAft>
                <a:spcPts val="1000"/>
              </a:spcAft>
            </a:pPr>
            <a:r>
              <a:rPr sz="1500" b="0">
                <a:solidFill>
                  <a:srgbClr val="161B26"/>
                </a:solidFill>
                <a:latin typeface="Arial"/>
              </a:rPr>
              <a:t>•  The space of possible outputs can never be fully tested</a:t>
            </a:r>
          </a:p>
          <a:p>
            <a:pPr>
              <a:spcAft>
                <a:spcPts val="1000"/>
              </a:spcAft>
            </a:pPr>
            <a:r>
              <a:rPr sz="1500" b="0">
                <a:solidFill>
                  <a:srgbClr val="161B26"/>
                </a:solidFill>
                <a:latin typeface="Arial"/>
              </a:rPr>
              <a:t>•  There is no fixed signature — a harmful answer can look new every time</a:t>
            </a:r>
          </a:p>
          <a:p>
            <a:pPr>
              <a:spcAft>
                <a:spcPts val="1000"/>
              </a:spcAft>
            </a:pPr>
            <a:r>
              <a:rPr sz="1500" b="0">
                <a:solidFill>
                  <a:srgbClr val="161B26"/>
                </a:solidFill>
                <a:latin typeface="Arial"/>
              </a:rPr>
              <a:t>•  An unexpected output is normal behaviour, not a fault</a:t>
            </a:r>
          </a:p>
        </p:txBody>
      </p:sp>
      <p:sp>
        <p:nvSpPr>
          <p:cNvPr id="14" name="TextBox 13"/>
          <p:cNvSpPr txBox="1"/>
          <p:nvPr/>
        </p:nvSpPr>
        <p:spPr>
          <a:xfrm>
            <a:off x="777240" y="5614416"/>
            <a:ext cx="10698480" cy="457200"/>
          </a:xfrm>
          <a:prstGeom prst="rect">
            <a:avLst/>
          </a:prstGeom>
          <a:noFill/>
        </p:spPr>
        <p:txBody>
          <a:bodyPr wrap="square" anchor="ctr">
            <a:spAutoFit/>
          </a:bodyPr>
          <a:lstStyle/>
          <a:p>
            <a:pPr algn="ctr">
              <a:spcAft>
                <a:spcPts val="400"/>
              </a:spcAft>
            </a:pPr>
            <a:r>
              <a:rPr sz="1230" b="0">
                <a:solidFill>
                  <a:srgbClr val="5B6372"/>
                </a:solidFill>
                <a:latin typeface="Arial"/>
              </a:rPr>
              <a:t>You cannot write a rule for every possible answer — so security must also watch what the model says and does, not just what goes in.</a:t>
            </a:r>
          </a:p>
        </p:txBody>
      </p:sp>
      <p:sp>
        <p:nvSpPr>
          <p:cNvPr id="15" name="TextBox 1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a:t>
            </a:r>
          </a:p>
        </p:txBody>
      </p:sp>
      <p:sp>
        <p:nvSpPr>
          <p:cNvPr id="16" name="TextBox 1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7" name="TextBox 1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8" name="TextBox 1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Generative AI in the Real World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Real, dated examples — how generation is already changing work.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27</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Fashion Models Are Now Generated</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746504"/>
            <a:ext cx="4133088" cy="4352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ashion-model-synthetic-v41.png"/>
          <p:cNvPicPr>
            <a:picLocks noChangeAspect="1"/>
          </p:cNvPicPr>
          <p:nvPr/>
        </p:nvPicPr>
        <p:blipFill>
          <a:blip r:embed="rId2"/>
          <a:srcRect t="3500" b="26214"/>
          <a:stretch>
            <a:fillRect/>
          </a:stretch>
        </p:blipFill>
        <p:spPr>
          <a:xfrm>
            <a:off x="777240" y="1792224"/>
            <a:ext cx="4041648" cy="4261104"/>
          </a:xfrm>
          <a:prstGeom prst="rect">
            <a:avLst/>
          </a:prstGeom>
        </p:spPr>
      </p:pic>
      <p:sp>
        <p:nvSpPr>
          <p:cNvPr id="8" name="Rectangle 7"/>
          <p:cNvSpPr/>
          <p:nvPr/>
        </p:nvSpPr>
        <p:spPr>
          <a:xfrm>
            <a:off x="777240" y="5577840"/>
            <a:ext cx="4041648" cy="4754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5669280"/>
            <a:ext cx="3712464" cy="256032"/>
          </a:xfrm>
          <a:prstGeom prst="rect">
            <a:avLst/>
          </a:prstGeom>
          <a:noFill/>
        </p:spPr>
        <p:txBody>
          <a:bodyPr wrap="square" anchor="t">
            <a:spAutoFit/>
          </a:bodyPr>
          <a:lstStyle/>
          <a:p>
            <a:pPr algn="ctr">
              <a:spcAft>
                <a:spcPts val="400"/>
              </a:spcAft>
            </a:pPr>
            <a:r>
              <a:rPr sz="950" b="1">
                <a:solidFill>
                  <a:srgbClr val="FFFFFF"/>
                </a:solidFill>
                <a:latin typeface="Arial"/>
              </a:rPr>
              <a:t>SYNTHETIC MODEL · IMAGEGEN</a:t>
            </a:r>
          </a:p>
        </p:txBody>
      </p:sp>
      <p:sp>
        <p:nvSpPr>
          <p:cNvPr id="10" name="Rectangle 9"/>
          <p:cNvSpPr/>
          <p:nvPr/>
        </p:nvSpPr>
        <p:spPr>
          <a:xfrm>
            <a:off x="5138928" y="1792224"/>
            <a:ext cx="6272784" cy="1307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138928" y="1792224"/>
            <a:ext cx="91440" cy="1307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340096" y="1993392"/>
            <a:ext cx="438912" cy="43891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40096" y="1993392"/>
            <a:ext cx="438912" cy="438912"/>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4" name="TextBox 13"/>
          <p:cNvSpPr txBox="1"/>
          <p:nvPr/>
        </p:nvSpPr>
        <p:spPr>
          <a:xfrm>
            <a:off x="5925312" y="1938528"/>
            <a:ext cx="5266944" cy="310896"/>
          </a:xfrm>
          <a:prstGeom prst="rect">
            <a:avLst/>
          </a:prstGeom>
          <a:noFill/>
        </p:spPr>
        <p:txBody>
          <a:bodyPr wrap="square" anchor="t">
            <a:spAutoFit/>
          </a:bodyPr>
          <a:lstStyle/>
          <a:p>
            <a:pPr algn="l">
              <a:spcAft>
                <a:spcPts val="400"/>
              </a:spcAft>
            </a:pPr>
            <a:r>
              <a:rPr sz="1450" b="1">
                <a:solidFill>
                  <a:srgbClr val="1F6FEB"/>
                </a:solidFill>
                <a:latin typeface="Arial"/>
              </a:rPr>
              <a:t>Mango, Jul 2024</a:t>
            </a:r>
          </a:p>
        </p:txBody>
      </p:sp>
      <p:sp>
        <p:nvSpPr>
          <p:cNvPr id="15" name="TextBox 14"/>
          <p:cNvSpPr txBox="1"/>
          <p:nvPr/>
        </p:nvSpPr>
        <p:spPr>
          <a:xfrm>
            <a:off x="5925312" y="2295144"/>
            <a:ext cx="5266944" cy="658368"/>
          </a:xfrm>
          <a:prstGeom prst="rect">
            <a:avLst/>
          </a:prstGeom>
          <a:noFill/>
        </p:spPr>
        <p:txBody>
          <a:bodyPr wrap="square" anchor="t">
            <a:spAutoFit/>
          </a:bodyPr>
          <a:lstStyle/>
          <a:p>
            <a:pPr algn="l">
              <a:spcAft>
                <a:spcPts val="400"/>
              </a:spcAft>
            </a:pPr>
            <a:r>
              <a:rPr sz="1180" b="0">
                <a:solidFill>
                  <a:srgbClr val="161B26"/>
                </a:solidFill>
                <a:latin typeface="Arial"/>
              </a:rPr>
              <a:t>Ran its first fully AI-generated campaign for its teen 'Sunset Dream' line across 95 markets</a:t>
            </a:r>
          </a:p>
        </p:txBody>
      </p:sp>
      <p:sp>
        <p:nvSpPr>
          <p:cNvPr id="16" name="Rectangle 15"/>
          <p:cNvSpPr/>
          <p:nvPr/>
        </p:nvSpPr>
        <p:spPr>
          <a:xfrm>
            <a:off x="5138928" y="3264408"/>
            <a:ext cx="6272784" cy="1307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138928" y="3264408"/>
            <a:ext cx="91440" cy="1307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340096" y="3465576"/>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40096" y="3465576"/>
            <a:ext cx="438912" cy="438912"/>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20" name="TextBox 19"/>
          <p:cNvSpPr txBox="1"/>
          <p:nvPr/>
        </p:nvSpPr>
        <p:spPr>
          <a:xfrm>
            <a:off x="5925312" y="3410712"/>
            <a:ext cx="5266944" cy="310896"/>
          </a:xfrm>
          <a:prstGeom prst="rect">
            <a:avLst/>
          </a:prstGeom>
          <a:noFill/>
        </p:spPr>
        <p:txBody>
          <a:bodyPr wrap="square" anchor="t">
            <a:spAutoFit/>
          </a:bodyPr>
          <a:lstStyle/>
          <a:p>
            <a:pPr algn="l">
              <a:spcAft>
                <a:spcPts val="400"/>
              </a:spcAft>
            </a:pPr>
            <a:r>
              <a:rPr sz="1450" b="1">
                <a:solidFill>
                  <a:srgbClr val="10B981"/>
                </a:solidFill>
                <a:latin typeface="Arial"/>
              </a:rPr>
              <a:t>H&amp;M, 2025</a:t>
            </a:r>
          </a:p>
        </p:txBody>
      </p:sp>
      <p:sp>
        <p:nvSpPr>
          <p:cNvPr id="21" name="TextBox 20"/>
          <p:cNvSpPr txBox="1"/>
          <p:nvPr/>
        </p:nvSpPr>
        <p:spPr>
          <a:xfrm>
            <a:off x="5925312" y="3767328"/>
            <a:ext cx="5266944" cy="658368"/>
          </a:xfrm>
          <a:prstGeom prst="rect">
            <a:avLst/>
          </a:prstGeom>
          <a:noFill/>
        </p:spPr>
        <p:txBody>
          <a:bodyPr wrap="square" anchor="t">
            <a:spAutoFit/>
          </a:bodyPr>
          <a:lstStyle/>
          <a:p>
            <a:pPr algn="l">
              <a:spcAft>
                <a:spcPts val="400"/>
              </a:spcAft>
            </a:pPr>
            <a:r>
              <a:rPr sz="1180" b="0">
                <a:solidFill>
                  <a:srgbClr val="161B26"/>
                </a:solidFill>
                <a:latin typeface="Arial"/>
              </a:rPr>
              <a:t>Announced AI 'digital twins' of 30 real models; first labelled images appeared mid-2025</a:t>
            </a:r>
          </a:p>
        </p:txBody>
      </p:sp>
      <p:sp>
        <p:nvSpPr>
          <p:cNvPr id="22" name="Rectangle 21"/>
          <p:cNvSpPr/>
          <p:nvPr/>
        </p:nvSpPr>
        <p:spPr>
          <a:xfrm>
            <a:off x="5138928" y="4736592"/>
            <a:ext cx="6272784" cy="1307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38928" y="4736592"/>
            <a:ext cx="91440" cy="1307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340096" y="4937760"/>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40096" y="4937760"/>
            <a:ext cx="438912" cy="438912"/>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26" name="TextBox 25"/>
          <p:cNvSpPr txBox="1"/>
          <p:nvPr/>
        </p:nvSpPr>
        <p:spPr>
          <a:xfrm>
            <a:off x="5925312" y="4882896"/>
            <a:ext cx="5266944" cy="310896"/>
          </a:xfrm>
          <a:prstGeom prst="rect">
            <a:avLst/>
          </a:prstGeom>
          <a:noFill/>
        </p:spPr>
        <p:txBody>
          <a:bodyPr wrap="square" anchor="t">
            <a:spAutoFit/>
          </a:bodyPr>
          <a:lstStyle/>
          <a:p>
            <a:pPr algn="l">
              <a:spcAft>
                <a:spcPts val="400"/>
              </a:spcAft>
            </a:pPr>
            <a:r>
              <a:rPr sz="1450" b="1">
                <a:solidFill>
                  <a:srgbClr val="7C3AED"/>
                </a:solidFill>
                <a:latin typeface="Arial"/>
              </a:rPr>
              <a:t>Guess, Aug 2025</a:t>
            </a:r>
          </a:p>
        </p:txBody>
      </p:sp>
      <p:sp>
        <p:nvSpPr>
          <p:cNvPr id="27" name="TextBox 26"/>
          <p:cNvSpPr txBox="1"/>
          <p:nvPr/>
        </p:nvSpPr>
        <p:spPr>
          <a:xfrm>
            <a:off x="5925312" y="5239512"/>
            <a:ext cx="5266944" cy="658368"/>
          </a:xfrm>
          <a:prstGeom prst="rect">
            <a:avLst/>
          </a:prstGeom>
          <a:noFill/>
        </p:spPr>
        <p:txBody>
          <a:bodyPr wrap="square" anchor="t">
            <a:spAutoFit/>
          </a:bodyPr>
          <a:lstStyle/>
          <a:p>
            <a:pPr algn="l">
              <a:spcAft>
                <a:spcPts val="400"/>
              </a:spcAft>
            </a:pPr>
            <a:r>
              <a:rPr sz="1180" b="0">
                <a:solidFill>
                  <a:srgbClr val="161B26"/>
                </a:solidFill>
                <a:latin typeface="Arial"/>
              </a:rPr>
              <a:t>A Guess ad using AI-generated models ran in Vogue's August issue and drew wide debate</a:t>
            </a:r>
          </a:p>
        </p:txBody>
      </p:sp>
      <p:sp>
        <p:nvSpPr>
          <p:cNvPr id="28" name="Rectangle 27"/>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3"/>
              </a:rPr>
              <a:t>PetaPixel (petapixel.com)</a:t>
            </a:r>
            <a:r>
              <a:rPr sz="900">
                <a:solidFill>
                  <a:srgbClr val="5B6372"/>
                </a:solidFill>
                <a:latin typeface="Arial"/>
              </a:rPr>
              <a:t>   ·   </a:t>
            </a:r>
            <a:r>
              <a:rPr sz="900">
                <a:solidFill>
                  <a:srgbClr val="1F6FEB"/>
                </a:solidFill>
                <a:latin typeface="Arial"/>
                <a:hlinkClick r:id="rId4"/>
              </a:rPr>
              <a:t>Process Excellence Network (processexcellencenetwork.com)</a:t>
            </a:r>
            <a:r>
              <a:rPr sz="900">
                <a:solidFill>
                  <a:srgbClr val="5B6372"/>
                </a:solidFill>
                <a:latin typeface="Arial"/>
              </a:rPr>
              <a:t>   ·   </a:t>
            </a:r>
            <a:r>
              <a:rPr sz="900">
                <a:solidFill>
                  <a:srgbClr val="1F6FEB"/>
                </a:solidFill>
                <a:latin typeface="Arial"/>
                <a:hlinkClick r:id="rId5"/>
              </a:rPr>
              <a:t>ABC News (abcnews.com)</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AI-Generated Video Is Overtaking Whole Industries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24128" y="1755648"/>
            <a:ext cx="2394584" cy="41148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24128" y="1517904"/>
            <a:ext cx="2394584" cy="274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536192"/>
            <a:ext cx="2394584" cy="219456"/>
          </a:xfrm>
          <a:prstGeom prst="rect">
            <a:avLst/>
          </a:prstGeom>
          <a:noFill/>
        </p:spPr>
        <p:txBody>
          <a:bodyPr wrap="square" anchor="t">
            <a:spAutoFit/>
          </a:bodyPr>
          <a:lstStyle/>
          <a:p>
            <a:pPr algn="ctr">
              <a:spcAft>
                <a:spcPts val="400"/>
              </a:spcAft>
            </a:pPr>
            <a:r>
              <a:rPr sz="800" b="1">
                <a:solidFill>
                  <a:srgbClr val="FFFFFF"/>
                </a:solidFill>
                <a:latin typeface="Arial"/>
              </a:rPr>
              <a:t>EMBEDDED VIDEO · PLAYS IN SLIDESHOW</a:t>
            </a:r>
          </a:p>
        </p:txBody>
      </p:sp>
      <p:pic>
        <p:nvPicPr>
          <p:cNvPr id="9" name="ai_singer.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15568" y="1847088"/>
            <a:ext cx="2211704" cy="3931920"/>
          </a:xfrm>
          <a:prstGeom prst="rect">
            <a:avLst/>
          </a:prstGeom>
        </p:spPr>
      </p:pic>
      <p:sp>
        <p:nvSpPr>
          <p:cNvPr id="10" name="Rectangle 9"/>
          <p:cNvSpPr/>
          <p:nvPr/>
        </p:nvSpPr>
        <p:spPr>
          <a:xfrm>
            <a:off x="3830192" y="1783080"/>
            <a:ext cx="758152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30192" y="1783080"/>
            <a:ext cx="82296" cy="9029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86224" y="1783080"/>
            <a:ext cx="7124320" cy="902970"/>
          </a:xfrm>
          <a:prstGeom prst="rect">
            <a:avLst/>
          </a:prstGeom>
          <a:noFill/>
        </p:spPr>
        <p:txBody>
          <a:bodyPr wrap="square" anchor="ctr">
            <a:spAutoFit/>
          </a:bodyPr>
          <a:lstStyle/>
          <a:p>
            <a:pPr algn="l">
              <a:spcAft>
                <a:spcPts val="300"/>
              </a:spcAft>
            </a:pPr>
            <a:r>
              <a:rPr sz="1500" b="1">
                <a:solidFill>
                  <a:srgbClr val="1F6FEB"/>
                </a:solidFill>
                <a:latin typeface="Arial"/>
              </a:rPr>
              <a:t>Music</a:t>
            </a:r>
          </a:p>
          <a:p>
            <a:pPr algn="l">
              <a:spcAft>
                <a:spcPts val="300"/>
              </a:spcAft>
            </a:pPr>
            <a:r>
              <a:rPr sz="1250" b="0">
                <a:solidFill>
                  <a:srgbClr val="161B26"/>
                </a:solidFill>
                <a:latin typeface="Arial"/>
              </a:rPr>
              <a:t>This AI-generated singer — no camera, cast or crew — shows how AI is reshaping the music industry</a:t>
            </a:r>
          </a:p>
        </p:txBody>
      </p:sp>
      <p:sp>
        <p:nvSpPr>
          <p:cNvPr id="13" name="Rectangle 12"/>
          <p:cNvSpPr/>
          <p:nvPr/>
        </p:nvSpPr>
        <p:spPr>
          <a:xfrm>
            <a:off x="3830192" y="2868930"/>
            <a:ext cx="758152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30192" y="2868930"/>
            <a:ext cx="82296" cy="9029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86224" y="2868930"/>
            <a:ext cx="7124320" cy="902970"/>
          </a:xfrm>
          <a:prstGeom prst="rect">
            <a:avLst/>
          </a:prstGeom>
          <a:noFill/>
        </p:spPr>
        <p:txBody>
          <a:bodyPr wrap="square" anchor="ctr">
            <a:spAutoFit/>
          </a:bodyPr>
          <a:lstStyle/>
          <a:p>
            <a:pPr algn="l">
              <a:spcAft>
                <a:spcPts val="300"/>
              </a:spcAft>
            </a:pPr>
            <a:r>
              <a:rPr sz="1500" b="1">
                <a:solidFill>
                  <a:srgbClr val="10B981"/>
                </a:solidFill>
                <a:latin typeface="Arial"/>
              </a:rPr>
              <a:t>Three industries</a:t>
            </a:r>
          </a:p>
          <a:p>
            <a:pPr algn="l">
              <a:spcAft>
                <a:spcPts val="300"/>
              </a:spcAft>
            </a:pPr>
            <a:r>
              <a:rPr sz="1250" b="0">
                <a:solidFill>
                  <a:srgbClr val="161B26"/>
                </a:solidFill>
                <a:latin typeface="Arial"/>
              </a:rPr>
              <a:t>The next three demos show marketing, film and how fast this is moving</a:t>
            </a:r>
          </a:p>
        </p:txBody>
      </p:sp>
      <p:sp>
        <p:nvSpPr>
          <p:cNvPr id="16" name="Rectangle 15"/>
          <p:cNvSpPr/>
          <p:nvPr/>
        </p:nvSpPr>
        <p:spPr>
          <a:xfrm>
            <a:off x="3830192" y="3954780"/>
            <a:ext cx="758152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830192" y="3954780"/>
            <a:ext cx="82296" cy="9029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86224" y="3954780"/>
            <a:ext cx="7124320" cy="902970"/>
          </a:xfrm>
          <a:prstGeom prst="rect">
            <a:avLst/>
          </a:prstGeom>
          <a:noFill/>
        </p:spPr>
        <p:txBody>
          <a:bodyPr wrap="square" anchor="ctr">
            <a:spAutoFit/>
          </a:bodyPr>
          <a:lstStyle/>
          <a:p>
            <a:pPr algn="l">
              <a:spcAft>
                <a:spcPts val="300"/>
              </a:spcAft>
            </a:pPr>
            <a:r>
              <a:rPr sz="1500" b="1">
                <a:solidFill>
                  <a:srgbClr val="7C3AED"/>
                </a:solidFill>
                <a:latin typeface="Arial"/>
              </a:rPr>
              <a:t>Made for feeds</a:t>
            </a:r>
          </a:p>
          <a:p>
            <a:pPr algn="l">
              <a:spcAft>
                <a:spcPts val="300"/>
              </a:spcAft>
            </a:pPr>
            <a:r>
              <a:rPr sz="1250" b="0">
                <a:solidFill>
                  <a:srgbClr val="161B26"/>
                </a:solidFill>
                <a:latin typeface="Arial"/>
              </a:rPr>
              <a:t>Vertical clips like this are built for TikTok, Reels and YouTube Shorts</a:t>
            </a:r>
          </a:p>
        </p:txBody>
      </p:sp>
      <p:sp>
        <p:nvSpPr>
          <p:cNvPr id="19" name="Rectangle 18"/>
          <p:cNvSpPr/>
          <p:nvPr/>
        </p:nvSpPr>
        <p:spPr>
          <a:xfrm>
            <a:off x="3830192" y="5040630"/>
            <a:ext cx="758152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830192" y="5040630"/>
            <a:ext cx="82296" cy="9029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86224" y="5040630"/>
            <a:ext cx="7124320" cy="902970"/>
          </a:xfrm>
          <a:prstGeom prst="rect">
            <a:avLst/>
          </a:prstGeom>
          <a:noFill/>
        </p:spPr>
        <p:txBody>
          <a:bodyPr wrap="square" anchor="ctr">
            <a:spAutoFit/>
          </a:bodyPr>
          <a:lstStyle/>
          <a:p>
            <a:pPr algn="l">
              <a:spcAft>
                <a:spcPts val="300"/>
              </a:spcAft>
            </a:pPr>
            <a:r>
              <a:rPr sz="1500" b="1">
                <a:solidFill>
                  <a:srgbClr val="F59E0B"/>
                </a:solidFill>
                <a:latin typeface="Arial"/>
              </a:rPr>
              <a:t>For your team</a:t>
            </a:r>
          </a:p>
          <a:p>
            <a:pPr algn="l">
              <a:spcAft>
                <a:spcPts val="300"/>
              </a:spcAft>
            </a:pPr>
            <a:r>
              <a:rPr sz="1250" b="0">
                <a:solidFill>
                  <a:srgbClr val="161B26"/>
                </a:solidFill>
                <a:latin typeface="Arial"/>
              </a:rPr>
              <a:t>Ask: where could you use this, and where would you not?</a:t>
            </a:r>
          </a:p>
        </p:txBody>
      </p:sp>
      <p:sp>
        <p:nvSpPr>
          <p:cNvPr id="22" name="TextBox 21"/>
          <p:cNvSpPr txBox="1"/>
          <p:nvPr/>
        </p:nvSpPr>
        <p:spPr>
          <a:xfrm>
            <a:off x="1024128" y="5888736"/>
            <a:ext cx="2394584" cy="310896"/>
          </a:xfrm>
          <a:prstGeom prst="rect">
            <a:avLst/>
          </a:prstGeom>
          <a:noFill/>
        </p:spPr>
        <p:txBody>
          <a:bodyPr wrap="square" anchor="t">
            <a:spAutoFit/>
          </a:bodyPr>
          <a:lstStyle/>
          <a:p>
            <a:pPr algn="ctr">
              <a:spcAft>
                <a:spcPts val="400"/>
              </a:spcAft>
            </a:pPr>
            <a:r>
              <a:rPr sz="950" b="0">
                <a:solidFill>
                  <a:srgbClr val="5B6372"/>
                </a:solidFill>
                <a:latin typeface="Arial"/>
              </a:rPr>
              <a:t>Click the video, then Play, in slideshow</a:t>
            </a:r>
          </a:p>
        </p:txBody>
      </p:sp>
      <p:sp>
        <p:nvSpPr>
          <p:cNvPr id="23" name="TextBox 22"/>
          <p:cNvSpPr txBox="1"/>
          <p:nvPr/>
        </p:nvSpPr>
        <p:spPr>
          <a:xfrm>
            <a:off x="3830192" y="6053328"/>
            <a:ext cx="7581520" cy="256032"/>
          </a:xfrm>
          <a:prstGeom prst="rect">
            <a:avLst/>
          </a:prstGeom>
          <a:noFill/>
        </p:spPr>
        <p:txBody>
          <a:bodyPr wrap="square" anchor="t">
            <a:spAutoFit/>
          </a:bodyPr>
          <a:lstStyle/>
          <a:p>
            <a:pPr algn="ctr">
              <a:spcAft>
                <a:spcPts val="400"/>
              </a:spcAft>
            </a:pPr>
            <a:r>
              <a:rPr sz="940" b="0">
                <a:solidFill>
                  <a:srgbClr val="5B6372"/>
                </a:solidFill>
                <a:latin typeface="Arial"/>
              </a:rPr>
              <a:t>The clip is embedded — click it and press Play in slideshow.</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AI in Marketing and Advertising</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24128" y="1755648"/>
            <a:ext cx="2394584" cy="41148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24128" y="1517904"/>
            <a:ext cx="2394584" cy="274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1536192"/>
            <a:ext cx="2394584" cy="219456"/>
          </a:xfrm>
          <a:prstGeom prst="rect">
            <a:avLst/>
          </a:prstGeom>
          <a:noFill/>
        </p:spPr>
        <p:txBody>
          <a:bodyPr wrap="square" anchor="t">
            <a:spAutoFit/>
          </a:bodyPr>
          <a:lstStyle/>
          <a:p>
            <a:pPr algn="ctr">
              <a:spcAft>
                <a:spcPts val="400"/>
              </a:spcAft>
            </a:pPr>
            <a:r>
              <a:rPr sz="800" b="1">
                <a:solidFill>
                  <a:srgbClr val="FFFFFF"/>
                </a:solidFill>
                <a:latin typeface="Arial"/>
              </a:rPr>
              <a:t>EMBEDDED VIDEO · PLAYS IN SLIDESHOW</a:t>
            </a:r>
          </a:p>
        </p:txBody>
      </p:sp>
      <p:pic>
        <p:nvPicPr>
          <p:cNvPr id="9" name="ai_marketing.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15568" y="1847088"/>
            <a:ext cx="2211704" cy="3931920"/>
          </a:xfrm>
          <a:prstGeom prst="rect">
            <a:avLst/>
          </a:prstGeom>
        </p:spPr>
      </p:pic>
      <p:sp>
        <p:nvSpPr>
          <p:cNvPr id="10" name="Rectangle 9"/>
          <p:cNvSpPr/>
          <p:nvPr/>
        </p:nvSpPr>
        <p:spPr>
          <a:xfrm>
            <a:off x="3830192" y="1783080"/>
            <a:ext cx="758152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30192" y="1783080"/>
            <a:ext cx="82296" cy="9029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86224" y="1783080"/>
            <a:ext cx="7124320" cy="902970"/>
          </a:xfrm>
          <a:prstGeom prst="rect">
            <a:avLst/>
          </a:prstGeom>
          <a:noFill/>
        </p:spPr>
        <p:txBody>
          <a:bodyPr wrap="square" anchor="ctr">
            <a:spAutoFit/>
          </a:bodyPr>
          <a:lstStyle/>
          <a:p>
            <a:pPr algn="l">
              <a:spcAft>
                <a:spcPts val="300"/>
              </a:spcAft>
            </a:pPr>
            <a:r>
              <a:rPr sz="1500" b="1">
                <a:solidFill>
                  <a:srgbClr val="1F6FEB"/>
                </a:solidFill>
                <a:latin typeface="Arial"/>
              </a:rPr>
              <a:t>Campaign in hours</a:t>
            </a:r>
          </a:p>
          <a:p>
            <a:pPr algn="l">
              <a:spcAft>
                <a:spcPts val="300"/>
              </a:spcAft>
            </a:pPr>
            <a:r>
              <a:rPr sz="1250" b="0">
                <a:solidFill>
                  <a:srgbClr val="161B26"/>
                </a:solidFill>
                <a:latin typeface="Arial"/>
              </a:rPr>
              <a:t>Brands now generate ad and campaign video in hours, not weeks</a:t>
            </a:r>
          </a:p>
        </p:txBody>
      </p:sp>
      <p:sp>
        <p:nvSpPr>
          <p:cNvPr id="13" name="Rectangle 12"/>
          <p:cNvSpPr/>
          <p:nvPr/>
        </p:nvSpPr>
        <p:spPr>
          <a:xfrm>
            <a:off x="3830192" y="2868930"/>
            <a:ext cx="758152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30192" y="2868930"/>
            <a:ext cx="82296" cy="9029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86224" y="2868930"/>
            <a:ext cx="7124320" cy="902970"/>
          </a:xfrm>
          <a:prstGeom prst="rect">
            <a:avLst/>
          </a:prstGeom>
          <a:noFill/>
        </p:spPr>
        <p:txBody>
          <a:bodyPr wrap="square" anchor="ctr">
            <a:spAutoFit/>
          </a:bodyPr>
          <a:lstStyle/>
          <a:p>
            <a:pPr algn="l">
              <a:spcAft>
                <a:spcPts val="300"/>
              </a:spcAft>
            </a:pPr>
            <a:r>
              <a:rPr sz="1500" b="1">
                <a:solidFill>
                  <a:srgbClr val="10B981"/>
                </a:solidFill>
                <a:latin typeface="Arial"/>
              </a:rPr>
              <a:t>No production crew</a:t>
            </a:r>
          </a:p>
          <a:p>
            <a:pPr algn="l">
              <a:spcAft>
                <a:spcPts val="300"/>
              </a:spcAft>
            </a:pPr>
            <a:r>
              <a:rPr sz="1250" b="0">
                <a:solidFill>
                  <a:srgbClr val="161B26"/>
                </a:solidFill>
                <a:latin typeface="Arial"/>
              </a:rPr>
              <a:t>No shoot, studio, cast or location — just a prompt and a model</a:t>
            </a:r>
          </a:p>
        </p:txBody>
      </p:sp>
      <p:sp>
        <p:nvSpPr>
          <p:cNvPr id="16" name="Rectangle 15"/>
          <p:cNvSpPr/>
          <p:nvPr/>
        </p:nvSpPr>
        <p:spPr>
          <a:xfrm>
            <a:off x="3830192" y="3954780"/>
            <a:ext cx="758152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830192" y="3954780"/>
            <a:ext cx="82296" cy="9029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86224" y="3954780"/>
            <a:ext cx="7124320" cy="902970"/>
          </a:xfrm>
          <a:prstGeom prst="rect">
            <a:avLst/>
          </a:prstGeom>
          <a:noFill/>
        </p:spPr>
        <p:txBody>
          <a:bodyPr wrap="square" anchor="ctr">
            <a:spAutoFit/>
          </a:bodyPr>
          <a:lstStyle/>
          <a:p>
            <a:pPr algn="l">
              <a:spcAft>
                <a:spcPts val="300"/>
              </a:spcAft>
            </a:pPr>
            <a:r>
              <a:rPr sz="1500" b="1">
                <a:solidFill>
                  <a:srgbClr val="7C3AED"/>
                </a:solidFill>
                <a:latin typeface="Arial"/>
              </a:rPr>
              <a:t>Coca-Cola</a:t>
            </a:r>
          </a:p>
          <a:p>
            <a:pPr algn="l">
              <a:spcAft>
                <a:spcPts val="300"/>
              </a:spcAft>
            </a:pPr>
            <a:r>
              <a:rPr sz="1250" b="0">
                <a:solidFill>
                  <a:srgbClr val="161B26"/>
                </a:solidFill>
                <a:latin typeface="Arial"/>
              </a:rPr>
              <a:t>Aired an AI-generated 'Holidays Are Coming' ad in 2024 and again in 2025</a:t>
            </a:r>
          </a:p>
        </p:txBody>
      </p:sp>
      <p:sp>
        <p:nvSpPr>
          <p:cNvPr id="19" name="Rectangle 18"/>
          <p:cNvSpPr/>
          <p:nvPr/>
        </p:nvSpPr>
        <p:spPr>
          <a:xfrm>
            <a:off x="3830192" y="5040630"/>
            <a:ext cx="758152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830192" y="5040630"/>
            <a:ext cx="82296" cy="9029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86224" y="5040630"/>
            <a:ext cx="7124320" cy="902970"/>
          </a:xfrm>
          <a:prstGeom prst="rect">
            <a:avLst/>
          </a:prstGeom>
          <a:noFill/>
        </p:spPr>
        <p:txBody>
          <a:bodyPr wrap="square" anchor="ctr">
            <a:spAutoFit/>
          </a:bodyPr>
          <a:lstStyle/>
          <a:p>
            <a:pPr algn="l">
              <a:spcAft>
                <a:spcPts val="300"/>
              </a:spcAft>
            </a:pPr>
            <a:r>
              <a:rPr sz="1500" b="1">
                <a:solidFill>
                  <a:srgbClr val="F59E0B"/>
                </a:solidFill>
                <a:latin typeface="Arial"/>
              </a:rPr>
              <a:t>Watch for</a:t>
            </a:r>
          </a:p>
          <a:p>
            <a:pPr algn="l">
              <a:spcAft>
                <a:spcPts val="300"/>
              </a:spcAft>
            </a:pPr>
            <a:r>
              <a:rPr sz="1250" b="0">
                <a:solidFill>
                  <a:srgbClr val="161B26"/>
                </a:solidFill>
                <a:latin typeface="Arial"/>
              </a:rPr>
              <a:t>Brand risk, authenticity and disclosure when the whole ad is synthetic</a:t>
            </a:r>
          </a:p>
        </p:txBody>
      </p:sp>
      <p:sp>
        <p:nvSpPr>
          <p:cNvPr id="22" name="TextBox 21"/>
          <p:cNvSpPr txBox="1"/>
          <p:nvPr/>
        </p:nvSpPr>
        <p:spPr>
          <a:xfrm>
            <a:off x="1024128" y="5888736"/>
            <a:ext cx="2394584" cy="310896"/>
          </a:xfrm>
          <a:prstGeom prst="rect">
            <a:avLst/>
          </a:prstGeom>
          <a:noFill/>
        </p:spPr>
        <p:txBody>
          <a:bodyPr wrap="square" anchor="t">
            <a:spAutoFit/>
          </a:bodyPr>
          <a:lstStyle/>
          <a:p>
            <a:pPr algn="ctr">
              <a:spcAft>
                <a:spcPts val="400"/>
              </a:spcAft>
            </a:pPr>
            <a:r>
              <a:rPr sz="950" b="0">
                <a:solidFill>
                  <a:srgbClr val="5B6372"/>
                </a:solidFill>
                <a:latin typeface="Arial"/>
              </a:rPr>
              <a:t>Click the video, then Play, in slideshow</a:t>
            </a:r>
          </a:p>
        </p:txBody>
      </p:sp>
      <p:sp>
        <p:nvSpPr>
          <p:cNvPr id="23" name="TextBox 22"/>
          <p:cNvSpPr txBox="1"/>
          <p:nvPr/>
        </p:nvSpPr>
        <p:spPr>
          <a:xfrm>
            <a:off x="3830192" y="6053328"/>
            <a:ext cx="7581520" cy="256032"/>
          </a:xfrm>
          <a:prstGeom prst="rect">
            <a:avLst/>
          </a:prstGeom>
          <a:noFill/>
        </p:spPr>
        <p:txBody>
          <a:bodyPr wrap="square" anchor="t">
            <a:spAutoFit/>
          </a:bodyPr>
          <a:lstStyle/>
          <a:p>
            <a:pPr algn="ctr">
              <a:spcAft>
                <a:spcPts val="400"/>
              </a:spcAft>
            </a:pPr>
            <a:r>
              <a:rPr sz="940" b="0">
                <a:solidFill>
                  <a:srgbClr val="5B6372"/>
                </a:solidFill>
                <a:latin typeface="Arial"/>
              </a:rPr>
              <a:t>Embedded clip — click and press Play. Discuss: would you trust an all-AI ad for your brand?</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AI in Film and Movies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2057400"/>
            <a:ext cx="4434840" cy="257460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68680" y="1819656"/>
            <a:ext cx="4434840" cy="274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837944"/>
            <a:ext cx="4434840" cy="219456"/>
          </a:xfrm>
          <a:prstGeom prst="rect">
            <a:avLst/>
          </a:prstGeom>
          <a:noFill/>
        </p:spPr>
        <p:txBody>
          <a:bodyPr wrap="square" anchor="t">
            <a:spAutoFit/>
          </a:bodyPr>
          <a:lstStyle/>
          <a:p>
            <a:pPr algn="ctr">
              <a:spcAft>
                <a:spcPts val="400"/>
              </a:spcAft>
            </a:pPr>
            <a:r>
              <a:rPr sz="800" b="1">
                <a:solidFill>
                  <a:srgbClr val="FFFFFF"/>
                </a:solidFill>
                <a:latin typeface="Arial"/>
              </a:rPr>
              <a:t>EMBEDDED VIDEO · PLAYS IN SLIDESHOW</a:t>
            </a:r>
          </a:p>
        </p:txBody>
      </p:sp>
      <p:pic>
        <p:nvPicPr>
          <p:cNvPr id="9" name="ai_movie.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60120" y="2148840"/>
            <a:ext cx="4251960" cy="2391727"/>
          </a:xfrm>
          <a:prstGeom prst="rect">
            <a:avLst/>
          </a:prstGeom>
        </p:spPr>
      </p:pic>
      <p:sp>
        <p:nvSpPr>
          <p:cNvPr id="10" name="Rectangle 9"/>
          <p:cNvSpPr/>
          <p:nvPr/>
        </p:nvSpPr>
        <p:spPr>
          <a:xfrm>
            <a:off x="5715000" y="1783080"/>
            <a:ext cx="569671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15000" y="1783080"/>
            <a:ext cx="82296" cy="9029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71032" y="1783080"/>
            <a:ext cx="5239512" cy="902970"/>
          </a:xfrm>
          <a:prstGeom prst="rect">
            <a:avLst/>
          </a:prstGeom>
          <a:noFill/>
        </p:spPr>
        <p:txBody>
          <a:bodyPr wrap="square" anchor="ctr">
            <a:spAutoFit/>
          </a:bodyPr>
          <a:lstStyle/>
          <a:p>
            <a:pPr algn="l">
              <a:spcAft>
                <a:spcPts val="300"/>
              </a:spcAft>
            </a:pPr>
            <a:r>
              <a:rPr sz="1500" b="1">
                <a:solidFill>
                  <a:srgbClr val="1F6FEB"/>
                </a:solidFill>
                <a:latin typeface="Arial"/>
              </a:rPr>
              <a:t>Into film production</a:t>
            </a:r>
          </a:p>
          <a:p>
            <a:pPr algn="l">
              <a:spcAft>
                <a:spcPts val="300"/>
              </a:spcAft>
            </a:pPr>
            <a:r>
              <a:rPr sz="1250" b="0">
                <a:solidFill>
                  <a:srgbClr val="161B26"/>
                </a:solidFill>
                <a:latin typeface="Arial"/>
              </a:rPr>
              <a:t>AI now generates visuals, scenes and effects for film</a:t>
            </a:r>
          </a:p>
        </p:txBody>
      </p:sp>
      <p:sp>
        <p:nvSpPr>
          <p:cNvPr id="13" name="Rectangle 12"/>
          <p:cNvSpPr/>
          <p:nvPr/>
        </p:nvSpPr>
        <p:spPr>
          <a:xfrm>
            <a:off x="5715000" y="2868930"/>
            <a:ext cx="569671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715000" y="2868930"/>
            <a:ext cx="82296" cy="9029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71032" y="2868930"/>
            <a:ext cx="5239512" cy="902970"/>
          </a:xfrm>
          <a:prstGeom prst="rect">
            <a:avLst/>
          </a:prstGeom>
          <a:noFill/>
        </p:spPr>
        <p:txBody>
          <a:bodyPr wrap="square" anchor="ctr">
            <a:spAutoFit/>
          </a:bodyPr>
          <a:lstStyle/>
          <a:p>
            <a:pPr algn="l">
              <a:spcAft>
                <a:spcPts val="300"/>
              </a:spcAft>
            </a:pPr>
            <a:r>
              <a:rPr sz="1500" b="1">
                <a:solidFill>
                  <a:srgbClr val="10B981"/>
                </a:solidFill>
                <a:latin typeface="Arial"/>
              </a:rPr>
              <a:t>Faster and cheaper</a:t>
            </a:r>
          </a:p>
          <a:p>
            <a:pPr algn="l">
              <a:spcAft>
                <a:spcPts val="300"/>
              </a:spcAft>
            </a:pPr>
            <a:r>
              <a:rPr sz="1250" b="0">
                <a:solidFill>
                  <a:srgbClr val="161B26"/>
                </a:solidFill>
                <a:latin typeface="Arial"/>
              </a:rPr>
              <a:t>Shots that needed a crew and budget can be generated</a:t>
            </a:r>
          </a:p>
        </p:txBody>
      </p:sp>
      <p:sp>
        <p:nvSpPr>
          <p:cNvPr id="16" name="Rectangle 15"/>
          <p:cNvSpPr/>
          <p:nvPr/>
        </p:nvSpPr>
        <p:spPr>
          <a:xfrm>
            <a:off x="5715000" y="3954780"/>
            <a:ext cx="569671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15000" y="3954780"/>
            <a:ext cx="82296" cy="9029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71032" y="3954780"/>
            <a:ext cx="5239512" cy="902970"/>
          </a:xfrm>
          <a:prstGeom prst="rect">
            <a:avLst/>
          </a:prstGeom>
          <a:noFill/>
        </p:spPr>
        <p:txBody>
          <a:bodyPr wrap="square" anchor="ctr">
            <a:spAutoFit/>
          </a:bodyPr>
          <a:lstStyle/>
          <a:p>
            <a:pPr algn="l">
              <a:spcAft>
                <a:spcPts val="300"/>
              </a:spcAft>
            </a:pPr>
            <a:r>
              <a:rPr sz="1500" b="1">
                <a:solidFill>
                  <a:srgbClr val="7C3AED"/>
                </a:solidFill>
                <a:latin typeface="Arial"/>
              </a:rPr>
              <a:t>Still maturing</a:t>
            </a:r>
          </a:p>
          <a:p>
            <a:pPr algn="l">
              <a:spcAft>
                <a:spcPts val="300"/>
              </a:spcAft>
            </a:pPr>
            <a:r>
              <a:rPr sz="1250" b="0">
                <a:solidFill>
                  <a:srgbClr val="161B26"/>
                </a:solidFill>
                <a:latin typeface="Arial"/>
              </a:rPr>
              <a:t>Consistency, control and rights are the open questions</a:t>
            </a:r>
          </a:p>
        </p:txBody>
      </p:sp>
      <p:sp>
        <p:nvSpPr>
          <p:cNvPr id="19" name="Rectangle 18"/>
          <p:cNvSpPr/>
          <p:nvPr/>
        </p:nvSpPr>
        <p:spPr>
          <a:xfrm>
            <a:off x="5715000" y="5040630"/>
            <a:ext cx="5696712"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715000" y="5040630"/>
            <a:ext cx="82296" cy="9029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71032" y="5040630"/>
            <a:ext cx="5239512" cy="902970"/>
          </a:xfrm>
          <a:prstGeom prst="rect">
            <a:avLst/>
          </a:prstGeom>
          <a:noFill/>
        </p:spPr>
        <p:txBody>
          <a:bodyPr wrap="square" anchor="ctr">
            <a:spAutoFit/>
          </a:bodyPr>
          <a:lstStyle/>
          <a:p>
            <a:pPr algn="l">
              <a:spcAft>
                <a:spcPts val="300"/>
              </a:spcAft>
            </a:pPr>
            <a:r>
              <a:rPr sz="1500" b="1">
                <a:solidFill>
                  <a:srgbClr val="F59E0B"/>
                </a:solidFill>
                <a:latin typeface="Arial"/>
              </a:rPr>
              <a:t>The takeaway</a:t>
            </a:r>
          </a:p>
          <a:p>
            <a:pPr algn="l">
              <a:spcAft>
                <a:spcPts val="300"/>
              </a:spcAft>
            </a:pPr>
            <a:r>
              <a:rPr sz="1250" b="0">
                <a:solidFill>
                  <a:srgbClr val="161B26"/>
                </a:solidFill>
                <a:latin typeface="Arial"/>
              </a:rPr>
              <a:t>Whole creative industries are being reshaped — fast</a:t>
            </a:r>
          </a:p>
        </p:txBody>
      </p:sp>
      <p:sp>
        <p:nvSpPr>
          <p:cNvPr id="22" name="TextBox 21"/>
          <p:cNvSpPr txBox="1"/>
          <p:nvPr/>
        </p:nvSpPr>
        <p:spPr>
          <a:xfrm>
            <a:off x="868680" y="4650295"/>
            <a:ext cx="4434840" cy="310896"/>
          </a:xfrm>
          <a:prstGeom prst="rect">
            <a:avLst/>
          </a:prstGeom>
          <a:noFill/>
        </p:spPr>
        <p:txBody>
          <a:bodyPr wrap="square" anchor="t">
            <a:spAutoFit/>
          </a:bodyPr>
          <a:lstStyle/>
          <a:p>
            <a:pPr algn="ctr">
              <a:spcAft>
                <a:spcPts val="400"/>
              </a:spcAft>
            </a:pPr>
            <a:r>
              <a:rPr sz="950" b="0">
                <a:solidFill>
                  <a:srgbClr val="5B6372"/>
                </a:solidFill>
                <a:latin typeface="Arial"/>
              </a:rPr>
              <a:t>Click the video, then Play, in slideshow</a:t>
            </a:r>
          </a:p>
        </p:txBody>
      </p:sp>
      <p:sp>
        <p:nvSpPr>
          <p:cNvPr id="23" name="TextBox 22"/>
          <p:cNvSpPr txBox="1"/>
          <p:nvPr/>
        </p:nvSpPr>
        <p:spPr>
          <a:xfrm>
            <a:off x="5715000" y="6053328"/>
            <a:ext cx="5696712" cy="256032"/>
          </a:xfrm>
          <a:prstGeom prst="rect">
            <a:avLst/>
          </a:prstGeom>
          <a:noFill/>
        </p:spPr>
        <p:txBody>
          <a:bodyPr wrap="square" anchor="t">
            <a:spAutoFit/>
          </a:bodyPr>
          <a:lstStyle/>
          <a:p>
            <a:pPr algn="ctr">
              <a:spcAft>
                <a:spcPts val="400"/>
              </a:spcAft>
            </a:pPr>
            <a:r>
              <a:rPr sz="940" b="0">
                <a:solidFill>
                  <a:srgbClr val="5B6372"/>
                </a:solidFill>
                <a:latin typeface="Arial"/>
              </a:rPr>
              <a:t>Embedded clip — click and press Play. Discuss: what does this mean for creative jobs?</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Customer Service: The Klarna Story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Feb 2024 — AI assistant handles 2/3 of chats</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Work of ~700 agents in month one</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Resolution time 11 min to under 2 min</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May 2025 — re-hires humans for quality</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A real cautionary tale: automate the routine, but keep humans for judgement and empathy.</a:t>
            </a:r>
          </a:p>
        </p:txBody>
      </p:sp>
      <p:sp>
        <p:nvSpPr>
          <p:cNvPr id="30" name="Rectangle 29"/>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Klarna (klarna.com)</a:t>
            </a:r>
            <a:r>
              <a:rPr sz="900">
                <a:solidFill>
                  <a:srgbClr val="5B6372"/>
                </a:solidFill>
                <a:latin typeface="Arial"/>
              </a:rPr>
              <a:t>   ·   </a:t>
            </a:r>
            <a:r>
              <a:rPr sz="900">
                <a:solidFill>
                  <a:srgbClr val="1F6FEB"/>
                </a:solidFill>
                <a:latin typeface="Arial"/>
                <a:hlinkClick r:id="rId3"/>
              </a:rPr>
              <a:t>Entrepreneur (entrepreneur.com)</a:t>
            </a:r>
          </a:p>
        </p:txBody>
      </p:sp>
      <p:sp>
        <p:nvSpPr>
          <p:cNvPr id="33" name="TextBox 3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4" name="TextBox 3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5" name="TextBox 3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Where Service Teams Apply GenAI Today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Front desk</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Draft replies, translate, summarise long threads</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Back office</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Turn notes into reports; extract data from documents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Marketing</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Generate copy, images and short video for campaigns</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Context Engineering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model is only as good as the context you give it.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34</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Prompt Engineering vs Context Engineering</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Prompt engineering</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Wording one instruction well</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Context engineering</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Assembling everything the model sees before it answers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The shift</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Real applications manage context, not just a clever prompt</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S10, S11</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Six Ingredients of Context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2057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System prompt</a:t>
            </a:r>
          </a:p>
        </p:txBody>
      </p:sp>
      <p:sp>
        <p:nvSpPr>
          <p:cNvPr id="11" name="TextBox 10"/>
          <p:cNvSpPr txBox="1"/>
          <p:nvPr/>
        </p:nvSpPr>
        <p:spPr>
          <a:xfrm>
            <a:off x="914400" y="2532888"/>
            <a:ext cx="2947416" cy="1179576"/>
          </a:xfrm>
          <a:prstGeom prst="rect">
            <a:avLst/>
          </a:prstGeom>
          <a:noFill/>
        </p:spPr>
        <p:txBody>
          <a:bodyPr wrap="square" anchor="t">
            <a:spAutoFit/>
          </a:bodyPr>
          <a:lstStyle/>
          <a:p>
            <a:pPr algn="l">
              <a:spcAft>
                <a:spcPts val="400"/>
              </a:spcAft>
            </a:pPr>
            <a:r>
              <a:rPr sz="1150" b="0">
                <a:solidFill>
                  <a:srgbClr val="161B26"/>
                </a:solidFill>
                <a:latin typeface="Arial"/>
              </a:rPr>
              <a:t>Who the AI is and its rules</a:t>
            </a:r>
          </a:p>
        </p:txBody>
      </p:sp>
      <p:sp>
        <p:nvSpPr>
          <p:cNvPr id="12" name="Rectangle 11"/>
          <p:cNvSpPr/>
          <p:nvPr/>
        </p:nvSpPr>
        <p:spPr>
          <a:xfrm>
            <a:off x="4355592" y="1783080"/>
            <a:ext cx="3441192"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2057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User prompt</a:t>
            </a:r>
          </a:p>
        </p:txBody>
      </p:sp>
      <p:sp>
        <p:nvSpPr>
          <p:cNvPr id="17" name="TextBox 16"/>
          <p:cNvSpPr txBox="1"/>
          <p:nvPr/>
        </p:nvSpPr>
        <p:spPr>
          <a:xfrm>
            <a:off x="4611624" y="2532888"/>
            <a:ext cx="2947416" cy="1179576"/>
          </a:xfrm>
          <a:prstGeom prst="rect">
            <a:avLst/>
          </a:prstGeom>
          <a:noFill/>
        </p:spPr>
        <p:txBody>
          <a:bodyPr wrap="square" anchor="t">
            <a:spAutoFit/>
          </a:bodyPr>
          <a:lstStyle/>
          <a:p>
            <a:pPr algn="l">
              <a:spcAft>
                <a:spcPts val="400"/>
              </a:spcAft>
            </a:pPr>
            <a:r>
              <a:rPr sz="1150" b="0">
                <a:solidFill>
                  <a:srgbClr val="161B26"/>
                </a:solidFill>
                <a:latin typeface="Arial"/>
              </a:rPr>
              <a:t>The task you asked for right now</a:t>
            </a:r>
          </a:p>
        </p:txBody>
      </p:sp>
      <p:sp>
        <p:nvSpPr>
          <p:cNvPr id="18" name="Rectangle 17"/>
          <p:cNvSpPr/>
          <p:nvPr/>
        </p:nvSpPr>
        <p:spPr>
          <a:xfrm>
            <a:off x="8052816" y="1783080"/>
            <a:ext cx="3441192"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2057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History</a:t>
            </a:r>
          </a:p>
        </p:txBody>
      </p:sp>
      <p:sp>
        <p:nvSpPr>
          <p:cNvPr id="23" name="TextBox 22"/>
          <p:cNvSpPr txBox="1"/>
          <p:nvPr/>
        </p:nvSpPr>
        <p:spPr>
          <a:xfrm>
            <a:off x="8308848" y="2532888"/>
            <a:ext cx="2947416" cy="1179576"/>
          </a:xfrm>
          <a:prstGeom prst="rect">
            <a:avLst/>
          </a:prstGeom>
          <a:noFill/>
        </p:spPr>
        <p:txBody>
          <a:bodyPr wrap="square" anchor="t">
            <a:spAutoFit/>
          </a:bodyPr>
          <a:lstStyle/>
          <a:p>
            <a:pPr algn="l">
              <a:spcAft>
                <a:spcPts val="400"/>
              </a:spcAft>
            </a:pPr>
            <a:r>
              <a:rPr sz="1150" b="0">
                <a:solidFill>
                  <a:srgbClr val="161B26"/>
                </a:solidFill>
                <a:latin typeface="Arial"/>
              </a:rPr>
              <a:t>Earlier turns in this conversation</a:t>
            </a:r>
          </a:p>
        </p:txBody>
      </p:sp>
      <p:sp>
        <p:nvSpPr>
          <p:cNvPr id="24" name="Rectangle 23"/>
          <p:cNvSpPr/>
          <p:nvPr/>
        </p:nvSpPr>
        <p:spPr>
          <a:xfrm>
            <a:off x="658368" y="4069080"/>
            <a:ext cx="3441192"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8368" y="4069080"/>
            <a:ext cx="82296" cy="2057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77824" y="4251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7824" y="4251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408176" y="4215384"/>
            <a:ext cx="2526792" cy="274320"/>
          </a:xfrm>
          <a:prstGeom prst="rect">
            <a:avLst/>
          </a:prstGeom>
          <a:noFill/>
        </p:spPr>
        <p:txBody>
          <a:bodyPr wrap="square" anchor="t">
            <a:spAutoFit/>
          </a:bodyPr>
          <a:lstStyle/>
          <a:p>
            <a:pPr algn="l">
              <a:spcAft>
                <a:spcPts val="400"/>
              </a:spcAft>
            </a:pPr>
            <a:r>
              <a:rPr sz="1400" b="1">
                <a:solidFill>
                  <a:srgbClr val="F59E0B"/>
                </a:solidFill>
                <a:latin typeface="Arial"/>
              </a:rPr>
              <a:t>Memory</a:t>
            </a:r>
          </a:p>
        </p:txBody>
      </p:sp>
      <p:sp>
        <p:nvSpPr>
          <p:cNvPr id="29" name="TextBox 28"/>
          <p:cNvSpPr txBox="1"/>
          <p:nvPr/>
        </p:nvSpPr>
        <p:spPr>
          <a:xfrm>
            <a:off x="914400" y="4818888"/>
            <a:ext cx="2947416" cy="1179576"/>
          </a:xfrm>
          <a:prstGeom prst="rect">
            <a:avLst/>
          </a:prstGeom>
          <a:noFill/>
        </p:spPr>
        <p:txBody>
          <a:bodyPr wrap="square" anchor="t">
            <a:spAutoFit/>
          </a:bodyPr>
          <a:lstStyle/>
          <a:p>
            <a:pPr algn="l">
              <a:spcAft>
                <a:spcPts val="400"/>
              </a:spcAft>
            </a:pPr>
            <a:r>
              <a:rPr sz="1150" b="0">
                <a:solidFill>
                  <a:srgbClr val="161B26"/>
                </a:solidFill>
                <a:latin typeface="Arial"/>
              </a:rPr>
              <a:t>Facts kept across sessions</a:t>
            </a:r>
          </a:p>
        </p:txBody>
      </p:sp>
      <p:sp>
        <p:nvSpPr>
          <p:cNvPr id="30" name="Rectangle 29"/>
          <p:cNvSpPr/>
          <p:nvPr/>
        </p:nvSpPr>
        <p:spPr>
          <a:xfrm>
            <a:off x="4355592" y="4069080"/>
            <a:ext cx="3441192"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355592" y="4069080"/>
            <a:ext cx="82296" cy="2057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575048" y="4251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5048" y="4251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4" name="TextBox 33"/>
          <p:cNvSpPr txBox="1"/>
          <p:nvPr/>
        </p:nvSpPr>
        <p:spPr>
          <a:xfrm>
            <a:off x="5105400" y="4215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Tools</a:t>
            </a:r>
          </a:p>
        </p:txBody>
      </p:sp>
      <p:sp>
        <p:nvSpPr>
          <p:cNvPr id="35" name="TextBox 34"/>
          <p:cNvSpPr txBox="1"/>
          <p:nvPr/>
        </p:nvSpPr>
        <p:spPr>
          <a:xfrm>
            <a:off x="4611624" y="4818888"/>
            <a:ext cx="2947416" cy="1179576"/>
          </a:xfrm>
          <a:prstGeom prst="rect">
            <a:avLst/>
          </a:prstGeom>
          <a:noFill/>
        </p:spPr>
        <p:txBody>
          <a:bodyPr wrap="square" anchor="t">
            <a:spAutoFit/>
          </a:bodyPr>
          <a:lstStyle/>
          <a:p>
            <a:pPr algn="l">
              <a:spcAft>
                <a:spcPts val="400"/>
              </a:spcAft>
            </a:pPr>
            <a:r>
              <a:rPr sz="1150" b="0">
                <a:solidFill>
                  <a:srgbClr val="161B26"/>
                </a:solidFill>
                <a:latin typeface="Arial"/>
              </a:rPr>
              <a:t>Functions it can call to act or fetch data</a:t>
            </a:r>
          </a:p>
        </p:txBody>
      </p:sp>
      <p:sp>
        <p:nvSpPr>
          <p:cNvPr id="36" name="Rectangle 35"/>
          <p:cNvSpPr/>
          <p:nvPr/>
        </p:nvSpPr>
        <p:spPr>
          <a:xfrm>
            <a:off x="8052816" y="4069080"/>
            <a:ext cx="3441192"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052816" y="4069080"/>
            <a:ext cx="82296" cy="2057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272272" y="4251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2272" y="4251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40" name="TextBox 39"/>
          <p:cNvSpPr txBox="1"/>
          <p:nvPr/>
        </p:nvSpPr>
        <p:spPr>
          <a:xfrm>
            <a:off x="8802624" y="4215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Retrieved data</a:t>
            </a:r>
          </a:p>
        </p:txBody>
      </p:sp>
      <p:sp>
        <p:nvSpPr>
          <p:cNvPr id="41" name="TextBox 40"/>
          <p:cNvSpPr txBox="1"/>
          <p:nvPr/>
        </p:nvSpPr>
        <p:spPr>
          <a:xfrm>
            <a:off x="8308848" y="4818888"/>
            <a:ext cx="2947416" cy="1179576"/>
          </a:xfrm>
          <a:prstGeom prst="rect">
            <a:avLst/>
          </a:prstGeom>
          <a:noFill/>
        </p:spPr>
        <p:txBody>
          <a:bodyPr wrap="square" anchor="t">
            <a:spAutoFit/>
          </a:bodyPr>
          <a:lstStyle/>
          <a:p>
            <a:pPr algn="l">
              <a:spcAft>
                <a:spcPts val="400"/>
              </a:spcAft>
            </a:pPr>
            <a:r>
              <a:rPr sz="1150" b="0">
                <a:solidFill>
                  <a:srgbClr val="161B26"/>
                </a:solidFill>
                <a:latin typeface="Arial"/>
              </a:rPr>
              <a:t>Documents pulled in for this task</a:t>
            </a:r>
          </a:p>
        </p:txBody>
      </p:sp>
      <p:sp>
        <p:nvSpPr>
          <p:cNvPr id="42" name="TextBox 41"/>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S10</a:t>
            </a:r>
          </a:p>
        </p:txBody>
      </p:sp>
      <p:sp>
        <p:nvSpPr>
          <p:cNvPr id="43" name="TextBox 4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4" name="TextBox 4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5" name="TextBox 4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How an Agent Gathers Context for a Task</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You give a goal</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It reads its system prompt and memory</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It retrieves relevant files or data</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It calls tools for fresh facts</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It assembles all of this, then answers</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Example: 'Reply to this guest email' → it pulls the booking, the policy doc and past replies first.</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S10</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 Worked Context Example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Task</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'Draft a refund reply to Mr Tan'</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Context gathered</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Booking record + refund policy + tone guide + the original email</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Result</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 grounded reply, not a generic guess</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Agentic Loop and Harness Engineering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turns a model that answers into a system that acts.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39</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Agentic Loop — A Visual Pipeline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Context — gather goal &amp; information</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Plan — decide the next step</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Execute — call a tool / take an action</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Verify — check the result</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The loop repeats until the goal is met. Anthropic's harness uses gather → act → verify; 'plan' is shown here as a teaching step.</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S12</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What a Harness Adds Around the Model</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The loop</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Runs context → plan → execute → verify repeatedly</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Tool access</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Lets the model read files, run commands, call APIs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State &amp; safety</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Tracks progress and enforces permissions and sandboxes</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S12, S13</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Two Harnesses You May Have Heard Of</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Claude Code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Anthropic's coding agent — the 'agentic harness around Claude'</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Codex</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OpenAI's coding agent; OpenAI calls the discipline 'harness engineering'</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Same idea</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 loop + tools + a sandbox around a general model</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S12, S13</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pic>
        <p:nvPicPr>
          <p:cNvPr id="29" name="Picture 28" descr="Interview with Claude Code on Human-AI Collaboration">
            <a:extLst>
              <a:ext uri="{FF2B5EF4-FFF2-40B4-BE49-F238E27FC236}">
                <a16:creationId xmlns:a16="http://schemas.microsoft.com/office/drawing/2014/main" id="{929FDF5E-1ECA-8A22-8567-BEE8651DCF7A}"/>
              </a:ext>
            </a:extLst>
          </p:cNvPr>
          <p:cNvPicPr>
            <a:picLocks noChangeAspect="1"/>
          </p:cNvPicPr>
          <p:nvPr/>
        </p:nvPicPr>
        <p:blipFill>
          <a:blip r:embed="rId2"/>
          <a:stretch>
            <a:fillRect/>
          </a:stretch>
        </p:blipFill>
        <p:spPr>
          <a:xfrm>
            <a:off x="914400" y="3342674"/>
            <a:ext cx="2947416" cy="2392319"/>
          </a:xfrm>
          <a:prstGeom prst="rect">
            <a:avLst/>
          </a:prstGeom>
        </p:spPr>
      </p:pic>
      <p:pic>
        <p:nvPicPr>
          <p:cNvPr id="30" name="Picture 29" descr="Codex Logo PNG, Icon Transparent Free Download">
            <a:extLst>
              <a:ext uri="{FF2B5EF4-FFF2-40B4-BE49-F238E27FC236}">
                <a16:creationId xmlns:a16="http://schemas.microsoft.com/office/drawing/2014/main" id="{16F7CD72-69D8-9BD9-EA50-E2BFB5C316B0}"/>
              </a:ext>
            </a:extLst>
          </p:cNvPr>
          <p:cNvPicPr>
            <a:picLocks noChangeAspect="1"/>
          </p:cNvPicPr>
          <p:nvPr/>
        </p:nvPicPr>
        <p:blipFill>
          <a:blip r:embed="rId3"/>
          <a:stretch>
            <a:fillRect/>
          </a:stretch>
        </p:blipFill>
        <p:spPr>
          <a:xfrm>
            <a:off x="4729839" y="3136392"/>
            <a:ext cx="2710985" cy="27109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Coding Harnesses — Claude Code, Codex, DeepSeek</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2339583"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2120127" cy="932688"/>
          </a:xfrm>
          <a:prstGeom prst="rect">
            <a:avLst/>
          </a:prstGeom>
          <a:noFill/>
        </p:spPr>
        <p:txBody>
          <a:bodyPr wrap="square" anchor="ctr">
            <a:spAutoFit/>
          </a:bodyPr>
          <a:lstStyle/>
          <a:p>
            <a:pPr algn="l">
              <a:spcAft>
                <a:spcPts val="400"/>
              </a:spcAft>
            </a:pPr>
            <a:r>
              <a:rPr sz="1200" b="1">
                <a:solidFill>
                  <a:srgbClr val="FFFFFF"/>
                </a:solidFill>
                <a:latin typeface="Arial"/>
              </a:rPr>
              <a:t>Harness</a:t>
            </a:r>
          </a:p>
        </p:txBody>
      </p:sp>
      <p:sp>
        <p:nvSpPr>
          <p:cNvPr id="8" name="Rectangle 7"/>
          <p:cNvSpPr/>
          <p:nvPr/>
        </p:nvSpPr>
        <p:spPr>
          <a:xfrm>
            <a:off x="3116823" y="1783080"/>
            <a:ext cx="5317236"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44839" y="1783080"/>
            <a:ext cx="5097780" cy="932688"/>
          </a:xfrm>
          <a:prstGeom prst="rect">
            <a:avLst/>
          </a:prstGeom>
          <a:noFill/>
        </p:spPr>
        <p:txBody>
          <a:bodyPr wrap="square" anchor="ctr">
            <a:spAutoFit/>
          </a:bodyPr>
          <a:lstStyle/>
          <a:p>
            <a:pPr algn="l">
              <a:spcAft>
                <a:spcPts val="400"/>
              </a:spcAft>
            </a:pPr>
            <a:r>
              <a:rPr sz="1200" b="1">
                <a:solidFill>
                  <a:srgbClr val="FFFFFF"/>
                </a:solidFill>
                <a:latin typeface="Arial"/>
              </a:rPr>
              <a:t>What it is</a:t>
            </a:r>
          </a:p>
        </p:txBody>
      </p:sp>
      <p:sp>
        <p:nvSpPr>
          <p:cNvPr id="10" name="Rectangle 9"/>
          <p:cNvSpPr/>
          <p:nvPr/>
        </p:nvSpPr>
        <p:spPr>
          <a:xfrm>
            <a:off x="8434059" y="1783080"/>
            <a:ext cx="2977652"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62075" y="1783080"/>
            <a:ext cx="2758196" cy="932688"/>
          </a:xfrm>
          <a:prstGeom prst="rect">
            <a:avLst/>
          </a:prstGeom>
          <a:noFill/>
        </p:spPr>
        <p:txBody>
          <a:bodyPr wrap="square" anchor="ctr">
            <a:spAutoFit/>
          </a:bodyPr>
          <a:lstStyle/>
          <a:p>
            <a:pPr algn="l">
              <a:spcAft>
                <a:spcPts val="400"/>
              </a:spcAft>
            </a:pPr>
            <a:r>
              <a:rPr sz="1200" b="1">
                <a:solidFill>
                  <a:srgbClr val="FFFFFF"/>
                </a:solidFill>
                <a:latin typeface="Arial"/>
              </a:rPr>
              <a:t>Where to find it</a:t>
            </a:r>
          </a:p>
        </p:txBody>
      </p:sp>
      <p:sp>
        <p:nvSpPr>
          <p:cNvPr id="12" name="Rectangle 11"/>
          <p:cNvSpPr/>
          <p:nvPr/>
        </p:nvSpPr>
        <p:spPr>
          <a:xfrm>
            <a:off x="777240" y="2715768"/>
            <a:ext cx="2339583"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 y="2715768"/>
            <a:ext cx="2120127" cy="932688"/>
          </a:xfrm>
          <a:prstGeom prst="rect">
            <a:avLst/>
          </a:prstGeom>
          <a:noFill/>
        </p:spPr>
        <p:txBody>
          <a:bodyPr wrap="square" anchor="ctr">
            <a:spAutoFit/>
          </a:bodyPr>
          <a:lstStyle/>
          <a:p>
            <a:pPr algn="l">
              <a:spcAft>
                <a:spcPts val="400"/>
              </a:spcAft>
            </a:pPr>
            <a:r>
              <a:rPr sz="1100" b="1">
                <a:solidFill>
                  <a:srgbClr val="161B26"/>
                </a:solidFill>
                <a:latin typeface="Arial"/>
              </a:rPr>
              <a:t>Claude Code</a:t>
            </a:r>
          </a:p>
        </p:txBody>
      </p:sp>
      <p:sp>
        <p:nvSpPr>
          <p:cNvPr id="14" name="Rectangle 13"/>
          <p:cNvSpPr/>
          <p:nvPr/>
        </p:nvSpPr>
        <p:spPr>
          <a:xfrm>
            <a:off x="3116823" y="2715768"/>
            <a:ext cx="5317236"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44839" y="2715768"/>
            <a:ext cx="5097780" cy="932688"/>
          </a:xfrm>
          <a:prstGeom prst="rect">
            <a:avLst/>
          </a:prstGeom>
          <a:noFill/>
        </p:spPr>
        <p:txBody>
          <a:bodyPr wrap="square" anchor="ctr">
            <a:spAutoFit/>
          </a:bodyPr>
          <a:lstStyle/>
          <a:p>
            <a:pPr algn="l">
              <a:spcAft>
                <a:spcPts val="400"/>
              </a:spcAft>
            </a:pPr>
            <a:r>
              <a:rPr sz="1100" b="0">
                <a:solidFill>
                  <a:srgbClr val="161B26"/>
                </a:solidFill>
                <a:latin typeface="Arial"/>
              </a:rPr>
              <a:t>Anthropic's terminal coding agent — reads your codebase, edits files, runs tests and git by natural language</a:t>
            </a:r>
          </a:p>
        </p:txBody>
      </p:sp>
      <p:sp>
        <p:nvSpPr>
          <p:cNvPr id="16" name="Rectangle 15"/>
          <p:cNvSpPr/>
          <p:nvPr/>
        </p:nvSpPr>
        <p:spPr>
          <a:xfrm>
            <a:off x="8434059" y="2715768"/>
            <a:ext cx="2977652"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62075" y="2715768"/>
            <a:ext cx="2758196" cy="932688"/>
          </a:xfrm>
          <a:prstGeom prst="rect">
            <a:avLst/>
          </a:prstGeom>
          <a:noFill/>
        </p:spPr>
        <p:txBody>
          <a:bodyPr wrap="square" anchor="ctr">
            <a:spAutoFit/>
          </a:bodyPr>
          <a:lstStyle/>
          <a:p>
            <a:pPr algn="l">
              <a:spcAft>
                <a:spcPts val="400"/>
              </a:spcAft>
            </a:pPr>
            <a:r>
              <a:rPr sz="1100" b="0">
                <a:solidFill>
                  <a:srgbClr val="161B26"/>
                </a:solidFill>
                <a:latin typeface="Arial"/>
              </a:rPr>
              <a:t>github.com/anthropics/claude-code</a:t>
            </a:r>
          </a:p>
        </p:txBody>
      </p:sp>
      <p:sp>
        <p:nvSpPr>
          <p:cNvPr id="18" name="Rectangle 17"/>
          <p:cNvSpPr/>
          <p:nvPr/>
        </p:nvSpPr>
        <p:spPr>
          <a:xfrm>
            <a:off x="777240" y="3648456"/>
            <a:ext cx="2339583"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3648456"/>
            <a:ext cx="2120127" cy="932688"/>
          </a:xfrm>
          <a:prstGeom prst="rect">
            <a:avLst/>
          </a:prstGeom>
          <a:noFill/>
        </p:spPr>
        <p:txBody>
          <a:bodyPr wrap="square" anchor="ctr">
            <a:spAutoFit/>
          </a:bodyPr>
          <a:lstStyle/>
          <a:p>
            <a:pPr algn="l">
              <a:spcAft>
                <a:spcPts val="400"/>
              </a:spcAft>
            </a:pPr>
            <a:r>
              <a:rPr sz="1100" b="1">
                <a:solidFill>
                  <a:srgbClr val="161B26"/>
                </a:solidFill>
                <a:latin typeface="Arial"/>
              </a:rPr>
              <a:t>Codex</a:t>
            </a:r>
          </a:p>
        </p:txBody>
      </p:sp>
      <p:sp>
        <p:nvSpPr>
          <p:cNvPr id="20" name="Rectangle 19"/>
          <p:cNvSpPr/>
          <p:nvPr/>
        </p:nvSpPr>
        <p:spPr>
          <a:xfrm>
            <a:off x="3116823" y="3648456"/>
            <a:ext cx="5317236"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44839" y="3648456"/>
            <a:ext cx="5097780" cy="932688"/>
          </a:xfrm>
          <a:prstGeom prst="rect">
            <a:avLst/>
          </a:prstGeom>
          <a:noFill/>
        </p:spPr>
        <p:txBody>
          <a:bodyPr wrap="square" anchor="ctr">
            <a:spAutoFit/>
          </a:bodyPr>
          <a:lstStyle/>
          <a:p>
            <a:pPr algn="l">
              <a:spcAft>
                <a:spcPts val="400"/>
              </a:spcAft>
            </a:pPr>
            <a:r>
              <a:rPr sz="1100" b="0">
                <a:solidFill>
                  <a:srgbClr val="161B26"/>
                </a:solidFill>
                <a:latin typeface="Arial"/>
              </a:rPr>
              <a:t>OpenAI's coding agent; its execution engine (the 'harness') was open-sourced in Aug 2026</a:t>
            </a:r>
          </a:p>
        </p:txBody>
      </p:sp>
      <p:sp>
        <p:nvSpPr>
          <p:cNvPr id="22" name="Rectangle 21"/>
          <p:cNvSpPr/>
          <p:nvPr/>
        </p:nvSpPr>
        <p:spPr>
          <a:xfrm>
            <a:off x="8434059" y="3648456"/>
            <a:ext cx="2977652"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62075" y="3648456"/>
            <a:ext cx="2758196" cy="932688"/>
          </a:xfrm>
          <a:prstGeom prst="rect">
            <a:avLst/>
          </a:prstGeom>
          <a:noFill/>
        </p:spPr>
        <p:txBody>
          <a:bodyPr wrap="square" anchor="ctr">
            <a:spAutoFit/>
          </a:bodyPr>
          <a:lstStyle/>
          <a:p>
            <a:pPr algn="l">
              <a:spcAft>
                <a:spcPts val="400"/>
              </a:spcAft>
            </a:pPr>
            <a:r>
              <a:rPr sz="1100" b="0">
                <a:solidFill>
                  <a:srgbClr val="161B26"/>
                </a:solidFill>
                <a:latin typeface="Arial"/>
              </a:rPr>
              <a:t>github.com/openai/codex</a:t>
            </a:r>
          </a:p>
        </p:txBody>
      </p:sp>
      <p:sp>
        <p:nvSpPr>
          <p:cNvPr id="24" name="Rectangle 23"/>
          <p:cNvSpPr/>
          <p:nvPr/>
        </p:nvSpPr>
        <p:spPr>
          <a:xfrm>
            <a:off x="777240" y="4581144"/>
            <a:ext cx="2339583"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256" y="4581144"/>
            <a:ext cx="2120127" cy="932688"/>
          </a:xfrm>
          <a:prstGeom prst="rect">
            <a:avLst/>
          </a:prstGeom>
          <a:noFill/>
        </p:spPr>
        <p:txBody>
          <a:bodyPr wrap="square" anchor="ctr">
            <a:spAutoFit/>
          </a:bodyPr>
          <a:lstStyle/>
          <a:p>
            <a:pPr algn="l">
              <a:spcAft>
                <a:spcPts val="400"/>
              </a:spcAft>
            </a:pPr>
            <a:r>
              <a:rPr sz="1100" b="1">
                <a:solidFill>
                  <a:srgbClr val="161B26"/>
                </a:solidFill>
                <a:latin typeface="Arial"/>
              </a:rPr>
              <a:t>DeepSeek Harness (dsh)</a:t>
            </a:r>
          </a:p>
        </p:txBody>
      </p:sp>
      <p:sp>
        <p:nvSpPr>
          <p:cNvPr id="26" name="Rectangle 25"/>
          <p:cNvSpPr/>
          <p:nvPr/>
        </p:nvSpPr>
        <p:spPr>
          <a:xfrm>
            <a:off x="3116823" y="4581144"/>
            <a:ext cx="5317236"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44839" y="4581144"/>
            <a:ext cx="5097780" cy="932688"/>
          </a:xfrm>
          <a:prstGeom prst="rect">
            <a:avLst/>
          </a:prstGeom>
          <a:noFill/>
        </p:spPr>
        <p:txBody>
          <a:bodyPr wrap="square" anchor="ctr">
            <a:spAutoFit/>
          </a:bodyPr>
          <a:lstStyle/>
          <a:p>
            <a:pPr algn="l">
              <a:spcAft>
                <a:spcPts val="400"/>
              </a:spcAft>
            </a:pPr>
            <a:r>
              <a:rPr sz="1100" b="0">
                <a:solidFill>
                  <a:srgbClr val="161B26"/>
                </a:solidFill>
                <a:latin typeface="Arial"/>
              </a:rPr>
              <a:t>DeepSeek's plugin-based, model-agnostic harness — a v0.1 developer preview</a:t>
            </a:r>
          </a:p>
        </p:txBody>
      </p:sp>
      <p:sp>
        <p:nvSpPr>
          <p:cNvPr id="28" name="Rectangle 27"/>
          <p:cNvSpPr/>
          <p:nvPr/>
        </p:nvSpPr>
        <p:spPr>
          <a:xfrm>
            <a:off x="8434059" y="4581144"/>
            <a:ext cx="2977652"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62075" y="4581144"/>
            <a:ext cx="2758196" cy="932688"/>
          </a:xfrm>
          <a:prstGeom prst="rect">
            <a:avLst/>
          </a:prstGeom>
          <a:noFill/>
        </p:spPr>
        <p:txBody>
          <a:bodyPr wrap="square" anchor="ctr">
            <a:spAutoFit/>
          </a:bodyPr>
          <a:lstStyle/>
          <a:p>
            <a:pPr algn="l">
              <a:spcAft>
                <a:spcPts val="400"/>
              </a:spcAft>
            </a:pPr>
            <a:r>
              <a:rPr sz="1100" b="0">
                <a:solidFill>
                  <a:srgbClr val="161B26"/>
                </a:solidFill>
                <a:latin typeface="Arial"/>
              </a:rPr>
              <a:t>github.com/deepseek-ai/deepseek-harness</a:t>
            </a:r>
          </a:p>
        </p:txBody>
      </p:sp>
      <p:sp>
        <p:nvSpPr>
          <p:cNvPr id="30" name="TextBox 29"/>
          <p:cNvSpPr txBox="1"/>
          <p:nvPr/>
        </p:nvSpPr>
        <p:spPr>
          <a:xfrm>
            <a:off x="777240" y="5632704"/>
            <a:ext cx="10698480" cy="438912"/>
          </a:xfrm>
          <a:prstGeom prst="rect">
            <a:avLst/>
          </a:prstGeom>
          <a:noFill/>
        </p:spPr>
        <p:txBody>
          <a:bodyPr wrap="square" anchor="t">
            <a:spAutoFit/>
          </a:bodyPr>
          <a:lstStyle/>
          <a:p>
            <a:pPr algn="ctr">
              <a:spcAft>
                <a:spcPts val="400"/>
              </a:spcAft>
            </a:pPr>
            <a:r>
              <a:rPr sz="1180" b="0">
                <a:solidFill>
                  <a:srgbClr val="5B6372"/>
                </a:solidFill>
                <a:latin typeface="Arial"/>
              </a:rPr>
              <a:t>All three wrap a model in the same gather-context → act → verify loop; they differ in tools, sandbox and host authority.</a:t>
            </a:r>
          </a:p>
        </p:txBody>
      </p:sp>
      <p:sp>
        <p:nvSpPr>
          <p:cNvPr id="31" name="TextBox 30"/>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S53, S54, S55</a:t>
            </a:r>
          </a:p>
        </p:txBody>
      </p:sp>
      <p:sp>
        <p:nvSpPr>
          <p:cNvPr id="32" name="TextBox 31"/>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3" name="TextBox 32"/>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4" name="TextBox 33"/>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DeepSeek Harness — 'Everything Is a Plugin'</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One idea</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Every capability — tools, models, UI, even core behaviour — is a swappable plugin</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Model-agnostic</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Plug in any model; the harness is not tied to DeepSeek's own</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Why it matters</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Flexible and extensible — but every plugin is also new code and a new trust boundary to review</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A v0.1 developer preview. Its openness is powerful; in Topic 3 we treat each plugin as untrusted until reviewed.</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S55, S65</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pic>
        <p:nvPicPr>
          <p:cNvPr id="30" name="Picture 29" descr="DeepSeek Logo and symbol, meaning, history, PNG, brand">
            <a:extLst>
              <a:ext uri="{FF2B5EF4-FFF2-40B4-BE49-F238E27FC236}">
                <a16:creationId xmlns:a16="http://schemas.microsoft.com/office/drawing/2014/main" id="{09204CED-FFF4-1E68-1F10-C1645C4BF116}"/>
              </a:ext>
            </a:extLst>
          </p:cNvPr>
          <p:cNvPicPr>
            <a:picLocks noChangeAspect="1"/>
          </p:cNvPicPr>
          <p:nvPr/>
        </p:nvPicPr>
        <p:blipFill>
          <a:blip r:embed="rId2"/>
          <a:stretch>
            <a:fillRect/>
          </a:stretch>
        </p:blipFill>
        <p:spPr>
          <a:xfrm>
            <a:off x="407986" y="3110955"/>
            <a:ext cx="4066478" cy="22840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 Concrete Agentic Loop</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Goal: 'Summarise this week's guest complaints'</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Plan: open the inbox folder</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Execute: read and cluster the emails</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Verify: check counts, then write the summary</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Repeat until done</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If verification fails — a folder is empty — the agent re-plans instead of stopping.</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When the Loop Goes Wrong — Misreading the Goal</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Goal: 'Do whatever it takes to remove this stubborn malware'</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Plan: delete the infected files</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Verify: malware still there — so the agent re-plans</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Escalate: 'to be sure' — wipe every file on the machine</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Result: malware gone, and so is all your work</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The same re-planning that makes the loop powerful becomes dangerous when the goal is open-ended and nothing limits the actions — Topic 3 adds the guardrails and human approvals that stop this.</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Agents: OpenClaw, Hermes and the Latest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deployed systems that put the agentic loop into everyday hands.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47</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What Makes Something an 'AI Agent'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A real system</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Not just a model — a running app with an identity</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Acts through tools</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Sends messages, edits files, calls services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Keeps state</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Remembers context and can resume work</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Peter Steinberger in 2026 — Creator of OpenClaw</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828799"/>
            <a:ext cx="480060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hoto-peter-steinberger-stage-2026.jpg"/>
          <p:cNvPicPr>
            <a:picLocks noChangeAspect="1"/>
          </p:cNvPicPr>
          <p:nvPr/>
        </p:nvPicPr>
        <p:blipFill>
          <a:blip r:embed="rId2"/>
          <a:srcRect l="13842" r="13842"/>
          <a:stretch>
            <a:fillRect/>
          </a:stretch>
        </p:blipFill>
        <p:spPr>
          <a:xfrm>
            <a:off x="777240" y="1874519"/>
            <a:ext cx="4709160" cy="4343400"/>
          </a:xfrm>
          <a:prstGeom prst="rect">
            <a:avLst/>
          </a:prstGeom>
        </p:spPr>
      </p:pic>
      <p:sp>
        <p:nvSpPr>
          <p:cNvPr id="8" name="Rectangle 7"/>
          <p:cNvSpPr/>
          <p:nvPr/>
        </p:nvSpPr>
        <p:spPr>
          <a:xfrm>
            <a:off x="5760720" y="1874519"/>
            <a:ext cx="565099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874519"/>
            <a:ext cx="82296"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16752" y="1874519"/>
            <a:ext cx="5193792" cy="1325880"/>
          </a:xfrm>
          <a:prstGeom prst="rect">
            <a:avLst/>
          </a:prstGeom>
          <a:noFill/>
        </p:spPr>
        <p:txBody>
          <a:bodyPr wrap="square" anchor="ctr">
            <a:spAutoFit/>
          </a:bodyPr>
          <a:lstStyle/>
          <a:p>
            <a:pPr algn="l">
              <a:spcAft>
                <a:spcPts val="300"/>
              </a:spcAft>
            </a:pPr>
            <a:r>
              <a:rPr sz="1400" b="1">
                <a:solidFill>
                  <a:srgbClr val="1F6FEB"/>
                </a:solidFill>
                <a:latin typeface="Arial"/>
              </a:rPr>
              <a:t>Who</a:t>
            </a:r>
          </a:p>
          <a:p>
            <a:pPr algn="l">
              <a:spcAft>
                <a:spcPts val="300"/>
              </a:spcAft>
            </a:pPr>
            <a:r>
              <a:rPr sz="1200" b="0">
                <a:solidFill>
                  <a:srgbClr val="161B26"/>
                </a:solidFill>
                <a:latin typeface="Arial"/>
              </a:rPr>
              <a:t>Austrian developer, founder of PSPDFKit; GitHub handle steipete</a:t>
            </a:r>
          </a:p>
        </p:txBody>
      </p:sp>
      <p:sp>
        <p:nvSpPr>
          <p:cNvPr id="11" name="Rectangle 10"/>
          <p:cNvSpPr/>
          <p:nvPr/>
        </p:nvSpPr>
        <p:spPr>
          <a:xfrm>
            <a:off x="5760720" y="3383279"/>
            <a:ext cx="565099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60720" y="3383279"/>
            <a:ext cx="82296"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16752" y="3383279"/>
            <a:ext cx="5193792" cy="1325880"/>
          </a:xfrm>
          <a:prstGeom prst="rect">
            <a:avLst/>
          </a:prstGeom>
          <a:noFill/>
        </p:spPr>
        <p:txBody>
          <a:bodyPr wrap="square" anchor="ctr">
            <a:spAutoFit/>
          </a:bodyPr>
          <a:lstStyle/>
          <a:p>
            <a:pPr algn="l">
              <a:spcAft>
                <a:spcPts val="300"/>
              </a:spcAft>
            </a:pPr>
            <a:r>
              <a:rPr sz="1400" b="1">
                <a:solidFill>
                  <a:srgbClr val="10B981"/>
                </a:solidFill>
                <a:latin typeface="Arial"/>
              </a:rPr>
              <a:t>What he built</a:t>
            </a:r>
          </a:p>
          <a:p>
            <a:pPr algn="l">
              <a:spcAft>
                <a:spcPts val="300"/>
              </a:spcAft>
            </a:pPr>
            <a:r>
              <a:rPr sz="1200" b="0">
                <a:solidFill>
                  <a:srgbClr val="161B26"/>
                </a:solidFill>
                <a:latin typeface="Arial"/>
              </a:rPr>
              <a:t>OpenClaw, an open-source personal AI agent that went viral in late 2025</a:t>
            </a:r>
          </a:p>
        </p:txBody>
      </p:sp>
      <p:sp>
        <p:nvSpPr>
          <p:cNvPr id="14" name="Rectangle 13"/>
          <p:cNvSpPr/>
          <p:nvPr/>
        </p:nvSpPr>
        <p:spPr>
          <a:xfrm>
            <a:off x="5760720" y="4892039"/>
            <a:ext cx="565099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760720" y="4892039"/>
            <a:ext cx="82296"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016752" y="4892039"/>
            <a:ext cx="5193792" cy="1325880"/>
          </a:xfrm>
          <a:prstGeom prst="rect">
            <a:avLst/>
          </a:prstGeom>
          <a:noFill/>
        </p:spPr>
        <p:txBody>
          <a:bodyPr wrap="square" anchor="ctr">
            <a:spAutoFit/>
          </a:bodyPr>
          <a:lstStyle/>
          <a:p>
            <a:pPr algn="l">
              <a:spcAft>
                <a:spcPts val="300"/>
              </a:spcAft>
            </a:pPr>
            <a:r>
              <a:rPr sz="1400" b="1">
                <a:solidFill>
                  <a:srgbClr val="7C3AED"/>
                </a:solidFill>
                <a:latin typeface="Arial"/>
              </a:rPr>
              <a:t>Since</a:t>
            </a:r>
          </a:p>
          <a:p>
            <a:pPr algn="l">
              <a:spcAft>
                <a:spcPts val="300"/>
              </a:spcAft>
            </a:pPr>
            <a:r>
              <a:rPr sz="1200" b="0">
                <a:solidFill>
                  <a:srgbClr val="161B26"/>
                </a:solidFill>
                <a:latin typeface="Arial"/>
              </a:rPr>
              <a:t>Joined OpenAI in Feb 2026; an OpenClaw Foundation now stewards the project</a:t>
            </a:r>
          </a:p>
        </p:txBody>
      </p:sp>
      <p:sp>
        <p:nvSpPr>
          <p:cNvPr id="17" name="TextBox 16"/>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S30, S32, S52</a:t>
            </a:r>
          </a:p>
        </p:txBody>
      </p:sp>
      <p:sp>
        <p:nvSpPr>
          <p:cNvPr id="18" name="TextBox 17"/>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9" name="TextBox 18"/>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0" name="TextBox 19"/>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pic>
        <p:nvPicPr>
          <p:cNvPr id="21" name="Picture 20" descr="Openclaw Icon &amp; Logo | Dashboard Icons &amp; Logos">
            <a:extLst>
              <a:ext uri="{FF2B5EF4-FFF2-40B4-BE49-F238E27FC236}">
                <a16:creationId xmlns:a16="http://schemas.microsoft.com/office/drawing/2014/main" id="{2063AF8C-FB3D-6A68-C561-3BA0D8BF2A4F}"/>
              </a:ext>
            </a:extLst>
          </p:cNvPr>
          <p:cNvPicPr>
            <a:picLocks noChangeAspect="1"/>
          </p:cNvPicPr>
          <p:nvPr/>
        </p:nvPicPr>
        <p:blipFill>
          <a:blip r:embed="rId3"/>
          <a:stretch>
            <a:fillRect/>
          </a:stretch>
        </p:blipFill>
        <p:spPr>
          <a:xfrm>
            <a:off x="3591376" y="2038095"/>
            <a:ext cx="1719866" cy="171986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OpenClaw — A Naming and Adoption Story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Nov 2025 — released, goes viral as 'Clawdbot'</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Jan 2026 — renamed 'Moltbot'</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Jan 2026 — renamed 'OpenClaw'</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Mar 2026 — ~247k GitHub stars</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Renamed after a trademark complaint; figures per Wikipedia, as of early 2026.</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S30</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OpenClaw Runs Where You Already Chat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Messaging-first</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You talk to it in WhatsApp, Telegram, Slack, Signal and more</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Self-hosted</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It runs on your own machine or server, under your control</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Tool-enabled</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It can read, write and call services on your behalf</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S31</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Hermes Agent by Nous Research</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828799"/>
            <a:ext cx="598932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isual-hermes-agent-v41.png"/>
          <p:cNvPicPr>
            <a:picLocks noChangeAspect="1"/>
          </p:cNvPicPr>
          <p:nvPr/>
        </p:nvPicPr>
        <p:blipFill>
          <a:blip r:embed="rId2"/>
          <a:srcRect l="11789" r="11789"/>
          <a:stretch>
            <a:fillRect/>
          </a:stretch>
        </p:blipFill>
        <p:spPr>
          <a:xfrm>
            <a:off x="777240" y="1874519"/>
            <a:ext cx="5897880" cy="4343400"/>
          </a:xfrm>
          <a:prstGeom prst="rect">
            <a:avLst/>
          </a:prstGeom>
        </p:spPr>
      </p:pic>
      <p:sp>
        <p:nvSpPr>
          <p:cNvPr id="8" name="Rectangle 7"/>
          <p:cNvSpPr/>
          <p:nvPr/>
        </p:nvSpPr>
        <p:spPr>
          <a:xfrm>
            <a:off x="6949440" y="187451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949440" y="1874519"/>
            <a:ext cx="82296"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05472" y="1874519"/>
            <a:ext cx="4005072" cy="1325880"/>
          </a:xfrm>
          <a:prstGeom prst="rect">
            <a:avLst/>
          </a:prstGeom>
          <a:noFill/>
        </p:spPr>
        <p:txBody>
          <a:bodyPr wrap="square" anchor="ctr">
            <a:spAutoFit/>
          </a:bodyPr>
          <a:lstStyle/>
          <a:p>
            <a:pPr algn="l">
              <a:spcAft>
                <a:spcPts val="300"/>
              </a:spcAft>
            </a:pPr>
            <a:r>
              <a:rPr sz="1400" b="1">
                <a:solidFill>
                  <a:srgbClr val="1F6FEB"/>
                </a:solidFill>
                <a:latin typeface="Arial"/>
              </a:rPr>
              <a:t>Open-source agent</a:t>
            </a:r>
          </a:p>
          <a:p>
            <a:pPr algn="l">
              <a:spcAft>
                <a:spcPts val="300"/>
              </a:spcAft>
            </a:pPr>
            <a:r>
              <a:rPr sz="1200" b="0">
                <a:solidFill>
                  <a:srgbClr val="161B26"/>
                </a:solidFill>
                <a:latin typeface="Arial"/>
              </a:rPr>
              <a:t>CLI, gateway, messaging surfaces and a desktop app</a:t>
            </a:r>
          </a:p>
        </p:txBody>
      </p:sp>
      <p:sp>
        <p:nvSpPr>
          <p:cNvPr id="11" name="Rectangle 10"/>
          <p:cNvSpPr/>
          <p:nvPr/>
        </p:nvSpPr>
        <p:spPr>
          <a:xfrm>
            <a:off x="6949440" y="338327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949440" y="3383279"/>
            <a:ext cx="82296"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05472" y="3383279"/>
            <a:ext cx="4005072" cy="1325880"/>
          </a:xfrm>
          <a:prstGeom prst="rect">
            <a:avLst/>
          </a:prstGeom>
          <a:noFill/>
        </p:spPr>
        <p:txBody>
          <a:bodyPr wrap="square" anchor="ctr">
            <a:spAutoFit/>
          </a:bodyPr>
          <a:lstStyle/>
          <a:p>
            <a:pPr algn="l">
              <a:spcAft>
                <a:spcPts val="300"/>
              </a:spcAft>
            </a:pPr>
            <a:r>
              <a:rPr sz="1400" b="1">
                <a:solidFill>
                  <a:srgbClr val="10B981"/>
                </a:solidFill>
                <a:latin typeface="Arial"/>
              </a:rPr>
              <a:t>Self-improving</a:t>
            </a:r>
          </a:p>
          <a:p>
            <a:pPr algn="l">
              <a:spcAft>
                <a:spcPts val="300"/>
              </a:spcAft>
            </a:pPr>
            <a:r>
              <a:rPr sz="1200" b="0">
                <a:solidFill>
                  <a:srgbClr val="161B26"/>
                </a:solidFill>
                <a:latin typeface="Arial"/>
              </a:rPr>
              <a:t>Can create reusable skills from experience</a:t>
            </a:r>
          </a:p>
        </p:txBody>
      </p:sp>
      <p:sp>
        <p:nvSpPr>
          <p:cNvPr id="14" name="Rectangle 13"/>
          <p:cNvSpPr/>
          <p:nvPr/>
        </p:nvSpPr>
        <p:spPr>
          <a:xfrm>
            <a:off x="6949440" y="4892039"/>
            <a:ext cx="4462272"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949440" y="4892039"/>
            <a:ext cx="82296"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05472" y="4892039"/>
            <a:ext cx="4005072" cy="1325880"/>
          </a:xfrm>
          <a:prstGeom prst="rect">
            <a:avLst/>
          </a:prstGeom>
          <a:noFill/>
        </p:spPr>
        <p:txBody>
          <a:bodyPr wrap="square" anchor="ctr">
            <a:spAutoFit/>
          </a:bodyPr>
          <a:lstStyle/>
          <a:p>
            <a:pPr algn="l">
              <a:spcAft>
                <a:spcPts val="300"/>
              </a:spcAft>
            </a:pPr>
            <a:r>
              <a:rPr sz="1400" b="1">
                <a:solidFill>
                  <a:srgbClr val="7C3AED"/>
                </a:solidFill>
                <a:latin typeface="Arial"/>
              </a:rPr>
              <a:t>Flexible models</a:t>
            </a:r>
          </a:p>
          <a:p>
            <a:pPr algn="l">
              <a:spcAft>
                <a:spcPts val="300"/>
              </a:spcAft>
            </a:pPr>
            <a:r>
              <a:rPr sz="1200" b="0">
                <a:solidFill>
                  <a:srgbClr val="161B26"/>
                </a:solidFill>
                <a:latin typeface="Arial"/>
              </a:rPr>
              <a:t>Runs on many providers — we will point it at MiniMax</a:t>
            </a:r>
          </a:p>
        </p:txBody>
      </p:sp>
      <p:sp>
        <p:nvSpPr>
          <p:cNvPr id="17" name="TextBox 16"/>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S33</a:t>
            </a:r>
          </a:p>
        </p:txBody>
      </p:sp>
      <p:sp>
        <p:nvSpPr>
          <p:cNvPr id="18" name="TextBox 17"/>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9" name="TextBox 18"/>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0" name="TextBox 19"/>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pic>
        <p:nvPicPr>
          <p:cNvPr id="21" name="Picture 20" descr="Hermes Agent Icon &amp; Logo (selfh.st) | Dashboard Icons &amp; Logos">
            <a:extLst>
              <a:ext uri="{FF2B5EF4-FFF2-40B4-BE49-F238E27FC236}">
                <a16:creationId xmlns:a16="http://schemas.microsoft.com/office/drawing/2014/main" id="{427E4629-B215-74CB-E093-94034BB615C2}"/>
              </a:ext>
            </a:extLst>
          </p:cNvPr>
          <p:cNvPicPr>
            <a:picLocks noChangeAspect="1"/>
          </p:cNvPicPr>
          <p:nvPr/>
        </p:nvPicPr>
        <p:blipFill>
          <a:blip r:embed="rId3"/>
          <a:stretch>
            <a:fillRect/>
          </a:stretch>
        </p:blipFill>
        <p:spPr>
          <a:xfrm>
            <a:off x="4572000" y="1983158"/>
            <a:ext cx="2049346" cy="204934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Latest AI Agents (2025–2026)</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2126894" cy="6217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1907438" cy="621792"/>
          </a:xfrm>
          <a:prstGeom prst="rect">
            <a:avLst/>
          </a:prstGeom>
          <a:noFill/>
        </p:spPr>
        <p:txBody>
          <a:bodyPr wrap="square" anchor="ctr">
            <a:spAutoFit/>
          </a:bodyPr>
          <a:lstStyle/>
          <a:p>
            <a:pPr algn="l">
              <a:spcAft>
                <a:spcPts val="400"/>
              </a:spcAft>
            </a:pPr>
            <a:r>
              <a:rPr sz="1100" b="1">
                <a:solidFill>
                  <a:srgbClr val="FFFFFF"/>
                </a:solidFill>
                <a:latin typeface="Arial"/>
              </a:rPr>
              <a:t>Agent</a:t>
            </a:r>
          </a:p>
        </p:txBody>
      </p:sp>
      <p:sp>
        <p:nvSpPr>
          <p:cNvPr id="8" name="Rectangle 7"/>
          <p:cNvSpPr/>
          <p:nvPr/>
        </p:nvSpPr>
        <p:spPr>
          <a:xfrm>
            <a:off x="2904134" y="1783080"/>
            <a:ext cx="5529925" cy="6217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32150" y="1783080"/>
            <a:ext cx="5310469" cy="621792"/>
          </a:xfrm>
          <a:prstGeom prst="rect">
            <a:avLst/>
          </a:prstGeom>
          <a:noFill/>
        </p:spPr>
        <p:txBody>
          <a:bodyPr wrap="square" anchor="ctr">
            <a:spAutoFit/>
          </a:bodyPr>
          <a:lstStyle/>
          <a:p>
            <a:pPr algn="l">
              <a:spcAft>
                <a:spcPts val="400"/>
              </a:spcAft>
            </a:pPr>
            <a:r>
              <a:rPr sz="1100" b="1">
                <a:solidFill>
                  <a:srgbClr val="FFFFFF"/>
                </a:solidFill>
                <a:latin typeface="Arial"/>
              </a:rPr>
              <a:t>What it is</a:t>
            </a:r>
          </a:p>
        </p:txBody>
      </p:sp>
      <p:sp>
        <p:nvSpPr>
          <p:cNvPr id="10" name="Rectangle 9"/>
          <p:cNvSpPr/>
          <p:nvPr/>
        </p:nvSpPr>
        <p:spPr>
          <a:xfrm>
            <a:off x="8434059" y="1783080"/>
            <a:ext cx="2977652" cy="6217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62075" y="1783080"/>
            <a:ext cx="2758196" cy="621792"/>
          </a:xfrm>
          <a:prstGeom prst="rect">
            <a:avLst/>
          </a:prstGeom>
          <a:noFill/>
        </p:spPr>
        <p:txBody>
          <a:bodyPr wrap="square" anchor="ctr">
            <a:spAutoFit/>
          </a:bodyPr>
          <a:lstStyle/>
          <a:p>
            <a:pPr algn="l">
              <a:spcAft>
                <a:spcPts val="400"/>
              </a:spcAft>
            </a:pPr>
            <a:r>
              <a:rPr sz="1100" b="1">
                <a:solidFill>
                  <a:srgbClr val="FFFFFF"/>
                </a:solidFill>
                <a:latin typeface="Arial"/>
              </a:rPr>
              <a:t>Where to find it</a:t>
            </a:r>
          </a:p>
        </p:txBody>
      </p:sp>
      <p:sp>
        <p:nvSpPr>
          <p:cNvPr id="12" name="Rectangle 11"/>
          <p:cNvSpPr/>
          <p:nvPr/>
        </p:nvSpPr>
        <p:spPr>
          <a:xfrm>
            <a:off x="777240" y="2404872"/>
            <a:ext cx="2126894"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 y="2404872"/>
            <a:ext cx="1907438" cy="621792"/>
          </a:xfrm>
          <a:prstGeom prst="rect">
            <a:avLst/>
          </a:prstGeom>
          <a:noFill/>
        </p:spPr>
        <p:txBody>
          <a:bodyPr wrap="square" anchor="ctr">
            <a:spAutoFit/>
          </a:bodyPr>
          <a:lstStyle/>
          <a:p>
            <a:pPr algn="l">
              <a:spcAft>
                <a:spcPts val="400"/>
              </a:spcAft>
            </a:pPr>
            <a:r>
              <a:rPr sz="1000" b="1">
                <a:solidFill>
                  <a:srgbClr val="161B26"/>
                </a:solidFill>
                <a:latin typeface="Arial"/>
              </a:rPr>
              <a:t>OpenClaw</a:t>
            </a:r>
          </a:p>
        </p:txBody>
      </p:sp>
      <p:sp>
        <p:nvSpPr>
          <p:cNvPr id="14" name="Rectangle 13"/>
          <p:cNvSpPr/>
          <p:nvPr/>
        </p:nvSpPr>
        <p:spPr>
          <a:xfrm>
            <a:off x="2904134" y="2404872"/>
            <a:ext cx="5529925"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32150" y="2404872"/>
            <a:ext cx="5310469" cy="621792"/>
          </a:xfrm>
          <a:prstGeom prst="rect">
            <a:avLst/>
          </a:prstGeom>
          <a:noFill/>
        </p:spPr>
        <p:txBody>
          <a:bodyPr wrap="square" anchor="ctr">
            <a:spAutoFit/>
          </a:bodyPr>
          <a:lstStyle/>
          <a:p>
            <a:pPr algn="l">
              <a:spcAft>
                <a:spcPts val="400"/>
              </a:spcAft>
            </a:pPr>
            <a:r>
              <a:rPr sz="1000" b="0">
                <a:solidFill>
                  <a:srgbClr val="161B26"/>
                </a:solidFill>
                <a:latin typeface="Arial"/>
              </a:rPr>
              <a:t>Peter Steinberger's open-source personal agent; runs on your own devices, reached via your messaging apps</a:t>
            </a:r>
          </a:p>
        </p:txBody>
      </p:sp>
      <p:sp>
        <p:nvSpPr>
          <p:cNvPr id="16" name="Rectangle 15"/>
          <p:cNvSpPr/>
          <p:nvPr/>
        </p:nvSpPr>
        <p:spPr>
          <a:xfrm>
            <a:off x="8434059" y="2404872"/>
            <a:ext cx="2977652"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62075" y="2404872"/>
            <a:ext cx="2758196" cy="621792"/>
          </a:xfrm>
          <a:prstGeom prst="rect">
            <a:avLst/>
          </a:prstGeom>
          <a:noFill/>
        </p:spPr>
        <p:txBody>
          <a:bodyPr wrap="square" anchor="ctr">
            <a:spAutoFit/>
          </a:bodyPr>
          <a:lstStyle/>
          <a:p>
            <a:pPr algn="l">
              <a:spcAft>
                <a:spcPts val="400"/>
              </a:spcAft>
            </a:pPr>
            <a:r>
              <a:rPr sz="1000" b="0">
                <a:solidFill>
                  <a:srgbClr val="161B26"/>
                </a:solidFill>
                <a:latin typeface="Arial"/>
              </a:rPr>
              <a:t>github.com/openclaw/openclaw</a:t>
            </a:r>
          </a:p>
        </p:txBody>
      </p:sp>
      <p:sp>
        <p:nvSpPr>
          <p:cNvPr id="18" name="Rectangle 17"/>
          <p:cNvSpPr/>
          <p:nvPr/>
        </p:nvSpPr>
        <p:spPr>
          <a:xfrm>
            <a:off x="777240" y="3026664"/>
            <a:ext cx="2126894"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3026664"/>
            <a:ext cx="1907438" cy="621792"/>
          </a:xfrm>
          <a:prstGeom prst="rect">
            <a:avLst/>
          </a:prstGeom>
          <a:noFill/>
        </p:spPr>
        <p:txBody>
          <a:bodyPr wrap="square" anchor="ctr">
            <a:spAutoFit/>
          </a:bodyPr>
          <a:lstStyle/>
          <a:p>
            <a:pPr algn="l">
              <a:spcAft>
                <a:spcPts val="400"/>
              </a:spcAft>
            </a:pPr>
            <a:r>
              <a:rPr sz="1000" b="1">
                <a:solidFill>
                  <a:srgbClr val="161B26"/>
                </a:solidFill>
                <a:latin typeface="Arial"/>
              </a:rPr>
              <a:t>Hermes Agent</a:t>
            </a:r>
          </a:p>
        </p:txBody>
      </p:sp>
      <p:sp>
        <p:nvSpPr>
          <p:cNvPr id="20" name="Rectangle 19"/>
          <p:cNvSpPr/>
          <p:nvPr/>
        </p:nvSpPr>
        <p:spPr>
          <a:xfrm>
            <a:off x="2904134" y="3026664"/>
            <a:ext cx="5529925"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32150" y="3026664"/>
            <a:ext cx="5310469" cy="621792"/>
          </a:xfrm>
          <a:prstGeom prst="rect">
            <a:avLst/>
          </a:prstGeom>
          <a:noFill/>
        </p:spPr>
        <p:txBody>
          <a:bodyPr wrap="square" anchor="ctr">
            <a:spAutoFit/>
          </a:bodyPr>
          <a:lstStyle/>
          <a:p>
            <a:pPr algn="l">
              <a:spcAft>
                <a:spcPts val="400"/>
              </a:spcAft>
            </a:pPr>
            <a:r>
              <a:rPr sz="1000" b="0">
                <a:solidFill>
                  <a:srgbClr val="161B26"/>
                </a:solidFill>
                <a:latin typeface="Arial"/>
              </a:rPr>
              <a:t>Nous Research's self-improving personal agent; learns skills, model-agnostic (we use MiniMax)</a:t>
            </a:r>
          </a:p>
        </p:txBody>
      </p:sp>
      <p:sp>
        <p:nvSpPr>
          <p:cNvPr id="22" name="Rectangle 21"/>
          <p:cNvSpPr/>
          <p:nvPr/>
        </p:nvSpPr>
        <p:spPr>
          <a:xfrm>
            <a:off x="8434059" y="3026664"/>
            <a:ext cx="2977652"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62075" y="3026664"/>
            <a:ext cx="2758196" cy="621792"/>
          </a:xfrm>
          <a:prstGeom prst="rect">
            <a:avLst/>
          </a:prstGeom>
          <a:noFill/>
        </p:spPr>
        <p:txBody>
          <a:bodyPr wrap="square" anchor="ctr">
            <a:spAutoFit/>
          </a:bodyPr>
          <a:lstStyle/>
          <a:p>
            <a:pPr algn="l">
              <a:spcAft>
                <a:spcPts val="400"/>
              </a:spcAft>
            </a:pPr>
            <a:r>
              <a:rPr sz="1000" b="0">
                <a:solidFill>
                  <a:srgbClr val="161B26"/>
                </a:solidFill>
                <a:latin typeface="Arial"/>
              </a:rPr>
              <a:t>github.com/NousResearch/hermes-agent</a:t>
            </a:r>
          </a:p>
        </p:txBody>
      </p:sp>
      <p:sp>
        <p:nvSpPr>
          <p:cNvPr id="24" name="Rectangle 23"/>
          <p:cNvSpPr/>
          <p:nvPr/>
        </p:nvSpPr>
        <p:spPr>
          <a:xfrm>
            <a:off x="777240" y="3648456"/>
            <a:ext cx="2126894"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256" y="3648456"/>
            <a:ext cx="1907438" cy="621792"/>
          </a:xfrm>
          <a:prstGeom prst="rect">
            <a:avLst/>
          </a:prstGeom>
          <a:noFill/>
        </p:spPr>
        <p:txBody>
          <a:bodyPr wrap="square" anchor="ctr">
            <a:spAutoFit/>
          </a:bodyPr>
          <a:lstStyle/>
          <a:p>
            <a:pPr algn="l">
              <a:spcAft>
                <a:spcPts val="400"/>
              </a:spcAft>
            </a:pPr>
            <a:r>
              <a:rPr sz="1000" b="1">
                <a:solidFill>
                  <a:srgbClr val="161B26"/>
                </a:solidFill>
                <a:latin typeface="Arial"/>
              </a:rPr>
              <a:t>Prime Agent</a:t>
            </a:r>
          </a:p>
        </p:txBody>
      </p:sp>
      <p:sp>
        <p:nvSpPr>
          <p:cNvPr id="26" name="Rectangle 25"/>
          <p:cNvSpPr/>
          <p:nvPr/>
        </p:nvSpPr>
        <p:spPr>
          <a:xfrm>
            <a:off x="2904134" y="3648456"/>
            <a:ext cx="5529925"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032150" y="3648456"/>
            <a:ext cx="5310469" cy="621792"/>
          </a:xfrm>
          <a:prstGeom prst="rect">
            <a:avLst/>
          </a:prstGeom>
          <a:noFill/>
        </p:spPr>
        <p:txBody>
          <a:bodyPr wrap="square" anchor="ctr">
            <a:spAutoFit/>
          </a:bodyPr>
          <a:lstStyle/>
          <a:p>
            <a:pPr algn="l">
              <a:spcAft>
                <a:spcPts val="400"/>
              </a:spcAft>
            </a:pPr>
            <a:r>
              <a:rPr sz="1000" b="0">
                <a:solidFill>
                  <a:srgbClr val="161B26"/>
                </a:solidFill>
                <a:latin typeface="Arial"/>
              </a:rPr>
              <a:t>Prime Intellect's self-improving agent for coding and long-running autonomous tasks</a:t>
            </a:r>
          </a:p>
        </p:txBody>
      </p:sp>
      <p:sp>
        <p:nvSpPr>
          <p:cNvPr id="28" name="Rectangle 27"/>
          <p:cNvSpPr/>
          <p:nvPr/>
        </p:nvSpPr>
        <p:spPr>
          <a:xfrm>
            <a:off x="8434059" y="3648456"/>
            <a:ext cx="2977652"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62075" y="3648456"/>
            <a:ext cx="2758196" cy="621792"/>
          </a:xfrm>
          <a:prstGeom prst="rect">
            <a:avLst/>
          </a:prstGeom>
          <a:noFill/>
        </p:spPr>
        <p:txBody>
          <a:bodyPr wrap="square" anchor="ctr">
            <a:spAutoFit/>
          </a:bodyPr>
          <a:lstStyle/>
          <a:p>
            <a:pPr algn="l">
              <a:spcAft>
                <a:spcPts val="400"/>
              </a:spcAft>
            </a:pPr>
            <a:r>
              <a:rPr sz="1000" b="0">
                <a:solidFill>
                  <a:srgbClr val="161B26"/>
                </a:solidFill>
                <a:latin typeface="Arial"/>
              </a:rPr>
              <a:t>github.com/PrimeIntellect-ai/prime-agent</a:t>
            </a:r>
          </a:p>
        </p:txBody>
      </p:sp>
      <p:sp>
        <p:nvSpPr>
          <p:cNvPr id="30" name="Rectangle 29"/>
          <p:cNvSpPr/>
          <p:nvPr/>
        </p:nvSpPr>
        <p:spPr>
          <a:xfrm>
            <a:off x="777240" y="4270248"/>
            <a:ext cx="2126894"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5256" y="4270248"/>
            <a:ext cx="1907438" cy="621792"/>
          </a:xfrm>
          <a:prstGeom prst="rect">
            <a:avLst/>
          </a:prstGeom>
          <a:noFill/>
        </p:spPr>
        <p:txBody>
          <a:bodyPr wrap="square" anchor="ctr">
            <a:spAutoFit/>
          </a:bodyPr>
          <a:lstStyle/>
          <a:p>
            <a:pPr algn="l">
              <a:spcAft>
                <a:spcPts val="400"/>
              </a:spcAft>
            </a:pPr>
            <a:r>
              <a:rPr sz="1000" b="1">
                <a:solidFill>
                  <a:srgbClr val="161B26"/>
                </a:solidFill>
                <a:latin typeface="Arial"/>
              </a:rPr>
              <a:t>OpenWorker</a:t>
            </a:r>
          </a:p>
        </p:txBody>
      </p:sp>
      <p:sp>
        <p:nvSpPr>
          <p:cNvPr id="32" name="Rectangle 31"/>
          <p:cNvSpPr/>
          <p:nvPr/>
        </p:nvSpPr>
        <p:spPr>
          <a:xfrm>
            <a:off x="2904134" y="4270248"/>
            <a:ext cx="5529925"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032150" y="4270248"/>
            <a:ext cx="5310469" cy="621792"/>
          </a:xfrm>
          <a:prstGeom prst="rect">
            <a:avLst/>
          </a:prstGeom>
          <a:noFill/>
        </p:spPr>
        <p:txBody>
          <a:bodyPr wrap="square" anchor="ctr">
            <a:spAutoFit/>
          </a:bodyPr>
          <a:lstStyle/>
          <a:p>
            <a:pPr algn="l">
              <a:spcAft>
                <a:spcPts val="400"/>
              </a:spcAft>
            </a:pPr>
            <a:r>
              <a:rPr sz="1000" b="0">
                <a:solidFill>
                  <a:srgbClr val="161B26"/>
                </a:solidFill>
                <a:latin typeface="Arial"/>
              </a:rPr>
              <a:t>An open standard to hire, govern and trust AI 'workers' inside an organisation</a:t>
            </a:r>
          </a:p>
        </p:txBody>
      </p:sp>
      <p:sp>
        <p:nvSpPr>
          <p:cNvPr id="34" name="Rectangle 33"/>
          <p:cNvSpPr/>
          <p:nvPr/>
        </p:nvSpPr>
        <p:spPr>
          <a:xfrm>
            <a:off x="8434059" y="4270248"/>
            <a:ext cx="2977652"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562075" y="4270248"/>
            <a:ext cx="2758196" cy="621792"/>
          </a:xfrm>
          <a:prstGeom prst="rect">
            <a:avLst/>
          </a:prstGeom>
          <a:noFill/>
        </p:spPr>
        <p:txBody>
          <a:bodyPr wrap="square" anchor="ctr">
            <a:spAutoFit/>
          </a:bodyPr>
          <a:lstStyle/>
          <a:p>
            <a:pPr algn="l">
              <a:spcAft>
                <a:spcPts val="400"/>
              </a:spcAft>
            </a:pPr>
            <a:r>
              <a:rPr sz="1000" b="0">
                <a:solidFill>
                  <a:srgbClr val="161B26"/>
                </a:solidFill>
                <a:latin typeface="Arial"/>
              </a:rPr>
              <a:t>github.com/openworker-io/openworker</a:t>
            </a:r>
          </a:p>
        </p:txBody>
      </p:sp>
      <p:sp>
        <p:nvSpPr>
          <p:cNvPr id="36" name="Rectangle 35"/>
          <p:cNvSpPr/>
          <p:nvPr/>
        </p:nvSpPr>
        <p:spPr>
          <a:xfrm>
            <a:off x="777240" y="4892040"/>
            <a:ext cx="2126894"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5256" y="4892040"/>
            <a:ext cx="1907438" cy="621792"/>
          </a:xfrm>
          <a:prstGeom prst="rect">
            <a:avLst/>
          </a:prstGeom>
          <a:noFill/>
        </p:spPr>
        <p:txBody>
          <a:bodyPr wrap="square" anchor="ctr">
            <a:spAutoFit/>
          </a:bodyPr>
          <a:lstStyle/>
          <a:p>
            <a:pPr algn="l">
              <a:spcAft>
                <a:spcPts val="400"/>
              </a:spcAft>
            </a:pPr>
            <a:r>
              <a:rPr sz="1000" b="1">
                <a:solidFill>
                  <a:srgbClr val="161B26"/>
                </a:solidFill>
                <a:latin typeface="Arial"/>
              </a:rPr>
              <a:t>QM (Quartermaster)</a:t>
            </a:r>
          </a:p>
        </p:txBody>
      </p:sp>
      <p:sp>
        <p:nvSpPr>
          <p:cNvPr id="38" name="Rectangle 37"/>
          <p:cNvSpPr/>
          <p:nvPr/>
        </p:nvSpPr>
        <p:spPr>
          <a:xfrm>
            <a:off x="2904134" y="4892040"/>
            <a:ext cx="5529925"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32150" y="4892040"/>
            <a:ext cx="5310469" cy="621792"/>
          </a:xfrm>
          <a:prstGeom prst="rect">
            <a:avLst/>
          </a:prstGeom>
          <a:noFill/>
        </p:spPr>
        <p:txBody>
          <a:bodyPr wrap="square" anchor="ctr">
            <a:spAutoFit/>
          </a:bodyPr>
          <a:lstStyle/>
          <a:p>
            <a:pPr algn="l">
              <a:spcAft>
                <a:spcPts val="400"/>
              </a:spcAft>
            </a:pPr>
            <a:r>
              <a:rPr sz="1000" b="0">
                <a:solidFill>
                  <a:srgbClr val="161B26"/>
                </a:solidFill>
                <a:latin typeface="Arial"/>
              </a:rPr>
              <a:t>Y Combinator's multiplayer agent harness for teams in Slack / web, with scoped memory and sandboxes</a:t>
            </a:r>
          </a:p>
        </p:txBody>
      </p:sp>
      <p:sp>
        <p:nvSpPr>
          <p:cNvPr id="40" name="Rectangle 39"/>
          <p:cNvSpPr/>
          <p:nvPr/>
        </p:nvSpPr>
        <p:spPr>
          <a:xfrm>
            <a:off x="8434059" y="4892040"/>
            <a:ext cx="2977652"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62075" y="4892040"/>
            <a:ext cx="2758196" cy="621792"/>
          </a:xfrm>
          <a:prstGeom prst="rect">
            <a:avLst/>
          </a:prstGeom>
          <a:noFill/>
        </p:spPr>
        <p:txBody>
          <a:bodyPr wrap="square" anchor="ctr">
            <a:spAutoFit/>
          </a:bodyPr>
          <a:lstStyle/>
          <a:p>
            <a:pPr algn="l">
              <a:spcAft>
                <a:spcPts val="400"/>
              </a:spcAft>
            </a:pPr>
            <a:r>
              <a:rPr sz="1000" b="0">
                <a:solidFill>
                  <a:srgbClr val="161B26"/>
                </a:solidFill>
                <a:latin typeface="Arial"/>
              </a:rPr>
              <a:t>github.com/yc-software/qm</a:t>
            </a:r>
          </a:p>
        </p:txBody>
      </p:sp>
      <p:sp>
        <p:nvSpPr>
          <p:cNvPr id="42" name="TextBox 41"/>
          <p:cNvSpPr txBox="1"/>
          <p:nvPr/>
        </p:nvSpPr>
        <p:spPr>
          <a:xfrm>
            <a:off x="777240" y="5632704"/>
            <a:ext cx="10698480" cy="438912"/>
          </a:xfrm>
          <a:prstGeom prst="rect">
            <a:avLst/>
          </a:prstGeom>
          <a:noFill/>
        </p:spPr>
        <p:txBody>
          <a:bodyPr wrap="square" anchor="t">
            <a:spAutoFit/>
          </a:bodyPr>
          <a:lstStyle/>
          <a:p>
            <a:pPr algn="ctr">
              <a:spcAft>
                <a:spcPts val="400"/>
              </a:spcAft>
            </a:pPr>
            <a:r>
              <a:rPr sz="1180" b="0">
                <a:solidFill>
                  <a:srgbClr val="5B6372"/>
                </a:solidFill>
                <a:latin typeface="Arial"/>
              </a:rPr>
              <a:t>All open-source and self-hosted. Capability is not a safety rating — verify each one's permissions, sandbox and data access before use.</a:t>
            </a:r>
          </a:p>
        </p:txBody>
      </p:sp>
      <p:sp>
        <p:nvSpPr>
          <p:cNvPr id="43" name="TextBox 42"/>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S56, S57, S58, S59, S60</a:t>
            </a:r>
          </a:p>
        </p:txBody>
      </p:sp>
      <p:sp>
        <p:nvSpPr>
          <p:cNvPr id="44" name="TextBox 43"/>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5" name="TextBox 44"/>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6" name="TextBox 45"/>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AI FOR CYBER SECURITY</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Applications of AI Agents in Threat Detection</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Real-time threat detection</a:t>
            </a:r>
          </a:p>
        </p:txBody>
      </p:sp>
      <p:sp>
        <p:nvSpPr>
          <p:cNvPr id="12" name="TextBox 11"/>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Agents watch traffic, endpoints and events continuously and flag cyber threats as they emerge — not hours later</a:t>
            </a:r>
          </a:p>
        </p:txBody>
      </p:sp>
      <p:sp>
        <p:nvSpPr>
          <p:cNvPr id="13" name="Rectangle 12"/>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5105400" y="1929384"/>
            <a:ext cx="2526792" cy="548640"/>
          </a:xfrm>
          <a:prstGeom prst="rect">
            <a:avLst/>
          </a:prstGeom>
          <a:noFill/>
        </p:spPr>
        <p:txBody>
          <a:bodyPr wrap="square" anchor="t">
            <a:spAutoFit/>
          </a:bodyPr>
          <a:lstStyle/>
          <a:p>
            <a:pPr algn="l">
              <a:spcAft>
                <a:spcPts val="400"/>
              </a:spcAft>
            </a:pPr>
            <a:r>
              <a:rPr sz="1400" b="1">
                <a:solidFill>
                  <a:srgbClr val="10B981"/>
                </a:solidFill>
                <a:latin typeface="Arial"/>
              </a:rPr>
              <a:t>Automated vulnerability detection</a:t>
            </a:r>
          </a:p>
        </p:txBody>
      </p:sp>
      <p:sp>
        <p:nvSpPr>
          <p:cNvPr id="18" name="TextBox 17"/>
          <p:cNvSpPr txBox="1"/>
          <p:nvPr/>
        </p:nvSpPr>
        <p:spPr>
          <a:xfrm>
            <a:off x="4611624" y="2624328"/>
            <a:ext cx="2947416" cy="2642616"/>
          </a:xfrm>
          <a:prstGeom prst="rect">
            <a:avLst/>
          </a:prstGeom>
          <a:noFill/>
        </p:spPr>
        <p:txBody>
          <a:bodyPr wrap="square" anchor="t">
            <a:spAutoFit/>
          </a:bodyPr>
          <a:lstStyle/>
          <a:p>
            <a:pPr algn="l">
              <a:spcAft>
                <a:spcPts val="400"/>
              </a:spcAft>
            </a:pPr>
            <a:r>
              <a:rPr sz="1150" b="0">
                <a:solidFill>
                  <a:srgbClr val="161B26"/>
                </a:solidFill>
                <a:latin typeface="Arial"/>
              </a:rPr>
              <a:t>Scan code, systems and configurations for weaknesses, then analyse severity and exploitability</a:t>
            </a:r>
          </a:p>
        </p:txBody>
      </p:sp>
      <p:sp>
        <p:nvSpPr>
          <p:cNvPr id="19" name="Rectangle 18"/>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8802624" y="1929384"/>
            <a:ext cx="2526792" cy="548640"/>
          </a:xfrm>
          <a:prstGeom prst="rect">
            <a:avLst/>
          </a:prstGeom>
          <a:noFill/>
        </p:spPr>
        <p:txBody>
          <a:bodyPr wrap="square" anchor="t">
            <a:spAutoFit/>
          </a:bodyPr>
          <a:lstStyle/>
          <a:p>
            <a:pPr algn="l">
              <a:spcAft>
                <a:spcPts val="400"/>
              </a:spcAft>
            </a:pPr>
            <a:r>
              <a:rPr sz="1400" b="1">
                <a:solidFill>
                  <a:srgbClr val="7C3AED"/>
                </a:solidFill>
                <a:latin typeface="Arial"/>
              </a:rPr>
              <a:t>Malware analysis &amp; classification</a:t>
            </a:r>
          </a:p>
        </p:txBody>
      </p:sp>
      <p:sp>
        <p:nvSpPr>
          <p:cNvPr id="24" name="TextBox 23"/>
          <p:cNvSpPr txBox="1"/>
          <p:nvPr/>
        </p:nvSpPr>
        <p:spPr>
          <a:xfrm>
            <a:off x="8308848" y="2624328"/>
            <a:ext cx="2947416" cy="2642616"/>
          </a:xfrm>
          <a:prstGeom prst="rect">
            <a:avLst/>
          </a:prstGeom>
          <a:noFill/>
        </p:spPr>
        <p:txBody>
          <a:bodyPr wrap="square" anchor="t">
            <a:spAutoFit/>
          </a:bodyPr>
          <a:lstStyle/>
          <a:p>
            <a:pPr algn="l">
              <a:spcAft>
                <a:spcPts val="400"/>
              </a:spcAft>
            </a:pPr>
            <a:r>
              <a:rPr sz="1150" b="0">
                <a:solidFill>
                  <a:srgbClr val="161B26"/>
                </a:solidFill>
                <a:latin typeface="Arial"/>
              </a:rPr>
              <a:t>Dissect and classify malicious samples far faster than manual reverse-engineering</a:t>
            </a:r>
          </a:p>
        </p:txBody>
      </p:sp>
      <p:sp>
        <p:nvSpPr>
          <p:cNvPr id="25" name="Rectangle 24"/>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AI is on both sides of the fight — the same capabilities also power attackers, which is why Topic 3 defends the agents themselves.</a:t>
            </a:r>
          </a:p>
        </p:txBody>
      </p:sp>
      <p:sp>
        <p:nvSpPr>
          <p:cNvPr id="27" name="TextBox 26"/>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8" name="TextBox 27"/>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9" name="TextBox 28"/>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0" name="TextBox 29"/>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AI FOR CYBER SECURITY</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AI Agents in Network and Social-Engineering Security</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534924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1783080"/>
            <a:ext cx="82296" cy="2057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29384"/>
            <a:ext cx="4434840" cy="274320"/>
          </a:xfrm>
          <a:prstGeom prst="rect">
            <a:avLst/>
          </a:prstGeom>
          <a:noFill/>
        </p:spPr>
        <p:txBody>
          <a:bodyPr wrap="square" anchor="t">
            <a:spAutoFit/>
          </a:bodyPr>
          <a:lstStyle/>
          <a:p>
            <a:pPr algn="l">
              <a:spcAft>
                <a:spcPts val="400"/>
              </a:spcAft>
            </a:pPr>
            <a:r>
              <a:rPr sz="1400" b="1">
                <a:solidFill>
                  <a:srgbClr val="1F6FEB"/>
                </a:solidFill>
                <a:latin typeface="Arial"/>
              </a:rPr>
              <a:t>Network intrusion detection</a:t>
            </a:r>
          </a:p>
        </p:txBody>
      </p:sp>
      <p:sp>
        <p:nvSpPr>
          <p:cNvPr id="12" name="TextBox 11"/>
          <p:cNvSpPr txBox="1"/>
          <p:nvPr/>
        </p:nvSpPr>
        <p:spPr>
          <a:xfrm>
            <a:off x="914400" y="2532888"/>
            <a:ext cx="4855464" cy="1179576"/>
          </a:xfrm>
          <a:prstGeom prst="rect">
            <a:avLst/>
          </a:prstGeom>
          <a:noFill/>
        </p:spPr>
        <p:txBody>
          <a:bodyPr wrap="square" anchor="t">
            <a:spAutoFit/>
          </a:bodyPr>
          <a:lstStyle/>
          <a:p>
            <a:pPr algn="l">
              <a:spcAft>
                <a:spcPts val="400"/>
              </a:spcAft>
            </a:pPr>
            <a:r>
              <a:rPr sz="1150" b="0">
                <a:solidFill>
                  <a:srgbClr val="161B26"/>
                </a:solidFill>
                <a:latin typeface="Arial"/>
              </a:rPr>
              <a:t>Learn what normal network behaviour looks like and catch intrusions that signature rules miss</a:t>
            </a:r>
          </a:p>
        </p:txBody>
      </p:sp>
      <p:sp>
        <p:nvSpPr>
          <p:cNvPr id="13" name="Rectangle 12"/>
          <p:cNvSpPr/>
          <p:nvPr/>
        </p:nvSpPr>
        <p:spPr>
          <a:xfrm>
            <a:off x="6144768" y="1783080"/>
            <a:ext cx="534924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44768" y="1783080"/>
            <a:ext cx="82296" cy="2057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3642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42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6894576" y="1929384"/>
            <a:ext cx="4434840" cy="274320"/>
          </a:xfrm>
          <a:prstGeom prst="rect">
            <a:avLst/>
          </a:prstGeom>
          <a:noFill/>
        </p:spPr>
        <p:txBody>
          <a:bodyPr wrap="square" anchor="t">
            <a:spAutoFit/>
          </a:bodyPr>
          <a:lstStyle/>
          <a:p>
            <a:pPr algn="l">
              <a:spcAft>
                <a:spcPts val="400"/>
              </a:spcAft>
            </a:pPr>
            <a:r>
              <a:rPr sz="1400" b="1">
                <a:solidFill>
                  <a:srgbClr val="10B981"/>
                </a:solidFill>
                <a:latin typeface="Arial"/>
              </a:rPr>
              <a:t>Attack classification</a:t>
            </a:r>
          </a:p>
        </p:txBody>
      </p:sp>
      <p:sp>
        <p:nvSpPr>
          <p:cNvPr id="18" name="TextBox 17"/>
          <p:cNvSpPr txBox="1"/>
          <p:nvPr/>
        </p:nvSpPr>
        <p:spPr>
          <a:xfrm>
            <a:off x="6400800" y="2532888"/>
            <a:ext cx="4855464" cy="1179576"/>
          </a:xfrm>
          <a:prstGeom prst="rect">
            <a:avLst/>
          </a:prstGeom>
          <a:noFill/>
        </p:spPr>
        <p:txBody>
          <a:bodyPr wrap="square" anchor="t">
            <a:spAutoFit/>
          </a:bodyPr>
          <a:lstStyle/>
          <a:p>
            <a:pPr algn="l">
              <a:spcAft>
                <a:spcPts val="400"/>
              </a:spcAft>
            </a:pPr>
            <a:r>
              <a:rPr sz="1150" b="0">
                <a:solidFill>
                  <a:srgbClr val="161B26"/>
                </a:solidFill>
                <a:latin typeface="Arial"/>
              </a:rPr>
              <a:t>Label detected attacks by type and severity so responders know what to tackle first</a:t>
            </a:r>
          </a:p>
        </p:txBody>
      </p:sp>
      <p:sp>
        <p:nvSpPr>
          <p:cNvPr id="19" name="Rectangle 18"/>
          <p:cNvSpPr/>
          <p:nvPr/>
        </p:nvSpPr>
        <p:spPr>
          <a:xfrm>
            <a:off x="658368" y="4069080"/>
            <a:ext cx="534924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58368" y="4069080"/>
            <a:ext cx="82296" cy="2057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77824" y="4251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7824" y="4251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408176" y="4215384"/>
            <a:ext cx="4434840" cy="274320"/>
          </a:xfrm>
          <a:prstGeom prst="rect">
            <a:avLst/>
          </a:prstGeom>
          <a:noFill/>
        </p:spPr>
        <p:txBody>
          <a:bodyPr wrap="square" anchor="t">
            <a:spAutoFit/>
          </a:bodyPr>
          <a:lstStyle/>
          <a:p>
            <a:pPr algn="l">
              <a:spcAft>
                <a:spcPts val="400"/>
              </a:spcAft>
            </a:pPr>
            <a:r>
              <a:rPr sz="1400" b="1">
                <a:solidFill>
                  <a:srgbClr val="7C3AED"/>
                </a:solidFill>
                <a:latin typeface="Arial"/>
              </a:rPr>
              <a:t>Phishing &amp; deceptive language</a:t>
            </a:r>
          </a:p>
        </p:txBody>
      </p:sp>
      <p:sp>
        <p:nvSpPr>
          <p:cNvPr id="24" name="TextBox 23"/>
          <p:cNvSpPr txBox="1"/>
          <p:nvPr/>
        </p:nvSpPr>
        <p:spPr>
          <a:xfrm>
            <a:off x="914400" y="4818888"/>
            <a:ext cx="4855464" cy="1179576"/>
          </a:xfrm>
          <a:prstGeom prst="rect">
            <a:avLst/>
          </a:prstGeom>
          <a:noFill/>
        </p:spPr>
        <p:txBody>
          <a:bodyPr wrap="square" anchor="t">
            <a:spAutoFit/>
          </a:bodyPr>
          <a:lstStyle/>
          <a:p>
            <a:pPr algn="l">
              <a:spcAft>
                <a:spcPts val="400"/>
              </a:spcAft>
            </a:pPr>
            <a:r>
              <a:rPr sz="1150" b="0">
                <a:solidFill>
                  <a:srgbClr val="161B26"/>
                </a:solidFill>
                <a:latin typeface="Arial"/>
              </a:rPr>
              <a:t>Detect and defend against phishing attacks and manipulative, deceptive language in messages</a:t>
            </a:r>
          </a:p>
        </p:txBody>
      </p:sp>
      <p:sp>
        <p:nvSpPr>
          <p:cNvPr id="25" name="Rectangle 24"/>
          <p:cNvSpPr/>
          <p:nvPr/>
        </p:nvSpPr>
        <p:spPr>
          <a:xfrm>
            <a:off x="6144768" y="4069080"/>
            <a:ext cx="5349240" cy="2057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44768" y="4069080"/>
            <a:ext cx="82296" cy="2057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364224" y="4251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64224" y="4251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6894576" y="4215384"/>
            <a:ext cx="4434840" cy="274320"/>
          </a:xfrm>
          <a:prstGeom prst="rect">
            <a:avLst/>
          </a:prstGeom>
          <a:noFill/>
        </p:spPr>
        <p:txBody>
          <a:bodyPr wrap="square" anchor="t">
            <a:spAutoFit/>
          </a:bodyPr>
          <a:lstStyle/>
          <a:p>
            <a:pPr algn="l">
              <a:spcAft>
                <a:spcPts val="400"/>
              </a:spcAft>
            </a:pPr>
            <a:r>
              <a:rPr sz="1400" b="1">
                <a:solidFill>
                  <a:srgbClr val="F59E0B"/>
                </a:solidFill>
                <a:latin typeface="Arial"/>
              </a:rPr>
              <a:t>Log analysis &amp; anomaly detection</a:t>
            </a:r>
          </a:p>
        </p:txBody>
      </p:sp>
      <p:sp>
        <p:nvSpPr>
          <p:cNvPr id="30" name="TextBox 29"/>
          <p:cNvSpPr txBox="1"/>
          <p:nvPr/>
        </p:nvSpPr>
        <p:spPr>
          <a:xfrm>
            <a:off x="6400800" y="4818888"/>
            <a:ext cx="4855464" cy="1179576"/>
          </a:xfrm>
          <a:prstGeom prst="rect">
            <a:avLst/>
          </a:prstGeom>
          <a:noFill/>
        </p:spPr>
        <p:txBody>
          <a:bodyPr wrap="square" anchor="t">
            <a:spAutoFit/>
          </a:bodyPr>
          <a:lstStyle/>
          <a:p>
            <a:pPr algn="l">
              <a:spcAft>
                <a:spcPts val="400"/>
              </a:spcAft>
            </a:pPr>
            <a:r>
              <a:rPr sz="1150" b="0">
                <a:solidFill>
                  <a:srgbClr val="161B26"/>
                </a:solidFill>
                <a:latin typeface="Arial"/>
              </a:rPr>
              <a:t>Sift millions of system-log lines to surface the anomalies worth investigating</a:t>
            </a:r>
          </a:p>
        </p:txBody>
      </p:sp>
      <p:sp>
        <p:nvSpPr>
          <p:cNvPr id="31" name="TextBox 30"/>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2" name="TextBox 31"/>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3" name="TextBox 32"/>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4" name="TextBox 33"/>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AI FOR CYBER SECURITY</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Applications of AI Agents in Incident Response</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Repair &amp; patch generation</a:t>
            </a:r>
          </a:p>
        </p:txBody>
      </p:sp>
      <p:sp>
        <p:nvSpPr>
          <p:cNvPr id="12" name="TextBox 11"/>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Automate vulnerability repair and generate candidate patches for human review</a:t>
            </a:r>
          </a:p>
        </p:txBody>
      </p:sp>
      <p:sp>
        <p:nvSpPr>
          <p:cNvPr id="13" name="Rectangle 12"/>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Workflows &amp; playbooks</a:t>
            </a:r>
          </a:p>
        </p:txBody>
      </p:sp>
      <p:sp>
        <p:nvSpPr>
          <p:cNvPr id="18" name="TextBox 17"/>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Streamline incident-response workflows and execute playbooks consistently under pressure</a:t>
            </a:r>
          </a:p>
        </p:txBody>
      </p:sp>
      <p:sp>
        <p:nvSpPr>
          <p:cNvPr id="19" name="Rectangle 18"/>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Post-attack analysis</a:t>
            </a:r>
          </a:p>
        </p:txBody>
      </p:sp>
      <p:sp>
        <p:nvSpPr>
          <p:cNvPr id="24" name="TextBox 23"/>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Reconstruct the attack, identify the root cause and recommend fixes to stop a repeat</a:t>
            </a:r>
          </a:p>
        </p:txBody>
      </p:sp>
      <p:sp>
        <p:nvSpPr>
          <p:cNvPr id="25" name="TextBox 2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6" name="TextBox 2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7" name="TextBox 2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8" name="TextBox 2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AI FOR CYBER SECURITY</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Applications of AI in Security Operations Centres (SOCs)</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29384"/>
            <a:ext cx="2526792" cy="548640"/>
          </a:xfrm>
          <a:prstGeom prst="rect">
            <a:avLst/>
          </a:prstGeom>
          <a:noFill/>
        </p:spPr>
        <p:txBody>
          <a:bodyPr wrap="square" anchor="t">
            <a:spAutoFit/>
          </a:bodyPr>
          <a:lstStyle/>
          <a:p>
            <a:pPr algn="l">
              <a:spcAft>
                <a:spcPts val="400"/>
              </a:spcAft>
            </a:pPr>
            <a:r>
              <a:rPr sz="1400" b="1">
                <a:solidFill>
                  <a:srgbClr val="1F6FEB"/>
                </a:solidFill>
                <a:latin typeface="Arial"/>
              </a:rPr>
              <a:t>Proactive defence &amp; threat hunting</a:t>
            </a:r>
          </a:p>
        </p:txBody>
      </p:sp>
      <p:sp>
        <p:nvSpPr>
          <p:cNvPr id="12" name="TextBox 11"/>
          <p:cNvSpPr txBox="1"/>
          <p:nvPr/>
        </p:nvSpPr>
        <p:spPr>
          <a:xfrm>
            <a:off x="914400" y="2624328"/>
            <a:ext cx="2947416" cy="2642616"/>
          </a:xfrm>
          <a:prstGeom prst="rect">
            <a:avLst/>
          </a:prstGeom>
          <a:noFill/>
        </p:spPr>
        <p:txBody>
          <a:bodyPr wrap="square" anchor="t">
            <a:spAutoFit/>
          </a:bodyPr>
          <a:lstStyle/>
          <a:p>
            <a:pPr algn="l">
              <a:spcAft>
                <a:spcPts val="400"/>
              </a:spcAft>
            </a:pPr>
            <a:r>
              <a:rPr sz="1150" b="0">
                <a:solidFill>
                  <a:srgbClr val="161B26"/>
                </a:solidFill>
                <a:latin typeface="Arial"/>
              </a:rPr>
              <a:t>Hunt for hidden threats across the estate instead of waiting for alerts</a:t>
            </a:r>
          </a:p>
        </p:txBody>
      </p:sp>
      <p:sp>
        <p:nvSpPr>
          <p:cNvPr id="13" name="Rectangle 12"/>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5105400" y="1929384"/>
            <a:ext cx="2526792" cy="548640"/>
          </a:xfrm>
          <a:prstGeom prst="rect">
            <a:avLst/>
          </a:prstGeom>
          <a:noFill/>
        </p:spPr>
        <p:txBody>
          <a:bodyPr wrap="square" anchor="t">
            <a:spAutoFit/>
          </a:bodyPr>
          <a:lstStyle/>
          <a:p>
            <a:pPr algn="l">
              <a:spcAft>
                <a:spcPts val="400"/>
              </a:spcAft>
            </a:pPr>
            <a:r>
              <a:rPr sz="1400" b="1">
                <a:solidFill>
                  <a:srgbClr val="10B981"/>
                </a:solidFill>
                <a:latin typeface="Arial"/>
              </a:rPr>
              <a:t>Risk management &amp; predictive analytics</a:t>
            </a:r>
          </a:p>
        </p:txBody>
      </p:sp>
      <p:sp>
        <p:nvSpPr>
          <p:cNvPr id="18" name="TextBox 17"/>
          <p:cNvSpPr txBox="1"/>
          <p:nvPr/>
        </p:nvSpPr>
        <p:spPr>
          <a:xfrm>
            <a:off x="4611624" y="2624328"/>
            <a:ext cx="2947416" cy="2642616"/>
          </a:xfrm>
          <a:prstGeom prst="rect">
            <a:avLst/>
          </a:prstGeom>
          <a:noFill/>
        </p:spPr>
        <p:txBody>
          <a:bodyPr wrap="square" anchor="t">
            <a:spAutoFit/>
          </a:bodyPr>
          <a:lstStyle/>
          <a:p>
            <a:pPr algn="l">
              <a:spcAft>
                <a:spcPts val="400"/>
              </a:spcAft>
            </a:pPr>
            <a:r>
              <a:rPr sz="1150" b="0">
                <a:solidFill>
                  <a:srgbClr val="161B26"/>
                </a:solidFill>
                <a:latin typeface="Arial"/>
              </a:rPr>
              <a:t>Score risks and predict likely attack paths before they are exploited</a:t>
            </a:r>
          </a:p>
        </p:txBody>
      </p:sp>
      <p:sp>
        <p:nvSpPr>
          <p:cNvPr id="19" name="Rectangle 18"/>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Adaptive decision-making</a:t>
            </a:r>
          </a:p>
        </p:txBody>
      </p:sp>
      <p:sp>
        <p:nvSpPr>
          <p:cNvPr id="24" name="TextBox 23"/>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Learn continuously from every incident and adapt defences over time</a:t>
            </a:r>
          </a:p>
        </p:txBody>
      </p:sp>
      <p:sp>
        <p:nvSpPr>
          <p:cNvPr id="25" name="Rectangle 24"/>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The SOC of 2026 pairs human analysts with AI agents — the analyst sets direction and approves actions; the agent does the heavy lifting.</a:t>
            </a:r>
          </a:p>
        </p:txBody>
      </p:sp>
      <p:sp>
        <p:nvSpPr>
          <p:cNvPr id="27" name="TextBox 26"/>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8" name="TextBox 27"/>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9" name="TextBox 28"/>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0" name="TextBox 29"/>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Try It Today: TIA Support on WhatsApp</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The number</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TIA Support WhatsApp +65 8866 6375, powered by OpenClaw</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What to do</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Message it like a person and give it a small task</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Watch for</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Where it helps — and where you would not trust it yet</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We use this live in Activity 1.</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S31</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An Agent on WhatsApp Is Exposed to the Internet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534924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1691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4434840" cy="274320"/>
          </a:xfrm>
          <a:prstGeom prst="rect">
            <a:avLst/>
          </a:prstGeom>
          <a:noFill/>
        </p:spPr>
        <p:txBody>
          <a:bodyPr wrap="square" anchor="t">
            <a:spAutoFit/>
          </a:bodyPr>
          <a:lstStyle/>
          <a:p>
            <a:pPr algn="l">
              <a:spcAft>
                <a:spcPts val="400"/>
              </a:spcAft>
            </a:pPr>
            <a:r>
              <a:rPr sz="1400" b="1">
                <a:solidFill>
                  <a:srgbClr val="1F6FEB"/>
                </a:solidFill>
                <a:latin typeface="Arial"/>
              </a:rPr>
              <a:t>Open to anyone</a:t>
            </a:r>
          </a:p>
        </p:txBody>
      </p:sp>
      <p:sp>
        <p:nvSpPr>
          <p:cNvPr id="11" name="TextBox 10"/>
          <p:cNvSpPr txBox="1"/>
          <p:nvPr/>
        </p:nvSpPr>
        <p:spPr>
          <a:xfrm>
            <a:off x="914400" y="2532888"/>
            <a:ext cx="4855464" cy="813816"/>
          </a:xfrm>
          <a:prstGeom prst="rect">
            <a:avLst/>
          </a:prstGeom>
          <a:noFill/>
        </p:spPr>
        <p:txBody>
          <a:bodyPr wrap="square" anchor="t">
            <a:spAutoFit/>
          </a:bodyPr>
          <a:lstStyle/>
          <a:p>
            <a:pPr algn="l">
              <a:spcAft>
                <a:spcPts val="400"/>
              </a:spcAft>
            </a:pPr>
            <a:r>
              <a:rPr sz="1150" b="0">
                <a:solidFill>
                  <a:srgbClr val="161B26"/>
                </a:solidFill>
                <a:latin typeface="Arial"/>
              </a:rPr>
              <a:t>A WhatsApp or Telegram agent accepts messages from the whole internet — including bad actors</a:t>
            </a:r>
          </a:p>
        </p:txBody>
      </p:sp>
      <p:sp>
        <p:nvSpPr>
          <p:cNvPr id="12" name="Rectangle 11"/>
          <p:cNvSpPr/>
          <p:nvPr/>
        </p:nvSpPr>
        <p:spPr>
          <a:xfrm>
            <a:off x="6144768" y="1783080"/>
            <a:ext cx="534924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44768" y="1783080"/>
            <a:ext cx="82296" cy="1691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3642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642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6894576" y="1929384"/>
            <a:ext cx="4434840" cy="274320"/>
          </a:xfrm>
          <a:prstGeom prst="rect">
            <a:avLst/>
          </a:prstGeom>
          <a:noFill/>
        </p:spPr>
        <p:txBody>
          <a:bodyPr wrap="square" anchor="t">
            <a:spAutoFit/>
          </a:bodyPr>
          <a:lstStyle/>
          <a:p>
            <a:pPr algn="l">
              <a:spcAft>
                <a:spcPts val="400"/>
              </a:spcAft>
            </a:pPr>
            <a:r>
              <a:rPr sz="1400" b="1">
                <a:solidFill>
                  <a:srgbClr val="10B981"/>
                </a:solidFill>
                <a:latin typeface="Arial"/>
              </a:rPr>
              <a:t>Prompt injection</a:t>
            </a:r>
          </a:p>
        </p:txBody>
      </p:sp>
      <p:sp>
        <p:nvSpPr>
          <p:cNvPr id="17" name="TextBox 16"/>
          <p:cNvSpPr txBox="1"/>
          <p:nvPr/>
        </p:nvSpPr>
        <p:spPr>
          <a:xfrm>
            <a:off x="6400800" y="2532888"/>
            <a:ext cx="4855464" cy="813816"/>
          </a:xfrm>
          <a:prstGeom prst="rect">
            <a:avLst/>
          </a:prstGeom>
          <a:noFill/>
        </p:spPr>
        <p:txBody>
          <a:bodyPr wrap="square" anchor="t">
            <a:spAutoFit/>
          </a:bodyPr>
          <a:lstStyle/>
          <a:p>
            <a:pPr algn="l">
              <a:spcAft>
                <a:spcPts val="400"/>
              </a:spcAft>
            </a:pPr>
            <a:r>
              <a:rPr sz="1150" b="0">
                <a:solidFill>
                  <a:srgbClr val="161B26"/>
                </a:solidFill>
                <a:latin typeface="Arial"/>
              </a:rPr>
              <a:t>A crafted message overrides the agent's instructions and hijacks its tools</a:t>
            </a:r>
          </a:p>
        </p:txBody>
      </p:sp>
      <p:sp>
        <p:nvSpPr>
          <p:cNvPr id="18" name="Rectangle 17"/>
          <p:cNvSpPr/>
          <p:nvPr/>
        </p:nvSpPr>
        <p:spPr>
          <a:xfrm>
            <a:off x="658368" y="3703320"/>
            <a:ext cx="534924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58368" y="3703320"/>
            <a:ext cx="82296" cy="1691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77824" y="388620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7824" y="388620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1408176" y="3849624"/>
            <a:ext cx="4434840" cy="274320"/>
          </a:xfrm>
          <a:prstGeom prst="rect">
            <a:avLst/>
          </a:prstGeom>
          <a:noFill/>
        </p:spPr>
        <p:txBody>
          <a:bodyPr wrap="square" anchor="t">
            <a:spAutoFit/>
          </a:bodyPr>
          <a:lstStyle/>
          <a:p>
            <a:pPr algn="l">
              <a:spcAft>
                <a:spcPts val="400"/>
              </a:spcAft>
            </a:pPr>
            <a:r>
              <a:rPr sz="1400" b="1">
                <a:solidFill>
                  <a:srgbClr val="7C3AED"/>
                </a:solidFill>
                <a:latin typeface="Arial"/>
              </a:rPr>
              <a:t>Data poisoning</a:t>
            </a:r>
          </a:p>
        </p:txBody>
      </p:sp>
      <p:sp>
        <p:nvSpPr>
          <p:cNvPr id="23" name="TextBox 22"/>
          <p:cNvSpPr txBox="1"/>
          <p:nvPr/>
        </p:nvSpPr>
        <p:spPr>
          <a:xfrm>
            <a:off x="914400" y="4453128"/>
            <a:ext cx="4855464" cy="813816"/>
          </a:xfrm>
          <a:prstGeom prst="rect">
            <a:avLst/>
          </a:prstGeom>
          <a:noFill/>
        </p:spPr>
        <p:txBody>
          <a:bodyPr wrap="square" anchor="t">
            <a:spAutoFit/>
          </a:bodyPr>
          <a:lstStyle/>
          <a:p>
            <a:pPr algn="l">
              <a:spcAft>
                <a:spcPts val="400"/>
              </a:spcAft>
            </a:pPr>
            <a:r>
              <a:rPr sz="1150" b="0">
                <a:solidFill>
                  <a:srgbClr val="161B26"/>
                </a:solidFill>
                <a:latin typeface="Arial"/>
              </a:rPr>
              <a:t>Malicious content the agent reads or saves corrupts what it does later</a:t>
            </a:r>
          </a:p>
        </p:txBody>
      </p:sp>
      <p:sp>
        <p:nvSpPr>
          <p:cNvPr id="24" name="Rectangle 23"/>
          <p:cNvSpPr/>
          <p:nvPr/>
        </p:nvSpPr>
        <p:spPr>
          <a:xfrm>
            <a:off x="6144768" y="3703320"/>
            <a:ext cx="534924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44768" y="3703320"/>
            <a:ext cx="82296" cy="1691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64224" y="388620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64224" y="388620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6894576" y="3849624"/>
            <a:ext cx="4434840" cy="274320"/>
          </a:xfrm>
          <a:prstGeom prst="rect">
            <a:avLst/>
          </a:prstGeom>
          <a:noFill/>
        </p:spPr>
        <p:txBody>
          <a:bodyPr wrap="square" anchor="t">
            <a:spAutoFit/>
          </a:bodyPr>
          <a:lstStyle/>
          <a:p>
            <a:pPr algn="l">
              <a:spcAft>
                <a:spcPts val="400"/>
              </a:spcAft>
            </a:pPr>
            <a:r>
              <a:rPr sz="1400" b="1">
                <a:solidFill>
                  <a:srgbClr val="F59E0B"/>
                </a:solidFill>
                <a:latin typeface="Arial"/>
              </a:rPr>
              <a:t>What is at stake</a:t>
            </a:r>
          </a:p>
        </p:txBody>
      </p:sp>
      <p:sp>
        <p:nvSpPr>
          <p:cNvPr id="29" name="TextBox 28"/>
          <p:cNvSpPr txBox="1"/>
          <p:nvPr/>
        </p:nvSpPr>
        <p:spPr>
          <a:xfrm>
            <a:off x="6400800" y="4453128"/>
            <a:ext cx="4855464" cy="813816"/>
          </a:xfrm>
          <a:prstGeom prst="rect">
            <a:avLst/>
          </a:prstGeom>
          <a:noFill/>
        </p:spPr>
        <p:txBody>
          <a:bodyPr wrap="square" anchor="t">
            <a:spAutoFit/>
          </a:bodyPr>
          <a:lstStyle/>
          <a:p>
            <a:pPr algn="l">
              <a:spcAft>
                <a:spcPts val="400"/>
              </a:spcAft>
            </a:pPr>
            <a:r>
              <a:rPr sz="1150" b="0">
                <a:solidFill>
                  <a:srgbClr val="161B26"/>
                </a:solidFill>
                <a:latin typeface="Arial"/>
              </a:rPr>
              <a:t>Confidential data extracted, or the server behind the agent harmed</a:t>
            </a:r>
          </a:p>
        </p:txBody>
      </p:sp>
      <p:sp>
        <p:nvSpPr>
          <p:cNvPr id="30" name="Rectangle 29"/>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The convenience of a public channel is also its attack surface — Topic 3 shows the defences.</a:t>
            </a:r>
          </a:p>
        </p:txBody>
      </p:sp>
      <p:sp>
        <p:nvSpPr>
          <p:cNvPr id="32" name="TextBox 31"/>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 S44</a:t>
            </a:r>
          </a:p>
        </p:txBody>
      </p:sp>
      <p:sp>
        <p:nvSpPr>
          <p:cNvPr id="33" name="TextBox 3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4" name="TextBox 3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5" name="TextBox 3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Skills and Tools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How agents extend beyond the base model.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60</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Tools vs Skills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Tools</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Actions the agent can take — send email, run a query, open a file</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Skills</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Packaged know-how — reusable instructions for a task</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Together</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Skills tell the agent how; tools let the agent do</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S15, S16</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How an Agent Uses a Tool</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Model decides an action is needed</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Picks a tool and fills its inputs</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 tool runs and returns a result</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Result becomes new context</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Model continues</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Model Context Protocol (MCP) is a common standard for connecting tools to agents.</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S16</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Why Skills Make Agents Practical</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Consistency</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The same task is done the same way every time</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Reuse</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Build once, run across many jobs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In Topic 2</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We install a skill so the agent formats Excel and PPT better</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S15</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Case — A Malicious Skill on ClawHub</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A fake 'Google' skill is published on ClawHub, OpenClaw's skill marketplace</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Its SKILL.md instructions tell the user to install a fake 'openclaw-core' utility</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The install command hides base64-encoded code that runs the attacker's scripts</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Users trust their own agent — and infect their own machines</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Snyk, 10 Feb 2026 — the malware was in the skill's instructions, not its code. Install skills only from sources you trust; clones of the flagged skill reappeared within hours.</a:t>
            </a:r>
          </a:p>
        </p:txBody>
      </p:sp>
      <p:sp>
        <p:nvSpPr>
          <p:cNvPr id="30" name="Rectangle 29"/>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Snyk (snyk.io)</a:t>
            </a:r>
          </a:p>
        </p:txBody>
      </p:sp>
      <p:sp>
        <p:nvSpPr>
          <p:cNvPr id="33" name="TextBox 3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4" name="TextBox 3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5" name="TextBox 3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Morning Break</a:t>
            </a:r>
          </a:p>
        </p:txBody>
      </p:sp>
      <p:sp>
        <p:nvSpPr>
          <p:cNvPr id="6" name="TextBox 5"/>
          <p:cNvSpPr txBox="1"/>
          <p:nvPr/>
        </p:nvSpPr>
        <p:spPr>
          <a:xfrm>
            <a:off x="0" y="3703320"/>
            <a:ext cx="12191695" cy="731520"/>
          </a:xfrm>
          <a:prstGeom prst="rect">
            <a:avLst/>
          </a:prstGeom>
          <a:noFill/>
        </p:spPr>
        <p:txBody>
          <a:bodyPr wrap="square" anchor="t">
            <a:spAutoFit/>
          </a:bodyPr>
          <a:lstStyle/>
          <a:p>
            <a:pPr algn="ctr">
              <a:spcAft>
                <a:spcPts val="400"/>
              </a:spcAft>
            </a:pPr>
            <a:endParaRPr/>
          </a:p>
        </p:txBody>
      </p:sp>
      <p:sp>
        <p:nvSpPr>
          <p:cNvPr id="7" name="TextBox 6"/>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8" name="TextBox 7"/>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9" name="TextBox 8"/>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0" name="TextBox 9"/>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520">
        <p:push dir="u"/>
      </p:transition>
    </mc:Choice>
    <mc:Fallback xmlns="">
      <p:transition spd="med">
        <p:push dir="u"/>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Multi-Agent Systems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When one agent is not enough.</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66</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How a Multi-Agent System Works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diagram-multi-agent-map.png"/>
          <p:cNvPicPr>
            <a:picLocks noChangeAspect="1"/>
          </p:cNvPicPr>
          <p:nvPr/>
        </p:nvPicPr>
        <p:blipFill>
          <a:blip r:embed="rId2"/>
          <a:stretch>
            <a:fillRect/>
          </a:stretch>
        </p:blipFill>
        <p:spPr>
          <a:xfrm>
            <a:off x="2341380" y="1783080"/>
            <a:ext cx="7506191" cy="3977639"/>
          </a:xfrm>
          <a:prstGeom prst="rect">
            <a:avLst/>
          </a:prstGeom>
        </p:spPr>
      </p:pic>
      <p:sp>
        <p:nvSpPr>
          <p:cNvPr id="7" name="Rectangle 6"/>
          <p:cNvSpPr/>
          <p:nvPr/>
        </p:nvSpPr>
        <p:spPr>
          <a:xfrm>
            <a:off x="777240" y="5632704"/>
            <a:ext cx="10634472"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5632704"/>
            <a:ext cx="10149840" cy="438912"/>
          </a:xfrm>
          <a:prstGeom prst="rect">
            <a:avLst/>
          </a:prstGeom>
          <a:noFill/>
        </p:spPr>
        <p:txBody>
          <a:bodyPr wrap="square" anchor="ctr">
            <a:spAutoFit/>
          </a:bodyPr>
          <a:lstStyle/>
          <a:p>
            <a:pPr algn="ctr">
              <a:spcAft>
                <a:spcPts val="400"/>
              </a:spcAft>
            </a:pPr>
            <a:r>
              <a:rPr sz="1180" b="0">
                <a:solidFill>
                  <a:srgbClr val="161B26"/>
                </a:solidFill>
                <a:latin typeface="Arial"/>
              </a:rPr>
              <a:t>A lead agent takes your goal, delegates to specialist workers that run in parallel, then combines their results. Anthropic's research system used this pattern and beat a single agent by ~90% on its internal eval.</a:t>
            </a:r>
          </a:p>
        </p:txBody>
      </p:sp>
      <p:sp>
        <p:nvSpPr>
          <p:cNvPr id="9" name="Rectangle 8"/>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3"/>
              </a:rPr>
              <a:t>Anthropic (anthropic.com)</a:t>
            </a:r>
          </a:p>
        </p:txBody>
      </p:sp>
      <p:sp>
        <p:nvSpPr>
          <p:cNvPr id="12" name="TextBox 11"/>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3" name="TextBox 12"/>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4" name="TextBox 13"/>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Why and Why Not Multi-Agent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Faster &amp; broader</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Parallel workers cover more ground</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Costlier</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Multi-agent runs used far more tokens than a single chat</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Trade-off</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Use it when breadth matters more than cost</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S14</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7C3AED"/>
                </a:solidFill>
                <a:latin typeface="Arial"/>
              </a:rPr>
              <a:t>MULTI-AGENT ORCHESTRATION · SYNTHETIC WORKED EXAMPLE</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 Service Example — Customer Recovery</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8" y="1847087"/>
            <a:ext cx="7552943" cy="43982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ervice-example-customer-recovery-v43.png"/>
          <p:cNvPicPr>
            <a:picLocks noChangeAspect="1"/>
          </p:cNvPicPr>
          <p:nvPr/>
        </p:nvPicPr>
        <p:blipFill>
          <a:blip r:embed="rId2"/>
          <a:srcRect l="1422" r="1422"/>
          <a:stretch>
            <a:fillRect/>
          </a:stretch>
        </p:blipFill>
        <p:spPr>
          <a:xfrm>
            <a:off x="777240" y="1874519"/>
            <a:ext cx="7498079" cy="4343400"/>
          </a:xfrm>
          <a:prstGeom prst="rect">
            <a:avLst/>
          </a:prstGeom>
        </p:spPr>
      </p:pic>
      <p:sp>
        <p:nvSpPr>
          <p:cNvPr id="9" name="Rectangle 8"/>
          <p:cNvSpPr/>
          <p:nvPr/>
        </p:nvSpPr>
        <p:spPr>
          <a:xfrm>
            <a:off x="8549639" y="1874519"/>
            <a:ext cx="2862073"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549639" y="1874519"/>
            <a:ext cx="82296"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05671" y="1874519"/>
            <a:ext cx="2404873" cy="1325880"/>
          </a:xfrm>
          <a:prstGeom prst="rect">
            <a:avLst/>
          </a:prstGeom>
          <a:noFill/>
        </p:spPr>
        <p:txBody>
          <a:bodyPr wrap="square" anchor="ctr">
            <a:spAutoFit/>
          </a:bodyPr>
          <a:lstStyle/>
          <a:p>
            <a:pPr algn="l">
              <a:spcAft>
                <a:spcPts val="300"/>
              </a:spcAft>
            </a:pPr>
            <a:r>
              <a:rPr sz="1400" b="1">
                <a:solidFill>
                  <a:srgbClr val="1F6FEB"/>
                </a:solidFill>
                <a:latin typeface="Arial"/>
              </a:rPr>
              <a:t>Goal</a:t>
            </a:r>
          </a:p>
          <a:p>
            <a:pPr algn="l">
              <a:spcAft>
                <a:spcPts val="300"/>
              </a:spcAft>
            </a:pPr>
            <a:r>
              <a:rPr sz="1200" b="0">
                <a:solidFill>
                  <a:srgbClr val="161B26"/>
                </a:solidFill>
                <a:latin typeface="Arial"/>
              </a:rPr>
              <a:t>Recover customer trust</a:t>
            </a:r>
          </a:p>
        </p:txBody>
      </p:sp>
      <p:sp>
        <p:nvSpPr>
          <p:cNvPr id="12" name="Rectangle 11"/>
          <p:cNvSpPr/>
          <p:nvPr/>
        </p:nvSpPr>
        <p:spPr>
          <a:xfrm>
            <a:off x="8549639" y="3383279"/>
            <a:ext cx="2862073"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49639" y="3383279"/>
            <a:ext cx="82296"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05671" y="3383279"/>
            <a:ext cx="2404873" cy="1325880"/>
          </a:xfrm>
          <a:prstGeom prst="rect">
            <a:avLst/>
          </a:prstGeom>
          <a:noFill/>
        </p:spPr>
        <p:txBody>
          <a:bodyPr wrap="square" anchor="ctr">
            <a:spAutoFit/>
          </a:bodyPr>
          <a:lstStyle/>
          <a:p>
            <a:pPr algn="l">
              <a:spcAft>
                <a:spcPts val="300"/>
              </a:spcAft>
            </a:pPr>
            <a:r>
              <a:rPr sz="1400" b="1">
                <a:solidFill>
                  <a:srgbClr val="10B981"/>
                </a:solidFill>
                <a:latin typeface="Arial"/>
              </a:rPr>
              <a:t>Parallel workers</a:t>
            </a:r>
          </a:p>
          <a:p>
            <a:pPr algn="l">
              <a:spcAft>
                <a:spcPts val="300"/>
              </a:spcAft>
            </a:pPr>
            <a:r>
              <a:rPr sz="1200" b="0">
                <a:solidFill>
                  <a:srgbClr val="161B26"/>
                </a:solidFill>
                <a:latin typeface="Arial"/>
              </a:rPr>
              <a:t>Draft message · Build offer · Check customer data</a:t>
            </a:r>
          </a:p>
        </p:txBody>
      </p:sp>
      <p:sp>
        <p:nvSpPr>
          <p:cNvPr id="15" name="Rectangle 14"/>
          <p:cNvSpPr/>
          <p:nvPr/>
        </p:nvSpPr>
        <p:spPr>
          <a:xfrm>
            <a:off x="8549639" y="4892039"/>
            <a:ext cx="2862073" cy="1325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549639" y="4892039"/>
            <a:ext cx="82296"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05671" y="4892039"/>
            <a:ext cx="2404873" cy="1325880"/>
          </a:xfrm>
          <a:prstGeom prst="rect">
            <a:avLst/>
          </a:prstGeom>
          <a:noFill/>
        </p:spPr>
        <p:txBody>
          <a:bodyPr wrap="square" anchor="ctr">
            <a:spAutoFit/>
          </a:bodyPr>
          <a:lstStyle/>
          <a:p>
            <a:pPr algn="l">
              <a:spcAft>
                <a:spcPts val="300"/>
              </a:spcAft>
            </a:pPr>
            <a:r>
              <a:rPr sz="1400" b="1">
                <a:solidFill>
                  <a:srgbClr val="7C3AED"/>
                </a:solidFill>
                <a:latin typeface="Arial"/>
              </a:rPr>
              <a:t>Lead + human</a:t>
            </a:r>
          </a:p>
          <a:p>
            <a:pPr algn="l">
              <a:spcAft>
                <a:spcPts val="300"/>
              </a:spcAft>
            </a:pPr>
            <a:r>
              <a:rPr sz="1200" b="0">
                <a:solidFill>
                  <a:srgbClr val="161B26"/>
                </a:solidFill>
                <a:latin typeface="Arial"/>
              </a:rPr>
              <a:t>Merge one plan · Review · Approve</a:t>
            </a:r>
          </a:p>
        </p:txBody>
      </p:sp>
      <p:sp>
        <p:nvSpPr>
          <p:cNvPr id="18" name="TextBox 17"/>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19" name="TextBox 18"/>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0" name="TextBox 19"/>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1" name="TextBox 20"/>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MULTI-AGENT ORCHESTRATION · SECURITY IMPLICATIONS</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Agent-to-Agent Messaging — A Security Blind Spot</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534924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1783080"/>
            <a:ext cx="82296" cy="1691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408176" y="1929384"/>
            <a:ext cx="4434840" cy="274320"/>
          </a:xfrm>
          <a:prstGeom prst="rect">
            <a:avLst/>
          </a:prstGeom>
          <a:noFill/>
        </p:spPr>
        <p:txBody>
          <a:bodyPr wrap="square" anchor="t">
            <a:spAutoFit/>
          </a:bodyPr>
          <a:lstStyle/>
          <a:p>
            <a:pPr algn="l">
              <a:spcAft>
                <a:spcPts val="400"/>
              </a:spcAft>
            </a:pPr>
            <a:r>
              <a:rPr sz="1400" b="1">
                <a:solidFill>
                  <a:srgbClr val="1F6FEB"/>
                </a:solidFill>
                <a:latin typeface="Arial"/>
              </a:rPr>
              <a:t>One agent's output is the next agent's input</a:t>
            </a:r>
          </a:p>
        </p:txBody>
      </p:sp>
      <p:sp>
        <p:nvSpPr>
          <p:cNvPr id="12" name="TextBox 11"/>
          <p:cNvSpPr txBox="1"/>
          <p:nvPr/>
        </p:nvSpPr>
        <p:spPr>
          <a:xfrm>
            <a:off x="914400" y="2532888"/>
            <a:ext cx="4855464" cy="813816"/>
          </a:xfrm>
          <a:prstGeom prst="rect">
            <a:avLst/>
          </a:prstGeom>
          <a:noFill/>
        </p:spPr>
        <p:txBody>
          <a:bodyPr wrap="square" anchor="t">
            <a:spAutoFit/>
          </a:bodyPr>
          <a:lstStyle/>
          <a:p>
            <a:pPr algn="l">
              <a:spcAft>
                <a:spcPts val="400"/>
              </a:spcAft>
            </a:pPr>
            <a:r>
              <a:rPr sz="1150" b="0">
                <a:solidFill>
                  <a:srgbClr val="161B26"/>
                </a:solidFill>
                <a:latin typeface="Arial"/>
              </a:rPr>
              <a:t>A hallucinated or maliciously injected result is passed downstream — and the receiving agent treats it as trusted fact</a:t>
            </a:r>
          </a:p>
        </p:txBody>
      </p:sp>
      <p:sp>
        <p:nvSpPr>
          <p:cNvPr id="13" name="Rectangle 12"/>
          <p:cNvSpPr/>
          <p:nvPr/>
        </p:nvSpPr>
        <p:spPr>
          <a:xfrm>
            <a:off x="6144768" y="1783080"/>
            <a:ext cx="534924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44768" y="1783080"/>
            <a:ext cx="82296" cy="1691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364224"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42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6894576" y="1929384"/>
            <a:ext cx="4434840" cy="274320"/>
          </a:xfrm>
          <a:prstGeom prst="rect">
            <a:avLst/>
          </a:prstGeom>
          <a:noFill/>
        </p:spPr>
        <p:txBody>
          <a:bodyPr wrap="square" anchor="t">
            <a:spAutoFit/>
          </a:bodyPr>
          <a:lstStyle/>
          <a:p>
            <a:pPr algn="l">
              <a:spcAft>
                <a:spcPts val="400"/>
              </a:spcAft>
            </a:pPr>
            <a:r>
              <a:rPr sz="1400" b="1">
                <a:solidFill>
                  <a:srgbClr val="10B981"/>
                </a:solidFill>
                <a:latin typeface="Arial"/>
              </a:rPr>
              <a:t>Errors and attacks cascade</a:t>
            </a:r>
          </a:p>
        </p:txBody>
      </p:sp>
      <p:sp>
        <p:nvSpPr>
          <p:cNvPr id="18" name="TextBox 17"/>
          <p:cNvSpPr txBox="1"/>
          <p:nvPr/>
        </p:nvSpPr>
        <p:spPr>
          <a:xfrm>
            <a:off x="6400800" y="2532888"/>
            <a:ext cx="4855464" cy="813816"/>
          </a:xfrm>
          <a:prstGeom prst="rect">
            <a:avLst/>
          </a:prstGeom>
          <a:noFill/>
        </p:spPr>
        <p:txBody>
          <a:bodyPr wrap="square" anchor="t">
            <a:spAutoFit/>
          </a:bodyPr>
          <a:lstStyle/>
          <a:p>
            <a:pPr algn="l">
              <a:spcAft>
                <a:spcPts val="400"/>
              </a:spcAft>
            </a:pPr>
            <a:r>
              <a:rPr sz="1150" b="0">
                <a:solidFill>
                  <a:srgbClr val="161B26"/>
                </a:solidFill>
                <a:latin typeface="Arial"/>
              </a:rPr>
              <a:t>One bad message can propagate through every agent behind it, ending in a wrong or harmful action far from where it started</a:t>
            </a:r>
          </a:p>
        </p:txBody>
      </p:sp>
      <p:sp>
        <p:nvSpPr>
          <p:cNvPr id="19" name="Rectangle 18"/>
          <p:cNvSpPr/>
          <p:nvPr/>
        </p:nvSpPr>
        <p:spPr>
          <a:xfrm>
            <a:off x="658368" y="3703320"/>
            <a:ext cx="534924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58368" y="3703320"/>
            <a:ext cx="82296" cy="1691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77824" y="388620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7824" y="388620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408176" y="3849624"/>
            <a:ext cx="4434840" cy="274320"/>
          </a:xfrm>
          <a:prstGeom prst="rect">
            <a:avLst/>
          </a:prstGeom>
          <a:noFill/>
        </p:spPr>
        <p:txBody>
          <a:bodyPr wrap="square" anchor="t">
            <a:spAutoFit/>
          </a:bodyPr>
          <a:lstStyle/>
          <a:p>
            <a:pPr algn="l">
              <a:spcAft>
                <a:spcPts val="400"/>
              </a:spcAft>
            </a:pPr>
            <a:r>
              <a:rPr sz="1400" b="1">
                <a:solidFill>
                  <a:srgbClr val="7C3AED"/>
                </a:solidFill>
                <a:latin typeface="Arial"/>
              </a:rPr>
              <a:t>Topology multiplies message paths</a:t>
            </a:r>
          </a:p>
        </p:txBody>
      </p:sp>
      <p:sp>
        <p:nvSpPr>
          <p:cNvPr id="24" name="TextBox 23"/>
          <p:cNvSpPr txBox="1"/>
          <p:nvPr/>
        </p:nvSpPr>
        <p:spPr>
          <a:xfrm>
            <a:off x="914400" y="4453128"/>
            <a:ext cx="4855464" cy="813816"/>
          </a:xfrm>
          <a:prstGeom prst="rect">
            <a:avLst/>
          </a:prstGeom>
          <a:noFill/>
        </p:spPr>
        <p:txBody>
          <a:bodyPr wrap="square" anchor="t">
            <a:spAutoFit/>
          </a:bodyPr>
          <a:lstStyle/>
          <a:p>
            <a:pPr algn="l">
              <a:spcAft>
                <a:spcPts val="400"/>
              </a:spcAft>
            </a:pPr>
            <a:r>
              <a:rPr sz="1150" b="0">
                <a:solidFill>
                  <a:srgbClr val="161B26"/>
                </a:solidFill>
                <a:latin typeface="Arial"/>
              </a:rPr>
              <a:t>Every extra agent adds agent-to-agent links — no single log shows the whole data flow end to end, so visibility drops</a:t>
            </a:r>
          </a:p>
        </p:txBody>
      </p:sp>
      <p:sp>
        <p:nvSpPr>
          <p:cNvPr id="25" name="Rectangle 24"/>
          <p:cNvSpPr/>
          <p:nvPr/>
        </p:nvSpPr>
        <p:spPr>
          <a:xfrm>
            <a:off x="6144768" y="3703320"/>
            <a:ext cx="5349240" cy="1691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44768" y="3703320"/>
            <a:ext cx="82296" cy="1691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364224" y="388620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64224" y="388620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6894576" y="3849624"/>
            <a:ext cx="4434840" cy="274320"/>
          </a:xfrm>
          <a:prstGeom prst="rect">
            <a:avLst/>
          </a:prstGeom>
          <a:noFill/>
        </p:spPr>
        <p:txBody>
          <a:bodyPr wrap="square" anchor="t">
            <a:spAutoFit/>
          </a:bodyPr>
          <a:lstStyle/>
          <a:p>
            <a:pPr algn="l">
              <a:spcAft>
                <a:spcPts val="400"/>
              </a:spcAft>
            </a:pPr>
            <a:r>
              <a:rPr sz="1400" b="1">
                <a:solidFill>
                  <a:srgbClr val="F59E0B"/>
                </a:solidFill>
                <a:latin typeface="Arial"/>
              </a:rPr>
              <a:t>Tracing and attribution get harder</a:t>
            </a:r>
          </a:p>
        </p:txBody>
      </p:sp>
      <p:sp>
        <p:nvSpPr>
          <p:cNvPr id="30" name="TextBox 29"/>
          <p:cNvSpPr txBox="1"/>
          <p:nvPr/>
        </p:nvSpPr>
        <p:spPr>
          <a:xfrm>
            <a:off x="6400800" y="4453128"/>
            <a:ext cx="4855464" cy="813816"/>
          </a:xfrm>
          <a:prstGeom prst="rect">
            <a:avLst/>
          </a:prstGeom>
          <a:noFill/>
        </p:spPr>
        <p:txBody>
          <a:bodyPr wrap="square" anchor="t">
            <a:spAutoFit/>
          </a:bodyPr>
          <a:lstStyle/>
          <a:p>
            <a:pPr algn="l">
              <a:spcAft>
                <a:spcPts val="400"/>
              </a:spcAft>
            </a:pPr>
            <a:r>
              <a:rPr sz="1150" b="0">
                <a:solidFill>
                  <a:srgbClr val="161B26"/>
                </a:solidFill>
                <a:latin typeface="Arial"/>
              </a:rPr>
              <a:t>When something goes wrong, finding which agent introduced the bad data needs per-agent logs of every hand-off</a:t>
            </a:r>
          </a:p>
        </p:txBody>
      </p:sp>
      <p:sp>
        <p:nvSpPr>
          <p:cNvPr id="31" name="Rectangle 30"/>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More agents means more paths to monitor. Log every agent-to-agent hand-off and validate what an agent receives — never trust a message just because another agent sent it. OWASP's 2026 agentic Top 10 flags exactly this cascading multi-agent failure mode.</a:t>
            </a:r>
          </a:p>
        </p:txBody>
      </p:sp>
      <p:sp>
        <p:nvSpPr>
          <p:cNvPr id="33" name="TextBox 32"/>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a:t>
            </a:r>
          </a:p>
        </p:txBody>
      </p:sp>
      <p:sp>
        <p:nvSpPr>
          <p:cNvPr id="34" name="TextBox 33"/>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5" name="TextBox 34"/>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6" name="TextBox 35"/>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Generative AI vs Agentic AI vs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single most useful distinction from Topic 1.</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71</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Three, Side by Side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2020549"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1801093" cy="1108710"/>
          </a:xfrm>
          <a:prstGeom prst="rect">
            <a:avLst/>
          </a:prstGeom>
          <a:noFill/>
        </p:spPr>
        <p:txBody>
          <a:bodyPr wrap="square" anchor="ctr">
            <a:spAutoFit/>
          </a:bodyPr>
          <a:lstStyle/>
          <a:p>
            <a:pPr algn="l">
              <a:spcAft>
                <a:spcPts val="400"/>
              </a:spcAft>
            </a:pPr>
            <a:endParaRPr/>
          </a:p>
        </p:txBody>
      </p:sp>
      <p:sp>
        <p:nvSpPr>
          <p:cNvPr id="8" name="Rectangle 7"/>
          <p:cNvSpPr/>
          <p:nvPr/>
        </p:nvSpPr>
        <p:spPr>
          <a:xfrm>
            <a:off x="2797789" y="1783080"/>
            <a:ext cx="2871307"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25805" y="1783080"/>
            <a:ext cx="2651851" cy="1108710"/>
          </a:xfrm>
          <a:prstGeom prst="rect">
            <a:avLst/>
          </a:prstGeom>
          <a:noFill/>
        </p:spPr>
        <p:txBody>
          <a:bodyPr wrap="square" anchor="ctr">
            <a:spAutoFit/>
          </a:bodyPr>
          <a:lstStyle/>
          <a:p>
            <a:pPr algn="l">
              <a:spcAft>
                <a:spcPts val="400"/>
              </a:spcAft>
            </a:pPr>
            <a:r>
              <a:rPr sz="1150" b="1">
                <a:solidFill>
                  <a:srgbClr val="FFFFFF"/>
                </a:solidFill>
                <a:latin typeface="Arial"/>
              </a:rPr>
              <a:t>Generative AI</a:t>
            </a:r>
          </a:p>
        </p:txBody>
      </p:sp>
      <p:sp>
        <p:nvSpPr>
          <p:cNvPr id="10" name="Rectangle 9"/>
          <p:cNvSpPr/>
          <p:nvPr/>
        </p:nvSpPr>
        <p:spPr>
          <a:xfrm>
            <a:off x="5669096" y="1783080"/>
            <a:ext cx="2871307"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97112" y="1783080"/>
            <a:ext cx="2651851" cy="1108710"/>
          </a:xfrm>
          <a:prstGeom prst="rect">
            <a:avLst/>
          </a:prstGeom>
          <a:noFill/>
        </p:spPr>
        <p:txBody>
          <a:bodyPr wrap="square" anchor="ctr">
            <a:spAutoFit/>
          </a:bodyPr>
          <a:lstStyle/>
          <a:p>
            <a:pPr algn="l">
              <a:spcAft>
                <a:spcPts val="400"/>
              </a:spcAft>
            </a:pPr>
            <a:r>
              <a:rPr sz="1150" b="1">
                <a:solidFill>
                  <a:srgbClr val="FFFFFF"/>
                </a:solidFill>
                <a:latin typeface="Arial"/>
              </a:rPr>
              <a:t>Agentic AI</a:t>
            </a:r>
          </a:p>
        </p:txBody>
      </p:sp>
      <p:sp>
        <p:nvSpPr>
          <p:cNvPr id="12" name="Rectangle 11"/>
          <p:cNvSpPr/>
          <p:nvPr/>
        </p:nvSpPr>
        <p:spPr>
          <a:xfrm>
            <a:off x="8540403" y="1783080"/>
            <a:ext cx="2871307"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68419" y="1783080"/>
            <a:ext cx="2651851" cy="1108710"/>
          </a:xfrm>
          <a:prstGeom prst="rect">
            <a:avLst/>
          </a:prstGeom>
          <a:noFill/>
        </p:spPr>
        <p:txBody>
          <a:bodyPr wrap="square" anchor="ctr">
            <a:spAutoFit/>
          </a:bodyPr>
          <a:lstStyle/>
          <a:p>
            <a:pPr algn="l">
              <a:spcAft>
                <a:spcPts val="400"/>
              </a:spcAft>
            </a:pPr>
            <a:r>
              <a:rPr sz="1150" b="1">
                <a:solidFill>
                  <a:srgbClr val="FFFFFF"/>
                </a:solidFill>
                <a:latin typeface="Arial"/>
              </a:rPr>
              <a:t>AI Agent</a:t>
            </a:r>
          </a:p>
        </p:txBody>
      </p:sp>
      <p:sp>
        <p:nvSpPr>
          <p:cNvPr id="14" name="Rectangle 13"/>
          <p:cNvSpPr/>
          <p:nvPr/>
        </p:nvSpPr>
        <p:spPr>
          <a:xfrm>
            <a:off x="777240" y="2891790"/>
            <a:ext cx="2020549"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2891790"/>
            <a:ext cx="1801093" cy="1108710"/>
          </a:xfrm>
          <a:prstGeom prst="rect">
            <a:avLst/>
          </a:prstGeom>
          <a:noFill/>
        </p:spPr>
        <p:txBody>
          <a:bodyPr wrap="square" anchor="ctr">
            <a:spAutoFit/>
          </a:bodyPr>
          <a:lstStyle/>
          <a:p>
            <a:pPr algn="l">
              <a:spcAft>
                <a:spcPts val="400"/>
              </a:spcAft>
            </a:pPr>
            <a:r>
              <a:rPr sz="1050" b="1">
                <a:solidFill>
                  <a:srgbClr val="161B26"/>
                </a:solidFill>
                <a:latin typeface="Arial"/>
              </a:rPr>
              <a:t>What it does</a:t>
            </a:r>
          </a:p>
        </p:txBody>
      </p:sp>
      <p:sp>
        <p:nvSpPr>
          <p:cNvPr id="16" name="Rectangle 15"/>
          <p:cNvSpPr/>
          <p:nvPr/>
        </p:nvSpPr>
        <p:spPr>
          <a:xfrm>
            <a:off x="2797789" y="2891790"/>
            <a:ext cx="2871307"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5805" y="289179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Creates content</a:t>
            </a:r>
          </a:p>
        </p:txBody>
      </p:sp>
      <p:sp>
        <p:nvSpPr>
          <p:cNvPr id="18" name="Rectangle 17"/>
          <p:cNvSpPr/>
          <p:nvPr/>
        </p:nvSpPr>
        <p:spPr>
          <a:xfrm>
            <a:off x="5669096" y="2891790"/>
            <a:ext cx="2871307"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97112" y="289179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Loops to reach a goal</a:t>
            </a:r>
          </a:p>
        </p:txBody>
      </p:sp>
      <p:sp>
        <p:nvSpPr>
          <p:cNvPr id="20" name="Rectangle 19"/>
          <p:cNvSpPr/>
          <p:nvPr/>
        </p:nvSpPr>
        <p:spPr>
          <a:xfrm>
            <a:off x="8540403" y="2891790"/>
            <a:ext cx="2871307"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68419" y="289179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A deployed system that acts</a:t>
            </a:r>
          </a:p>
        </p:txBody>
      </p:sp>
      <p:sp>
        <p:nvSpPr>
          <p:cNvPr id="22" name="Rectangle 21"/>
          <p:cNvSpPr/>
          <p:nvPr/>
        </p:nvSpPr>
        <p:spPr>
          <a:xfrm>
            <a:off x="777240" y="4000500"/>
            <a:ext cx="2020549"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4000500"/>
            <a:ext cx="1801093" cy="1108710"/>
          </a:xfrm>
          <a:prstGeom prst="rect">
            <a:avLst/>
          </a:prstGeom>
          <a:noFill/>
        </p:spPr>
        <p:txBody>
          <a:bodyPr wrap="square" anchor="ctr">
            <a:spAutoFit/>
          </a:bodyPr>
          <a:lstStyle/>
          <a:p>
            <a:pPr algn="l">
              <a:spcAft>
                <a:spcPts val="400"/>
              </a:spcAft>
            </a:pPr>
            <a:r>
              <a:rPr sz="1050" b="1">
                <a:solidFill>
                  <a:srgbClr val="161B26"/>
                </a:solidFill>
                <a:latin typeface="Arial"/>
              </a:rPr>
              <a:t>Acts on its own?</a:t>
            </a:r>
          </a:p>
        </p:txBody>
      </p:sp>
      <p:sp>
        <p:nvSpPr>
          <p:cNvPr id="24" name="Rectangle 23"/>
          <p:cNvSpPr/>
          <p:nvPr/>
        </p:nvSpPr>
        <p:spPr>
          <a:xfrm>
            <a:off x="2797789" y="4000500"/>
            <a:ext cx="2871307"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5805" y="400050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No — you run each step</a:t>
            </a:r>
          </a:p>
        </p:txBody>
      </p:sp>
      <p:sp>
        <p:nvSpPr>
          <p:cNvPr id="26" name="Rectangle 25"/>
          <p:cNvSpPr/>
          <p:nvPr/>
        </p:nvSpPr>
        <p:spPr>
          <a:xfrm>
            <a:off x="5669096" y="4000500"/>
            <a:ext cx="2871307"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97112" y="400050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Yes — plans and retries</a:t>
            </a:r>
          </a:p>
        </p:txBody>
      </p:sp>
      <p:sp>
        <p:nvSpPr>
          <p:cNvPr id="28" name="Rectangle 27"/>
          <p:cNvSpPr/>
          <p:nvPr/>
        </p:nvSpPr>
        <p:spPr>
          <a:xfrm>
            <a:off x="8540403" y="4000500"/>
            <a:ext cx="2871307"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68419" y="400050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Yes — through real tools</a:t>
            </a:r>
          </a:p>
        </p:txBody>
      </p:sp>
      <p:sp>
        <p:nvSpPr>
          <p:cNvPr id="30" name="Rectangle 29"/>
          <p:cNvSpPr/>
          <p:nvPr/>
        </p:nvSpPr>
        <p:spPr>
          <a:xfrm>
            <a:off x="777240" y="5109210"/>
            <a:ext cx="2020549"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5256" y="5109210"/>
            <a:ext cx="1801093" cy="1108710"/>
          </a:xfrm>
          <a:prstGeom prst="rect">
            <a:avLst/>
          </a:prstGeom>
          <a:noFill/>
        </p:spPr>
        <p:txBody>
          <a:bodyPr wrap="square" anchor="ctr">
            <a:spAutoFit/>
          </a:bodyPr>
          <a:lstStyle/>
          <a:p>
            <a:pPr algn="l">
              <a:spcAft>
                <a:spcPts val="400"/>
              </a:spcAft>
            </a:pPr>
            <a:r>
              <a:rPr sz="1050" b="1">
                <a:solidFill>
                  <a:srgbClr val="161B26"/>
                </a:solidFill>
                <a:latin typeface="Arial"/>
              </a:rPr>
              <a:t>Example</a:t>
            </a:r>
          </a:p>
        </p:txBody>
      </p:sp>
      <p:sp>
        <p:nvSpPr>
          <p:cNvPr id="32" name="Rectangle 31"/>
          <p:cNvSpPr/>
          <p:nvPr/>
        </p:nvSpPr>
        <p:spPr>
          <a:xfrm>
            <a:off x="2797789" y="5109210"/>
            <a:ext cx="2871307"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5805" y="510921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ChatGPT drafting a reply</a:t>
            </a:r>
          </a:p>
        </p:txBody>
      </p:sp>
      <p:sp>
        <p:nvSpPr>
          <p:cNvPr id="34" name="Rectangle 33"/>
          <p:cNvSpPr/>
          <p:nvPr/>
        </p:nvSpPr>
        <p:spPr>
          <a:xfrm>
            <a:off x="5669096" y="5109210"/>
            <a:ext cx="2871307"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97112" y="510921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Claude Code fixing a bug</a:t>
            </a:r>
          </a:p>
        </p:txBody>
      </p:sp>
      <p:sp>
        <p:nvSpPr>
          <p:cNvPr id="36" name="Rectangle 35"/>
          <p:cNvSpPr/>
          <p:nvPr/>
        </p:nvSpPr>
        <p:spPr>
          <a:xfrm>
            <a:off x="8540403" y="5109210"/>
            <a:ext cx="2871307"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68419" y="5109210"/>
            <a:ext cx="2651851" cy="1108710"/>
          </a:xfrm>
          <a:prstGeom prst="rect">
            <a:avLst/>
          </a:prstGeom>
          <a:noFill/>
        </p:spPr>
        <p:txBody>
          <a:bodyPr wrap="square" anchor="ctr">
            <a:spAutoFit/>
          </a:bodyPr>
          <a:lstStyle/>
          <a:p>
            <a:pPr algn="l">
              <a:spcAft>
                <a:spcPts val="400"/>
              </a:spcAft>
            </a:pPr>
            <a:r>
              <a:rPr sz="1050" b="0">
                <a:solidFill>
                  <a:srgbClr val="161B26"/>
                </a:solidFill>
                <a:latin typeface="Arial"/>
              </a:rPr>
              <a:t>OpenClaw in your WhatsApp</a:t>
            </a:r>
          </a:p>
        </p:txBody>
      </p:sp>
      <p:sp>
        <p:nvSpPr>
          <p:cNvPr id="38" name="TextBox 37"/>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S43, S44</a:t>
            </a:r>
          </a:p>
        </p:txBody>
      </p:sp>
      <p:sp>
        <p:nvSpPr>
          <p:cNvPr id="39" name="TextBox 38"/>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0" name="TextBox 39"/>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1" name="TextBox 40"/>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One-Line Definitions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Generative AI</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Makes things</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Agentic AI</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The loop that makes an AI pursue a goal</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AI Agent</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The running system that uses that loop to act for you</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TOPIC 1 TAKEAWAY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Generation is a step. Agency is a loop. An agent is a system.</a:t>
            </a:r>
          </a:p>
        </p:txBody>
      </p:sp>
      <p:sp>
        <p:nvSpPr>
          <p:cNvPr id="6" name="TextBox 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7" name="TextBox 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8" name="TextBox 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9" name="TextBox 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ACTIVITY 1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1 — Talk to an AI Agent, Then Reflect</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1 · 45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DC2626"/>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Pinboard: https://alfredang.github.io/pinboard/</a:t>
            </a:r>
          </a:p>
        </p:txBody>
      </p:sp>
      <p:sp>
        <p:nvSpPr>
          <p:cNvPr id="13" name="Rectangle 12"/>
          <p:cNvSpPr/>
          <p:nvPr/>
        </p:nvSpPr>
        <p:spPr>
          <a:xfrm>
            <a:off x="777240"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04188"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4188"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Chat on WhatsApp</a:t>
            </a:r>
          </a:p>
        </p:txBody>
      </p:sp>
      <p:sp>
        <p:nvSpPr>
          <p:cNvPr id="17" name="TextBox 16"/>
          <p:cNvSpPr txBox="1"/>
          <p:nvPr/>
        </p:nvSpPr>
        <p:spPr>
          <a:xfrm>
            <a:off x="2743200"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18" name="Rectangle 17"/>
          <p:cNvSpPr/>
          <p:nvPr/>
        </p:nvSpPr>
        <p:spPr>
          <a:xfrm>
            <a:off x="2944368"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671316"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1316"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035808"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Main task</a:t>
            </a:r>
          </a:p>
        </p:txBody>
      </p:sp>
      <p:sp>
        <p:nvSpPr>
          <p:cNvPr id="22" name="TextBox 21"/>
          <p:cNvSpPr txBox="1"/>
          <p:nvPr/>
        </p:nvSpPr>
        <p:spPr>
          <a:xfrm>
            <a:off x="4910328"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3" name="Rectangle 22"/>
          <p:cNvSpPr/>
          <p:nvPr/>
        </p:nvSpPr>
        <p:spPr>
          <a:xfrm>
            <a:off x="5111496"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838444"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38444"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5202936"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Follow-up</a:t>
            </a:r>
          </a:p>
        </p:txBody>
      </p:sp>
      <p:sp>
        <p:nvSpPr>
          <p:cNvPr id="27" name="TextBox 26"/>
          <p:cNvSpPr txBox="1"/>
          <p:nvPr/>
        </p:nvSpPr>
        <p:spPr>
          <a:xfrm>
            <a:off x="7077456"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8" name="Rectangle 27"/>
          <p:cNvSpPr/>
          <p:nvPr/>
        </p:nvSpPr>
        <p:spPr>
          <a:xfrm>
            <a:off x="7278624"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005572"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5572"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7370064"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Tricky prompt</a:t>
            </a:r>
          </a:p>
        </p:txBody>
      </p:sp>
      <p:sp>
        <p:nvSpPr>
          <p:cNvPr id="32" name="TextBox 31"/>
          <p:cNvSpPr txBox="1"/>
          <p:nvPr/>
        </p:nvSpPr>
        <p:spPr>
          <a:xfrm>
            <a:off x="9244584"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33" name="Rectangle 32"/>
          <p:cNvSpPr/>
          <p:nvPr/>
        </p:nvSpPr>
        <p:spPr>
          <a:xfrm>
            <a:off x="9445752"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172700"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72700"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6" name="TextBox 35"/>
          <p:cNvSpPr txBox="1"/>
          <p:nvPr/>
        </p:nvSpPr>
        <p:spPr>
          <a:xfrm>
            <a:off x="9537192"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Post to Pinboard</a:t>
            </a:r>
          </a:p>
        </p:txBody>
      </p:sp>
      <p:sp>
        <p:nvSpPr>
          <p:cNvPr id="37" name="Rectangle 36"/>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DC2626"/>
                </a:solidFill>
                <a:latin typeface="Arial"/>
              </a:rPr>
              <a:t>DISCUSSION QUESTIONS</a:t>
            </a:r>
          </a:p>
        </p:txBody>
      </p:sp>
      <p:sp>
        <p:nvSpPr>
          <p:cNvPr id="39" name="TextBox 38"/>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Message TIA Support on WhatsApp +65 8866 6375 (powered by OpenClaw)</a:t>
            </a:r>
          </a:p>
          <a:p>
            <a:pPr>
              <a:spcAft>
                <a:spcPts val="300"/>
              </a:spcAft>
            </a:pPr>
            <a:r>
              <a:rPr sz="1050" b="0">
                <a:solidFill>
                  <a:srgbClr val="161B26"/>
                </a:solidFill>
                <a:latin typeface="Arial"/>
              </a:rPr>
              <a:t>•  Use the prompt card in the activity pack; give it a small realistic task</a:t>
            </a:r>
          </a:p>
          <a:p>
            <a:pPr>
              <a:spcAft>
                <a:spcPts val="300"/>
              </a:spcAft>
            </a:pPr>
            <a:r>
              <a:rPr sz="1050" b="0">
                <a:solidFill>
                  <a:srgbClr val="161B26"/>
                </a:solidFill>
                <a:latin typeface="Arial"/>
              </a:rPr>
              <a:t>•  Post your reflections to the Pinboard under the four risk themes</a:t>
            </a:r>
          </a:p>
        </p:txBody>
      </p:sp>
      <p:sp>
        <p:nvSpPr>
          <p:cNvPr id="40" name="Rectangle 39"/>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43" name="TextBox 42"/>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One completed WhatsApp conversation plus four Pinboard notes — one per risk theme.</a:t>
            </a:r>
          </a:p>
        </p:txBody>
      </p:sp>
      <p:sp>
        <p:nvSpPr>
          <p:cNvPr id="44" name="TextBox 43"/>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LO1 · A2, A4  ·  Activity pack: activities/activity-1-genai-agent-whatsapp/  ·  Full step-by-step facilitation detail: Learner Guide</a:t>
            </a:r>
          </a:p>
        </p:txBody>
      </p:sp>
      <p:sp>
        <p:nvSpPr>
          <p:cNvPr id="45" name="TextBox 4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6" name="TextBox 4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7" name="TextBox 4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8" name="TextBox 4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Activity 1 — Group Your Concerns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274320"/>
          </a:xfrm>
          <a:prstGeom prst="rect">
            <a:avLst/>
          </a:prstGeom>
          <a:noFill/>
        </p:spPr>
        <p:txBody>
          <a:bodyPr wrap="square" anchor="t">
            <a:spAutoFit/>
          </a:bodyPr>
          <a:lstStyle/>
          <a:p>
            <a:pPr algn="l">
              <a:spcAft>
                <a:spcPts val="400"/>
              </a:spcAft>
            </a:pPr>
            <a:r>
              <a:rPr sz="1400" b="1">
                <a:solidFill>
                  <a:srgbClr val="1F6FEB"/>
                </a:solidFill>
                <a:latin typeface="Arial"/>
              </a:rPr>
              <a:t>Data Privacy</a:t>
            </a:r>
          </a:p>
        </p:txBody>
      </p:sp>
      <p:sp>
        <p:nvSpPr>
          <p:cNvPr id="11" name="TextBox 10"/>
          <p:cNvSpPr txBox="1"/>
          <p:nvPr/>
        </p:nvSpPr>
        <p:spPr>
          <a:xfrm>
            <a:off x="914400"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What data did it see or ask for?</a:t>
            </a:r>
          </a:p>
        </p:txBody>
      </p:sp>
      <p:sp>
        <p:nvSpPr>
          <p:cNvPr id="12" name="Rectangle 11"/>
          <p:cNvSpPr/>
          <p:nvPr/>
        </p:nvSpPr>
        <p:spPr>
          <a:xfrm>
            <a:off x="3431286"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274320"/>
          </a:xfrm>
          <a:prstGeom prst="rect">
            <a:avLst/>
          </a:prstGeom>
          <a:noFill/>
        </p:spPr>
        <p:txBody>
          <a:bodyPr wrap="square" anchor="t">
            <a:spAutoFit/>
          </a:bodyPr>
          <a:lstStyle/>
          <a:p>
            <a:pPr algn="l">
              <a:spcAft>
                <a:spcPts val="400"/>
              </a:spcAft>
            </a:pPr>
            <a:r>
              <a:rPr sz="1400" b="1">
                <a:solidFill>
                  <a:srgbClr val="10B981"/>
                </a:solidFill>
                <a:latin typeface="Arial"/>
              </a:rPr>
              <a:t>Job Impact</a:t>
            </a:r>
          </a:p>
        </p:txBody>
      </p:sp>
      <p:sp>
        <p:nvSpPr>
          <p:cNvPr id="17" name="TextBox 16"/>
          <p:cNvSpPr txBox="1"/>
          <p:nvPr/>
        </p:nvSpPr>
        <p:spPr>
          <a:xfrm>
            <a:off x="3687318"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Whose work does this change?</a:t>
            </a:r>
          </a:p>
        </p:txBody>
      </p:sp>
      <p:sp>
        <p:nvSpPr>
          <p:cNvPr id="18" name="Rectangle 17"/>
          <p:cNvSpPr/>
          <p:nvPr/>
        </p:nvSpPr>
        <p:spPr>
          <a:xfrm>
            <a:off x="6204204"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274320"/>
          </a:xfrm>
          <a:prstGeom prst="rect">
            <a:avLst/>
          </a:prstGeom>
          <a:noFill/>
        </p:spPr>
        <p:txBody>
          <a:bodyPr wrap="square" anchor="t">
            <a:spAutoFit/>
          </a:bodyPr>
          <a:lstStyle/>
          <a:p>
            <a:pPr algn="l">
              <a:spcAft>
                <a:spcPts val="400"/>
              </a:spcAft>
            </a:pPr>
            <a:r>
              <a:rPr sz="1400" b="1">
                <a:solidFill>
                  <a:srgbClr val="7C3AED"/>
                </a:solidFill>
                <a:latin typeface="Arial"/>
              </a:rPr>
              <a:t>Ethical Concerns</a:t>
            </a:r>
          </a:p>
        </p:txBody>
      </p:sp>
      <p:sp>
        <p:nvSpPr>
          <p:cNvPr id="23" name="TextBox 22"/>
          <p:cNvSpPr txBox="1"/>
          <p:nvPr/>
        </p:nvSpPr>
        <p:spPr>
          <a:xfrm>
            <a:off x="6460236"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Could it mislead or be unfair?</a:t>
            </a:r>
          </a:p>
        </p:txBody>
      </p:sp>
      <p:sp>
        <p:nvSpPr>
          <p:cNvPr id="24" name="Rectangle 23"/>
          <p:cNvSpPr/>
          <p:nvPr/>
        </p:nvSpPr>
        <p:spPr>
          <a:xfrm>
            <a:off x="8977122"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4343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274320"/>
          </a:xfrm>
          <a:prstGeom prst="rect">
            <a:avLst/>
          </a:prstGeom>
          <a:noFill/>
        </p:spPr>
        <p:txBody>
          <a:bodyPr wrap="square" anchor="t">
            <a:spAutoFit/>
          </a:bodyPr>
          <a:lstStyle/>
          <a:p>
            <a:pPr algn="l">
              <a:spcAft>
                <a:spcPts val="400"/>
              </a:spcAft>
            </a:pPr>
            <a:r>
              <a:rPr sz="1400" b="1">
                <a:solidFill>
                  <a:srgbClr val="F59E0B"/>
                </a:solidFill>
                <a:latin typeface="Arial"/>
              </a:rPr>
              <a:t>Cyber Security</a:t>
            </a:r>
          </a:p>
        </p:txBody>
      </p:sp>
      <p:sp>
        <p:nvSpPr>
          <p:cNvPr id="29" name="TextBox 28"/>
          <p:cNvSpPr txBox="1"/>
          <p:nvPr/>
        </p:nvSpPr>
        <p:spPr>
          <a:xfrm>
            <a:off x="9233154"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How could it be abused?</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Activity 1 — Debrief</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Read the Pinboard together</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Cluster the four themes</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Name the top risk in each</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Agree one safe-use rule per theme</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This debrief seeds the governance thinking you will use in Topic 3.</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 · LO2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Prompt Engineering and Post-Training for Autonomous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Set up a real agent on MiniMax, then learn to prompt it well.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78</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What Topic 2 Will Cover</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Install the Hermes agent</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Point it at a MiniMax model</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Learn prompt principles</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Run real prompts</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Add tools and skills</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You will do the setup once, then use the same agent for both activities.</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Setup in Three Parts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Hermes Agent</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The agent you talk to</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MiniMax M2.7</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The model that powers it</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Your API key</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Connects the two — kept only on your machine</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S33, S36</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Install the Hermes Desktop App</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Open hermes-agent.nousresearch.com/docs/user-guide/desktop</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Install the Hermes CLI</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Run 'hermes desktop'</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 app builds and launches</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Run 'hermes setup'</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If the CLI is already installed, 'hermes desktop' reuses your existing config and keys.</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S34</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Get a MiniMax Model and API Key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Go to minimax.io</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Create an account at platform.minimax.io</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Select the M2.7 model</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Create an API key</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Copy it for Hermes</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Check platform.minimax.io for current pricing and any promotional access before class.</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S36, S37</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Point Hermes at MiniMax M2.7</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Open Hermes settings / inference providers</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Choose a custom OpenAI-compatible provider</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Endpoint: https://api.minimax.io/v1</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Paste your MiniMax API key</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Pick model M2.7 and save</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Hermes supports custom OpenAI-compatible endpoints, so MiniMax plugs straight in.</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S33, S37</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Keep Your Key Safe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Training key</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Use a low-limit key, not a production one</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Local only</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The key stays on your machine; do not share it</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Revoke after</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Delete the key when the course ends</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PROD  ·  Sources: S35</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Prompt Engineering Principles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Small changes in the prompt make large changes in the output.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85</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Five Principles of a Good Prompt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828799"/>
            <a:ext cx="5806440" cy="44348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visual-prompt-engineering-v41.png"/>
          <p:cNvPicPr>
            <a:picLocks noChangeAspect="1"/>
          </p:cNvPicPr>
          <p:nvPr/>
        </p:nvPicPr>
        <p:blipFill>
          <a:blip r:embed="rId2"/>
          <a:srcRect l="12974" r="12974"/>
          <a:stretch>
            <a:fillRect/>
          </a:stretch>
        </p:blipFill>
        <p:spPr>
          <a:xfrm>
            <a:off x="777240" y="1874519"/>
            <a:ext cx="5715000" cy="4343400"/>
          </a:xfrm>
          <a:prstGeom prst="rect">
            <a:avLst/>
          </a:prstGeom>
        </p:spPr>
      </p:pic>
      <p:sp>
        <p:nvSpPr>
          <p:cNvPr id="8" name="Rectangle 7"/>
          <p:cNvSpPr/>
          <p:nvPr/>
        </p:nvSpPr>
        <p:spPr>
          <a:xfrm>
            <a:off x="6766560" y="1874519"/>
            <a:ext cx="4645152" cy="7223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766560" y="1874519"/>
            <a:ext cx="82296" cy="7223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22592" y="1874519"/>
            <a:ext cx="4187952" cy="722376"/>
          </a:xfrm>
          <a:prstGeom prst="rect">
            <a:avLst/>
          </a:prstGeom>
          <a:noFill/>
        </p:spPr>
        <p:txBody>
          <a:bodyPr wrap="square" anchor="ctr">
            <a:spAutoFit/>
          </a:bodyPr>
          <a:lstStyle/>
          <a:p>
            <a:pPr algn="l">
              <a:spcAft>
                <a:spcPts val="300"/>
              </a:spcAft>
            </a:pPr>
            <a:r>
              <a:rPr sz="1400" b="1">
                <a:solidFill>
                  <a:srgbClr val="1F6FEB"/>
                </a:solidFill>
                <a:latin typeface="Arial"/>
              </a:rPr>
              <a:t>Role</a:t>
            </a:r>
          </a:p>
          <a:p>
            <a:pPr algn="l">
              <a:spcAft>
                <a:spcPts val="300"/>
              </a:spcAft>
            </a:pPr>
            <a:r>
              <a:rPr sz="1200" b="0">
                <a:solidFill>
                  <a:srgbClr val="161B26"/>
                </a:solidFill>
                <a:latin typeface="Arial"/>
              </a:rPr>
              <a:t>Who the AI should be</a:t>
            </a:r>
          </a:p>
        </p:txBody>
      </p:sp>
      <p:sp>
        <p:nvSpPr>
          <p:cNvPr id="11" name="Rectangle 10"/>
          <p:cNvSpPr/>
          <p:nvPr/>
        </p:nvSpPr>
        <p:spPr>
          <a:xfrm>
            <a:off x="6766560" y="2779775"/>
            <a:ext cx="4645152" cy="7223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766560" y="2779775"/>
            <a:ext cx="82296" cy="7223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22592" y="2779775"/>
            <a:ext cx="4187952" cy="722376"/>
          </a:xfrm>
          <a:prstGeom prst="rect">
            <a:avLst/>
          </a:prstGeom>
          <a:noFill/>
        </p:spPr>
        <p:txBody>
          <a:bodyPr wrap="square" anchor="ctr">
            <a:spAutoFit/>
          </a:bodyPr>
          <a:lstStyle/>
          <a:p>
            <a:pPr algn="l">
              <a:spcAft>
                <a:spcPts val="300"/>
              </a:spcAft>
            </a:pPr>
            <a:r>
              <a:rPr sz="1400" b="1">
                <a:solidFill>
                  <a:srgbClr val="10B981"/>
                </a:solidFill>
                <a:latin typeface="Arial"/>
              </a:rPr>
              <a:t>Task</a:t>
            </a:r>
          </a:p>
          <a:p>
            <a:pPr algn="l">
              <a:spcAft>
                <a:spcPts val="300"/>
              </a:spcAft>
            </a:pPr>
            <a:r>
              <a:rPr sz="1200" b="0">
                <a:solidFill>
                  <a:srgbClr val="161B26"/>
                </a:solidFill>
                <a:latin typeface="Arial"/>
              </a:rPr>
              <a:t>Exactly what result you want</a:t>
            </a:r>
          </a:p>
        </p:txBody>
      </p:sp>
      <p:sp>
        <p:nvSpPr>
          <p:cNvPr id="14" name="Rectangle 13"/>
          <p:cNvSpPr/>
          <p:nvPr/>
        </p:nvSpPr>
        <p:spPr>
          <a:xfrm>
            <a:off x="6766560" y="3685031"/>
            <a:ext cx="4645152" cy="7223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766560" y="3685031"/>
            <a:ext cx="82296" cy="7223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22592" y="3685031"/>
            <a:ext cx="4187952" cy="722376"/>
          </a:xfrm>
          <a:prstGeom prst="rect">
            <a:avLst/>
          </a:prstGeom>
          <a:noFill/>
        </p:spPr>
        <p:txBody>
          <a:bodyPr wrap="square" anchor="ctr">
            <a:spAutoFit/>
          </a:bodyPr>
          <a:lstStyle/>
          <a:p>
            <a:pPr algn="l">
              <a:spcAft>
                <a:spcPts val="300"/>
              </a:spcAft>
            </a:pPr>
            <a:r>
              <a:rPr sz="1400" b="1">
                <a:solidFill>
                  <a:srgbClr val="7C3AED"/>
                </a:solidFill>
                <a:latin typeface="Arial"/>
              </a:rPr>
              <a:t>Context</a:t>
            </a:r>
          </a:p>
          <a:p>
            <a:pPr algn="l">
              <a:spcAft>
                <a:spcPts val="300"/>
              </a:spcAft>
            </a:pPr>
            <a:r>
              <a:rPr sz="1200" b="0">
                <a:solidFill>
                  <a:srgbClr val="161B26"/>
                </a:solidFill>
                <a:latin typeface="Arial"/>
              </a:rPr>
              <a:t>The facts it needs</a:t>
            </a:r>
          </a:p>
        </p:txBody>
      </p:sp>
      <p:sp>
        <p:nvSpPr>
          <p:cNvPr id="17" name="Rectangle 16"/>
          <p:cNvSpPr/>
          <p:nvPr/>
        </p:nvSpPr>
        <p:spPr>
          <a:xfrm>
            <a:off x="6766560" y="4590287"/>
            <a:ext cx="4645152" cy="7223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766560" y="4590287"/>
            <a:ext cx="82296" cy="7223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22592" y="4590287"/>
            <a:ext cx="4187952" cy="722376"/>
          </a:xfrm>
          <a:prstGeom prst="rect">
            <a:avLst/>
          </a:prstGeom>
          <a:noFill/>
        </p:spPr>
        <p:txBody>
          <a:bodyPr wrap="square" anchor="ctr">
            <a:spAutoFit/>
          </a:bodyPr>
          <a:lstStyle/>
          <a:p>
            <a:pPr algn="l">
              <a:spcAft>
                <a:spcPts val="300"/>
              </a:spcAft>
            </a:pPr>
            <a:r>
              <a:rPr sz="1400" b="1">
                <a:solidFill>
                  <a:srgbClr val="F59E0B"/>
                </a:solidFill>
                <a:latin typeface="Arial"/>
              </a:rPr>
              <a:t>Format</a:t>
            </a:r>
          </a:p>
          <a:p>
            <a:pPr algn="l">
              <a:spcAft>
                <a:spcPts val="300"/>
              </a:spcAft>
            </a:pPr>
            <a:r>
              <a:rPr sz="1200" b="0">
                <a:solidFill>
                  <a:srgbClr val="161B26"/>
                </a:solidFill>
                <a:latin typeface="Arial"/>
              </a:rPr>
              <a:t>How the answer should look</a:t>
            </a:r>
          </a:p>
        </p:txBody>
      </p:sp>
      <p:sp>
        <p:nvSpPr>
          <p:cNvPr id="20" name="Rectangle 19"/>
          <p:cNvSpPr/>
          <p:nvPr/>
        </p:nvSpPr>
        <p:spPr>
          <a:xfrm>
            <a:off x="6766560" y="5495543"/>
            <a:ext cx="4645152" cy="7223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766560" y="5495543"/>
            <a:ext cx="82296" cy="7223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22592" y="5495543"/>
            <a:ext cx="4187952" cy="722376"/>
          </a:xfrm>
          <a:prstGeom prst="rect">
            <a:avLst/>
          </a:prstGeom>
          <a:noFill/>
        </p:spPr>
        <p:txBody>
          <a:bodyPr wrap="square" anchor="ctr">
            <a:spAutoFit/>
          </a:bodyPr>
          <a:lstStyle/>
          <a:p>
            <a:pPr algn="l">
              <a:spcAft>
                <a:spcPts val="300"/>
              </a:spcAft>
            </a:pPr>
            <a:r>
              <a:rPr sz="1400" b="1">
                <a:solidFill>
                  <a:srgbClr val="1F6FEB"/>
                </a:solidFill>
                <a:latin typeface="Arial"/>
              </a:rPr>
              <a:t>Constraints</a:t>
            </a:r>
          </a:p>
          <a:p>
            <a:pPr algn="l">
              <a:spcAft>
                <a:spcPts val="300"/>
              </a:spcAft>
            </a:pPr>
            <a:r>
              <a:rPr sz="1200" b="0">
                <a:solidFill>
                  <a:srgbClr val="161B26"/>
                </a:solidFill>
                <a:latin typeface="Arial"/>
              </a:rPr>
              <a:t>Length, tone and limits</a:t>
            </a:r>
          </a:p>
        </p:txBody>
      </p:sp>
      <p:sp>
        <p:nvSpPr>
          <p:cNvPr id="23" name="TextBox 22"/>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S10</a:t>
            </a:r>
          </a:p>
        </p:txBody>
      </p:sp>
      <p:sp>
        <p:nvSpPr>
          <p:cNvPr id="24" name="TextBox 23"/>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5" name="TextBox 24"/>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6" name="TextBox 25"/>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 Bad Prompt vs a Good Prompt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Bad prompt</a:t>
            </a:r>
          </a:p>
        </p:txBody>
      </p:sp>
      <p:sp>
        <p:nvSpPr>
          <p:cNvPr id="11" name="TextBox 10"/>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Good prompt</a:t>
            </a:r>
          </a:p>
        </p:txBody>
      </p:sp>
      <p:sp>
        <p:nvSpPr>
          <p:cNvPr id="12" name="TextBox 11"/>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'analyse this data'</a:t>
            </a:r>
          </a:p>
          <a:p>
            <a:pPr>
              <a:spcAft>
                <a:spcPts val="1000"/>
              </a:spcAft>
            </a:pPr>
            <a:r>
              <a:rPr sz="1500" b="0">
                <a:solidFill>
                  <a:srgbClr val="161B26"/>
                </a:solidFill>
                <a:latin typeface="Arial"/>
              </a:rPr>
              <a:t>•  No role, no goal</a:t>
            </a:r>
          </a:p>
          <a:p>
            <a:pPr>
              <a:spcAft>
                <a:spcPts val="1000"/>
              </a:spcAft>
            </a:pPr>
            <a:r>
              <a:rPr sz="1500" b="0">
                <a:solidFill>
                  <a:srgbClr val="161B26"/>
                </a:solidFill>
                <a:latin typeface="Arial"/>
              </a:rPr>
              <a:t>•  No format</a:t>
            </a:r>
          </a:p>
          <a:p>
            <a:pPr>
              <a:spcAft>
                <a:spcPts val="1000"/>
              </a:spcAft>
            </a:pPr>
            <a:r>
              <a:rPr sz="1500" b="0">
                <a:solidFill>
                  <a:srgbClr val="161B26"/>
                </a:solidFill>
                <a:latin typeface="Arial"/>
              </a:rPr>
              <a:t>•  You get a vague wall of text</a:t>
            </a:r>
          </a:p>
        </p:txBody>
      </p:sp>
      <p:sp>
        <p:nvSpPr>
          <p:cNvPr id="13" name="TextBox 12"/>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'You are a marketing analyst. From this sales table, give the top 3 trends as bullets, with one action each.'</a:t>
            </a:r>
          </a:p>
          <a:p>
            <a:pPr>
              <a:spcAft>
                <a:spcPts val="1000"/>
              </a:spcAft>
            </a:pPr>
            <a:r>
              <a:rPr sz="1500" b="0">
                <a:solidFill>
                  <a:srgbClr val="161B26"/>
                </a:solidFill>
                <a:latin typeface="Arial"/>
              </a:rPr>
              <a:t>•  Clear role and task</a:t>
            </a:r>
          </a:p>
          <a:p>
            <a:pPr>
              <a:spcAft>
                <a:spcPts val="1000"/>
              </a:spcAft>
            </a:pPr>
            <a:r>
              <a:rPr sz="1500" b="0">
                <a:solidFill>
                  <a:srgbClr val="161B26"/>
                </a:solidFill>
                <a:latin typeface="Arial"/>
              </a:rPr>
              <a:t>•  Clear format</a:t>
            </a:r>
          </a:p>
          <a:p>
            <a:pPr>
              <a:spcAft>
                <a:spcPts val="1000"/>
              </a:spcAft>
            </a:pPr>
            <a:r>
              <a:rPr sz="1500" b="0">
                <a:solidFill>
                  <a:srgbClr val="161B26"/>
                </a:solidFill>
                <a:latin typeface="Arial"/>
              </a:rPr>
              <a:t>•  You get a usable answer</a:t>
            </a:r>
          </a:p>
        </p:txBody>
      </p:sp>
      <p:sp>
        <p:nvSpPr>
          <p:cNvPr id="14" name="TextBox 1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15" name="TextBox 1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6" name="TextBox 1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7" name="TextBox 1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Techniques That Reliably Help</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Give an example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Show one sample of the output you want</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Ask for steps</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'Think step by step' improves reasoning tasks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Iterate</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Refine the prompt after seeing the first answer</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S10</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'Post-Training' for Agents — Memory and Skills, Not Fine-Tuning</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274320"/>
          </a:xfrm>
          <a:prstGeom prst="rect">
            <a:avLst/>
          </a:prstGeom>
          <a:noFill/>
        </p:spPr>
        <p:txBody>
          <a:bodyPr wrap="square" anchor="t">
            <a:spAutoFit/>
          </a:bodyPr>
          <a:lstStyle/>
          <a:p>
            <a:pPr algn="l">
              <a:spcAft>
                <a:spcPts val="400"/>
              </a:spcAft>
            </a:pPr>
            <a:r>
              <a:rPr sz="1400" b="1">
                <a:solidFill>
                  <a:srgbClr val="1F6FEB"/>
                </a:solidFill>
                <a:latin typeface="Arial"/>
              </a:rPr>
              <a:t>Not fine-tuning</a:t>
            </a:r>
          </a:p>
        </p:txBody>
      </p:sp>
      <p:sp>
        <p:nvSpPr>
          <p:cNvPr id="11" name="TextBox 10"/>
          <p:cNvSpPr txBox="1"/>
          <p:nvPr/>
        </p:nvSpPr>
        <p:spPr>
          <a:xfrm>
            <a:off x="914400"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You are not retraining the model's weights — that is expensive and out of reach for most teams</a:t>
            </a:r>
          </a:p>
        </p:txBody>
      </p:sp>
      <p:sp>
        <p:nvSpPr>
          <p:cNvPr id="12" name="Rectangle 11"/>
          <p:cNvSpPr/>
          <p:nvPr/>
        </p:nvSpPr>
        <p:spPr>
          <a:xfrm>
            <a:off x="3431286"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548640"/>
          </a:xfrm>
          <a:prstGeom prst="rect">
            <a:avLst/>
          </a:prstGeom>
          <a:noFill/>
        </p:spPr>
        <p:txBody>
          <a:bodyPr wrap="square" anchor="t">
            <a:spAutoFit/>
          </a:bodyPr>
          <a:lstStyle/>
          <a:p>
            <a:pPr algn="l">
              <a:spcAft>
                <a:spcPts val="400"/>
              </a:spcAft>
            </a:pPr>
            <a:r>
              <a:rPr sz="1400" b="1">
                <a:solidFill>
                  <a:srgbClr val="10B981"/>
                </a:solidFill>
                <a:latin typeface="Arial"/>
              </a:rPr>
              <a:t>It's context engineering</a:t>
            </a:r>
          </a:p>
        </p:txBody>
      </p:sp>
      <p:sp>
        <p:nvSpPr>
          <p:cNvPr id="17" name="TextBox 16"/>
          <p:cNvSpPr txBox="1"/>
          <p:nvPr/>
        </p:nvSpPr>
        <p:spPr>
          <a:xfrm>
            <a:off x="3687318" y="2624328"/>
            <a:ext cx="2023110" cy="2642616"/>
          </a:xfrm>
          <a:prstGeom prst="rect">
            <a:avLst/>
          </a:prstGeom>
          <a:noFill/>
        </p:spPr>
        <p:txBody>
          <a:bodyPr wrap="square" anchor="t">
            <a:spAutoFit/>
          </a:bodyPr>
          <a:lstStyle/>
          <a:p>
            <a:pPr algn="l">
              <a:spcAft>
                <a:spcPts val="400"/>
              </a:spcAft>
            </a:pPr>
            <a:r>
              <a:rPr sz="1150" b="0">
                <a:solidFill>
                  <a:srgbClr val="161B26"/>
                </a:solidFill>
                <a:latin typeface="Arial"/>
              </a:rPr>
              <a:t>The agent stores what it learns in memory files and reusable skills</a:t>
            </a:r>
          </a:p>
        </p:txBody>
      </p:sp>
      <p:sp>
        <p:nvSpPr>
          <p:cNvPr id="18" name="Rectangle 17"/>
          <p:cNvSpPr/>
          <p:nvPr/>
        </p:nvSpPr>
        <p:spPr>
          <a:xfrm>
            <a:off x="6204204"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548640"/>
          </a:xfrm>
          <a:prstGeom prst="rect">
            <a:avLst/>
          </a:prstGeom>
          <a:noFill/>
        </p:spPr>
        <p:txBody>
          <a:bodyPr wrap="square" anchor="t">
            <a:spAutoFit/>
          </a:bodyPr>
          <a:lstStyle/>
          <a:p>
            <a:pPr algn="l">
              <a:spcAft>
                <a:spcPts val="400"/>
              </a:spcAft>
            </a:pPr>
            <a:r>
              <a:rPr sz="1400" b="1">
                <a:solidFill>
                  <a:srgbClr val="7C3AED"/>
                </a:solidFill>
                <a:latin typeface="Arial"/>
              </a:rPr>
              <a:t>Improves over time</a:t>
            </a:r>
          </a:p>
        </p:txBody>
      </p:sp>
      <p:sp>
        <p:nvSpPr>
          <p:cNvPr id="23" name="TextBox 22"/>
          <p:cNvSpPr txBox="1"/>
          <p:nvPr/>
        </p:nvSpPr>
        <p:spPr>
          <a:xfrm>
            <a:off x="6460236" y="2624328"/>
            <a:ext cx="2023110" cy="2642616"/>
          </a:xfrm>
          <a:prstGeom prst="rect">
            <a:avLst/>
          </a:prstGeom>
          <a:noFill/>
        </p:spPr>
        <p:txBody>
          <a:bodyPr wrap="square" anchor="t">
            <a:spAutoFit/>
          </a:bodyPr>
          <a:lstStyle/>
          <a:p>
            <a:pPr algn="l">
              <a:spcAft>
                <a:spcPts val="400"/>
              </a:spcAft>
            </a:pPr>
            <a:r>
              <a:rPr sz="1150" b="0">
                <a:solidFill>
                  <a:srgbClr val="161B26"/>
                </a:solidFill>
                <a:latin typeface="Arial"/>
              </a:rPr>
              <a:t>Next time, it loads those memories and skills — so it gets better without retraining</a:t>
            </a:r>
          </a:p>
        </p:txBody>
      </p:sp>
      <p:sp>
        <p:nvSpPr>
          <p:cNvPr id="24" name="Rectangle 23"/>
          <p:cNvSpPr/>
          <p:nvPr/>
        </p:nvSpPr>
        <p:spPr>
          <a:xfrm>
            <a:off x="8977122"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274320"/>
          </a:xfrm>
          <a:prstGeom prst="rect">
            <a:avLst/>
          </a:prstGeom>
          <a:noFill/>
        </p:spPr>
        <p:txBody>
          <a:bodyPr wrap="square" anchor="t">
            <a:spAutoFit/>
          </a:bodyPr>
          <a:lstStyle/>
          <a:p>
            <a:pPr algn="l">
              <a:spcAft>
                <a:spcPts val="400"/>
              </a:spcAft>
            </a:pPr>
            <a:r>
              <a:rPr sz="1400" b="1">
                <a:solidFill>
                  <a:srgbClr val="F59E0B"/>
                </a:solidFill>
                <a:latin typeface="Arial"/>
              </a:rPr>
              <a:t>Stays consistent</a:t>
            </a:r>
          </a:p>
        </p:txBody>
      </p:sp>
      <p:sp>
        <p:nvSpPr>
          <p:cNvPr id="29" name="TextBox 28"/>
          <p:cNvSpPr txBox="1"/>
          <p:nvPr/>
        </p:nvSpPr>
        <p:spPr>
          <a:xfrm>
            <a:off x="9233154"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The same saved skill makes the agent do a task the same way every time</a:t>
            </a:r>
          </a:p>
        </p:txBody>
      </p:sp>
      <p:sp>
        <p:nvSpPr>
          <p:cNvPr id="30" name="Rectangle 29"/>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This is how the Hermes agent 'self-improves': it writes learnings to memory and skills, then reuses them.</a:t>
            </a:r>
          </a:p>
        </p:txBody>
      </p:sp>
      <p:sp>
        <p:nvSpPr>
          <p:cNvPr id="32" name="TextBox 31"/>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S10, S15</a:t>
            </a:r>
          </a:p>
        </p:txBody>
      </p:sp>
      <p:sp>
        <p:nvSpPr>
          <p:cNvPr id="33" name="TextBox 3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4" name="TextBox 3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5" name="TextBox 3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Reflect — Does Prompt Engineering Still Matter With Agents?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274320"/>
          </a:xfrm>
          <a:prstGeom prst="rect">
            <a:avLst/>
          </a:prstGeom>
          <a:noFill/>
        </p:spPr>
        <p:txBody>
          <a:bodyPr wrap="square" anchor="t">
            <a:spAutoFit/>
          </a:bodyPr>
          <a:lstStyle/>
          <a:p>
            <a:pPr algn="l">
              <a:spcAft>
                <a:spcPts val="400"/>
              </a:spcAft>
            </a:pPr>
            <a:r>
              <a:rPr sz="1400" b="1">
                <a:solidFill>
                  <a:srgbClr val="1F6FEB"/>
                </a:solidFill>
                <a:latin typeface="Arial"/>
              </a:rPr>
              <a:t>The question</a:t>
            </a:r>
          </a:p>
        </p:txBody>
      </p:sp>
      <p:sp>
        <p:nvSpPr>
          <p:cNvPr id="11" name="TextBox 10"/>
          <p:cNvSpPr txBox="1"/>
          <p:nvPr/>
        </p:nvSpPr>
        <p:spPr>
          <a:xfrm>
            <a:off x="914400"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An agentic loop can plan, retry and self-correct — so is a good prompt still worth the effort?</a:t>
            </a:r>
          </a:p>
        </p:txBody>
      </p:sp>
      <p:sp>
        <p:nvSpPr>
          <p:cNvPr id="12" name="Rectangle 11"/>
          <p:cNvSpPr/>
          <p:nvPr/>
        </p:nvSpPr>
        <p:spPr>
          <a:xfrm>
            <a:off x="3431286"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274320"/>
          </a:xfrm>
          <a:prstGeom prst="rect">
            <a:avLst/>
          </a:prstGeom>
          <a:noFill/>
        </p:spPr>
        <p:txBody>
          <a:bodyPr wrap="square" anchor="t">
            <a:spAutoFit/>
          </a:bodyPr>
          <a:lstStyle/>
          <a:p>
            <a:pPr algn="l">
              <a:spcAft>
                <a:spcPts val="400"/>
              </a:spcAft>
            </a:pPr>
            <a:r>
              <a:rPr sz="1400" b="1">
                <a:solidFill>
                  <a:srgbClr val="10B981"/>
                </a:solidFill>
                <a:latin typeface="Arial"/>
              </a:rPr>
              <a:t>Still yes</a:t>
            </a:r>
          </a:p>
        </p:txBody>
      </p:sp>
      <p:sp>
        <p:nvSpPr>
          <p:cNvPr id="17" name="TextBox 16"/>
          <p:cNvSpPr txBox="1"/>
          <p:nvPr/>
        </p:nvSpPr>
        <p:spPr>
          <a:xfrm>
            <a:off x="3687318"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A clear prompt points the loop at the right goal from the start, instead of it guessing and looping</a:t>
            </a:r>
          </a:p>
        </p:txBody>
      </p:sp>
      <p:sp>
        <p:nvSpPr>
          <p:cNvPr id="18" name="Rectangle 17"/>
          <p:cNvSpPr/>
          <p:nvPr/>
        </p:nvSpPr>
        <p:spPr>
          <a:xfrm>
            <a:off x="6204204"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548640"/>
          </a:xfrm>
          <a:prstGeom prst="rect">
            <a:avLst/>
          </a:prstGeom>
          <a:noFill/>
        </p:spPr>
        <p:txBody>
          <a:bodyPr wrap="square" anchor="t">
            <a:spAutoFit/>
          </a:bodyPr>
          <a:lstStyle/>
          <a:p>
            <a:pPr algn="l">
              <a:spcAft>
                <a:spcPts val="400"/>
              </a:spcAft>
            </a:pPr>
            <a:r>
              <a:rPr sz="1400" b="1">
                <a:solidFill>
                  <a:srgbClr val="7C3AED"/>
                </a:solidFill>
                <a:latin typeface="Arial"/>
              </a:rPr>
              <a:t>Saves time &amp; tokens</a:t>
            </a:r>
          </a:p>
        </p:txBody>
      </p:sp>
      <p:sp>
        <p:nvSpPr>
          <p:cNvPr id="23" name="TextBox 22"/>
          <p:cNvSpPr txBox="1"/>
          <p:nvPr/>
        </p:nvSpPr>
        <p:spPr>
          <a:xfrm>
            <a:off x="6460236" y="2624328"/>
            <a:ext cx="2023110" cy="2642616"/>
          </a:xfrm>
          <a:prstGeom prst="rect">
            <a:avLst/>
          </a:prstGeom>
          <a:noFill/>
        </p:spPr>
        <p:txBody>
          <a:bodyPr wrap="square" anchor="t">
            <a:spAutoFit/>
          </a:bodyPr>
          <a:lstStyle/>
          <a:p>
            <a:pPr algn="l">
              <a:spcAft>
                <a:spcPts val="400"/>
              </a:spcAft>
            </a:pPr>
            <a:r>
              <a:rPr sz="1150" b="0">
                <a:solidFill>
                  <a:srgbClr val="161B26"/>
                </a:solidFill>
                <a:latin typeface="Arial"/>
              </a:rPr>
              <a:t>A vague prompt makes the agent take extra steps — more turns, more tokens, more cost and delay</a:t>
            </a:r>
          </a:p>
        </p:txBody>
      </p:sp>
      <p:sp>
        <p:nvSpPr>
          <p:cNvPr id="24" name="Rectangle 23"/>
          <p:cNvSpPr/>
          <p:nvPr/>
        </p:nvSpPr>
        <p:spPr>
          <a:xfrm>
            <a:off x="8977122"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274320"/>
          </a:xfrm>
          <a:prstGeom prst="rect">
            <a:avLst/>
          </a:prstGeom>
          <a:noFill/>
        </p:spPr>
        <p:txBody>
          <a:bodyPr wrap="square" anchor="t">
            <a:spAutoFit/>
          </a:bodyPr>
          <a:lstStyle/>
          <a:p>
            <a:pPr algn="l">
              <a:spcAft>
                <a:spcPts val="400"/>
              </a:spcAft>
            </a:pPr>
            <a:r>
              <a:rPr sz="1400" b="1">
                <a:solidFill>
                  <a:srgbClr val="F59E0B"/>
                </a:solidFill>
                <a:latin typeface="Arial"/>
              </a:rPr>
              <a:t>The takeaway</a:t>
            </a:r>
          </a:p>
        </p:txBody>
      </p:sp>
      <p:sp>
        <p:nvSpPr>
          <p:cNvPr id="29" name="TextBox 28"/>
          <p:cNvSpPr txBox="1"/>
          <p:nvPr/>
        </p:nvSpPr>
        <p:spPr>
          <a:xfrm>
            <a:off x="9233154"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Prompt engineering matters MORE with agents: a clear brief up front saves a whole loop of rework</a:t>
            </a:r>
          </a:p>
        </p:txBody>
      </p:sp>
      <p:sp>
        <p:nvSpPr>
          <p:cNvPr id="30" name="Rectangle 29"/>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Discuss: think back to your bad-vs-good prompts — how many extra agent steps did the vague one cause?</a:t>
            </a:r>
          </a:p>
        </p:txBody>
      </p:sp>
      <p:sp>
        <p:nvSpPr>
          <p:cNvPr id="32" name="TextBox 31"/>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3" name="TextBox 3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4" name="TextBox 3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5" name="TextBox 3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0B981"/>
                </a:solidFill>
                <a:latin typeface="Arial"/>
              </a:rPr>
              <a:t>ACTIVITY 2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2 — Analyse Excel Data with the Agent</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2 · 25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10B981"/>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You will produce a Word report with charts, analysis and numbers-backed recommendations.</a:t>
            </a:r>
          </a:p>
        </p:txBody>
      </p:sp>
      <p:sp>
        <p:nvSpPr>
          <p:cNvPr id="13" name="Rectangle 12"/>
          <p:cNvSpPr/>
          <p:nvPr/>
        </p:nvSpPr>
        <p:spPr>
          <a:xfrm>
            <a:off x="777240"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04188"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4188"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Scope</a:t>
            </a:r>
          </a:p>
        </p:txBody>
      </p:sp>
      <p:sp>
        <p:nvSpPr>
          <p:cNvPr id="17" name="TextBox 16"/>
          <p:cNvSpPr txBox="1"/>
          <p:nvPr/>
        </p:nvSpPr>
        <p:spPr>
          <a:xfrm>
            <a:off x="2743200"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8" name="Rectangle 17"/>
          <p:cNvSpPr/>
          <p:nvPr/>
        </p:nvSpPr>
        <p:spPr>
          <a:xfrm>
            <a:off x="2944368"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671316"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1316"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035808"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Map</a:t>
            </a:r>
          </a:p>
        </p:txBody>
      </p:sp>
      <p:sp>
        <p:nvSpPr>
          <p:cNvPr id="22" name="TextBox 21"/>
          <p:cNvSpPr txBox="1"/>
          <p:nvPr/>
        </p:nvSpPr>
        <p:spPr>
          <a:xfrm>
            <a:off x="4910328"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3" name="Rectangle 22"/>
          <p:cNvSpPr/>
          <p:nvPr/>
        </p:nvSpPr>
        <p:spPr>
          <a:xfrm>
            <a:off x="5111496"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838444"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38444"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5202936"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Test</a:t>
            </a:r>
          </a:p>
        </p:txBody>
      </p:sp>
      <p:sp>
        <p:nvSpPr>
          <p:cNvPr id="27" name="TextBox 26"/>
          <p:cNvSpPr txBox="1"/>
          <p:nvPr/>
        </p:nvSpPr>
        <p:spPr>
          <a:xfrm>
            <a:off x="7077456"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278624"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005572"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5572"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7370064"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Control</a:t>
            </a:r>
          </a:p>
        </p:txBody>
      </p:sp>
      <p:sp>
        <p:nvSpPr>
          <p:cNvPr id="32" name="TextBox 31"/>
          <p:cNvSpPr txBox="1"/>
          <p:nvPr/>
        </p:nvSpPr>
        <p:spPr>
          <a:xfrm>
            <a:off x="9244584"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3" name="Rectangle 32"/>
          <p:cNvSpPr/>
          <p:nvPr/>
        </p:nvSpPr>
        <p:spPr>
          <a:xfrm>
            <a:off x="9445752"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172700"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72700"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6" name="TextBox 35"/>
          <p:cNvSpPr txBox="1"/>
          <p:nvPr/>
        </p:nvSpPr>
        <p:spPr>
          <a:xfrm>
            <a:off x="9537192"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Evidence</a:t>
            </a:r>
          </a:p>
        </p:txBody>
      </p:sp>
      <p:sp>
        <p:nvSpPr>
          <p:cNvPr id="37" name="Rectangle 36"/>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10B981"/>
                </a:solidFill>
                <a:latin typeface="Arial"/>
              </a:rPr>
              <a:t>DISCUSSION QUESTIONS</a:t>
            </a:r>
          </a:p>
        </p:txBody>
      </p:sp>
      <p:sp>
        <p:nvSpPr>
          <p:cNvPr id="39" name="TextBox 38"/>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Upload MOCK-MARKETING-DATA.xlsx to your Hermes + MiniMax agent</a:t>
            </a:r>
          </a:p>
          <a:p>
            <a:pPr>
              <a:spcAft>
                <a:spcPts val="300"/>
              </a:spcAft>
            </a:pPr>
            <a:r>
              <a:rPr sz="1050" b="0">
                <a:solidFill>
                  <a:srgbClr val="161B26"/>
                </a:solidFill>
                <a:latin typeface="Arial"/>
              </a:rPr>
              <a:t>•  Warm up with a bad prompt vs a good prompt on the same data</a:t>
            </a:r>
          </a:p>
          <a:p>
            <a:pPr>
              <a:spcAft>
                <a:spcPts val="300"/>
              </a:spcAft>
            </a:pPr>
            <a:r>
              <a:rPr sz="1050" b="0">
                <a:solidFill>
                  <a:srgbClr val="161B26"/>
                </a:solidFill>
                <a:latin typeface="Arial"/>
              </a:rPr>
              <a:t>•  Then prompt the agent to analyse the data, generate charts and produce a .docx report with recommendations</a:t>
            </a:r>
          </a:p>
        </p:txBody>
      </p:sp>
      <p:sp>
        <p:nvSpPr>
          <p:cNvPr id="40" name="Rectangle 39"/>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43" name="TextBox 42"/>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A .docx marketing report with charts, analysis and numbers-backed recommendations.</a:t>
            </a:r>
          </a:p>
        </p:txBody>
      </p:sp>
      <p:sp>
        <p:nvSpPr>
          <p:cNvPr id="44" name="TextBox 43"/>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LO2 · A5  ·  Activity pack: activities/activity-2-excel-analysis/  ·  Full step-by-step facilitation detail: Learner Guide</a:t>
            </a:r>
          </a:p>
        </p:txBody>
      </p:sp>
      <p:sp>
        <p:nvSpPr>
          <p:cNvPr id="45" name="TextBox 4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6" name="TextBox 4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7" name="TextBox 4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8" name="TextBox 4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Activity 2 — From Spreadsheet to Report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274320"/>
          </a:xfrm>
          <a:prstGeom prst="rect">
            <a:avLst/>
          </a:prstGeom>
          <a:noFill/>
        </p:spPr>
        <p:txBody>
          <a:bodyPr wrap="square" anchor="t">
            <a:spAutoFit/>
          </a:bodyPr>
          <a:lstStyle/>
          <a:p>
            <a:pPr algn="l">
              <a:spcAft>
                <a:spcPts val="400"/>
              </a:spcAft>
            </a:pPr>
            <a:r>
              <a:rPr sz="1400" b="1">
                <a:solidFill>
                  <a:srgbClr val="1F6FEB"/>
                </a:solidFill>
                <a:latin typeface="Arial"/>
              </a:rPr>
              <a:t>Bad</a:t>
            </a:r>
          </a:p>
        </p:txBody>
      </p:sp>
      <p:sp>
        <p:nvSpPr>
          <p:cNvPr id="11" name="TextBox 10"/>
          <p:cNvSpPr txBox="1"/>
          <p:nvPr/>
        </p:nvSpPr>
        <p:spPr>
          <a:xfrm>
            <a:off x="914400"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'which is better?'</a:t>
            </a:r>
          </a:p>
        </p:txBody>
      </p:sp>
      <p:sp>
        <p:nvSpPr>
          <p:cNvPr id="12" name="Rectangle 11"/>
          <p:cNvSpPr/>
          <p:nvPr/>
        </p:nvSpPr>
        <p:spPr>
          <a:xfrm>
            <a:off x="3431286"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274320"/>
          </a:xfrm>
          <a:prstGeom prst="rect">
            <a:avLst/>
          </a:prstGeom>
          <a:noFill/>
        </p:spPr>
        <p:txBody>
          <a:bodyPr wrap="square" anchor="t">
            <a:spAutoFit/>
          </a:bodyPr>
          <a:lstStyle/>
          <a:p>
            <a:pPr algn="l">
              <a:spcAft>
                <a:spcPts val="400"/>
              </a:spcAft>
            </a:pPr>
            <a:r>
              <a:rPr sz="1400" b="1">
                <a:solidFill>
                  <a:srgbClr val="10B981"/>
                </a:solidFill>
                <a:latin typeface="Arial"/>
              </a:rPr>
              <a:t>Good</a:t>
            </a:r>
          </a:p>
        </p:txBody>
      </p:sp>
      <p:sp>
        <p:nvSpPr>
          <p:cNvPr id="17" name="TextBox 16"/>
          <p:cNvSpPr txBox="1"/>
          <p:nvPr/>
        </p:nvSpPr>
        <p:spPr>
          <a:xfrm>
            <a:off x="3687318"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'Rank channels by ROI = Revenue / Spend as a table'</a:t>
            </a:r>
          </a:p>
        </p:txBody>
      </p:sp>
      <p:sp>
        <p:nvSpPr>
          <p:cNvPr id="18" name="Rectangle 17"/>
          <p:cNvSpPr/>
          <p:nvPr/>
        </p:nvSpPr>
        <p:spPr>
          <a:xfrm>
            <a:off x="6204204"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274320"/>
          </a:xfrm>
          <a:prstGeom prst="rect">
            <a:avLst/>
          </a:prstGeom>
          <a:noFill/>
        </p:spPr>
        <p:txBody>
          <a:bodyPr wrap="square" anchor="t">
            <a:spAutoFit/>
          </a:bodyPr>
          <a:lstStyle/>
          <a:p>
            <a:pPr algn="l">
              <a:spcAft>
                <a:spcPts val="400"/>
              </a:spcAft>
            </a:pPr>
            <a:r>
              <a:rPr sz="1400" b="1">
                <a:solidFill>
                  <a:srgbClr val="7C3AED"/>
                </a:solidFill>
                <a:latin typeface="Arial"/>
              </a:rPr>
              <a:t>Report</a:t>
            </a:r>
          </a:p>
        </p:txBody>
      </p:sp>
      <p:sp>
        <p:nvSpPr>
          <p:cNvPr id="23" name="TextBox 22"/>
          <p:cNvSpPr txBox="1"/>
          <p:nvPr/>
        </p:nvSpPr>
        <p:spPr>
          <a:xfrm>
            <a:off x="6460236"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'Analyse the file, chart revenue, ROI and spend, and generate a .docx report with recommendations'</a:t>
            </a:r>
          </a:p>
        </p:txBody>
      </p:sp>
      <p:sp>
        <p:nvSpPr>
          <p:cNvPr id="24" name="Rectangle 23"/>
          <p:cNvSpPr/>
          <p:nvPr/>
        </p:nvSpPr>
        <p:spPr>
          <a:xfrm>
            <a:off x="8977122"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4343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274320"/>
          </a:xfrm>
          <a:prstGeom prst="rect">
            <a:avLst/>
          </a:prstGeom>
          <a:noFill/>
        </p:spPr>
        <p:txBody>
          <a:bodyPr wrap="square" anchor="t">
            <a:spAutoFit/>
          </a:bodyPr>
          <a:lstStyle/>
          <a:p>
            <a:pPr algn="l">
              <a:spcAft>
                <a:spcPts val="400"/>
              </a:spcAft>
            </a:pPr>
            <a:r>
              <a:rPr sz="1400" b="1">
                <a:solidFill>
                  <a:srgbClr val="F59E0B"/>
                </a:solidFill>
                <a:latin typeface="Arial"/>
              </a:rPr>
              <a:t>Verify</a:t>
            </a:r>
          </a:p>
        </p:txBody>
      </p:sp>
      <p:sp>
        <p:nvSpPr>
          <p:cNvPr id="29" name="TextBox 28"/>
          <p:cNvSpPr txBox="1"/>
          <p:nvPr/>
        </p:nvSpPr>
        <p:spPr>
          <a:xfrm>
            <a:off x="9233154"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Check two numbers in the report against the spreadsheet</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0B981"/>
                </a:solidFill>
                <a:latin typeface="Arial"/>
              </a:rPr>
              <a:t>ACTIVITY 3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3 — Create and Redesign a PPT with the Agent</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3 · 25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10B981"/>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The image template and two worked-example decks are in the activity pack.</a:t>
            </a:r>
          </a:p>
        </p:txBody>
      </p:sp>
      <p:sp>
        <p:nvSpPr>
          <p:cNvPr id="13" name="Rectangle 12"/>
          <p:cNvSpPr/>
          <p:nvPr/>
        </p:nvSpPr>
        <p:spPr>
          <a:xfrm>
            <a:off x="777240"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04188"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4188"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Create</a:t>
            </a:r>
          </a:p>
        </p:txBody>
      </p:sp>
      <p:sp>
        <p:nvSpPr>
          <p:cNvPr id="17" name="TextBox 16"/>
          <p:cNvSpPr txBox="1"/>
          <p:nvPr/>
        </p:nvSpPr>
        <p:spPr>
          <a:xfrm>
            <a:off x="2743200"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8" name="Rectangle 17"/>
          <p:cNvSpPr/>
          <p:nvPr/>
        </p:nvSpPr>
        <p:spPr>
          <a:xfrm>
            <a:off x="2944368"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671316"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1316"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035808"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Save to Downloads</a:t>
            </a:r>
          </a:p>
        </p:txBody>
      </p:sp>
      <p:sp>
        <p:nvSpPr>
          <p:cNvPr id="22" name="TextBox 21"/>
          <p:cNvSpPr txBox="1"/>
          <p:nvPr/>
        </p:nvSpPr>
        <p:spPr>
          <a:xfrm>
            <a:off x="4910328"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3" name="Rectangle 22"/>
          <p:cNvSpPr/>
          <p:nvPr/>
        </p:nvSpPr>
        <p:spPr>
          <a:xfrm>
            <a:off x="5111496"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838444"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38444"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5202936"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Upload template</a:t>
            </a:r>
          </a:p>
        </p:txBody>
      </p:sp>
      <p:sp>
        <p:nvSpPr>
          <p:cNvPr id="27" name="TextBox 26"/>
          <p:cNvSpPr txBox="1"/>
          <p:nvPr/>
        </p:nvSpPr>
        <p:spPr>
          <a:xfrm>
            <a:off x="7077456"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278624"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005572"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5572"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7370064"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Redesign</a:t>
            </a:r>
          </a:p>
        </p:txBody>
      </p:sp>
      <p:sp>
        <p:nvSpPr>
          <p:cNvPr id="32" name="TextBox 31"/>
          <p:cNvSpPr txBox="1"/>
          <p:nvPr/>
        </p:nvSpPr>
        <p:spPr>
          <a:xfrm>
            <a:off x="9244584"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3" name="Rectangle 32"/>
          <p:cNvSpPr/>
          <p:nvPr/>
        </p:nvSpPr>
        <p:spPr>
          <a:xfrm>
            <a:off x="9445752"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172700"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72700"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6" name="TextBox 35"/>
          <p:cNvSpPr txBox="1"/>
          <p:nvPr/>
        </p:nvSpPr>
        <p:spPr>
          <a:xfrm>
            <a:off x="9537192"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Compare</a:t>
            </a:r>
          </a:p>
        </p:txBody>
      </p:sp>
      <p:sp>
        <p:nvSpPr>
          <p:cNvPr id="37" name="Rectangle 36"/>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10B981"/>
                </a:solidFill>
                <a:latin typeface="Arial"/>
              </a:rPr>
              <a:t>DISCUSSION QUESTIONS</a:t>
            </a:r>
          </a:p>
        </p:txBody>
      </p:sp>
      <p:sp>
        <p:nvSpPr>
          <p:cNvPr id="39" name="TextBox 38"/>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Ask the agent for a 10-slide deck on AI Security for AI Agents</a:t>
            </a:r>
          </a:p>
          <a:p>
            <a:pPr>
              <a:spcAft>
                <a:spcPts val="300"/>
              </a:spcAft>
            </a:pPr>
            <a:r>
              <a:rPr sz="1050" b="0">
                <a:solidFill>
                  <a:srgbClr val="161B26"/>
                </a:solidFill>
                <a:latin typeface="Arial"/>
              </a:rPr>
              <a:t>•  Save the finished deck to your Downloads folder</a:t>
            </a:r>
          </a:p>
          <a:p>
            <a:pPr>
              <a:spcAft>
                <a:spcPts val="300"/>
              </a:spcAft>
            </a:pPr>
            <a:r>
              <a:rPr sz="1050" b="0">
                <a:solidFill>
                  <a:srgbClr val="161B26"/>
                </a:solidFill>
                <a:latin typeface="Arial"/>
              </a:rPr>
              <a:t>•  Upload the image template and ask the agent to redesign the deck</a:t>
            </a:r>
          </a:p>
        </p:txBody>
      </p:sp>
      <p:sp>
        <p:nvSpPr>
          <p:cNvPr id="40" name="Rectangle 39"/>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43" name="TextBox 42"/>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Two decks in your Downloads folder — the original and the template-redesigned version.</a:t>
            </a:r>
          </a:p>
        </p:txBody>
      </p:sp>
      <p:sp>
        <p:nvSpPr>
          <p:cNvPr id="44" name="TextBox 43"/>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LO2 · A5  ·  Activity pack: activities/activity-3-ppt-builder/  ·  Full step-by-step facilitation detail: Learner Guide</a:t>
            </a:r>
          </a:p>
        </p:txBody>
      </p:sp>
      <p:sp>
        <p:nvSpPr>
          <p:cNvPr id="45" name="TextBox 4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6" name="TextBox 4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7" name="TextBox 4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8" name="TextBox 4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Activity 3 — What Good Looks Like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Create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'Build a 10-slide deck on AI Security for AI Agents with speaker notes'</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Redesign</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'Restyle every slide using this uploaded image as the visual theme'</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Reflect</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Content first, then design — the agent iterates on its own output</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0B981"/>
                </a:solidFill>
                <a:latin typeface="Arial"/>
              </a:rPr>
              <a:t>ACTIVITY 4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4 — Install Tools and Skills to Do Better</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4 · 25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10B981"/>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Skills give the agent repeatable know-how for formatting and structure.</a:t>
            </a:r>
          </a:p>
        </p:txBody>
      </p:sp>
      <p:sp>
        <p:nvSpPr>
          <p:cNvPr id="13" name="Rectangle 12"/>
          <p:cNvSpPr/>
          <p:nvPr/>
        </p:nvSpPr>
        <p:spPr>
          <a:xfrm>
            <a:off x="777240"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04188"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4188"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Run without the skill</a:t>
            </a:r>
          </a:p>
        </p:txBody>
      </p:sp>
      <p:sp>
        <p:nvSpPr>
          <p:cNvPr id="17" name="TextBox 16"/>
          <p:cNvSpPr txBox="1"/>
          <p:nvPr/>
        </p:nvSpPr>
        <p:spPr>
          <a:xfrm>
            <a:off x="2743200"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8" name="Rectangle 17"/>
          <p:cNvSpPr/>
          <p:nvPr/>
        </p:nvSpPr>
        <p:spPr>
          <a:xfrm>
            <a:off x="2944368"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671316"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1316"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035808"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Install the skill</a:t>
            </a:r>
          </a:p>
        </p:txBody>
      </p:sp>
      <p:sp>
        <p:nvSpPr>
          <p:cNvPr id="22" name="TextBox 21"/>
          <p:cNvSpPr txBox="1"/>
          <p:nvPr/>
        </p:nvSpPr>
        <p:spPr>
          <a:xfrm>
            <a:off x="4910328"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3" name="Rectangle 22"/>
          <p:cNvSpPr/>
          <p:nvPr/>
        </p:nvSpPr>
        <p:spPr>
          <a:xfrm>
            <a:off x="5111496"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838444"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38444"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5202936"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Re-run Excel</a:t>
            </a:r>
          </a:p>
        </p:txBody>
      </p:sp>
      <p:sp>
        <p:nvSpPr>
          <p:cNvPr id="27" name="TextBox 26"/>
          <p:cNvSpPr txBox="1"/>
          <p:nvPr/>
        </p:nvSpPr>
        <p:spPr>
          <a:xfrm>
            <a:off x="7077456"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278624"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005572"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5572"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7370064"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Re-run PPT</a:t>
            </a:r>
          </a:p>
        </p:txBody>
      </p:sp>
      <p:sp>
        <p:nvSpPr>
          <p:cNvPr id="32" name="TextBox 31"/>
          <p:cNvSpPr txBox="1"/>
          <p:nvPr/>
        </p:nvSpPr>
        <p:spPr>
          <a:xfrm>
            <a:off x="9244584" y="3570732"/>
            <a:ext cx="201168" cy="402336"/>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3" name="Rectangle 32"/>
          <p:cNvSpPr/>
          <p:nvPr/>
        </p:nvSpPr>
        <p:spPr>
          <a:xfrm>
            <a:off x="9445752"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172700" y="33284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72700"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6" name="TextBox 35"/>
          <p:cNvSpPr txBox="1"/>
          <p:nvPr/>
        </p:nvSpPr>
        <p:spPr>
          <a:xfrm>
            <a:off x="9537192"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Compare</a:t>
            </a:r>
          </a:p>
        </p:txBody>
      </p:sp>
      <p:sp>
        <p:nvSpPr>
          <p:cNvPr id="37" name="Rectangle 36"/>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10B981"/>
                </a:solidFill>
                <a:latin typeface="Arial"/>
              </a:rPr>
              <a:t>DISCUSSION QUESTIONS</a:t>
            </a:r>
          </a:p>
        </p:txBody>
      </p:sp>
      <p:sp>
        <p:nvSpPr>
          <p:cNvPr id="39" name="TextBox 38"/>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Install the supplied tool/skill in your agent</a:t>
            </a:r>
          </a:p>
          <a:p>
            <a:pPr>
              <a:spcAft>
                <a:spcPts val="300"/>
              </a:spcAft>
            </a:pPr>
            <a:r>
              <a:rPr sz="1050" b="0">
                <a:solidFill>
                  <a:srgbClr val="161B26"/>
                </a:solidFill>
                <a:latin typeface="Arial"/>
              </a:rPr>
              <a:t>•  Re-run the Excel and PPT tasks</a:t>
            </a:r>
          </a:p>
          <a:p>
            <a:pPr>
              <a:spcAft>
                <a:spcPts val="300"/>
              </a:spcAft>
            </a:pPr>
            <a:r>
              <a:rPr sz="1050" b="0">
                <a:solidFill>
                  <a:srgbClr val="161B26"/>
                </a:solidFill>
                <a:latin typeface="Arial"/>
              </a:rPr>
              <a:t>•  Note how much the output improves</a:t>
            </a:r>
          </a:p>
        </p:txBody>
      </p:sp>
      <p:sp>
        <p:nvSpPr>
          <p:cNvPr id="40" name="Rectangle 39"/>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43" name="TextBox 42"/>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Deck A vs Deck B and Answer A vs Answer B — the same prompts without and with the skill, plus your verdict on whether each skill was worth it.</a:t>
            </a:r>
          </a:p>
        </p:txBody>
      </p:sp>
      <p:sp>
        <p:nvSpPr>
          <p:cNvPr id="44" name="TextBox 43"/>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LO2 · A1, A5  ·  Activity pack: activities/activity-4-tools-and-skills/  ·  Full step-by-step facilitation detail: Learner Guide</a:t>
            </a:r>
          </a:p>
        </p:txBody>
      </p:sp>
      <p:sp>
        <p:nvSpPr>
          <p:cNvPr id="45" name="TextBox 4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6" name="TextBox 4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7" name="TextBox 4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8" name="TextBox 4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6" name="TextBox 5"/>
          <p:cNvSpPr txBox="1"/>
          <p:nvPr/>
        </p:nvSpPr>
        <p:spPr>
          <a:xfrm>
            <a:off x="0" y="3703320"/>
            <a:ext cx="12191695" cy="731520"/>
          </a:xfrm>
          <a:prstGeom prst="rect">
            <a:avLst/>
          </a:prstGeom>
          <a:noFill/>
        </p:spPr>
        <p:txBody>
          <a:bodyPr wrap="square" anchor="t">
            <a:spAutoFit/>
          </a:bodyPr>
          <a:lstStyle/>
          <a:p>
            <a:pPr algn="ctr">
              <a:spcAft>
                <a:spcPts val="400"/>
              </a:spcAft>
            </a:pPr>
            <a:endParaRPr/>
          </a:p>
        </p:txBody>
      </p:sp>
      <p:sp>
        <p:nvSpPr>
          <p:cNvPr id="7" name="TextBox 6"/>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8" name="TextBox 7"/>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9" name="TextBox 8"/>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0" name="TextBox 9"/>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520">
        <p:push dir="u"/>
      </p:transition>
    </mc:Choice>
    <mc:Fallback xmlns="">
      <p:transition spd="med">
        <p:push dir="u"/>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Reflect on Working with the Agent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274320"/>
          </a:xfrm>
          <a:prstGeom prst="rect">
            <a:avLst/>
          </a:prstGeom>
          <a:noFill/>
        </p:spPr>
        <p:txBody>
          <a:bodyPr wrap="square" anchor="t">
            <a:spAutoFit/>
          </a:bodyPr>
          <a:lstStyle/>
          <a:p>
            <a:pPr algn="l">
              <a:spcAft>
                <a:spcPts val="400"/>
              </a:spcAft>
            </a:pPr>
            <a:r>
              <a:rPr sz="1400" b="1">
                <a:solidFill>
                  <a:srgbClr val="1F6FEB"/>
                </a:solidFill>
                <a:latin typeface="Arial"/>
              </a:rPr>
              <a:t>Data Privacy</a:t>
            </a:r>
          </a:p>
        </p:txBody>
      </p:sp>
      <p:sp>
        <p:nvSpPr>
          <p:cNvPr id="11" name="TextBox 10"/>
          <p:cNvSpPr txBox="1"/>
          <p:nvPr/>
        </p:nvSpPr>
        <p:spPr>
          <a:xfrm>
            <a:off x="914400"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What did you feed the agent and the model?</a:t>
            </a:r>
          </a:p>
        </p:txBody>
      </p:sp>
      <p:sp>
        <p:nvSpPr>
          <p:cNvPr id="12" name="Rectangle 11"/>
          <p:cNvSpPr/>
          <p:nvPr/>
        </p:nvSpPr>
        <p:spPr>
          <a:xfrm>
            <a:off x="3431286"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274320"/>
          </a:xfrm>
          <a:prstGeom prst="rect">
            <a:avLst/>
          </a:prstGeom>
          <a:noFill/>
        </p:spPr>
        <p:txBody>
          <a:bodyPr wrap="square" anchor="t">
            <a:spAutoFit/>
          </a:bodyPr>
          <a:lstStyle/>
          <a:p>
            <a:pPr algn="l">
              <a:spcAft>
                <a:spcPts val="400"/>
              </a:spcAft>
            </a:pPr>
            <a:r>
              <a:rPr sz="1400" b="1">
                <a:solidFill>
                  <a:srgbClr val="10B981"/>
                </a:solidFill>
                <a:latin typeface="Arial"/>
              </a:rPr>
              <a:t>Job Impact</a:t>
            </a:r>
          </a:p>
        </p:txBody>
      </p:sp>
      <p:sp>
        <p:nvSpPr>
          <p:cNvPr id="17" name="TextBox 16"/>
          <p:cNvSpPr txBox="1"/>
          <p:nvPr/>
        </p:nvSpPr>
        <p:spPr>
          <a:xfrm>
            <a:off x="3687318"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Which of your tasks did it speed up?</a:t>
            </a:r>
          </a:p>
        </p:txBody>
      </p:sp>
      <p:sp>
        <p:nvSpPr>
          <p:cNvPr id="18" name="Rectangle 17"/>
          <p:cNvSpPr/>
          <p:nvPr/>
        </p:nvSpPr>
        <p:spPr>
          <a:xfrm>
            <a:off x="6204204"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274320"/>
          </a:xfrm>
          <a:prstGeom prst="rect">
            <a:avLst/>
          </a:prstGeom>
          <a:noFill/>
        </p:spPr>
        <p:txBody>
          <a:bodyPr wrap="square" anchor="t">
            <a:spAutoFit/>
          </a:bodyPr>
          <a:lstStyle/>
          <a:p>
            <a:pPr algn="l">
              <a:spcAft>
                <a:spcPts val="400"/>
              </a:spcAft>
            </a:pPr>
            <a:r>
              <a:rPr sz="1400" b="1">
                <a:solidFill>
                  <a:srgbClr val="7C3AED"/>
                </a:solidFill>
                <a:latin typeface="Arial"/>
              </a:rPr>
              <a:t>Ethical Concerns</a:t>
            </a:r>
          </a:p>
        </p:txBody>
      </p:sp>
      <p:sp>
        <p:nvSpPr>
          <p:cNvPr id="23" name="TextBox 22"/>
          <p:cNvSpPr txBox="1"/>
          <p:nvPr/>
        </p:nvSpPr>
        <p:spPr>
          <a:xfrm>
            <a:off x="6460236"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Did any output mislead or overclaim?</a:t>
            </a:r>
          </a:p>
        </p:txBody>
      </p:sp>
      <p:sp>
        <p:nvSpPr>
          <p:cNvPr id="24" name="Rectangle 23"/>
          <p:cNvSpPr/>
          <p:nvPr/>
        </p:nvSpPr>
        <p:spPr>
          <a:xfrm>
            <a:off x="8977122"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4343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274320"/>
          </a:xfrm>
          <a:prstGeom prst="rect">
            <a:avLst/>
          </a:prstGeom>
          <a:noFill/>
        </p:spPr>
        <p:txBody>
          <a:bodyPr wrap="square" anchor="t">
            <a:spAutoFit/>
          </a:bodyPr>
          <a:lstStyle/>
          <a:p>
            <a:pPr algn="l">
              <a:spcAft>
                <a:spcPts val="400"/>
              </a:spcAft>
            </a:pPr>
            <a:r>
              <a:rPr sz="1400" b="1">
                <a:solidFill>
                  <a:srgbClr val="F59E0B"/>
                </a:solidFill>
                <a:latin typeface="Arial"/>
              </a:rPr>
              <a:t>Cyber Security</a:t>
            </a:r>
          </a:p>
        </p:txBody>
      </p:sp>
      <p:sp>
        <p:nvSpPr>
          <p:cNvPr id="29" name="TextBox 28"/>
          <p:cNvSpPr txBox="1"/>
          <p:nvPr/>
        </p:nvSpPr>
        <p:spPr>
          <a:xfrm>
            <a:off x="9233154"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Where did your API key and data go?</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Topic 2 Debrief</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Share your best and worst prompt</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Name one thing skills improved</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List one privacy or security worry</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Agree a prompt checklist to keep</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Carry the security worries forward — Topic 3 turns them into governance.</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 · LO3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Risk of Autonomous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Governance, jobs and the security of agents that can act.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99</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What Topic 3 Will Cover</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Data governance &amp; accountability</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Brand damage</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Job impact &amp; redesign</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Cybersecurity &amp; safe rollout</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 key challenges to business</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Real Singapore cases drive the discussion — building to the key AI challenges every business must manage.</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Discussion Point 1 — Who Is Accountable for the Data?</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The setup</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An agent reads and edits your Excel and PPT</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The problem</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If it changes the data wrongly, who is accountable — AI or human?</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Second case</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If AI-made models or scripts break a law, who answers for it?</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GOVERNANCE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is never the accountable party. A named human always is.</a:t>
            </a:r>
          </a:p>
        </p:txBody>
      </p:sp>
      <p:sp>
        <p:nvSpPr>
          <p:cNvPr id="6" name="TextBox 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S40, S46</a:t>
            </a:r>
          </a:p>
        </p:txBody>
      </p:sp>
      <p:sp>
        <p:nvSpPr>
          <p:cNvPr id="7" name="TextBox 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8" name="TextBox 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9" name="TextBox 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Case — Moffatt v Air Canada</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A chatbot gave a customer wrong information</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The customer relied on it</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The airline said the bot was responsible</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The tribunal held the company accountable</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2024 BCCRT 149 — an organisation is accountable for what its AI tells customers.</a:t>
            </a:r>
          </a:p>
        </p:txBody>
      </p:sp>
      <p:sp>
        <p:nvSpPr>
          <p:cNvPr id="30" name="Rectangle 29"/>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Moffatt v Air Canada, 2024 BCCRT 149 (canlii.org)</a:t>
            </a:r>
          </a:p>
        </p:txBody>
      </p:sp>
      <p:sp>
        <p:nvSpPr>
          <p:cNvPr id="33" name="TextBox 3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4" name="TextBox 3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5" name="TextBox 3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Traditional Data Governance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Purpose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Collect data only for a stated reason</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Protection</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Keep it secure and access-controlled</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Accuracy &amp; retention</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Keep it correct; delete when no longer needed</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S41</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New Principles for GenAI and Agents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Provenance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Know where training and generated data came from</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Traceability</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Log what the agent read, changed and produced</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Human accountability</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 named owner signs off agent actions on data</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S40</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Scope of an AI Data Governance Policy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2977652"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2758196" cy="739140"/>
          </a:xfrm>
          <a:prstGeom prst="rect">
            <a:avLst/>
          </a:prstGeom>
          <a:noFill/>
        </p:spPr>
        <p:txBody>
          <a:bodyPr wrap="square" anchor="ctr">
            <a:spAutoFit/>
          </a:bodyPr>
          <a:lstStyle/>
          <a:p>
            <a:pPr algn="l">
              <a:spcAft>
                <a:spcPts val="400"/>
              </a:spcAft>
            </a:pPr>
            <a:r>
              <a:rPr sz="1250" b="1">
                <a:solidFill>
                  <a:srgbClr val="FFFFFF"/>
                </a:solidFill>
                <a:latin typeface="Arial"/>
              </a:rPr>
              <a:t>Area</a:t>
            </a:r>
          </a:p>
        </p:txBody>
      </p:sp>
      <p:sp>
        <p:nvSpPr>
          <p:cNvPr id="8" name="Rectangle 7"/>
          <p:cNvSpPr/>
          <p:nvPr/>
        </p:nvSpPr>
        <p:spPr>
          <a:xfrm>
            <a:off x="3754892" y="1783080"/>
            <a:ext cx="7656819"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82908" y="1783080"/>
            <a:ext cx="7437363" cy="739140"/>
          </a:xfrm>
          <a:prstGeom prst="rect">
            <a:avLst/>
          </a:prstGeom>
          <a:noFill/>
        </p:spPr>
        <p:txBody>
          <a:bodyPr wrap="square" anchor="ctr">
            <a:spAutoFit/>
          </a:bodyPr>
          <a:lstStyle/>
          <a:p>
            <a:pPr algn="l">
              <a:spcAft>
                <a:spcPts val="400"/>
              </a:spcAft>
            </a:pPr>
            <a:r>
              <a:rPr sz="1250" b="1">
                <a:solidFill>
                  <a:srgbClr val="FFFFFF"/>
                </a:solidFill>
                <a:latin typeface="Arial"/>
              </a:rPr>
              <a:t>What the policy must state</a:t>
            </a:r>
          </a:p>
        </p:txBody>
      </p:sp>
      <p:sp>
        <p:nvSpPr>
          <p:cNvPr id="10" name="Rectangle 9"/>
          <p:cNvSpPr/>
          <p:nvPr/>
        </p:nvSpPr>
        <p:spPr>
          <a:xfrm>
            <a:off x="777240" y="252222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522220"/>
            <a:ext cx="2758196" cy="739140"/>
          </a:xfrm>
          <a:prstGeom prst="rect">
            <a:avLst/>
          </a:prstGeom>
          <a:noFill/>
        </p:spPr>
        <p:txBody>
          <a:bodyPr wrap="square" anchor="ctr">
            <a:spAutoFit/>
          </a:bodyPr>
          <a:lstStyle/>
          <a:p>
            <a:pPr algn="l">
              <a:spcAft>
                <a:spcPts val="400"/>
              </a:spcAft>
            </a:pPr>
            <a:r>
              <a:rPr sz="1150" b="1">
                <a:solidFill>
                  <a:srgbClr val="161B26"/>
                </a:solidFill>
                <a:latin typeface="Arial"/>
              </a:rPr>
              <a:t>Data assets</a:t>
            </a:r>
          </a:p>
        </p:txBody>
      </p:sp>
      <p:sp>
        <p:nvSpPr>
          <p:cNvPr id="12" name="Rectangle 11"/>
          <p:cNvSpPr/>
          <p:nvPr/>
        </p:nvSpPr>
        <p:spPr>
          <a:xfrm>
            <a:off x="3754892" y="2522220"/>
            <a:ext cx="7656819"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82908" y="2522220"/>
            <a:ext cx="7437363" cy="739140"/>
          </a:xfrm>
          <a:prstGeom prst="rect">
            <a:avLst/>
          </a:prstGeom>
          <a:noFill/>
        </p:spPr>
        <p:txBody>
          <a:bodyPr wrap="square" anchor="ctr">
            <a:spAutoFit/>
          </a:bodyPr>
          <a:lstStyle/>
          <a:p>
            <a:pPr algn="l">
              <a:spcAft>
                <a:spcPts val="400"/>
              </a:spcAft>
            </a:pPr>
            <a:r>
              <a:rPr sz="1150" b="0">
                <a:solidFill>
                  <a:srgbClr val="161B26"/>
                </a:solidFill>
                <a:latin typeface="Arial"/>
              </a:rPr>
              <a:t>Which data agents may read, write or generate</a:t>
            </a:r>
          </a:p>
        </p:txBody>
      </p:sp>
      <p:sp>
        <p:nvSpPr>
          <p:cNvPr id="14" name="Rectangle 13"/>
          <p:cNvSpPr/>
          <p:nvPr/>
        </p:nvSpPr>
        <p:spPr>
          <a:xfrm>
            <a:off x="777240" y="3261360"/>
            <a:ext cx="2977652"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3261360"/>
            <a:ext cx="2758196" cy="739140"/>
          </a:xfrm>
          <a:prstGeom prst="rect">
            <a:avLst/>
          </a:prstGeom>
          <a:noFill/>
        </p:spPr>
        <p:txBody>
          <a:bodyPr wrap="square" anchor="ctr">
            <a:spAutoFit/>
          </a:bodyPr>
          <a:lstStyle/>
          <a:p>
            <a:pPr algn="l">
              <a:spcAft>
                <a:spcPts val="400"/>
              </a:spcAft>
            </a:pPr>
            <a:r>
              <a:rPr sz="1150" b="1">
                <a:solidFill>
                  <a:srgbClr val="161B26"/>
                </a:solidFill>
                <a:latin typeface="Arial"/>
              </a:rPr>
              <a:t>Access &amp; identity</a:t>
            </a:r>
          </a:p>
        </p:txBody>
      </p:sp>
      <p:sp>
        <p:nvSpPr>
          <p:cNvPr id="16" name="Rectangle 15"/>
          <p:cNvSpPr/>
          <p:nvPr/>
        </p:nvSpPr>
        <p:spPr>
          <a:xfrm>
            <a:off x="3754892" y="3261360"/>
            <a:ext cx="7656819"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82908" y="3261360"/>
            <a:ext cx="7437363" cy="739140"/>
          </a:xfrm>
          <a:prstGeom prst="rect">
            <a:avLst/>
          </a:prstGeom>
          <a:noFill/>
        </p:spPr>
        <p:txBody>
          <a:bodyPr wrap="square" anchor="ctr">
            <a:spAutoFit/>
          </a:bodyPr>
          <a:lstStyle/>
          <a:p>
            <a:pPr algn="l">
              <a:spcAft>
                <a:spcPts val="400"/>
              </a:spcAft>
            </a:pPr>
            <a:r>
              <a:rPr sz="1150" b="0">
                <a:solidFill>
                  <a:srgbClr val="161B26"/>
                </a:solidFill>
                <a:latin typeface="Arial"/>
              </a:rPr>
              <a:t>Who and which agent identity may touch each asset</a:t>
            </a:r>
          </a:p>
        </p:txBody>
      </p:sp>
      <p:sp>
        <p:nvSpPr>
          <p:cNvPr id="18" name="Rectangle 17"/>
          <p:cNvSpPr/>
          <p:nvPr/>
        </p:nvSpPr>
        <p:spPr>
          <a:xfrm>
            <a:off x="777240" y="400050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4000500"/>
            <a:ext cx="2758196" cy="739140"/>
          </a:xfrm>
          <a:prstGeom prst="rect">
            <a:avLst/>
          </a:prstGeom>
          <a:noFill/>
        </p:spPr>
        <p:txBody>
          <a:bodyPr wrap="square" anchor="ctr">
            <a:spAutoFit/>
          </a:bodyPr>
          <a:lstStyle/>
          <a:p>
            <a:pPr algn="l">
              <a:spcAft>
                <a:spcPts val="400"/>
              </a:spcAft>
            </a:pPr>
            <a:r>
              <a:rPr sz="1150" b="1">
                <a:solidFill>
                  <a:srgbClr val="161B26"/>
                </a:solidFill>
                <a:latin typeface="Arial"/>
              </a:rPr>
              <a:t>Human approval</a:t>
            </a:r>
          </a:p>
        </p:txBody>
      </p:sp>
      <p:sp>
        <p:nvSpPr>
          <p:cNvPr id="20" name="Rectangle 19"/>
          <p:cNvSpPr/>
          <p:nvPr/>
        </p:nvSpPr>
        <p:spPr>
          <a:xfrm>
            <a:off x="3754892" y="4000500"/>
            <a:ext cx="7656819"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82908" y="4000500"/>
            <a:ext cx="7437363" cy="739140"/>
          </a:xfrm>
          <a:prstGeom prst="rect">
            <a:avLst/>
          </a:prstGeom>
          <a:noFill/>
        </p:spPr>
        <p:txBody>
          <a:bodyPr wrap="square" anchor="ctr">
            <a:spAutoFit/>
          </a:bodyPr>
          <a:lstStyle/>
          <a:p>
            <a:pPr algn="l">
              <a:spcAft>
                <a:spcPts val="400"/>
              </a:spcAft>
            </a:pPr>
            <a:r>
              <a:rPr sz="1150" b="0">
                <a:solidFill>
                  <a:srgbClr val="161B26"/>
                </a:solidFill>
                <a:latin typeface="Arial"/>
              </a:rPr>
              <a:t>Which changes need a person to approve before they happen</a:t>
            </a:r>
          </a:p>
        </p:txBody>
      </p:sp>
      <p:sp>
        <p:nvSpPr>
          <p:cNvPr id="22" name="Rectangle 21"/>
          <p:cNvSpPr/>
          <p:nvPr/>
        </p:nvSpPr>
        <p:spPr>
          <a:xfrm>
            <a:off x="777240" y="4739640"/>
            <a:ext cx="2977652"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4739640"/>
            <a:ext cx="2758196" cy="739140"/>
          </a:xfrm>
          <a:prstGeom prst="rect">
            <a:avLst/>
          </a:prstGeom>
          <a:noFill/>
        </p:spPr>
        <p:txBody>
          <a:bodyPr wrap="square" anchor="ctr">
            <a:spAutoFit/>
          </a:bodyPr>
          <a:lstStyle/>
          <a:p>
            <a:pPr algn="l">
              <a:spcAft>
                <a:spcPts val="400"/>
              </a:spcAft>
            </a:pPr>
            <a:r>
              <a:rPr sz="1150" b="1">
                <a:solidFill>
                  <a:srgbClr val="161B26"/>
                </a:solidFill>
                <a:latin typeface="Arial"/>
              </a:rPr>
              <a:t>Audit</a:t>
            </a:r>
          </a:p>
        </p:txBody>
      </p:sp>
      <p:sp>
        <p:nvSpPr>
          <p:cNvPr id="24" name="Rectangle 23"/>
          <p:cNvSpPr/>
          <p:nvPr/>
        </p:nvSpPr>
        <p:spPr>
          <a:xfrm>
            <a:off x="3754892" y="4739640"/>
            <a:ext cx="7656819"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82908" y="4739640"/>
            <a:ext cx="7437363" cy="739140"/>
          </a:xfrm>
          <a:prstGeom prst="rect">
            <a:avLst/>
          </a:prstGeom>
          <a:noFill/>
        </p:spPr>
        <p:txBody>
          <a:bodyPr wrap="square" anchor="ctr">
            <a:spAutoFit/>
          </a:bodyPr>
          <a:lstStyle/>
          <a:p>
            <a:pPr algn="l">
              <a:spcAft>
                <a:spcPts val="400"/>
              </a:spcAft>
            </a:pPr>
            <a:r>
              <a:rPr sz="1150" b="0">
                <a:solidFill>
                  <a:srgbClr val="161B26"/>
                </a:solidFill>
                <a:latin typeface="Arial"/>
              </a:rPr>
              <a:t>What is logged, and who reviews it</a:t>
            </a:r>
          </a:p>
        </p:txBody>
      </p:sp>
      <p:sp>
        <p:nvSpPr>
          <p:cNvPr id="26" name="Rectangle 25"/>
          <p:cNvSpPr/>
          <p:nvPr/>
        </p:nvSpPr>
        <p:spPr>
          <a:xfrm>
            <a:off x="777240" y="5478780"/>
            <a:ext cx="2977652"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5256" y="5478780"/>
            <a:ext cx="2758196" cy="739140"/>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28" name="Rectangle 27"/>
          <p:cNvSpPr/>
          <p:nvPr/>
        </p:nvSpPr>
        <p:spPr>
          <a:xfrm>
            <a:off x="3754892" y="5478780"/>
            <a:ext cx="7656819"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82908" y="5478780"/>
            <a:ext cx="7437363" cy="739140"/>
          </a:xfrm>
          <a:prstGeom prst="rect">
            <a:avLst/>
          </a:prstGeom>
          <a:noFill/>
        </p:spPr>
        <p:txBody>
          <a:bodyPr wrap="square" anchor="ctr">
            <a:spAutoFit/>
          </a:bodyPr>
          <a:lstStyle/>
          <a:p>
            <a:pPr algn="l">
              <a:spcAft>
                <a:spcPts val="400"/>
              </a:spcAft>
            </a:pPr>
            <a:r>
              <a:rPr sz="1150" b="0">
                <a:solidFill>
                  <a:srgbClr val="161B26"/>
                </a:solidFill>
                <a:latin typeface="Arial"/>
              </a:rPr>
              <a:t>The named owner for each agent and dataset</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S40, S41</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7-Part AI Data Governance Policy Framework</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3190341" cy="46634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2970885" cy="466344"/>
          </a:xfrm>
          <a:prstGeom prst="rect">
            <a:avLst/>
          </a:prstGeom>
          <a:noFill/>
        </p:spPr>
        <p:txBody>
          <a:bodyPr wrap="square" anchor="ctr">
            <a:spAutoFit/>
          </a:bodyPr>
          <a:lstStyle/>
          <a:p>
            <a:pPr algn="l">
              <a:spcAft>
                <a:spcPts val="400"/>
              </a:spcAft>
            </a:pPr>
            <a:r>
              <a:rPr sz="1250" b="1">
                <a:solidFill>
                  <a:srgbClr val="FFFFFF"/>
                </a:solidFill>
                <a:latin typeface="Arial"/>
              </a:rPr>
              <a:t>Section</a:t>
            </a:r>
          </a:p>
        </p:txBody>
      </p:sp>
      <p:sp>
        <p:nvSpPr>
          <p:cNvPr id="8" name="Rectangle 7"/>
          <p:cNvSpPr/>
          <p:nvPr/>
        </p:nvSpPr>
        <p:spPr>
          <a:xfrm>
            <a:off x="3967581" y="1783080"/>
            <a:ext cx="7444130" cy="46634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95597" y="1783080"/>
            <a:ext cx="7224674" cy="466344"/>
          </a:xfrm>
          <a:prstGeom prst="rect">
            <a:avLst/>
          </a:prstGeom>
          <a:noFill/>
        </p:spPr>
        <p:txBody>
          <a:bodyPr wrap="square" anchor="ctr">
            <a:spAutoFit/>
          </a:bodyPr>
          <a:lstStyle/>
          <a:p>
            <a:pPr algn="l">
              <a:spcAft>
                <a:spcPts val="400"/>
              </a:spcAft>
            </a:pPr>
            <a:r>
              <a:rPr sz="1250" b="1">
                <a:solidFill>
                  <a:srgbClr val="FFFFFF"/>
                </a:solidFill>
                <a:latin typeface="Arial"/>
              </a:rPr>
              <a:t>What it covers</a:t>
            </a:r>
          </a:p>
        </p:txBody>
      </p:sp>
      <p:sp>
        <p:nvSpPr>
          <p:cNvPr id="10" name="Rectangle 9"/>
          <p:cNvSpPr/>
          <p:nvPr/>
        </p:nvSpPr>
        <p:spPr>
          <a:xfrm>
            <a:off x="777240" y="2249424"/>
            <a:ext cx="3190341" cy="46634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249424"/>
            <a:ext cx="2970885" cy="466344"/>
          </a:xfrm>
          <a:prstGeom prst="rect">
            <a:avLst/>
          </a:prstGeom>
          <a:noFill/>
        </p:spPr>
        <p:txBody>
          <a:bodyPr wrap="square" anchor="ctr">
            <a:spAutoFit/>
          </a:bodyPr>
          <a:lstStyle/>
          <a:p>
            <a:pPr algn="l">
              <a:spcAft>
                <a:spcPts val="400"/>
              </a:spcAft>
            </a:pPr>
            <a:r>
              <a:rPr sz="1150" b="1">
                <a:solidFill>
                  <a:srgbClr val="161B26"/>
                </a:solidFill>
                <a:latin typeface="Arial"/>
              </a:rPr>
              <a:t>1 · Scope</a:t>
            </a:r>
          </a:p>
        </p:txBody>
      </p:sp>
      <p:sp>
        <p:nvSpPr>
          <p:cNvPr id="12" name="Rectangle 11"/>
          <p:cNvSpPr/>
          <p:nvPr/>
        </p:nvSpPr>
        <p:spPr>
          <a:xfrm>
            <a:off x="3967581" y="2249424"/>
            <a:ext cx="7444130" cy="46634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95597" y="2249424"/>
            <a:ext cx="7224674" cy="466344"/>
          </a:xfrm>
          <a:prstGeom prst="rect">
            <a:avLst/>
          </a:prstGeom>
          <a:noFill/>
        </p:spPr>
        <p:txBody>
          <a:bodyPr wrap="square" anchor="ctr">
            <a:spAutoFit/>
          </a:bodyPr>
          <a:lstStyle/>
          <a:p>
            <a:pPr algn="l">
              <a:spcAft>
                <a:spcPts val="400"/>
              </a:spcAft>
            </a:pPr>
            <a:r>
              <a:rPr sz="1150" b="0">
                <a:solidFill>
                  <a:srgbClr val="161B26"/>
                </a:solidFill>
                <a:latin typeface="Arial"/>
              </a:rPr>
              <a:t>The AI systems, agents and data assets the policy covers</a:t>
            </a:r>
          </a:p>
        </p:txBody>
      </p:sp>
      <p:sp>
        <p:nvSpPr>
          <p:cNvPr id="14" name="Rectangle 13"/>
          <p:cNvSpPr/>
          <p:nvPr/>
        </p:nvSpPr>
        <p:spPr>
          <a:xfrm>
            <a:off x="777240" y="2715768"/>
            <a:ext cx="3190341" cy="4663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2715768"/>
            <a:ext cx="2970885" cy="466344"/>
          </a:xfrm>
          <a:prstGeom prst="rect">
            <a:avLst/>
          </a:prstGeom>
          <a:noFill/>
        </p:spPr>
        <p:txBody>
          <a:bodyPr wrap="square" anchor="ctr">
            <a:spAutoFit/>
          </a:bodyPr>
          <a:lstStyle/>
          <a:p>
            <a:pPr algn="l">
              <a:spcAft>
                <a:spcPts val="400"/>
              </a:spcAft>
            </a:pPr>
            <a:r>
              <a:rPr sz="1150" b="1">
                <a:solidFill>
                  <a:srgbClr val="161B26"/>
                </a:solidFill>
                <a:latin typeface="Arial"/>
              </a:rPr>
              <a:t>2 · Roles</a:t>
            </a:r>
          </a:p>
        </p:txBody>
      </p:sp>
      <p:sp>
        <p:nvSpPr>
          <p:cNvPr id="16" name="Rectangle 15"/>
          <p:cNvSpPr/>
          <p:nvPr/>
        </p:nvSpPr>
        <p:spPr>
          <a:xfrm>
            <a:off x="3967581" y="2715768"/>
            <a:ext cx="7444130" cy="4663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95597" y="2715768"/>
            <a:ext cx="7224674" cy="466344"/>
          </a:xfrm>
          <a:prstGeom prst="rect">
            <a:avLst/>
          </a:prstGeom>
          <a:noFill/>
        </p:spPr>
        <p:txBody>
          <a:bodyPr wrap="square" anchor="ctr">
            <a:spAutoFit/>
          </a:bodyPr>
          <a:lstStyle/>
          <a:p>
            <a:pPr algn="l">
              <a:spcAft>
                <a:spcPts val="400"/>
              </a:spcAft>
            </a:pPr>
            <a:r>
              <a:rPr sz="1150" b="0">
                <a:solidFill>
                  <a:srgbClr val="161B26"/>
                </a:solidFill>
                <a:latin typeface="Arial"/>
              </a:rPr>
              <a:t>Data Owner, Agent Owner, Approver, Reviewer — every role a named human</a:t>
            </a:r>
          </a:p>
        </p:txBody>
      </p:sp>
      <p:sp>
        <p:nvSpPr>
          <p:cNvPr id="18" name="Rectangle 17"/>
          <p:cNvSpPr/>
          <p:nvPr/>
        </p:nvSpPr>
        <p:spPr>
          <a:xfrm>
            <a:off x="777240" y="3182112"/>
            <a:ext cx="3190341" cy="46634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3182112"/>
            <a:ext cx="2970885" cy="466344"/>
          </a:xfrm>
          <a:prstGeom prst="rect">
            <a:avLst/>
          </a:prstGeom>
          <a:noFill/>
        </p:spPr>
        <p:txBody>
          <a:bodyPr wrap="square" anchor="ctr">
            <a:spAutoFit/>
          </a:bodyPr>
          <a:lstStyle/>
          <a:p>
            <a:pPr algn="l">
              <a:spcAft>
                <a:spcPts val="400"/>
              </a:spcAft>
            </a:pPr>
            <a:r>
              <a:rPr sz="1150" b="1">
                <a:solidFill>
                  <a:srgbClr val="161B26"/>
                </a:solidFill>
                <a:latin typeface="Arial"/>
              </a:rPr>
              <a:t>3 · Principles</a:t>
            </a:r>
          </a:p>
        </p:txBody>
      </p:sp>
      <p:sp>
        <p:nvSpPr>
          <p:cNvPr id="20" name="Rectangle 19"/>
          <p:cNvSpPr/>
          <p:nvPr/>
        </p:nvSpPr>
        <p:spPr>
          <a:xfrm>
            <a:off x="3967581" y="3182112"/>
            <a:ext cx="7444130" cy="46634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95597" y="3182112"/>
            <a:ext cx="7224674" cy="466344"/>
          </a:xfrm>
          <a:prstGeom prst="rect">
            <a:avLst/>
          </a:prstGeom>
          <a:noFill/>
        </p:spPr>
        <p:txBody>
          <a:bodyPr wrap="square" anchor="ctr">
            <a:spAutoFit/>
          </a:bodyPr>
          <a:lstStyle/>
          <a:p>
            <a:pPr algn="l">
              <a:spcAft>
                <a:spcPts val="400"/>
              </a:spcAft>
            </a:pPr>
            <a:r>
              <a:rPr sz="1150" b="0">
                <a:solidFill>
                  <a:srgbClr val="161B26"/>
                </a:solidFill>
                <a:latin typeface="Arial"/>
              </a:rPr>
              <a:t>Accuracy, purpose limitation, protection, provenance, traceability, human accountability</a:t>
            </a:r>
          </a:p>
        </p:txBody>
      </p:sp>
      <p:sp>
        <p:nvSpPr>
          <p:cNvPr id="22" name="Rectangle 21"/>
          <p:cNvSpPr/>
          <p:nvPr/>
        </p:nvSpPr>
        <p:spPr>
          <a:xfrm>
            <a:off x="777240" y="3648456"/>
            <a:ext cx="3190341" cy="4663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3648456"/>
            <a:ext cx="2970885" cy="466344"/>
          </a:xfrm>
          <a:prstGeom prst="rect">
            <a:avLst/>
          </a:prstGeom>
          <a:noFill/>
        </p:spPr>
        <p:txBody>
          <a:bodyPr wrap="square" anchor="ctr">
            <a:spAutoFit/>
          </a:bodyPr>
          <a:lstStyle/>
          <a:p>
            <a:pPr algn="l">
              <a:spcAft>
                <a:spcPts val="400"/>
              </a:spcAft>
            </a:pPr>
            <a:r>
              <a:rPr sz="1150" b="1">
                <a:solidFill>
                  <a:srgbClr val="161B26"/>
                </a:solidFill>
                <a:latin typeface="Arial"/>
              </a:rPr>
              <a:t>4 · Rules</a:t>
            </a:r>
          </a:p>
        </p:txBody>
      </p:sp>
      <p:sp>
        <p:nvSpPr>
          <p:cNvPr id="24" name="Rectangle 23"/>
          <p:cNvSpPr/>
          <p:nvPr/>
        </p:nvSpPr>
        <p:spPr>
          <a:xfrm>
            <a:off x="3967581" y="3648456"/>
            <a:ext cx="7444130" cy="4663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95597" y="3648456"/>
            <a:ext cx="7224674" cy="466344"/>
          </a:xfrm>
          <a:prstGeom prst="rect">
            <a:avLst/>
          </a:prstGeom>
          <a:noFill/>
        </p:spPr>
        <p:txBody>
          <a:bodyPr wrap="square" anchor="ctr">
            <a:spAutoFit/>
          </a:bodyPr>
          <a:lstStyle/>
          <a:p>
            <a:pPr algn="l">
              <a:spcAft>
                <a:spcPts val="400"/>
              </a:spcAft>
            </a:pPr>
            <a:r>
              <a:rPr sz="1150" b="0">
                <a:solidFill>
                  <a:srgbClr val="161B26"/>
                </a:solidFill>
                <a:latin typeface="Arial"/>
              </a:rPr>
              <a:t>What agents may read, write and generate; approvals; retention</a:t>
            </a:r>
          </a:p>
        </p:txBody>
      </p:sp>
      <p:sp>
        <p:nvSpPr>
          <p:cNvPr id="26" name="Rectangle 25"/>
          <p:cNvSpPr/>
          <p:nvPr/>
        </p:nvSpPr>
        <p:spPr>
          <a:xfrm>
            <a:off x="777240" y="4114800"/>
            <a:ext cx="3190341" cy="46634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5256" y="4114800"/>
            <a:ext cx="2970885" cy="466344"/>
          </a:xfrm>
          <a:prstGeom prst="rect">
            <a:avLst/>
          </a:prstGeom>
          <a:noFill/>
        </p:spPr>
        <p:txBody>
          <a:bodyPr wrap="square" anchor="ctr">
            <a:spAutoFit/>
          </a:bodyPr>
          <a:lstStyle/>
          <a:p>
            <a:pPr algn="l">
              <a:spcAft>
                <a:spcPts val="400"/>
              </a:spcAft>
            </a:pPr>
            <a:r>
              <a:rPr sz="1150" b="1">
                <a:solidFill>
                  <a:srgbClr val="161B26"/>
                </a:solidFill>
                <a:latin typeface="Arial"/>
              </a:rPr>
              <a:t>5 · Audit &amp; Logging</a:t>
            </a:r>
          </a:p>
        </p:txBody>
      </p:sp>
      <p:sp>
        <p:nvSpPr>
          <p:cNvPr id="28" name="Rectangle 27"/>
          <p:cNvSpPr/>
          <p:nvPr/>
        </p:nvSpPr>
        <p:spPr>
          <a:xfrm>
            <a:off x="3967581" y="4114800"/>
            <a:ext cx="7444130" cy="46634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095597" y="4114800"/>
            <a:ext cx="7224674" cy="466344"/>
          </a:xfrm>
          <a:prstGeom prst="rect">
            <a:avLst/>
          </a:prstGeom>
          <a:noFill/>
        </p:spPr>
        <p:txBody>
          <a:bodyPr wrap="square" anchor="ctr">
            <a:spAutoFit/>
          </a:bodyPr>
          <a:lstStyle/>
          <a:p>
            <a:pPr algn="l">
              <a:spcAft>
                <a:spcPts val="400"/>
              </a:spcAft>
            </a:pPr>
            <a:r>
              <a:rPr sz="1150" b="0">
                <a:solidFill>
                  <a:srgbClr val="161B26"/>
                </a:solidFill>
                <a:latin typeface="Arial"/>
              </a:rPr>
              <a:t>What each agent did, who reviews the logs and how often</a:t>
            </a:r>
          </a:p>
        </p:txBody>
      </p:sp>
      <p:sp>
        <p:nvSpPr>
          <p:cNvPr id="30" name="Rectangle 29"/>
          <p:cNvSpPr/>
          <p:nvPr/>
        </p:nvSpPr>
        <p:spPr>
          <a:xfrm>
            <a:off x="777240" y="4581144"/>
            <a:ext cx="3190341" cy="4663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5256" y="4581144"/>
            <a:ext cx="2970885" cy="466344"/>
          </a:xfrm>
          <a:prstGeom prst="rect">
            <a:avLst/>
          </a:prstGeom>
          <a:noFill/>
        </p:spPr>
        <p:txBody>
          <a:bodyPr wrap="square" anchor="ctr">
            <a:spAutoFit/>
          </a:bodyPr>
          <a:lstStyle/>
          <a:p>
            <a:pPr algn="l">
              <a:spcAft>
                <a:spcPts val="400"/>
              </a:spcAft>
            </a:pPr>
            <a:r>
              <a:rPr sz="1150" b="1">
                <a:solidFill>
                  <a:srgbClr val="161B26"/>
                </a:solidFill>
                <a:latin typeface="Arial"/>
              </a:rPr>
              <a:t>6 · Accountability</a:t>
            </a:r>
          </a:p>
        </p:txBody>
      </p:sp>
      <p:sp>
        <p:nvSpPr>
          <p:cNvPr id="32" name="Rectangle 31"/>
          <p:cNvSpPr/>
          <p:nvPr/>
        </p:nvSpPr>
        <p:spPr>
          <a:xfrm>
            <a:off x="3967581" y="4581144"/>
            <a:ext cx="7444130" cy="4663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095597" y="4581144"/>
            <a:ext cx="7224674" cy="466344"/>
          </a:xfrm>
          <a:prstGeom prst="rect">
            <a:avLst/>
          </a:prstGeom>
          <a:noFill/>
        </p:spPr>
        <p:txBody>
          <a:bodyPr wrap="square" anchor="ctr">
            <a:spAutoFit/>
          </a:bodyPr>
          <a:lstStyle/>
          <a:p>
            <a:pPr algn="l">
              <a:spcAft>
                <a:spcPts val="400"/>
              </a:spcAft>
            </a:pPr>
            <a:r>
              <a:rPr sz="1150" b="0">
                <a:solidFill>
                  <a:srgbClr val="161B26"/>
                </a:solidFill>
                <a:latin typeface="Arial"/>
              </a:rPr>
              <a:t>A named human is answerable — never the AI</a:t>
            </a:r>
          </a:p>
        </p:txBody>
      </p:sp>
      <p:sp>
        <p:nvSpPr>
          <p:cNvPr id="34" name="Rectangle 33"/>
          <p:cNvSpPr/>
          <p:nvPr/>
        </p:nvSpPr>
        <p:spPr>
          <a:xfrm>
            <a:off x="777240" y="5047488"/>
            <a:ext cx="3190341" cy="46634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5256" y="5047488"/>
            <a:ext cx="2970885" cy="466344"/>
          </a:xfrm>
          <a:prstGeom prst="rect">
            <a:avLst/>
          </a:prstGeom>
          <a:noFill/>
        </p:spPr>
        <p:txBody>
          <a:bodyPr wrap="square" anchor="ctr">
            <a:spAutoFit/>
          </a:bodyPr>
          <a:lstStyle/>
          <a:p>
            <a:pPr algn="l">
              <a:spcAft>
                <a:spcPts val="400"/>
              </a:spcAft>
            </a:pPr>
            <a:r>
              <a:rPr sz="1150" b="1">
                <a:solidFill>
                  <a:srgbClr val="161B26"/>
                </a:solidFill>
                <a:latin typeface="Arial"/>
              </a:rPr>
              <a:t>7 · Review</a:t>
            </a:r>
          </a:p>
        </p:txBody>
      </p:sp>
      <p:sp>
        <p:nvSpPr>
          <p:cNvPr id="36" name="Rectangle 35"/>
          <p:cNvSpPr/>
          <p:nvPr/>
        </p:nvSpPr>
        <p:spPr>
          <a:xfrm>
            <a:off x="3967581" y="5047488"/>
            <a:ext cx="7444130" cy="46634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095597" y="5047488"/>
            <a:ext cx="7224674" cy="466344"/>
          </a:xfrm>
          <a:prstGeom prst="rect">
            <a:avLst/>
          </a:prstGeom>
          <a:noFill/>
        </p:spPr>
        <p:txBody>
          <a:bodyPr wrap="square" anchor="ctr">
            <a:spAutoFit/>
          </a:bodyPr>
          <a:lstStyle/>
          <a:p>
            <a:pPr algn="l">
              <a:spcAft>
                <a:spcPts val="400"/>
              </a:spcAft>
            </a:pPr>
            <a:r>
              <a:rPr sz="1150" b="0">
                <a:solidFill>
                  <a:srgbClr val="161B26"/>
                </a:solidFill>
                <a:latin typeface="Arial"/>
              </a:rPr>
              <a:t>Review cadence, the review owner, and early-review triggers</a:t>
            </a:r>
          </a:p>
        </p:txBody>
      </p:sp>
      <p:sp>
        <p:nvSpPr>
          <p:cNvPr id="38" name="TextBox 37"/>
          <p:cNvSpPr txBox="1"/>
          <p:nvPr/>
        </p:nvSpPr>
        <p:spPr>
          <a:xfrm>
            <a:off x="777240" y="5632704"/>
            <a:ext cx="10698480" cy="438912"/>
          </a:xfrm>
          <a:prstGeom prst="rect">
            <a:avLst/>
          </a:prstGeom>
          <a:noFill/>
        </p:spPr>
        <p:txBody>
          <a:bodyPr wrap="square" anchor="t">
            <a:spAutoFit/>
          </a:bodyPr>
          <a:lstStyle/>
          <a:p>
            <a:pPr algn="ctr">
              <a:spcAft>
                <a:spcPts val="400"/>
              </a:spcAft>
            </a:pPr>
            <a:r>
              <a:rPr sz="1180" b="0">
                <a:solidFill>
                  <a:srgbClr val="5B6372"/>
                </a:solidFill>
                <a:latin typeface="Arial"/>
              </a:rPr>
              <a:t>The structure of the sample policy in the activity pack — aligned in spirit with the IMDA Model AI Governance Framework and the PDPA.</a:t>
            </a:r>
          </a:p>
        </p:txBody>
      </p:sp>
      <p:sp>
        <p:nvSpPr>
          <p:cNvPr id="39" name="TextBox 3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S40, S41</a:t>
            </a:r>
          </a:p>
        </p:txBody>
      </p:sp>
      <p:sp>
        <p:nvSpPr>
          <p:cNvPr id="40" name="TextBox 3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1" name="TextBox 4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2" name="TextBox 4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Sample Policy in Action — Sunset Bay Resort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1701515" cy="74615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1482059" cy="746150"/>
          </a:xfrm>
          <a:prstGeom prst="rect">
            <a:avLst/>
          </a:prstGeom>
          <a:noFill/>
        </p:spPr>
        <p:txBody>
          <a:bodyPr wrap="square" anchor="ctr">
            <a:spAutoFit/>
          </a:bodyPr>
          <a:lstStyle/>
          <a:p>
            <a:pPr algn="l">
              <a:spcAft>
                <a:spcPts val="400"/>
              </a:spcAft>
            </a:pPr>
            <a:r>
              <a:rPr sz="1250" b="1">
                <a:solidFill>
                  <a:srgbClr val="FFFFFF"/>
                </a:solidFill>
                <a:latin typeface="Arial"/>
              </a:rPr>
              <a:t>Section</a:t>
            </a:r>
          </a:p>
        </p:txBody>
      </p:sp>
      <p:sp>
        <p:nvSpPr>
          <p:cNvPr id="8" name="Rectangle 7"/>
          <p:cNvSpPr/>
          <p:nvPr/>
        </p:nvSpPr>
        <p:spPr>
          <a:xfrm>
            <a:off x="2478755" y="1783080"/>
            <a:ext cx="8932956" cy="74615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06771" y="1783080"/>
            <a:ext cx="8713500" cy="746150"/>
          </a:xfrm>
          <a:prstGeom prst="rect">
            <a:avLst/>
          </a:prstGeom>
          <a:noFill/>
        </p:spPr>
        <p:txBody>
          <a:bodyPr wrap="square" anchor="ctr">
            <a:spAutoFit/>
          </a:bodyPr>
          <a:lstStyle/>
          <a:p>
            <a:pPr algn="l">
              <a:spcAft>
                <a:spcPts val="400"/>
              </a:spcAft>
            </a:pPr>
            <a:r>
              <a:rPr sz="1250" b="1">
                <a:solidFill>
                  <a:srgbClr val="FFFFFF"/>
                </a:solidFill>
                <a:latin typeface="Arial"/>
              </a:rPr>
              <a:t>Example from the sample policy (a fictional resort)</a:t>
            </a:r>
          </a:p>
        </p:txBody>
      </p:sp>
      <p:sp>
        <p:nvSpPr>
          <p:cNvPr id="10" name="Rectangle 9"/>
          <p:cNvSpPr/>
          <p:nvPr/>
        </p:nvSpPr>
        <p:spPr>
          <a:xfrm>
            <a:off x="777240" y="2529230"/>
            <a:ext cx="1701515" cy="7461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529230"/>
            <a:ext cx="1482059" cy="746150"/>
          </a:xfrm>
          <a:prstGeom prst="rect">
            <a:avLst/>
          </a:prstGeom>
          <a:noFill/>
        </p:spPr>
        <p:txBody>
          <a:bodyPr wrap="square" anchor="ctr">
            <a:spAutoFit/>
          </a:bodyPr>
          <a:lstStyle/>
          <a:p>
            <a:pPr algn="l">
              <a:spcAft>
                <a:spcPts val="400"/>
              </a:spcAft>
            </a:pPr>
            <a:r>
              <a:rPr sz="1150" b="1">
                <a:solidFill>
                  <a:srgbClr val="161B26"/>
                </a:solidFill>
                <a:latin typeface="Arial"/>
              </a:rPr>
              <a:t>Scope</a:t>
            </a:r>
          </a:p>
        </p:txBody>
      </p:sp>
      <p:sp>
        <p:nvSpPr>
          <p:cNvPr id="12" name="Rectangle 11"/>
          <p:cNvSpPr/>
          <p:nvPr/>
        </p:nvSpPr>
        <p:spPr>
          <a:xfrm>
            <a:off x="2478755" y="2529230"/>
            <a:ext cx="8932956" cy="7461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06771" y="2529230"/>
            <a:ext cx="8713500" cy="746150"/>
          </a:xfrm>
          <a:prstGeom prst="rect">
            <a:avLst/>
          </a:prstGeom>
          <a:noFill/>
        </p:spPr>
        <p:txBody>
          <a:bodyPr wrap="square" anchor="ctr">
            <a:spAutoFit/>
          </a:bodyPr>
          <a:lstStyle/>
          <a:p>
            <a:pPr algn="l">
              <a:spcAft>
                <a:spcPts val="400"/>
              </a:spcAft>
            </a:pPr>
            <a:r>
              <a:rPr sz="1150" b="0">
                <a:solidFill>
                  <a:srgbClr val="161B26"/>
                </a:solidFill>
                <a:latin typeface="Arial"/>
              </a:rPr>
              <a:t>The WhatsApp guest-support agent, the marketing-analysis agent and the website chatbot — plus the guest bookings, contact details and marketing spreadsheets they touch</a:t>
            </a:r>
          </a:p>
        </p:txBody>
      </p:sp>
      <p:sp>
        <p:nvSpPr>
          <p:cNvPr id="14" name="Rectangle 13"/>
          <p:cNvSpPr/>
          <p:nvPr/>
        </p:nvSpPr>
        <p:spPr>
          <a:xfrm>
            <a:off x="777240" y="3275380"/>
            <a:ext cx="1701515" cy="7461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3275380"/>
            <a:ext cx="1482059" cy="746150"/>
          </a:xfrm>
          <a:prstGeom prst="rect">
            <a:avLst/>
          </a:prstGeom>
          <a:noFill/>
        </p:spPr>
        <p:txBody>
          <a:bodyPr wrap="square" anchor="ctr">
            <a:spAutoFit/>
          </a:bodyPr>
          <a:lstStyle/>
          <a:p>
            <a:pPr algn="l">
              <a:spcAft>
                <a:spcPts val="400"/>
              </a:spcAft>
            </a:pPr>
            <a:r>
              <a:rPr sz="1150" b="1">
                <a:solidFill>
                  <a:srgbClr val="161B26"/>
                </a:solidFill>
                <a:latin typeface="Arial"/>
              </a:rPr>
              <a:t>Roles</a:t>
            </a:r>
          </a:p>
        </p:txBody>
      </p:sp>
      <p:sp>
        <p:nvSpPr>
          <p:cNvPr id="16" name="Rectangle 15"/>
          <p:cNvSpPr/>
          <p:nvPr/>
        </p:nvSpPr>
        <p:spPr>
          <a:xfrm>
            <a:off x="2478755" y="3275380"/>
            <a:ext cx="8932956" cy="7461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6771" y="3275380"/>
            <a:ext cx="8713500" cy="746150"/>
          </a:xfrm>
          <a:prstGeom prst="rect">
            <a:avLst/>
          </a:prstGeom>
          <a:noFill/>
        </p:spPr>
        <p:txBody>
          <a:bodyPr wrap="square" anchor="ctr">
            <a:spAutoFit/>
          </a:bodyPr>
          <a:lstStyle/>
          <a:p>
            <a:pPr algn="l">
              <a:spcAft>
                <a:spcPts val="400"/>
              </a:spcAft>
            </a:pPr>
            <a:r>
              <a:rPr sz="1150" b="0">
                <a:solidFill>
                  <a:srgbClr val="161B26"/>
                </a:solidFill>
                <a:latin typeface="Arial"/>
              </a:rPr>
              <a:t>Data Owner — Front Office Manager · Agent Owner — Marketing Manager · Approver — General Manager · Reviewer — Duty Supervisor</a:t>
            </a:r>
          </a:p>
        </p:txBody>
      </p:sp>
      <p:sp>
        <p:nvSpPr>
          <p:cNvPr id="18" name="Rectangle 17"/>
          <p:cNvSpPr/>
          <p:nvPr/>
        </p:nvSpPr>
        <p:spPr>
          <a:xfrm>
            <a:off x="777240" y="4021530"/>
            <a:ext cx="1701515" cy="7461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4021530"/>
            <a:ext cx="1482059" cy="746150"/>
          </a:xfrm>
          <a:prstGeom prst="rect">
            <a:avLst/>
          </a:prstGeom>
          <a:noFill/>
        </p:spPr>
        <p:txBody>
          <a:bodyPr wrap="square" anchor="ctr">
            <a:spAutoFit/>
          </a:bodyPr>
          <a:lstStyle/>
          <a:p>
            <a:pPr algn="l">
              <a:spcAft>
                <a:spcPts val="400"/>
              </a:spcAft>
            </a:pPr>
            <a:r>
              <a:rPr sz="1150" b="1">
                <a:solidFill>
                  <a:srgbClr val="161B26"/>
                </a:solidFill>
                <a:latin typeface="Arial"/>
              </a:rPr>
              <a:t>Rules</a:t>
            </a:r>
          </a:p>
        </p:txBody>
      </p:sp>
      <p:sp>
        <p:nvSpPr>
          <p:cNvPr id="20" name="Rectangle 19"/>
          <p:cNvSpPr/>
          <p:nvPr/>
        </p:nvSpPr>
        <p:spPr>
          <a:xfrm>
            <a:off x="2478755" y="4021530"/>
            <a:ext cx="8932956" cy="7461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606771" y="4021530"/>
            <a:ext cx="8713500" cy="746150"/>
          </a:xfrm>
          <a:prstGeom prst="rect">
            <a:avLst/>
          </a:prstGeom>
          <a:noFill/>
        </p:spPr>
        <p:txBody>
          <a:bodyPr wrap="square" anchor="ctr">
            <a:spAutoFit/>
          </a:bodyPr>
          <a:lstStyle/>
          <a:p>
            <a:pPr algn="l">
              <a:spcAft>
                <a:spcPts val="400"/>
              </a:spcAft>
            </a:pPr>
            <a:r>
              <a:rPr sz="1150" b="0">
                <a:solidFill>
                  <a:srgbClr val="161B26"/>
                </a:solidFill>
                <a:latin typeface="Arial"/>
              </a:rPr>
              <a:t>Agents may read one guest's booking only while serving that guest; may draft replies, reports and slides; any change to a live booking or price needs human approval first; chat logs kept 12 months, then deleted</a:t>
            </a:r>
          </a:p>
        </p:txBody>
      </p:sp>
      <p:sp>
        <p:nvSpPr>
          <p:cNvPr id="22" name="Rectangle 21"/>
          <p:cNvSpPr/>
          <p:nvPr/>
        </p:nvSpPr>
        <p:spPr>
          <a:xfrm>
            <a:off x="777240" y="4767680"/>
            <a:ext cx="1701515" cy="7461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4767680"/>
            <a:ext cx="1482059" cy="746150"/>
          </a:xfrm>
          <a:prstGeom prst="rect">
            <a:avLst/>
          </a:prstGeom>
          <a:noFill/>
        </p:spPr>
        <p:txBody>
          <a:bodyPr wrap="square" anchor="ctr">
            <a:spAutoFit/>
          </a:bodyPr>
          <a:lstStyle/>
          <a:p>
            <a:pPr algn="l">
              <a:spcAft>
                <a:spcPts val="400"/>
              </a:spcAft>
            </a:pPr>
            <a:r>
              <a:rPr sz="1150" b="1">
                <a:solidFill>
                  <a:srgbClr val="161B26"/>
                </a:solidFill>
                <a:latin typeface="Arial"/>
              </a:rPr>
              <a:t>Review</a:t>
            </a:r>
          </a:p>
        </p:txBody>
      </p:sp>
      <p:sp>
        <p:nvSpPr>
          <p:cNvPr id="24" name="Rectangle 23"/>
          <p:cNvSpPr/>
          <p:nvPr/>
        </p:nvSpPr>
        <p:spPr>
          <a:xfrm>
            <a:off x="2478755" y="4767680"/>
            <a:ext cx="8932956" cy="7461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606771" y="4767680"/>
            <a:ext cx="8713500" cy="746150"/>
          </a:xfrm>
          <a:prstGeom prst="rect">
            <a:avLst/>
          </a:prstGeom>
          <a:noFill/>
        </p:spPr>
        <p:txBody>
          <a:bodyPr wrap="square" anchor="ctr">
            <a:spAutoFit/>
          </a:bodyPr>
          <a:lstStyle/>
          <a:p>
            <a:pPr algn="l">
              <a:spcAft>
                <a:spcPts val="400"/>
              </a:spcAft>
            </a:pPr>
            <a:r>
              <a:rPr sz="1150" b="0">
                <a:solidFill>
                  <a:srgbClr val="161B26"/>
                </a:solidFill>
                <a:latin typeface="Arial"/>
              </a:rPr>
              <a:t>The policy is reviewed every 12 months — earlier when a new agent, skill or data type is added, or after any incident</a:t>
            </a:r>
          </a:p>
        </p:txBody>
      </p:sp>
      <p:sp>
        <p:nvSpPr>
          <p:cNvPr id="26" name="TextBox 25"/>
          <p:cNvSpPr txBox="1"/>
          <p:nvPr/>
        </p:nvSpPr>
        <p:spPr>
          <a:xfrm>
            <a:off x="777240" y="5632704"/>
            <a:ext cx="10698480" cy="438912"/>
          </a:xfrm>
          <a:prstGeom prst="rect">
            <a:avLst/>
          </a:prstGeom>
          <a:noFill/>
        </p:spPr>
        <p:txBody>
          <a:bodyPr wrap="square" anchor="t">
            <a:spAutoFit/>
          </a:bodyPr>
          <a:lstStyle/>
          <a:p>
            <a:pPr algn="ctr">
              <a:spcAft>
                <a:spcPts val="400"/>
              </a:spcAft>
            </a:pPr>
            <a:r>
              <a:rPr sz="1180" b="0">
                <a:solidFill>
                  <a:srgbClr val="5B6372"/>
                </a:solidFill>
                <a:latin typeface="Arial"/>
              </a:rPr>
              <a:t>From the sample AI Data Governance Policy in the activity pack — every detail is fictional.</a:t>
            </a:r>
          </a:p>
        </p:txBody>
      </p:sp>
      <p:sp>
        <p:nvSpPr>
          <p:cNvPr id="27" name="TextBox 26"/>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28" name="TextBox 27"/>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9" name="TextBox 28"/>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0" name="TextBox 29"/>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ACTIVITY 5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5 — Draft Your AI Data Governance Policy</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5 · 30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DC2626"/>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The generator website (ai-data-policy-generator.html) drafts the policy from your company details using the 7-part framework. Refine weak sections with the Hermes prompts in PROMPTS.md. Keep every detail fictional.</a:t>
            </a:r>
          </a:p>
        </p:txBody>
      </p:sp>
      <p:sp>
        <p:nvSpPr>
          <p:cNvPr id="13" name="Rectangle 12"/>
          <p:cNvSpPr/>
          <p:nvPr/>
        </p:nvSpPr>
        <p:spPr>
          <a:xfrm>
            <a:off x="777240"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04188"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4188"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Open the AI Data Policy Generator website</a:t>
            </a:r>
          </a:p>
        </p:txBody>
      </p:sp>
      <p:sp>
        <p:nvSpPr>
          <p:cNvPr id="17" name="TextBox 16"/>
          <p:cNvSpPr txBox="1"/>
          <p:nvPr/>
        </p:nvSpPr>
        <p:spPr>
          <a:xfrm>
            <a:off x="2743200"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18" name="Rectangle 17"/>
          <p:cNvSpPr/>
          <p:nvPr/>
        </p:nvSpPr>
        <p:spPr>
          <a:xfrm>
            <a:off x="2944368"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671316"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1316"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035808"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Enter your training API key</a:t>
            </a:r>
          </a:p>
        </p:txBody>
      </p:sp>
      <p:sp>
        <p:nvSpPr>
          <p:cNvPr id="22" name="TextBox 21"/>
          <p:cNvSpPr txBox="1"/>
          <p:nvPr/>
        </p:nvSpPr>
        <p:spPr>
          <a:xfrm>
            <a:off x="4910328"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3" name="Rectangle 22"/>
          <p:cNvSpPr/>
          <p:nvPr/>
        </p:nvSpPr>
        <p:spPr>
          <a:xfrm>
            <a:off x="5111496"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838444"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38444"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5202936"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Describe your fictional company &amp; its agents</a:t>
            </a:r>
          </a:p>
        </p:txBody>
      </p:sp>
      <p:sp>
        <p:nvSpPr>
          <p:cNvPr id="27" name="TextBox 26"/>
          <p:cNvSpPr txBox="1"/>
          <p:nvPr/>
        </p:nvSpPr>
        <p:spPr>
          <a:xfrm>
            <a:off x="7077456"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8" name="Rectangle 27"/>
          <p:cNvSpPr/>
          <p:nvPr/>
        </p:nvSpPr>
        <p:spPr>
          <a:xfrm>
            <a:off x="7278624"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005572"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5572"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7370064"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Generate the 7-part policy</a:t>
            </a:r>
          </a:p>
        </p:txBody>
      </p:sp>
      <p:sp>
        <p:nvSpPr>
          <p:cNvPr id="32" name="TextBox 31"/>
          <p:cNvSpPr txBox="1"/>
          <p:nvPr/>
        </p:nvSpPr>
        <p:spPr>
          <a:xfrm>
            <a:off x="9244584"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33" name="Rectangle 32"/>
          <p:cNvSpPr/>
          <p:nvPr/>
        </p:nvSpPr>
        <p:spPr>
          <a:xfrm>
            <a:off x="9445752"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172700"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72700"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6" name="TextBox 35"/>
          <p:cNvSpPr txBox="1"/>
          <p:nvPr/>
        </p:nvSpPr>
        <p:spPr>
          <a:xfrm>
            <a:off x="9537192"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Check, refine and download</a:t>
            </a:r>
          </a:p>
        </p:txBody>
      </p:sp>
      <p:sp>
        <p:nvSpPr>
          <p:cNvPr id="37" name="Rectangle 36"/>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DC2626"/>
                </a:solidFill>
                <a:latin typeface="Arial"/>
              </a:rPr>
              <a:t>DISCUSSION QUESTIONS</a:t>
            </a:r>
          </a:p>
        </p:txBody>
      </p:sp>
      <p:sp>
        <p:nvSpPr>
          <p:cNvPr id="39" name="TextBox 38"/>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Does every role belong to a named human — never the AI?</a:t>
            </a:r>
          </a:p>
          <a:p>
            <a:pPr>
              <a:spcAft>
                <a:spcPts val="300"/>
              </a:spcAft>
            </a:pPr>
            <a:r>
              <a:rPr sz="1050" b="0">
                <a:solidFill>
                  <a:srgbClr val="161B26"/>
                </a:solidFill>
                <a:latin typeface="Arial"/>
              </a:rPr>
              <a:t>•  Which changes to live data need human approval first?</a:t>
            </a:r>
          </a:p>
          <a:p>
            <a:pPr>
              <a:spcAft>
                <a:spcPts val="300"/>
              </a:spcAft>
            </a:pPr>
            <a:r>
              <a:rPr sz="1050" b="0">
                <a:solidFill>
                  <a:srgbClr val="161B26"/>
                </a:solidFill>
                <a:latin typeface="Arial"/>
              </a:rPr>
              <a:t>•  Where did your API key go when you typed it into the website?</a:t>
            </a:r>
          </a:p>
        </p:txBody>
      </p:sp>
      <p:sp>
        <p:nvSpPr>
          <p:cNvPr id="40" name="Rectangle 39"/>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43" name="TextBox 42"/>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A one-to-two page AI data governance policy (.md or PDF) for your fictional company</a:t>
            </a:r>
          </a:p>
        </p:txBody>
      </p:sp>
      <p:sp>
        <p:nvSpPr>
          <p:cNvPr id="44" name="TextBox 43"/>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LO3 · A1, A2  ·  Activity pack: activities/activity-5-data-governance-policy/  ·  Full step-by-step facilitation detail: Learner Guide</a:t>
            </a:r>
          </a:p>
        </p:txBody>
      </p:sp>
      <p:sp>
        <p:nvSpPr>
          <p:cNvPr id="45" name="TextBox 4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6" name="TextBox 4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7" name="TextBox 4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8" name="TextBox 4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Discussion Point 2 — Brand Damage from Generative AI</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The temptation</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AI can make an ad or a campaign in 24–48 hours, from about S$1,000</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The risk</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 cheap or misleading AI ad can read as low-effort and hurt the brand</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Who feels it most</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Big and luxury brands — the backlash is sharpest for them</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Case — Gen-AI Ads Flood Singapore, and Could Backfire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4679167" cy="7461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4459711" cy="746150"/>
          </a:xfrm>
          <a:prstGeom prst="rect">
            <a:avLst/>
          </a:prstGeom>
          <a:noFill/>
        </p:spPr>
        <p:txBody>
          <a:bodyPr wrap="square" anchor="ctr">
            <a:spAutoFit/>
          </a:bodyPr>
          <a:lstStyle/>
          <a:p>
            <a:pPr algn="l">
              <a:spcAft>
                <a:spcPts val="400"/>
              </a:spcAft>
            </a:pPr>
            <a:r>
              <a:rPr sz="1150" b="1">
                <a:solidFill>
                  <a:srgbClr val="FFFFFF"/>
                </a:solidFill>
                <a:latin typeface="Arial"/>
              </a:rPr>
              <a:t>What is happening</a:t>
            </a:r>
          </a:p>
        </p:txBody>
      </p:sp>
      <p:sp>
        <p:nvSpPr>
          <p:cNvPr id="8" name="Rectangle 7"/>
          <p:cNvSpPr/>
          <p:nvPr/>
        </p:nvSpPr>
        <p:spPr>
          <a:xfrm>
            <a:off x="5456407" y="1783080"/>
            <a:ext cx="5955304" cy="7461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4423" y="1783080"/>
            <a:ext cx="5735848" cy="746150"/>
          </a:xfrm>
          <a:prstGeom prst="rect">
            <a:avLst/>
          </a:prstGeom>
          <a:noFill/>
        </p:spPr>
        <p:txBody>
          <a:bodyPr wrap="square" anchor="ctr">
            <a:spAutoFit/>
          </a:bodyPr>
          <a:lstStyle/>
          <a:p>
            <a:pPr algn="l">
              <a:spcAft>
                <a:spcPts val="400"/>
              </a:spcAft>
            </a:pPr>
            <a:r>
              <a:rPr sz="1150" b="1">
                <a:solidFill>
                  <a:srgbClr val="FFFFFF"/>
                </a:solidFill>
                <a:latin typeface="Arial"/>
              </a:rPr>
              <a:t>The warning</a:t>
            </a:r>
          </a:p>
        </p:txBody>
      </p:sp>
      <p:sp>
        <p:nvSpPr>
          <p:cNvPr id="10" name="Rectangle 9"/>
          <p:cNvSpPr/>
          <p:nvPr/>
        </p:nvSpPr>
        <p:spPr>
          <a:xfrm>
            <a:off x="777240" y="2529230"/>
            <a:ext cx="4679167" cy="7461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529230"/>
            <a:ext cx="4459711" cy="746150"/>
          </a:xfrm>
          <a:prstGeom prst="rect">
            <a:avLst/>
          </a:prstGeom>
          <a:noFill/>
        </p:spPr>
        <p:txBody>
          <a:bodyPr wrap="square" anchor="ctr">
            <a:spAutoFit/>
          </a:bodyPr>
          <a:lstStyle/>
          <a:p>
            <a:pPr algn="l">
              <a:spcAft>
                <a:spcPts val="400"/>
              </a:spcAft>
            </a:pPr>
            <a:r>
              <a:rPr sz="1050" b="1">
                <a:solidFill>
                  <a:srgbClr val="161B26"/>
                </a:solidFill>
                <a:latin typeface="Arial"/>
              </a:rPr>
              <a:t>AI ad demand in Singapore is up 4–5x; half of advertisers already use gen-AI for video</a:t>
            </a:r>
          </a:p>
        </p:txBody>
      </p:sp>
      <p:sp>
        <p:nvSpPr>
          <p:cNvPr id="12" name="Rectangle 11"/>
          <p:cNvSpPr/>
          <p:nvPr/>
        </p:nvSpPr>
        <p:spPr>
          <a:xfrm>
            <a:off x="5456407" y="2529230"/>
            <a:ext cx="5955304" cy="7461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84423" y="2529230"/>
            <a:ext cx="5735848" cy="746150"/>
          </a:xfrm>
          <a:prstGeom prst="rect">
            <a:avLst/>
          </a:prstGeom>
          <a:noFill/>
        </p:spPr>
        <p:txBody>
          <a:bodyPr wrap="square" anchor="ctr">
            <a:spAutoFit/>
          </a:bodyPr>
          <a:lstStyle/>
          <a:p>
            <a:pPr algn="l">
              <a:spcAft>
                <a:spcPts val="400"/>
              </a:spcAft>
            </a:pPr>
            <a:r>
              <a:rPr sz="1050" b="0">
                <a:solidFill>
                  <a:srgbClr val="161B26"/>
                </a:solidFill>
                <a:latin typeface="Arial"/>
              </a:rPr>
              <a:t>'Using AI will not necessarily damage a brand. Using it poorly can.' (SMU Prof Sabine Benoit)</a:t>
            </a:r>
          </a:p>
        </p:txBody>
      </p:sp>
      <p:sp>
        <p:nvSpPr>
          <p:cNvPr id="14" name="Rectangle 13"/>
          <p:cNvSpPr/>
          <p:nvPr/>
        </p:nvSpPr>
        <p:spPr>
          <a:xfrm>
            <a:off x="777240" y="3275380"/>
            <a:ext cx="4679167" cy="7461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3275380"/>
            <a:ext cx="4459711" cy="746150"/>
          </a:xfrm>
          <a:prstGeom prst="rect">
            <a:avLst/>
          </a:prstGeom>
          <a:noFill/>
        </p:spPr>
        <p:txBody>
          <a:bodyPr wrap="square" anchor="ctr">
            <a:spAutoFit/>
          </a:bodyPr>
          <a:lstStyle/>
          <a:p>
            <a:pPr algn="l">
              <a:spcAft>
                <a:spcPts val="400"/>
              </a:spcAft>
            </a:pPr>
            <a:r>
              <a:rPr sz="1050" b="1">
                <a:solidFill>
                  <a:srgbClr val="161B26"/>
                </a:solidFill>
                <a:latin typeface="Arial"/>
              </a:rPr>
              <a:t>Virtual influencers and AI livestream avatars are replacing human hosts</a:t>
            </a:r>
          </a:p>
        </p:txBody>
      </p:sp>
      <p:sp>
        <p:nvSpPr>
          <p:cNvPr id="16" name="Rectangle 15"/>
          <p:cNvSpPr/>
          <p:nvPr/>
        </p:nvSpPr>
        <p:spPr>
          <a:xfrm>
            <a:off x="5456407" y="3275380"/>
            <a:ext cx="5955304" cy="7461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84423" y="3275380"/>
            <a:ext cx="5735848" cy="746150"/>
          </a:xfrm>
          <a:prstGeom prst="rect">
            <a:avLst/>
          </a:prstGeom>
          <a:noFill/>
        </p:spPr>
        <p:txBody>
          <a:bodyPr wrap="square" anchor="ctr">
            <a:spAutoFit/>
          </a:bodyPr>
          <a:lstStyle/>
          <a:p>
            <a:pPr algn="l">
              <a:spcAft>
                <a:spcPts val="400"/>
              </a:spcAft>
            </a:pPr>
            <a:r>
              <a:rPr sz="1050" b="0">
                <a:solidFill>
                  <a:srgbClr val="161B26"/>
                </a:solidFill>
                <a:latin typeface="Arial"/>
              </a:rPr>
              <a:t>Virtual influencers can 'give people the creeps' and breed mistrust (NUS Assoc Prof Ang Swee Hoon)</a:t>
            </a:r>
          </a:p>
        </p:txBody>
      </p:sp>
      <p:sp>
        <p:nvSpPr>
          <p:cNvPr id="18" name="Rectangle 17"/>
          <p:cNvSpPr/>
          <p:nvPr/>
        </p:nvSpPr>
        <p:spPr>
          <a:xfrm>
            <a:off x="777240" y="4021530"/>
            <a:ext cx="4679167" cy="7461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4021530"/>
            <a:ext cx="4459711" cy="746150"/>
          </a:xfrm>
          <a:prstGeom prst="rect">
            <a:avLst/>
          </a:prstGeom>
          <a:noFill/>
        </p:spPr>
        <p:txBody>
          <a:bodyPr wrap="square" anchor="ctr">
            <a:spAutoFit/>
          </a:bodyPr>
          <a:lstStyle/>
          <a:p>
            <a:pPr algn="l">
              <a:spcAft>
                <a:spcPts val="400"/>
              </a:spcAft>
            </a:pPr>
            <a:r>
              <a:rPr sz="1050" b="1">
                <a:solidFill>
                  <a:srgbClr val="161B26"/>
                </a:solidFill>
                <a:latin typeface="Arial"/>
              </a:rPr>
              <a:t>Luxury and global brands are adopting AI ads to cut cost</a:t>
            </a:r>
          </a:p>
        </p:txBody>
      </p:sp>
      <p:sp>
        <p:nvSpPr>
          <p:cNvPr id="20" name="Rectangle 19"/>
          <p:cNvSpPr/>
          <p:nvPr/>
        </p:nvSpPr>
        <p:spPr>
          <a:xfrm>
            <a:off x="5456407" y="4021530"/>
            <a:ext cx="5955304" cy="7461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84423" y="4021530"/>
            <a:ext cx="5735848" cy="746150"/>
          </a:xfrm>
          <a:prstGeom prst="rect">
            <a:avLst/>
          </a:prstGeom>
          <a:noFill/>
        </p:spPr>
        <p:txBody>
          <a:bodyPr wrap="square" anchor="ctr">
            <a:spAutoFit/>
          </a:bodyPr>
          <a:lstStyle/>
          <a:p>
            <a:pPr algn="l">
              <a:spcAft>
                <a:spcPts val="400"/>
              </a:spcAft>
            </a:pPr>
            <a:r>
              <a:rPr sz="1050" b="0">
                <a:solidFill>
                  <a:srgbClr val="161B26"/>
                </a:solidFill>
                <a:latin typeface="Arial"/>
              </a:rPr>
              <a:t>Seen as 'lacking effort' and 'less authentic'; 'not all publicity is good publicity'</a:t>
            </a:r>
          </a:p>
        </p:txBody>
      </p:sp>
      <p:sp>
        <p:nvSpPr>
          <p:cNvPr id="22" name="Rectangle 21"/>
          <p:cNvSpPr/>
          <p:nvPr/>
        </p:nvSpPr>
        <p:spPr>
          <a:xfrm>
            <a:off x="777240" y="4767680"/>
            <a:ext cx="4679167" cy="7461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4767680"/>
            <a:ext cx="4459711" cy="746150"/>
          </a:xfrm>
          <a:prstGeom prst="rect">
            <a:avLst/>
          </a:prstGeom>
          <a:noFill/>
        </p:spPr>
        <p:txBody>
          <a:bodyPr wrap="square" anchor="ctr">
            <a:spAutoFit/>
          </a:bodyPr>
          <a:lstStyle/>
          <a:p>
            <a:pPr algn="l">
              <a:spcAft>
                <a:spcPts val="400"/>
              </a:spcAft>
            </a:pPr>
            <a:r>
              <a:rPr sz="1050" b="1">
                <a:solidFill>
                  <a:srgbClr val="161B26"/>
                </a:solidFill>
                <a:latin typeface="Arial"/>
              </a:rPr>
              <a:t>Regulators are watching</a:t>
            </a:r>
          </a:p>
        </p:txBody>
      </p:sp>
      <p:sp>
        <p:nvSpPr>
          <p:cNvPr id="24" name="Rectangle 23"/>
          <p:cNvSpPr/>
          <p:nvPr/>
        </p:nvSpPr>
        <p:spPr>
          <a:xfrm>
            <a:off x="5456407" y="4767680"/>
            <a:ext cx="5955304" cy="7461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584423" y="4767680"/>
            <a:ext cx="5735848" cy="746150"/>
          </a:xfrm>
          <a:prstGeom prst="rect">
            <a:avLst/>
          </a:prstGeom>
          <a:noFill/>
        </p:spPr>
        <p:txBody>
          <a:bodyPr wrap="square" anchor="ctr">
            <a:spAutoFit/>
          </a:bodyPr>
          <a:lstStyle/>
          <a:p>
            <a:pPr algn="l">
              <a:spcAft>
                <a:spcPts val="400"/>
              </a:spcAft>
            </a:pPr>
            <a:r>
              <a:rPr sz="1050" b="0">
                <a:solidFill>
                  <a:srgbClr val="161B26"/>
                </a:solidFill>
                <a:latin typeface="Arial"/>
              </a:rPr>
              <a:t>ASAS: 'Disclosure of the use of AI alone does not whitewash this issue'</a:t>
            </a:r>
          </a:p>
        </p:txBody>
      </p:sp>
      <p:sp>
        <p:nvSpPr>
          <p:cNvPr id="26" name="TextBox 25"/>
          <p:cNvSpPr txBox="1"/>
          <p:nvPr/>
        </p:nvSpPr>
        <p:spPr>
          <a:xfrm>
            <a:off x="777240" y="5632704"/>
            <a:ext cx="10698480" cy="438912"/>
          </a:xfrm>
          <a:prstGeom prst="rect">
            <a:avLst/>
          </a:prstGeom>
          <a:noFill/>
        </p:spPr>
        <p:txBody>
          <a:bodyPr wrap="square" anchor="t">
            <a:spAutoFit/>
          </a:bodyPr>
          <a:lstStyle/>
          <a:p>
            <a:pPr algn="ctr">
              <a:spcAft>
                <a:spcPts val="400"/>
              </a:spcAft>
            </a:pPr>
            <a:r>
              <a:rPr sz="1180" b="0">
                <a:solidFill>
                  <a:srgbClr val="5B6372"/>
                </a:solidFill>
                <a:latin typeface="Arial"/>
              </a:rPr>
              <a:t>CNA, 24 Aug 2026. An industry-wide risk, not one named failure — the harm is to trust, authenticity and brand equity.</a:t>
            </a:r>
          </a:p>
        </p:txBody>
      </p:sp>
      <p:sp>
        <p:nvSpPr>
          <p:cNvPr id="27" name="Rectangle 26"/>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CNA (channelnewsasia.com)</a:t>
            </a:r>
          </a:p>
        </p:txBody>
      </p:sp>
      <p:sp>
        <p:nvSpPr>
          <p:cNvPr id="30" name="TextBox 2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1" name="TextBox 3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2" name="TextBox 3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Why AI Content Can Damage a Brand</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548640"/>
          </a:xfrm>
          <a:prstGeom prst="rect">
            <a:avLst/>
          </a:prstGeom>
          <a:noFill/>
        </p:spPr>
        <p:txBody>
          <a:bodyPr wrap="square" anchor="t">
            <a:spAutoFit/>
          </a:bodyPr>
          <a:lstStyle/>
          <a:p>
            <a:pPr algn="l">
              <a:spcAft>
                <a:spcPts val="400"/>
              </a:spcAft>
            </a:pPr>
            <a:r>
              <a:rPr sz="1400" b="1">
                <a:solidFill>
                  <a:srgbClr val="1F6FEB"/>
                </a:solidFill>
                <a:latin typeface="Arial"/>
              </a:rPr>
              <a:t>Signals low effort</a:t>
            </a:r>
          </a:p>
        </p:txBody>
      </p:sp>
      <p:sp>
        <p:nvSpPr>
          <p:cNvPr id="11" name="TextBox 10"/>
          <p:cNvSpPr txBox="1"/>
          <p:nvPr/>
        </p:nvSpPr>
        <p:spPr>
          <a:xfrm>
            <a:off x="914400" y="2624328"/>
            <a:ext cx="2023110" cy="3374136"/>
          </a:xfrm>
          <a:prstGeom prst="rect">
            <a:avLst/>
          </a:prstGeom>
          <a:noFill/>
        </p:spPr>
        <p:txBody>
          <a:bodyPr wrap="square" anchor="t">
            <a:spAutoFit/>
          </a:bodyPr>
          <a:lstStyle/>
          <a:p>
            <a:pPr algn="l">
              <a:spcAft>
                <a:spcPts val="400"/>
              </a:spcAft>
            </a:pPr>
            <a:r>
              <a:rPr sz="1150" b="0">
                <a:solidFill>
                  <a:srgbClr val="161B26"/>
                </a:solidFill>
                <a:latin typeface="Arial"/>
              </a:rPr>
              <a:t>'The company hasn't put much effort into the product'</a:t>
            </a:r>
          </a:p>
        </p:txBody>
      </p:sp>
      <p:sp>
        <p:nvSpPr>
          <p:cNvPr id="12" name="Rectangle 11"/>
          <p:cNvSpPr/>
          <p:nvPr/>
        </p:nvSpPr>
        <p:spPr>
          <a:xfrm>
            <a:off x="3431286"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548640"/>
          </a:xfrm>
          <a:prstGeom prst="rect">
            <a:avLst/>
          </a:prstGeom>
          <a:noFill/>
        </p:spPr>
        <p:txBody>
          <a:bodyPr wrap="square" anchor="t">
            <a:spAutoFit/>
          </a:bodyPr>
          <a:lstStyle/>
          <a:p>
            <a:pPr algn="l">
              <a:spcAft>
                <a:spcPts val="400"/>
              </a:spcAft>
            </a:pPr>
            <a:r>
              <a:rPr sz="1400" b="1">
                <a:solidFill>
                  <a:srgbClr val="10B981"/>
                </a:solidFill>
                <a:latin typeface="Arial"/>
              </a:rPr>
              <a:t>Feels inauthentic</a:t>
            </a:r>
          </a:p>
        </p:txBody>
      </p:sp>
      <p:sp>
        <p:nvSpPr>
          <p:cNvPr id="17" name="TextBox 16"/>
          <p:cNvSpPr txBox="1"/>
          <p:nvPr/>
        </p:nvSpPr>
        <p:spPr>
          <a:xfrm>
            <a:off x="3687318" y="2624328"/>
            <a:ext cx="2023110" cy="3374136"/>
          </a:xfrm>
          <a:prstGeom prst="rect">
            <a:avLst/>
          </a:prstGeom>
          <a:noFill/>
        </p:spPr>
        <p:txBody>
          <a:bodyPr wrap="square" anchor="t">
            <a:spAutoFit/>
          </a:bodyPr>
          <a:lstStyle/>
          <a:p>
            <a:pPr algn="l">
              <a:spcAft>
                <a:spcPts val="400"/>
              </a:spcAft>
            </a:pPr>
            <a:r>
              <a:rPr sz="1150" b="0">
                <a:solidFill>
                  <a:srgbClr val="161B26"/>
                </a:solidFill>
                <a:latin typeface="Arial"/>
              </a:rPr>
              <a:t>Synthetic faces and voices erode trust and connection</a:t>
            </a:r>
          </a:p>
        </p:txBody>
      </p:sp>
      <p:sp>
        <p:nvSpPr>
          <p:cNvPr id="18" name="Rectangle 17"/>
          <p:cNvSpPr/>
          <p:nvPr/>
        </p:nvSpPr>
        <p:spPr>
          <a:xfrm>
            <a:off x="6204204"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274320"/>
          </a:xfrm>
          <a:prstGeom prst="rect">
            <a:avLst/>
          </a:prstGeom>
          <a:noFill/>
        </p:spPr>
        <p:txBody>
          <a:bodyPr wrap="square" anchor="t">
            <a:spAutoFit/>
          </a:bodyPr>
          <a:lstStyle/>
          <a:p>
            <a:pPr algn="l">
              <a:spcAft>
                <a:spcPts val="400"/>
              </a:spcAft>
            </a:pPr>
            <a:r>
              <a:rPr sz="1400" b="1">
                <a:solidFill>
                  <a:srgbClr val="7C3AED"/>
                </a:solidFill>
                <a:latin typeface="Arial"/>
              </a:rPr>
              <a:t>Ethical shadow</a:t>
            </a:r>
          </a:p>
        </p:txBody>
      </p:sp>
      <p:sp>
        <p:nvSpPr>
          <p:cNvPr id="23" name="TextBox 22"/>
          <p:cNvSpPr txBox="1"/>
          <p:nvPr/>
        </p:nvSpPr>
        <p:spPr>
          <a:xfrm>
            <a:off x="6460236" y="2532888"/>
            <a:ext cx="2023110" cy="3465576"/>
          </a:xfrm>
          <a:prstGeom prst="rect">
            <a:avLst/>
          </a:prstGeom>
          <a:noFill/>
        </p:spPr>
        <p:txBody>
          <a:bodyPr wrap="square" anchor="t">
            <a:spAutoFit/>
          </a:bodyPr>
          <a:lstStyle/>
          <a:p>
            <a:pPr algn="l">
              <a:spcAft>
                <a:spcPts val="400"/>
              </a:spcAft>
            </a:pPr>
            <a:r>
              <a:rPr sz="1150" b="0">
                <a:solidFill>
                  <a:srgbClr val="161B26"/>
                </a:solidFill>
                <a:latin typeface="Arial"/>
              </a:rPr>
              <a:t>Models trained on creators' work 'without their consent' — a visible symbol of unfairness</a:t>
            </a:r>
          </a:p>
        </p:txBody>
      </p:sp>
      <p:sp>
        <p:nvSpPr>
          <p:cNvPr id="24" name="Rectangle 23"/>
          <p:cNvSpPr/>
          <p:nvPr/>
        </p:nvSpPr>
        <p:spPr>
          <a:xfrm>
            <a:off x="8977122" y="1783080"/>
            <a:ext cx="2516886"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4343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548640"/>
          </a:xfrm>
          <a:prstGeom prst="rect">
            <a:avLst/>
          </a:prstGeom>
          <a:noFill/>
        </p:spPr>
        <p:txBody>
          <a:bodyPr wrap="square" anchor="t">
            <a:spAutoFit/>
          </a:bodyPr>
          <a:lstStyle/>
          <a:p>
            <a:pPr algn="l">
              <a:spcAft>
                <a:spcPts val="400"/>
              </a:spcAft>
            </a:pPr>
            <a:r>
              <a:rPr sz="1400" b="1">
                <a:solidFill>
                  <a:srgbClr val="F59E0B"/>
                </a:solidFill>
                <a:latin typeface="Arial"/>
              </a:rPr>
              <a:t>Backlash is costly</a:t>
            </a:r>
          </a:p>
        </p:txBody>
      </p:sp>
      <p:sp>
        <p:nvSpPr>
          <p:cNvPr id="29" name="TextBox 28"/>
          <p:cNvSpPr txBox="1"/>
          <p:nvPr/>
        </p:nvSpPr>
        <p:spPr>
          <a:xfrm>
            <a:off x="9233154" y="2624328"/>
            <a:ext cx="2023110" cy="3374136"/>
          </a:xfrm>
          <a:prstGeom prst="rect">
            <a:avLst/>
          </a:prstGeom>
          <a:noFill/>
        </p:spPr>
        <p:txBody>
          <a:bodyPr wrap="square" anchor="t">
            <a:spAutoFit/>
          </a:bodyPr>
          <a:lstStyle/>
          <a:p>
            <a:pPr algn="l">
              <a:spcAft>
                <a:spcPts val="400"/>
              </a:spcAft>
            </a:pPr>
            <a:r>
              <a:rPr sz="1150" b="0">
                <a:solidFill>
                  <a:srgbClr val="161B26"/>
                </a:solidFill>
                <a:latin typeface="Arial"/>
              </a:rPr>
              <a:t>Negative buzz can force an ad down — the campaign fails its objective</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S64</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Discuss &amp; Debrief — Protecting the Brand</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15059"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5059"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When is AI content fine — and when is it a risk?</a:t>
            </a:r>
          </a:p>
        </p:txBody>
      </p:sp>
      <p:sp>
        <p:nvSpPr>
          <p:cNvPr id="11" name="TextBox 10"/>
          <p:cNvSpPr txBox="1"/>
          <p:nvPr/>
        </p:nvSpPr>
        <p:spPr>
          <a:xfrm>
            <a:off x="3166110"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3513582"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13582" y="224028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351401"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51401"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659886"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Should you disclose that an ad is AI-made?</a:t>
            </a:r>
          </a:p>
        </p:txBody>
      </p:sp>
      <p:sp>
        <p:nvSpPr>
          <p:cNvPr id="17" name="TextBox 16"/>
          <p:cNvSpPr txBox="1"/>
          <p:nvPr/>
        </p:nvSpPr>
        <p:spPr>
          <a:xfrm>
            <a:off x="5902452"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6249924"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49924" y="224028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87743"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877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6396228"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What review would catch a brand-damaging ad first?</a:t>
            </a:r>
          </a:p>
        </p:txBody>
      </p:sp>
      <p:sp>
        <p:nvSpPr>
          <p:cNvPr id="23" name="TextBox 22"/>
          <p:cNvSpPr txBox="1"/>
          <p:nvPr/>
        </p:nvSpPr>
        <p:spPr>
          <a:xfrm>
            <a:off x="8638794"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8986266" y="224028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86266" y="2240280"/>
            <a:ext cx="242544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24085"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24085"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9132570" y="365760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Write one brand-safe-AI rule for your team</a:t>
            </a:r>
          </a:p>
        </p:txBody>
      </p:sp>
      <p:sp>
        <p:nvSpPr>
          <p:cNvPr id="29" name="TextBox 28"/>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Debrief: authenticity, disclosure, human sign-off and knowing which content should never be fully synthetic.</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Discussion Point 3 — If Agents Take the Work, What Do People Do?</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The fear</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Agents can do many tasks — will jobs disappear?</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The pattern</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Tasks are automated; whole jobs are redesigned</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The shift</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People move from doing the task to directing the agents</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523220"/>
          </a:xfrm>
          <a:prstGeom prst="rect">
            <a:avLst/>
          </a:prstGeom>
          <a:noFill/>
        </p:spPr>
        <p:txBody>
          <a:bodyPr wrap="square" anchor="t">
            <a:spAutoFit/>
          </a:bodyPr>
          <a:lstStyle/>
          <a:p>
            <a:pPr algn="l">
              <a:spcAft>
                <a:spcPts val="400"/>
              </a:spcAft>
            </a:pPr>
            <a:r>
              <a:rPr sz="2800" b="1" dirty="0">
                <a:solidFill>
                  <a:srgbClr val="161B26"/>
                </a:solidFill>
                <a:latin typeface="Arial"/>
              </a:rPr>
              <a:t>Jobs Move — Not Vanish</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5317236" cy="886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5097780" cy="886968"/>
          </a:xfrm>
          <a:prstGeom prst="rect">
            <a:avLst/>
          </a:prstGeom>
          <a:noFill/>
        </p:spPr>
        <p:txBody>
          <a:bodyPr wrap="square" anchor="ctr">
            <a:spAutoFit/>
          </a:bodyPr>
          <a:lstStyle/>
          <a:p>
            <a:pPr algn="l">
              <a:spcAft>
                <a:spcPts val="400"/>
              </a:spcAft>
            </a:pPr>
            <a:r>
              <a:rPr sz="1250" b="1">
                <a:solidFill>
                  <a:srgbClr val="FFFFFF"/>
                </a:solidFill>
                <a:latin typeface="Arial"/>
              </a:rPr>
              <a:t>Task often automated</a:t>
            </a:r>
          </a:p>
        </p:txBody>
      </p:sp>
      <p:sp>
        <p:nvSpPr>
          <p:cNvPr id="8" name="Rectangle 7"/>
          <p:cNvSpPr/>
          <p:nvPr/>
        </p:nvSpPr>
        <p:spPr>
          <a:xfrm>
            <a:off x="6094476" y="1783080"/>
            <a:ext cx="5317236" cy="886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22492" y="1783080"/>
            <a:ext cx="5097780" cy="886968"/>
          </a:xfrm>
          <a:prstGeom prst="rect">
            <a:avLst/>
          </a:prstGeom>
          <a:noFill/>
        </p:spPr>
        <p:txBody>
          <a:bodyPr wrap="square" anchor="ctr">
            <a:spAutoFit/>
          </a:bodyPr>
          <a:lstStyle/>
          <a:p>
            <a:pPr algn="l">
              <a:spcAft>
                <a:spcPts val="400"/>
              </a:spcAft>
            </a:pPr>
            <a:r>
              <a:rPr sz="1250" b="1">
                <a:solidFill>
                  <a:srgbClr val="FFFFFF"/>
                </a:solidFill>
                <a:latin typeface="Arial"/>
              </a:rPr>
              <a:t>New human role</a:t>
            </a:r>
          </a:p>
        </p:txBody>
      </p:sp>
      <p:sp>
        <p:nvSpPr>
          <p:cNvPr id="10" name="Rectangle 9"/>
          <p:cNvSpPr/>
          <p:nvPr/>
        </p:nvSpPr>
        <p:spPr>
          <a:xfrm>
            <a:off x="777240" y="2670048"/>
            <a:ext cx="5317236" cy="8869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670048"/>
            <a:ext cx="5097780" cy="886968"/>
          </a:xfrm>
          <a:prstGeom prst="rect">
            <a:avLst/>
          </a:prstGeom>
          <a:noFill/>
        </p:spPr>
        <p:txBody>
          <a:bodyPr wrap="square" anchor="ctr">
            <a:spAutoFit/>
          </a:bodyPr>
          <a:lstStyle/>
          <a:p>
            <a:pPr algn="l">
              <a:spcAft>
                <a:spcPts val="400"/>
              </a:spcAft>
            </a:pPr>
            <a:r>
              <a:rPr sz="1150" b="1">
                <a:solidFill>
                  <a:srgbClr val="161B26"/>
                </a:solidFill>
                <a:latin typeface="Arial"/>
              </a:rPr>
              <a:t>Writing routine code</a:t>
            </a:r>
          </a:p>
        </p:txBody>
      </p:sp>
      <p:sp>
        <p:nvSpPr>
          <p:cNvPr id="12" name="Rectangle 11"/>
          <p:cNvSpPr/>
          <p:nvPr/>
        </p:nvSpPr>
        <p:spPr>
          <a:xfrm>
            <a:off x="6094476" y="2670048"/>
            <a:ext cx="5317236" cy="8869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22492" y="2670048"/>
            <a:ext cx="5097780" cy="886968"/>
          </a:xfrm>
          <a:prstGeom prst="rect">
            <a:avLst/>
          </a:prstGeom>
          <a:noFill/>
        </p:spPr>
        <p:txBody>
          <a:bodyPr wrap="square" anchor="ctr">
            <a:spAutoFit/>
          </a:bodyPr>
          <a:lstStyle/>
          <a:p>
            <a:pPr algn="l">
              <a:spcAft>
                <a:spcPts val="400"/>
              </a:spcAft>
            </a:pPr>
            <a:r>
              <a:rPr sz="1150" b="0">
                <a:solidFill>
                  <a:srgbClr val="161B26"/>
                </a:solidFill>
                <a:latin typeface="Arial"/>
              </a:rPr>
              <a:t>Reviewing and directing coding agents</a:t>
            </a:r>
          </a:p>
        </p:txBody>
      </p:sp>
      <p:sp>
        <p:nvSpPr>
          <p:cNvPr id="14" name="Rectangle 13"/>
          <p:cNvSpPr/>
          <p:nvPr/>
        </p:nvSpPr>
        <p:spPr>
          <a:xfrm>
            <a:off x="777240" y="3557016"/>
            <a:ext cx="5317236" cy="886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3557016"/>
            <a:ext cx="5097780" cy="886968"/>
          </a:xfrm>
          <a:prstGeom prst="rect">
            <a:avLst/>
          </a:prstGeom>
          <a:noFill/>
        </p:spPr>
        <p:txBody>
          <a:bodyPr wrap="square" anchor="ctr">
            <a:spAutoFit/>
          </a:bodyPr>
          <a:lstStyle/>
          <a:p>
            <a:pPr algn="l">
              <a:spcAft>
                <a:spcPts val="400"/>
              </a:spcAft>
            </a:pPr>
            <a:r>
              <a:rPr sz="1150" b="1">
                <a:solidFill>
                  <a:srgbClr val="161B26"/>
                </a:solidFill>
                <a:latin typeface="Arial"/>
              </a:rPr>
              <a:t>Basic data analysis</a:t>
            </a:r>
          </a:p>
        </p:txBody>
      </p:sp>
      <p:sp>
        <p:nvSpPr>
          <p:cNvPr id="16" name="Rectangle 15"/>
          <p:cNvSpPr/>
          <p:nvPr/>
        </p:nvSpPr>
        <p:spPr>
          <a:xfrm>
            <a:off x="6094476" y="3557016"/>
            <a:ext cx="5317236" cy="886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22492" y="3557016"/>
            <a:ext cx="5097780" cy="886968"/>
          </a:xfrm>
          <a:prstGeom prst="rect">
            <a:avLst/>
          </a:prstGeom>
          <a:noFill/>
        </p:spPr>
        <p:txBody>
          <a:bodyPr wrap="square" anchor="ctr">
            <a:spAutoFit/>
          </a:bodyPr>
          <a:lstStyle/>
          <a:p>
            <a:pPr algn="l">
              <a:spcAft>
                <a:spcPts val="400"/>
              </a:spcAft>
            </a:pPr>
            <a:r>
              <a:rPr sz="1150" b="0">
                <a:solidFill>
                  <a:srgbClr val="161B26"/>
                </a:solidFill>
                <a:latin typeface="Arial"/>
              </a:rPr>
              <a:t>Framing questions and checking agent output</a:t>
            </a:r>
          </a:p>
        </p:txBody>
      </p:sp>
      <p:sp>
        <p:nvSpPr>
          <p:cNvPr id="18" name="Rectangle 17"/>
          <p:cNvSpPr/>
          <p:nvPr/>
        </p:nvSpPr>
        <p:spPr>
          <a:xfrm>
            <a:off x="777240" y="4443984"/>
            <a:ext cx="5317236" cy="8869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4443984"/>
            <a:ext cx="5097780" cy="886968"/>
          </a:xfrm>
          <a:prstGeom prst="rect">
            <a:avLst/>
          </a:prstGeom>
          <a:noFill/>
        </p:spPr>
        <p:txBody>
          <a:bodyPr wrap="square" anchor="ctr">
            <a:spAutoFit/>
          </a:bodyPr>
          <a:lstStyle/>
          <a:p>
            <a:pPr algn="l">
              <a:spcAft>
                <a:spcPts val="400"/>
              </a:spcAft>
            </a:pPr>
            <a:r>
              <a:rPr sz="1150" b="1">
                <a:solidFill>
                  <a:srgbClr val="161B26"/>
                </a:solidFill>
                <a:latin typeface="Arial"/>
              </a:rPr>
              <a:t>First-line replies</a:t>
            </a:r>
          </a:p>
        </p:txBody>
      </p:sp>
      <p:sp>
        <p:nvSpPr>
          <p:cNvPr id="20" name="Rectangle 19"/>
          <p:cNvSpPr/>
          <p:nvPr/>
        </p:nvSpPr>
        <p:spPr>
          <a:xfrm>
            <a:off x="6094476" y="4443984"/>
            <a:ext cx="5317236" cy="8869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22492" y="4443984"/>
            <a:ext cx="5097780" cy="886968"/>
          </a:xfrm>
          <a:prstGeom prst="rect">
            <a:avLst/>
          </a:prstGeom>
          <a:noFill/>
        </p:spPr>
        <p:txBody>
          <a:bodyPr wrap="square" anchor="ctr">
            <a:spAutoFit/>
          </a:bodyPr>
          <a:lstStyle/>
          <a:p>
            <a:pPr algn="l">
              <a:spcAft>
                <a:spcPts val="400"/>
              </a:spcAft>
            </a:pPr>
            <a:r>
              <a:rPr sz="1150" b="0">
                <a:solidFill>
                  <a:srgbClr val="161B26"/>
                </a:solidFill>
                <a:latin typeface="Arial"/>
              </a:rPr>
              <a:t>Handling escalations and difficult cases</a:t>
            </a:r>
          </a:p>
        </p:txBody>
      </p:sp>
      <p:sp>
        <p:nvSpPr>
          <p:cNvPr id="22" name="Rectangle 21"/>
          <p:cNvSpPr/>
          <p:nvPr/>
        </p:nvSpPr>
        <p:spPr>
          <a:xfrm>
            <a:off x="777240" y="5330952"/>
            <a:ext cx="5317236" cy="886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5330952"/>
            <a:ext cx="5097780" cy="886968"/>
          </a:xfrm>
          <a:prstGeom prst="rect">
            <a:avLst/>
          </a:prstGeom>
          <a:noFill/>
        </p:spPr>
        <p:txBody>
          <a:bodyPr wrap="square" anchor="ctr">
            <a:spAutoFit/>
          </a:bodyPr>
          <a:lstStyle/>
          <a:p>
            <a:pPr algn="l">
              <a:spcAft>
                <a:spcPts val="400"/>
              </a:spcAft>
            </a:pPr>
            <a:r>
              <a:rPr sz="1150" b="1">
                <a:solidFill>
                  <a:srgbClr val="161B26"/>
                </a:solidFill>
                <a:latin typeface="Arial"/>
              </a:rPr>
              <a:t>Drafting content</a:t>
            </a:r>
          </a:p>
        </p:txBody>
      </p:sp>
      <p:sp>
        <p:nvSpPr>
          <p:cNvPr id="24" name="Rectangle 23"/>
          <p:cNvSpPr/>
          <p:nvPr/>
        </p:nvSpPr>
        <p:spPr>
          <a:xfrm>
            <a:off x="6094476" y="5330952"/>
            <a:ext cx="5317236" cy="886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22492" y="5330952"/>
            <a:ext cx="5097780" cy="886968"/>
          </a:xfrm>
          <a:prstGeom prst="rect">
            <a:avLst/>
          </a:prstGeom>
          <a:noFill/>
        </p:spPr>
        <p:txBody>
          <a:bodyPr wrap="square" anchor="ctr">
            <a:spAutoFit/>
          </a:bodyPr>
          <a:lstStyle/>
          <a:p>
            <a:pPr algn="l">
              <a:spcAft>
                <a:spcPts val="400"/>
              </a:spcAft>
            </a:pPr>
            <a:r>
              <a:rPr sz="1150" b="0">
                <a:solidFill>
                  <a:srgbClr val="161B26"/>
                </a:solidFill>
                <a:latin typeface="Arial"/>
              </a:rPr>
              <a:t>Editing, approving and setting brand standards</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S48</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txBody>
          <a:bodyPr/>
          <a:lstStyle/>
          <a:p>
            <a:endParaRPr lang="en-US"/>
          </a:p>
        </p:txBody>
      </p:sp>
      <p:sp>
        <p:nvSpPr>
          <p:cNvPr id="3" name="Text 1"/>
          <p:cNvSpPr/>
          <p:nvPr/>
        </p:nvSpPr>
        <p:spPr>
          <a:xfrm>
            <a:off x="658368" y="228600"/>
            <a:ext cx="3474720" cy="219456"/>
          </a:xfrm>
          <a:prstGeom prst="rect">
            <a:avLst/>
          </a:prstGeom>
          <a:noFill/>
          <a:ln/>
        </p:spPr>
        <p:txBody>
          <a:bodyPr wrap="square" lIns="0" tIns="0" rIns="0" bIns="0" rtlCol="0" anchor="ctr"/>
          <a:lstStyle/>
          <a:p>
            <a:pPr marL="0" indent="0">
              <a:buNone/>
            </a:pPr>
            <a:r>
              <a:rPr lang="en-US" sz="900" b="1" kern="0" spc="170" dirty="0">
                <a:solidFill>
                  <a:srgbClr val="0B6E75"/>
                </a:solidFill>
                <a:latin typeface="Arial" pitchFamily="34" charset="0"/>
                <a:ea typeface="Arial" pitchFamily="34" charset="-122"/>
                <a:cs typeface="Arial" pitchFamily="34" charset="-120"/>
              </a:rPr>
              <a:t>WHY NOW</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marL="0" indent="0" algn="r">
              <a:buNone/>
            </a:pPr>
            <a:r>
              <a:rPr lang="en-US" sz="1000" b="1" dirty="0">
                <a:solidFill>
                  <a:srgbClr val="728197"/>
                </a:solidFill>
                <a:latin typeface="Arial" pitchFamily="34" charset="0"/>
                <a:ea typeface="Arial" pitchFamily="34" charset="-122"/>
                <a:cs typeface="Arial" pitchFamily="34" charset="-120"/>
              </a:rPr>
              <a:t>02</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fontScale="92500"/>
          </a:bodyPr>
          <a:lstStyle/>
          <a:p>
            <a:pPr marL="0" indent="0">
              <a:buNone/>
            </a:pPr>
            <a:r>
              <a:rPr lang="en-US" sz="2900" b="1" dirty="0">
                <a:solidFill>
                  <a:srgbClr val="12233F"/>
                </a:solidFill>
                <a:latin typeface="Arial" pitchFamily="34" charset="0"/>
                <a:ea typeface="Arial" pitchFamily="34" charset="-122"/>
                <a:cs typeface="Arial" pitchFamily="34" charset="-120"/>
              </a:rPr>
              <a:t>12,000+ agents. One lesson: ownership cannot be automated.</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marL="0" indent="0">
              <a:buNone/>
            </a:pPr>
            <a:r>
              <a:rPr lang="en-US" sz="1500" dirty="0">
                <a:solidFill>
                  <a:srgbClr val="4F6176"/>
                </a:solidFill>
                <a:latin typeface="Arial" pitchFamily="34" charset="0"/>
                <a:ea typeface="Arial" pitchFamily="34" charset="-122"/>
                <a:cs typeface="Arial" pitchFamily="34" charset="-120"/>
              </a:rPr>
              <a:t>AgentSea shows frontline professionals building and managing agents while humans retain consequential decisions.</a:t>
            </a:r>
            <a:endParaRPr lang="en-US" sz="1500" dirty="0"/>
          </a:p>
        </p:txBody>
      </p:sp>
      <p:sp>
        <p:nvSpPr>
          <p:cNvPr id="7" name="Shape 5"/>
          <p:cNvSpPr/>
          <p:nvPr/>
        </p:nvSpPr>
        <p:spPr>
          <a:xfrm>
            <a:off x="594360" y="1719072"/>
            <a:ext cx="4663440" cy="4315968"/>
          </a:xfrm>
          <a:prstGeom prst="roundRect">
            <a:avLst>
              <a:gd name="adj" fmla="val 2119"/>
            </a:avLst>
          </a:prstGeom>
          <a:solidFill>
            <a:srgbClr val="092F57"/>
          </a:solidFill>
          <a:ln w="12700">
            <a:solidFill>
              <a:srgbClr val="092F57"/>
            </a:solidFill>
            <a:prstDash val="solid"/>
          </a:ln>
          <a:effectLst>
            <a:outerShdw blurRad="25400" dist="50800" dir="2700000" algn="bl" rotWithShape="0">
              <a:srgbClr val="0B1F33">
                <a:alpha val="12000"/>
              </a:srgbClr>
            </a:outerShdw>
          </a:effectLst>
        </p:spPr>
        <p:txBody>
          <a:bodyPr/>
          <a:lstStyle/>
          <a:p>
            <a:endParaRPr lang="en-US"/>
          </a:p>
        </p:txBody>
      </p:sp>
      <p:sp>
        <p:nvSpPr>
          <p:cNvPr id="8" name="Text 6"/>
          <p:cNvSpPr/>
          <p:nvPr/>
        </p:nvSpPr>
        <p:spPr>
          <a:xfrm>
            <a:off x="868680" y="1993392"/>
            <a:ext cx="4069080" cy="914400"/>
          </a:xfrm>
          <a:prstGeom prst="rect">
            <a:avLst/>
          </a:prstGeom>
          <a:noFill/>
          <a:ln/>
        </p:spPr>
        <p:txBody>
          <a:bodyPr wrap="square" lIns="0" tIns="0" rIns="0" bIns="0" rtlCol="0" anchor="ctr">
            <a:normAutofit lnSpcReduction="10000"/>
          </a:bodyPr>
          <a:lstStyle/>
          <a:p>
            <a:pPr marL="0" indent="0">
              <a:buNone/>
            </a:pPr>
            <a:r>
              <a:rPr lang="en-US" sz="6100" b="1" dirty="0">
                <a:solidFill>
                  <a:srgbClr val="55D6BE"/>
                </a:solidFill>
              </a:rPr>
              <a:t>12,000+</a:t>
            </a:r>
            <a:endParaRPr lang="en-US" sz="6100" dirty="0"/>
          </a:p>
        </p:txBody>
      </p:sp>
      <p:sp>
        <p:nvSpPr>
          <p:cNvPr id="9" name="Text 7"/>
          <p:cNvSpPr/>
          <p:nvPr/>
        </p:nvSpPr>
        <p:spPr>
          <a:xfrm>
            <a:off x="877824" y="2880360"/>
            <a:ext cx="3566160" cy="384048"/>
          </a:xfrm>
          <a:prstGeom prst="rect">
            <a:avLst/>
          </a:prstGeom>
          <a:noFill/>
          <a:ln/>
        </p:spPr>
        <p:txBody>
          <a:bodyPr wrap="square" lIns="0" tIns="0" rIns="0" bIns="0" rtlCol="0" anchor="ctr"/>
          <a:lstStyle/>
          <a:p>
            <a:pPr marL="0" indent="0">
              <a:buNone/>
            </a:pPr>
            <a:r>
              <a:rPr lang="en-US" sz="2300" b="1" dirty="0">
                <a:solidFill>
                  <a:srgbClr val="FFFFFF"/>
                </a:solidFill>
              </a:rPr>
              <a:t>AI agents created</a:t>
            </a:r>
            <a:endParaRPr lang="en-US" sz="2300" dirty="0"/>
          </a:p>
        </p:txBody>
      </p:sp>
      <p:sp>
        <p:nvSpPr>
          <p:cNvPr id="10" name="Text 8"/>
          <p:cNvSpPr/>
          <p:nvPr/>
        </p:nvSpPr>
        <p:spPr>
          <a:xfrm>
            <a:off x="896112" y="3346704"/>
            <a:ext cx="3794760" cy="786384"/>
          </a:xfrm>
          <a:prstGeom prst="rect">
            <a:avLst/>
          </a:prstGeom>
          <a:noFill/>
          <a:ln/>
        </p:spPr>
        <p:txBody>
          <a:bodyPr wrap="square" lIns="0" tIns="0" rIns="0" bIns="0" rtlCol="0" anchor="ctr">
            <a:normAutofit/>
          </a:bodyPr>
          <a:lstStyle/>
          <a:p>
            <a:pPr marL="0" indent="0">
              <a:buNone/>
            </a:pPr>
            <a:r>
              <a:rPr lang="en-US" sz="1700" dirty="0">
                <a:solidFill>
                  <a:srgbClr val="D8EDF1"/>
                </a:solidFill>
              </a:rPr>
              <a:t>by Singapore public healthcare professionals since the platform launched in late May 2026</a:t>
            </a:r>
            <a:endParaRPr lang="en-US" sz="1700" dirty="0"/>
          </a:p>
        </p:txBody>
      </p:sp>
      <p:sp>
        <p:nvSpPr>
          <p:cNvPr id="11" name="Shape 9"/>
          <p:cNvSpPr/>
          <p:nvPr/>
        </p:nvSpPr>
        <p:spPr>
          <a:xfrm>
            <a:off x="896112" y="4572000"/>
            <a:ext cx="1572768" cy="310896"/>
          </a:xfrm>
          <a:prstGeom prst="roundRect">
            <a:avLst>
              <a:gd name="adj" fmla="val 47059"/>
            </a:avLst>
          </a:prstGeom>
          <a:solidFill>
            <a:srgbClr val="0C8A78"/>
          </a:solidFill>
          <a:ln w="12700">
            <a:solidFill>
              <a:srgbClr val="0C8A78"/>
            </a:solidFill>
            <a:prstDash val="solid"/>
          </a:ln>
        </p:spPr>
        <p:txBody>
          <a:bodyPr/>
          <a:lstStyle/>
          <a:p>
            <a:endParaRPr lang="en-US"/>
          </a:p>
        </p:txBody>
      </p:sp>
      <p:sp>
        <p:nvSpPr>
          <p:cNvPr id="12" name="Text 10"/>
          <p:cNvSpPr/>
          <p:nvPr/>
        </p:nvSpPr>
        <p:spPr>
          <a:xfrm>
            <a:off x="896112" y="4590288"/>
            <a:ext cx="1572768" cy="201168"/>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rial" pitchFamily="34" charset="0"/>
                <a:ea typeface="Arial" pitchFamily="34" charset="-122"/>
                <a:cs typeface="Arial" pitchFamily="34" charset="-120"/>
              </a:rPr>
              <a:t>NO CODE REQUIRED</a:t>
            </a:r>
            <a:endParaRPr lang="en-US" sz="1000" dirty="0"/>
          </a:p>
        </p:txBody>
      </p:sp>
      <p:sp>
        <p:nvSpPr>
          <p:cNvPr id="13" name="Shape 11"/>
          <p:cNvSpPr/>
          <p:nvPr/>
        </p:nvSpPr>
        <p:spPr>
          <a:xfrm>
            <a:off x="2587752" y="4572000"/>
            <a:ext cx="1417320" cy="310896"/>
          </a:xfrm>
          <a:prstGeom prst="roundRect">
            <a:avLst>
              <a:gd name="adj" fmla="val 47059"/>
            </a:avLst>
          </a:prstGeom>
          <a:solidFill>
            <a:srgbClr val="F4B942"/>
          </a:solidFill>
          <a:ln w="12700">
            <a:solidFill>
              <a:srgbClr val="F4B942"/>
            </a:solidFill>
            <a:prstDash val="solid"/>
          </a:ln>
        </p:spPr>
        <p:txBody>
          <a:bodyPr/>
          <a:lstStyle/>
          <a:p>
            <a:endParaRPr lang="en-US"/>
          </a:p>
        </p:txBody>
      </p:sp>
      <p:sp>
        <p:nvSpPr>
          <p:cNvPr id="14" name="Text 12"/>
          <p:cNvSpPr/>
          <p:nvPr/>
        </p:nvSpPr>
        <p:spPr>
          <a:xfrm>
            <a:off x="2587752" y="4590288"/>
            <a:ext cx="1417320" cy="201168"/>
          </a:xfrm>
          <a:prstGeom prst="rect">
            <a:avLst/>
          </a:prstGeom>
          <a:noFill/>
          <a:ln/>
        </p:spPr>
        <p:txBody>
          <a:bodyPr wrap="square" lIns="0" tIns="0" rIns="0" bIns="0" rtlCol="0" anchor="ctr">
            <a:normAutofit/>
          </a:bodyPr>
          <a:lstStyle/>
          <a:p>
            <a:pPr marL="0" indent="0" algn="ctr">
              <a:buNone/>
            </a:pPr>
            <a:r>
              <a:rPr lang="en-US" sz="1000" b="1" dirty="0">
                <a:solidFill>
                  <a:srgbClr val="092F57"/>
                </a:solidFill>
                <a:latin typeface="Arial" pitchFamily="34" charset="0"/>
                <a:ea typeface="Arial" pitchFamily="34" charset="-122"/>
                <a:cs typeface="Arial" pitchFamily="34" charset="-120"/>
              </a:rPr>
              <a:t>HUMAN REVIEW</a:t>
            </a:r>
            <a:endParaRPr lang="en-US" sz="1000" dirty="0"/>
          </a:p>
        </p:txBody>
      </p:sp>
      <p:sp>
        <p:nvSpPr>
          <p:cNvPr id="15" name="Text 13"/>
          <p:cNvSpPr/>
          <p:nvPr/>
        </p:nvSpPr>
        <p:spPr>
          <a:xfrm>
            <a:off x="896112" y="5138928"/>
            <a:ext cx="3794760" cy="475488"/>
          </a:xfrm>
          <a:prstGeom prst="rect">
            <a:avLst/>
          </a:prstGeom>
          <a:noFill/>
          <a:ln/>
        </p:spPr>
        <p:txBody>
          <a:bodyPr wrap="square" lIns="0" tIns="0" rIns="0" bIns="0" rtlCol="0" anchor="ctr">
            <a:normAutofit/>
          </a:bodyPr>
          <a:lstStyle/>
          <a:p>
            <a:pPr marL="0" indent="0">
              <a:buNone/>
            </a:pPr>
            <a:r>
              <a:rPr lang="en-US" sz="1400" b="1" dirty="0">
                <a:solidFill>
                  <a:srgbClr val="FFFFFF"/>
                </a:solidFill>
              </a:rPr>
              <a:t>MOH: when AI can act, assurance must shift from outputs to actions.</a:t>
            </a:r>
            <a:endParaRPr lang="en-US" sz="1400" dirty="0"/>
          </a:p>
        </p:txBody>
      </p:sp>
      <p:sp>
        <p:nvSpPr>
          <p:cNvPr id="16" name="Shape 14"/>
          <p:cNvSpPr/>
          <p:nvPr/>
        </p:nvSpPr>
        <p:spPr>
          <a:xfrm>
            <a:off x="5577840" y="1719072"/>
            <a:ext cx="5989320" cy="4315968"/>
          </a:xfrm>
          <a:prstGeom prst="roundRect">
            <a:avLst>
              <a:gd name="adj" fmla="val 2119"/>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pic>
        <p:nvPicPr>
          <p:cNvPr id="17" name="Image 0" descr="Straits Times report showing a clinician with an AgentSea clinical assistant">
            <a:hlinkClick r:id="rId3"/>
          </p:cNvPr>
          <p:cNvPicPr>
            <a:picLocks noChangeAspect="1"/>
          </p:cNvPicPr>
          <p:nvPr/>
        </p:nvPicPr>
        <p:blipFill>
          <a:blip r:embed="rId4"/>
          <a:stretch>
            <a:fillRect/>
          </a:stretch>
        </p:blipFill>
        <p:spPr>
          <a:xfrm>
            <a:off x="6327648" y="1956816"/>
            <a:ext cx="4498848" cy="3639312"/>
          </a:xfrm>
          <a:prstGeom prst="rect">
            <a:avLst/>
          </a:prstGeom>
        </p:spPr>
      </p:pic>
      <p:sp>
        <p:nvSpPr>
          <p:cNvPr id="18" name="Text 15"/>
          <p:cNvSpPr/>
          <p:nvPr/>
        </p:nvSpPr>
        <p:spPr>
          <a:xfrm>
            <a:off x="5998464" y="5431536"/>
            <a:ext cx="5166360" cy="384048"/>
          </a:xfrm>
          <a:prstGeom prst="rect">
            <a:avLst/>
          </a:prstGeom>
          <a:solidFill>
            <a:srgbClr val="FFF5DA"/>
          </a:solidFill>
          <a:ln/>
        </p:spPr>
        <p:txBody>
          <a:bodyPr wrap="square" lIns="635" tIns="635" rIns="635" bIns="635" rtlCol="0" anchor="ctr">
            <a:normAutofit/>
          </a:bodyPr>
          <a:lstStyle/>
          <a:p>
            <a:pPr marL="0" indent="0" algn="ctr">
              <a:buNone/>
            </a:pPr>
            <a:r>
              <a:rPr lang="en-US" sz="1700" b="1" dirty="0">
                <a:solidFill>
                  <a:srgbClr val="092F57"/>
                </a:solidFill>
              </a:rPr>
              <a:t>The doctor remains responsible for the clinical decision.</a:t>
            </a:r>
            <a:endParaRPr lang="en-US" sz="1700" dirty="0"/>
          </a:p>
        </p:txBody>
      </p:sp>
      <p:sp>
        <p:nvSpPr>
          <p:cNvPr id="19" name="Text 16">
            <a:hlinkClick r:id="rId5"/>
          </p:cNvPr>
          <p:cNvSpPr/>
          <p:nvPr/>
        </p:nvSpPr>
        <p:spPr>
          <a:xfrm>
            <a:off x="658368" y="6355080"/>
            <a:ext cx="9921240" cy="219456"/>
          </a:xfrm>
          <a:prstGeom prst="rect">
            <a:avLst/>
          </a:prstGeom>
          <a:noFill/>
          <a:ln/>
        </p:spPr>
        <p:txBody>
          <a:bodyPr wrap="square" lIns="0" tIns="0" rIns="0" bIns="0" rtlCol="0" anchor="ctr">
            <a:normAutofit/>
          </a:bodyPr>
          <a:lstStyle/>
          <a:p>
            <a:pPr marL="0" indent="0">
              <a:buNone/>
            </a:pPr>
            <a:r>
              <a:rPr lang="en-US" sz="1000" u="sng" dirty="0">
                <a:solidFill>
                  <a:srgbClr val="728197"/>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Source: Singapore Ministry of Health, HIMSS26 APAC speech, 24 Aug 2026</a:t>
            </a:r>
            <a:endParaRPr lang="en-US" sz="1000" dirty="0"/>
          </a:p>
        </p:txBody>
      </p:sp>
      <p:sp>
        <p:nvSpPr>
          <p:cNvPr id="20" name="Text 17"/>
          <p:cNvSpPr/>
          <p:nvPr/>
        </p:nvSpPr>
        <p:spPr>
          <a:xfrm>
            <a:off x="9464040" y="6373368"/>
            <a:ext cx="2176272" cy="201168"/>
          </a:xfrm>
          <a:prstGeom prst="rect">
            <a:avLst/>
          </a:prstGeom>
          <a:noFill/>
          <a:ln/>
        </p:spPr>
        <p:txBody>
          <a:bodyPr wrap="square" lIns="0" tIns="0" rIns="0" bIns="0" rtlCol="0" anchor="ctr"/>
          <a:lstStyle/>
          <a:p>
            <a:pPr marL="0" indent="0" algn="r">
              <a:buNone/>
            </a:pPr>
            <a:r>
              <a:rPr lang="en-US" sz="850" b="1" kern="0" spc="60" dirty="0">
                <a:solidFill>
                  <a:srgbClr val="0B6E75"/>
                </a:solidFill>
                <a:latin typeface="Arial" pitchFamily="34" charset="0"/>
                <a:ea typeface="Arial" pitchFamily="34" charset="-122"/>
                <a:cs typeface="Arial" pitchFamily="34" charset="-120"/>
              </a:rPr>
              <a:t>TERTIARY INFOTECH ACADEMY</a:t>
            </a:r>
            <a:endParaRPr lang="en-US" sz="850" dirty="0"/>
          </a:p>
        </p:txBody>
      </p:sp>
    </p:spTree>
    <p:extLst>
      <p:ext uri="{BB962C8B-B14F-4D97-AF65-F5344CB8AC3E}">
        <p14:creationId xmlns:p14="http://schemas.microsoft.com/office/powerpoint/2010/main" val="18992996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txBody>
          <a:bodyPr/>
          <a:lstStyle/>
          <a:p>
            <a:endParaRPr lang="en-US"/>
          </a:p>
        </p:txBody>
      </p:sp>
      <p:sp>
        <p:nvSpPr>
          <p:cNvPr id="3" name="Text 1"/>
          <p:cNvSpPr/>
          <p:nvPr/>
        </p:nvSpPr>
        <p:spPr>
          <a:xfrm>
            <a:off x="658368" y="228600"/>
            <a:ext cx="3474720" cy="219456"/>
          </a:xfrm>
          <a:prstGeom prst="rect">
            <a:avLst/>
          </a:prstGeom>
          <a:noFill/>
          <a:ln/>
        </p:spPr>
        <p:txBody>
          <a:bodyPr wrap="square" lIns="0" tIns="0" rIns="0" bIns="0" rtlCol="0" anchor="ctr"/>
          <a:lstStyle/>
          <a:p>
            <a:pPr marL="0" indent="0">
              <a:buNone/>
            </a:pPr>
            <a:r>
              <a:rPr lang="en-US" sz="900" b="1" kern="0" spc="170" dirty="0">
                <a:solidFill>
                  <a:srgbClr val="0B6E75"/>
                </a:solidFill>
                <a:latin typeface="Arial" pitchFamily="34" charset="0"/>
                <a:ea typeface="Arial" pitchFamily="34" charset="-122"/>
                <a:cs typeface="Arial" pitchFamily="34" charset="-120"/>
              </a:rPr>
              <a:t>THE STAKES</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marL="0" indent="0" algn="r">
              <a:buNone/>
            </a:pPr>
            <a:r>
              <a:rPr lang="en-US" sz="1000" b="1" dirty="0">
                <a:solidFill>
                  <a:srgbClr val="728197"/>
                </a:solidFill>
                <a:latin typeface="Arial" pitchFamily="34" charset="0"/>
                <a:ea typeface="Arial" pitchFamily="34" charset="-122"/>
                <a:cs typeface="Arial" pitchFamily="34" charset="-120"/>
              </a:rPr>
              <a:t>03</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fontScale="77500" lnSpcReduction="20000"/>
          </a:bodyPr>
          <a:lstStyle/>
          <a:p>
            <a:pPr marL="0" indent="0">
              <a:buNone/>
            </a:pPr>
            <a:r>
              <a:rPr lang="en-US" sz="2900" b="1" dirty="0">
                <a:solidFill>
                  <a:srgbClr val="12233F"/>
                </a:solidFill>
                <a:latin typeface="Arial" pitchFamily="34" charset="0"/>
                <a:ea typeface="Arial" pitchFamily="34" charset="-122"/>
                <a:cs typeface="Arial" pitchFamily="34" charset="-120"/>
              </a:rPr>
              <a:t>The advantage comes from redesigning work—not merely deploying AI.</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marL="0" indent="0">
              <a:buNone/>
            </a:pPr>
            <a:r>
              <a:rPr lang="en-US" sz="1500" dirty="0">
                <a:solidFill>
                  <a:srgbClr val="4F6176"/>
                </a:solidFill>
                <a:latin typeface="Arial" pitchFamily="34" charset="0"/>
                <a:ea typeface="Arial" pitchFamily="34" charset="-122"/>
                <a:cs typeface="Arial" pitchFamily="34" charset="-120"/>
              </a:rPr>
              <a:t>WEF projects creation and displacement at the same time. The transition must be deliberately designed.</a:t>
            </a:r>
            <a:endParaRPr lang="en-US" sz="1500" dirty="0"/>
          </a:p>
        </p:txBody>
      </p:sp>
      <p:sp>
        <p:nvSpPr>
          <p:cNvPr id="7" name="Shape 5"/>
          <p:cNvSpPr/>
          <p:nvPr/>
        </p:nvSpPr>
        <p:spPr>
          <a:xfrm>
            <a:off x="594360" y="1719072"/>
            <a:ext cx="6400800" cy="4315968"/>
          </a:xfrm>
          <a:prstGeom prst="roundRect">
            <a:avLst>
              <a:gd name="adj" fmla="val 2119"/>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8" name="Text 6"/>
          <p:cNvSpPr/>
          <p:nvPr/>
        </p:nvSpPr>
        <p:spPr>
          <a:xfrm>
            <a:off x="896112" y="1965960"/>
            <a:ext cx="3017520" cy="219456"/>
          </a:xfrm>
          <a:prstGeom prst="rect">
            <a:avLst/>
          </a:prstGeom>
          <a:noFill/>
          <a:ln/>
        </p:spPr>
        <p:txBody>
          <a:bodyPr wrap="square" lIns="0" tIns="0" rIns="0" bIns="0" rtlCol="0" anchor="ctr"/>
          <a:lstStyle/>
          <a:p>
            <a:pPr marL="0" indent="0">
              <a:buNone/>
            </a:pPr>
            <a:r>
              <a:rPr lang="en-US" sz="1000" b="1" kern="0" spc="110" dirty="0">
                <a:solidFill>
                  <a:srgbClr val="728197"/>
                </a:solidFill>
              </a:rPr>
              <a:t>GLOBAL JOB CHANGE BY 2030</a:t>
            </a:r>
            <a:endParaRPr lang="en-US" sz="1000" dirty="0"/>
          </a:p>
        </p:txBody>
      </p:sp>
      <p:sp>
        <p:nvSpPr>
          <p:cNvPr id="9" name="Shape 7"/>
          <p:cNvSpPr/>
          <p:nvPr/>
        </p:nvSpPr>
        <p:spPr>
          <a:xfrm>
            <a:off x="896112" y="4663440"/>
            <a:ext cx="5623560" cy="0"/>
          </a:xfrm>
          <a:prstGeom prst="line">
            <a:avLst/>
          </a:prstGeom>
          <a:noFill/>
          <a:ln w="15240">
            <a:solidFill>
              <a:srgbClr val="12233F"/>
            </a:solidFill>
            <a:prstDash val="solid"/>
          </a:ln>
        </p:spPr>
        <p:txBody>
          <a:bodyPr/>
          <a:lstStyle/>
          <a:p>
            <a:endParaRPr lang="en-US"/>
          </a:p>
        </p:txBody>
      </p:sp>
      <p:sp>
        <p:nvSpPr>
          <p:cNvPr id="10" name="Shape 8"/>
          <p:cNvSpPr/>
          <p:nvPr/>
        </p:nvSpPr>
        <p:spPr>
          <a:xfrm>
            <a:off x="1005840" y="2743200"/>
            <a:ext cx="1325880" cy="1920240"/>
          </a:xfrm>
          <a:prstGeom prst="rect">
            <a:avLst/>
          </a:prstGeom>
          <a:solidFill>
            <a:srgbClr val="0C8A78"/>
          </a:solidFill>
          <a:ln w="12700">
            <a:solidFill>
              <a:srgbClr val="0C8A78"/>
            </a:solidFill>
            <a:prstDash val="solid"/>
          </a:ln>
        </p:spPr>
        <p:txBody>
          <a:bodyPr/>
          <a:lstStyle/>
          <a:p>
            <a:endParaRPr lang="en-US"/>
          </a:p>
        </p:txBody>
      </p:sp>
      <p:sp>
        <p:nvSpPr>
          <p:cNvPr id="11" name="Text 9"/>
          <p:cNvSpPr/>
          <p:nvPr/>
        </p:nvSpPr>
        <p:spPr>
          <a:xfrm>
            <a:off x="914400" y="2231136"/>
            <a:ext cx="1508760" cy="384048"/>
          </a:xfrm>
          <a:prstGeom prst="rect">
            <a:avLst/>
          </a:prstGeom>
          <a:noFill/>
          <a:ln/>
        </p:spPr>
        <p:txBody>
          <a:bodyPr wrap="square" lIns="0" tIns="0" rIns="0" bIns="0" rtlCol="0" anchor="ctr"/>
          <a:lstStyle/>
          <a:p>
            <a:pPr marL="0" indent="0" algn="ctr">
              <a:buNone/>
            </a:pPr>
            <a:r>
              <a:rPr lang="en-US" sz="2500" b="1" dirty="0">
                <a:solidFill>
                  <a:srgbClr val="12233F"/>
                </a:solidFill>
              </a:rPr>
              <a:t>+170M</a:t>
            </a:r>
            <a:endParaRPr lang="en-US" sz="2500" dirty="0"/>
          </a:p>
        </p:txBody>
      </p:sp>
      <p:sp>
        <p:nvSpPr>
          <p:cNvPr id="12" name="Text 10"/>
          <p:cNvSpPr/>
          <p:nvPr/>
        </p:nvSpPr>
        <p:spPr>
          <a:xfrm>
            <a:off x="914400" y="4846320"/>
            <a:ext cx="1508760" cy="274320"/>
          </a:xfrm>
          <a:prstGeom prst="rect">
            <a:avLst/>
          </a:prstGeom>
          <a:noFill/>
          <a:ln/>
        </p:spPr>
        <p:txBody>
          <a:bodyPr wrap="square" lIns="0" tIns="0" rIns="0" bIns="0" rtlCol="0" anchor="ctr"/>
          <a:lstStyle/>
          <a:p>
            <a:pPr marL="0" indent="0" algn="ctr">
              <a:buNone/>
            </a:pPr>
            <a:r>
              <a:rPr lang="en-US" sz="1400" b="1" dirty="0">
                <a:solidFill>
                  <a:srgbClr val="4F6176"/>
                </a:solidFill>
              </a:rPr>
              <a:t>created</a:t>
            </a:r>
            <a:endParaRPr lang="en-US" sz="1400" dirty="0"/>
          </a:p>
        </p:txBody>
      </p:sp>
      <p:sp>
        <p:nvSpPr>
          <p:cNvPr id="13" name="Shape 11"/>
          <p:cNvSpPr/>
          <p:nvPr/>
        </p:nvSpPr>
        <p:spPr>
          <a:xfrm>
            <a:off x="2971800" y="3794760"/>
            <a:ext cx="1325880" cy="868680"/>
          </a:xfrm>
          <a:prstGeom prst="rect">
            <a:avLst/>
          </a:prstGeom>
          <a:solidFill>
            <a:srgbClr val="F5665C"/>
          </a:solidFill>
          <a:ln w="12700">
            <a:solidFill>
              <a:srgbClr val="F5665C"/>
            </a:solidFill>
            <a:prstDash val="solid"/>
          </a:ln>
        </p:spPr>
        <p:txBody>
          <a:bodyPr/>
          <a:lstStyle/>
          <a:p>
            <a:endParaRPr lang="en-US"/>
          </a:p>
        </p:txBody>
      </p:sp>
      <p:sp>
        <p:nvSpPr>
          <p:cNvPr id="14" name="Text 12"/>
          <p:cNvSpPr/>
          <p:nvPr/>
        </p:nvSpPr>
        <p:spPr>
          <a:xfrm>
            <a:off x="2880360" y="3282696"/>
            <a:ext cx="1508760" cy="384048"/>
          </a:xfrm>
          <a:prstGeom prst="rect">
            <a:avLst/>
          </a:prstGeom>
          <a:noFill/>
          <a:ln/>
        </p:spPr>
        <p:txBody>
          <a:bodyPr wrap="square" lIns="0" tIns="0" rIns="0" bIns="0" rtlCol="0" anchor="ctr"/>
          <a:lstStyle/>
          <a:p>
            <a:pPr marL="0" indent="0" algn="ctr">
              <a:buNone/>
            </a:pPr>
            <a:r>
              <a:rPr lang="en-US" sz="2500" b="1" dirty="0">
                <a:solidFill>
                  <a:srgbClr val="12233F"/>
                </a:solidFill>
              </a:rPr>
              <a:t>-92M</a:t>
            </a:r>
            <a:endParaRPr lang="en-US" sz="2500" dirty="0"/>
          </a:p>
        </p:txBody>
      </p:sp>
      <p:sp>
        <p:nvSpPr>
          <p:cNvPr id="15" name="Text 13"/>
          <p:cNvSpPr/>
          <p:nvPr/>
        </p:nvSpPr>
        <p:spPr>
          <a:xfrm>
            <a:off x="2880360" y="4846320"/>
            <a:ext cx="1508760" cy="274320"/>
          </a:xfrm>
          <a:prstGeom prst="rect">
            <a:avLst/>
          </a:prstGeom>
          <a:noFill/>
          <a:ln/>
        </p:spPr>
        <p:txBody>
          <a:bodyPr wrap="square" lIns="0" tIns="0" rIns="0" bIns="0" rtlCol="0" anchor="ctr"/>
          <a:lstStyle/>
          <a:p>
            <a:pPr marL="0" indent="0" algn="ctr">
              <a:buNone/>
            </a:pPr>
            <a:r>
              <a:rPr lang="en-US" sz="1400" b="1" dirty="0">
                <a:solidFill>
                  <a:srgbClr val="4F6176"/>
                </a:solidFill>
              </a:rPr>
              <a:t>displaced</a:t>
            </a:r>
            <a:endParaRPr lang="en-US" sz="1400" dirty="0"/>
          </a:p>
        </p:txBody>
      </p:sp>
      <p:sp>
        <p:nvSpPr>
          <p:cNvPr id="16" name="Shape 14"/>
          <p:cNvSpPr/>
          <p:nvPr/>
        </p:nvSpPr>
        <p:spPr>
          <a:xfrm>
            <a:off x="4937760" y="3429000"/>
            <a:ext cx="1325880" cy="1234440"/>
          </a:xfrm>
          <a:prstGeom prst="rect">
            <a:avLst/>
          </a:prstGeom>
          <a:solidFill>
            <a:srgbClr val="2F6FED"/>
          </a:solidFill>
          <a:ln w="12700">
            <a:solidFill>
              <a:srgbClr val="2F6FED"/>
            </a:solidFill>
            <a:prstDash val="solid"/>
          </a:ln>
        </p:spPr>
        <p:txBody>
          <a:bodyPr/>
          <a:lstStyle/>
          <a:p>
            <a:endParaRPr lang="en-US"/>
          </a:p>
        </p:txBody>
      </p:sp>
      <p:sp>
        <p:nvSpPr>
          <p:cNvPr id="17" name="Text 15"/>
          <p:cNvSpPr/>
          <p:nvPr/>
        </p:nvSpPr>
        <p:spPr>
          <a:xfrm>
            <a:off x="4846320" y="2916936"/>
            <a:ext cx="1508760" cy="384048"/>
          </a:xfrm>
          <a:prstGeom prst="rect">
            <a:avLst/>
          </a:prstGeom>
          <a:noFill/>
          <a:ln/>
        </p:spPr>
        <p:txBody>
          <a:bodyPr wrap="square" lIns="0" tIns="0" rIns="0" bIns="0" rtlCol="0" anchor="ctr"/>
          <a:lstStyle/>
          <a:p>
            <a:pPr marL="0" indent="0" algn="ctr">
              <a:buNone/>
            </a:pPr>
            <a:r>
              <a:rPr lang="en-US" sz="2500" b="1" dirty="0">
                <a:solidFill>
                  <a:srgbClr val="12233F"/>
                </a:solidFill>
              </a:rPr>
              <a:t>+78M</a:t>
            </a:r>
            <a:endParaRPr lang="en-US" sz="2500" dirty="0"/>
          </a:p>
        </p:txBody>
      </p:sp>
      <p:sp>
        <p:nvSpPr>
          <p:cNvPr id="18" name="Text 16"/>
          <p:cNvSpPr/>
          <p:nvPr/>
        </p:nvSpPr>
        <p:spPr>
          <a:xfrm>
            <a:off x="4846320" y="4846320"/>
            <a:ext cx="1508760" cy="274320"/>
          </a:xfrm>
          <a:prstGeom prst="rect">
            <a:avLst/>
          </a:prstGeom>
          <a:noFill/>
          <a:ln/>
        </p:spPr>
        <p:txBody>
          <a:bodyPr wrap="square" lIns="0" tIns="0" rIns="0" bIns="0" rtlCol="0" anchor="ctr"/>
          <a:lstStyle/>
          <a:p>
            <a:pPr marL="0" indent="0" algn="ctr">
              <a:buNone/>
            </a:pPr>
            <a:r>
              <a:rPr lang="en-US" sz="1400" b="1" dirty="0">
                <a:solidFill>
                  <a:srgbClr val="4F6176"/>
                </a:solidFill>
              </a:rPr>
              <a:t>net</a:t>
            </a:r>
            <a:endParaRPr lang="en-US" sz="1400" dirty="0"/>
          </a:p>
        </p:txBody>
      </p:sp>
      <p:sp>
        <p:nvSpPr>
          <p:cNvPr id="19" name="Text 17"/>
          <p:cNvSpPr/>
          <p:nvPr/>
        </p:nvSpPr>
        <p:spPr>
          <a:xfrm>
            <a:off x="914400" y="5367528"/>
            <a:ext cx="5440680" cy="347472"/>
          </a:xfrm>
          <a:prstGeom prst="rect">
            <a:avLst/>
          </a:prstGeom>
          <a:noFill/>
          <a:ln/>
        </p:spPr>
        <p:txBody>
          <a:bodyPr wrap="square" lIns="0" tIns="0" rIns="0" bIns="0" rtlCol="0" anchor="ctr"/>
          <a:lstStyle/>
          <a:p>
            <a:pPr marL="0" indent="0" algn="ctr">
              <a:buNone/>
            </a:pPr>
            <a:r>
              <a:rPr lang="en-US" sz="1700" b="1" dirty="0">
                <a:solidFill>
                  <a:srgbClr val="092F57"/>
                </a:solidFill>
              </a:rPr>
              <a:t>22% of today's formal jobs are projected to be disrupted.</a:t>
            </a:r>
            <a:endParaRPr lang="en-US" sz="1700" dirty="0"/>
          </a:p>
        </p:txBody>
      </p:sp>
      <p:sp>
        <p:nvSpPr>
          <p:cNvPr id="20" name="Shape 18"/>
          <p:cNvSpPr/>
          <p:nvPr/>
        </p:nvSpPr>
        <p:spPr>
          <a:xfrm>
            <a:off x="7269480" y="1719072"/>
            <a:ext cx="4297680" cy="4315968"/>
          </a:xfrm>
          <a:prstGeom prst="roundRect">
            <a:avLst>
              <a:gd name="adj" fmla="val 2128"/>
            </a:avLst>
          </a:prstGeom>
          <a:solidFill>
            <a:srgbClr val="092F57"/>
          </a:solidFill>
          <a:ln w="12700">
            <a:solidFill>
              <a:srgbClr val="092F57"/>
            </a:solidFill>
            <a:prstDash val="solid"/>
          </a:ln>
          <a:effectLst>
            <a:outerShdw blurRad="25400" dist="50800" dir="2700000" algn="bl" rotWithShape="0">
              <a:srgbClr val="0B1F33">
                <a:alpha val="12000"/>
              </a:srgbClr>
            </a:outerShdw>
          </a:effectLst>
        </p:spPr>
        <p:txBody>
          <a:bodyPr/>
          <a:lstStyle/>
          <a:p>
            <a:endParaRPr lang="en-US"/>
          </a:p>
        </p:txBody>
      </p:sp>
      <p:sp>
        <p:nvSpPr>
          <p:cNvPr id="21" name="Text 19"/>
          <p:cNvSpPr/>
          <p:nvPr/>
        </p:nvSpPr>
        <p:spPr>
          <a:xfrm>
            <a:off x="7589520" y="1984248"/>
            <a:ext cx="3474720" cy="228600"/>
          </a:xfrm>
          <a:prstGeom prst="rect">
            <a:avLst/>
          </a:prstGeom>
          <a:noFill/>
          <a:ln/>
        </p:spPr>
        <p:txBody>
          <a:bodyPr wrap="square" lIns="0" tIns="0" rIns="0" bIns="0" rtlCol="0" anchor="ctr"/>
          <a:lstStyle/>
          <a:p>
            <a:pPr marL="0" indent="0">
              <a:buNone/>
            </a:pPr>
            <a:r>
              <a:rPr lang="en-US" sz="1000" b="1" kern="0" spc="110" dirty="0">
                <a:solidFill>
                  <a:srgbClr val="55D6BE"/>
                </a:solidFill>
              </a:rPr>
              <a:t>THE EMPLOYER RESPONSE</a:t>
            </a:r>
            <a:endParaRPr lang="en-US" sz="1000" dirty="0"/>
          </a:p>
        </p:txBody>
      </p:sp>
      <p:sp>
        <p:nvSpPr>
          <p:cNvPr id="22" name="Text 20"/>
          <p:cNvSpPr/>
          <p:nvPr/>
        </p:nvSpPr>
        <p:spPr>
          <a:xfrm>
            <a:off x="7571232" y="2450592"/>
            <a:ext cx="1097280" cy="502920"/>
          </a:xfrm>
          <a:prstGeom prst="rect">
            <a:avLst/>
          </a:prstGeom>
          <a:noFill/>
          <a:ln/>
        </p:spPr>
        <p:txBody>
          <a:bodyPr wrap="square" lIns="0" tIns="0" rIns="0" bIns="0" rtlCol="0" anchor="ctr"/>
          <a:lstStyle/>
          <a:p>
            <a:pPr marL="0" indent="0">
              <a:buNone/>
            </a:pPr>
            <a:r>
              <a:rPr lang="en-US" sz="3100" b="1" dirty="0">
                <a:solidFill>
                  <a:srgbClr val="55D6BE"/>
                </a:solidFill>
              </a:rPr>
              <a:t>86%</a:t>
            </a:r>
            <a:endParaRPr lang="en-US" sz="3100" dirty="0"/>
          </a:p>
        </p:txBody>
      </p:sp>
      <p:sp>
        <p:nvSpPr>
          <p:cNvPr id="23" name="Text 21"/>
          <p:cNvSpPr/>
          <p:nvPr/>
        </p:nvSpPr>
        <p:spPr>
          <a:xfrm>
            <a:off x="8732520" y="2478024"/>
            <a:ext cx="2331720" cy="475488"/>
          </a:xfrm>
          <a:prstGeom prst="rect">
            <a:avLst/>
          </a:prstGeom>
          <a:noFill/>
          <a:ln/>
        </p:spPr>
        <p:txBody>
          <a:bodyPr wrap="square" lIns="0" tIns="0" rIns="0" bIns="0" rtlCol="0" anchor="ctr">
            <a:normAutofit/>
          </a:bodyPr>
          <a:lstStyle/>
          <a:p>
            <a:pPr marL="0" indent="0">
              <a:buNone/>
            </a:pPr>
            <a:r>
              <a:rPr lang="en-US" sz="1500" dirty="0">
                <a:solidFill>
                  <a:srgbClr val="FFFFFF"/>
                </a:solidFill>
              </a:rPr>
              <a:t>expect AI to transform their business</a:t>
            </a:r>
            <a:endParaRPr lang="en-US" sz="1500" dirty="0"/>
          </a:p>
        </p:txBody>
      </p:sp>
      <p:sp>
        <p:nvSpPr>
          <p:cNvPr id="24" name="Text 22"/>
          <p:cNvSpPr/>
          <p:nvPr/>
        </p:nvSpPr>
        <p:spPr>
          <a:xfrm>
            <a:off x="7571232" y="3364992"/>
            <a:ext cx="1097280" cy="502920"/>
          </a:xfrm>
          <a:prstGeom prst="rect">
            <a:avLst/>
          </a:prstGeom>
          <a:noFill/>
          <a:ln/>
        </p:spPr>
        <p:txBody>
          <a:bodyPr wrap="square" lIns="0" tIns="0" rIns="0" bIns="0" rtlCol="0" anchor="ctr"/>
          <a:lstStyle/>
          <a:p>
            <a:pPr marL="0" indent="0">
              <a:buNone/>
            </a:pPr>
            <a:r>
              <a:rPr lang="en-US" sz="3100" b="1" dirty="0">
                <a:solidFill>
                  <a:srgbClr val="55D6BE"/>
                </a:solidFill>
              </a:rPr>
              <a:t>77%</a:t>
            </a:r>
            <a:endParaRPr lang="en-US" sz="3100" dirty="0"/>
          </a:p>
        </p:txBody>
      </p:sp>
      <p:sp>
        <p:nvSpPr>
          <p:cNvPr id="25" name="Text 23"/>
          <p:cNvSpPr/>
          <p:nvPr/>
        </p:nvSpPr>
        <p:spPr>
          <a:xfrm>
            <a:off x="8732520" y="3392424"/>
            <a:ext cx="2331720" cy="475488"/>
          </a:xfrm>
          <a:prstGeom prst="rect">
            <a:avLst/>
          </a:prstGeom>
          <a:noFill/>
          <a:ln/>
        </p:spPr>
        <p:txBody>
          <a:bodyPr wrap="square" lIns="0" tIns="0" rIns="0" bIns="0" rtlCol="0" anchor="ctr">
            <a:normAutofit/>
          </a:bodyPr>
          <a:lstStyle/>
          <a:p>
            <a:pPr marL="0" indent="0">
              <a:buNone/>
            </a:pPr>
            <a:r>
              <a:rPr lang="en-US" sz="1500" dirty="0">
                <a:solidFill>
                  <a:srgbClr val="FFFFFF"/>
                </a:solidFill>
              </a:rPr>
              <a:t>plan to upskill workers for AI</a:t>
            </a:r>
            <a:endParaRPr lang="en-US" sz="1500" dirty="0"/>
          </a:p>
        </p:txBody>
      </p:sp>
      <p:sp>
        <p:nvSpPr>
          <p:cNvPr id="26" name="Text 24"/>
          <p:cNvSpPr/>
          <p:nvPr/>
        </p:nvSpPr>
        <p:spPr>
          <a:xfrm>
            <a:off x="7571232" y="4279392"/>
            <a:ext cx="1097280" cy="502920"/>
          </a:xfrm>
          <a:prstGeom prst="rect">
            <a:avLst/>
          </a:prstGeom>
          <a:noFill/>
          <a:ln/>
        </p:spPr>
        <p:txBody>
          <a:bodyPr wrap="square" lIns="0" tIns="0" rIns="0" bIns="0" rtlCol="0" anchor="ctr"/>
          <a:lstStyle/>
          <a:p>
            <a:pPr marL="0" indent="0">
              <a:buNone/>
            </a:pPr>
            <a:r>
              <a:rPr lang="en-US" sz="3100" b="1" dirty="0">
                <a:solidFill>
                  <a:srgbClr val="F4B942"/>
                </a:solidFill>
              </a:rPr>
              <a:t>41%</a:t>
            </a:r>
            <a:endParaRPr lang="en-US" sz="3100" dirty="0"/>
          </a:p>
        </p:txBody>
      </p:sp>
      <p:sp>
        <p:nvSpPr>
          <p:cNvPr id="27" name="Text 25"/>
          <p:cNvSpPr/>
          <p:nvPr/>
        </p:nvSpPr>
        <p:spPr>
          <a:xfrm>
            <a:off x="8732520" y="4306824"/>
            <a:ext cx="2331720" cy="475488"/>
          </a:xfrm>
          <a:prstGeom prst="rect">
            <a:avLst/>
          </a:prstGeom>
          <a:noFill/>
          <a:ln/>
        </p:spPr>
        <p:txBody>
          <a:bodyPr wrap="square" lIns="0" tIns="0" rIns="0" bIns="0" rtlCol="0" anchor="ctr">
            <a:normAutofit/>
          </a:bodyPr>
          <a:lstStyle/>
          <a:p>
            <a:pPr marL="0" indent="0">
              <a:buNone/>
            </a:pPr>
            <a:r>
              <a:rPr lang="en-US" sz="1500" dirty="0">
                <a:solidFill>
                  <a:srgbClr val="FFFFFF"/>
                </a:solidFill>
              </a:rPr>
              <a:t>also expect workforce reductions from automation</a:t>
            </a:r>
            <a:endParaRPr lang="en-US" sz="1500" dirty="0"/>
          </a:p>
        </p:txBody>
      </p:sp>
      <p:sp>
        <p:nvSpPr>
          <p:cNvPr id="28" name="Shape 26"/>
          <p:cNvSpPr/>
          <p:nvPr/>
        </p:nvSpPr>
        <p:spPr>
          <a:xfrm>
            <a:off x="7571232" y="5010912"/>
            <a:ext cx="3547872" cy="749808"/>
          </a:xfrm>
          <a:prstGeom prst="roundRect">
            <a:avLst>
              <a:gd name="adj" fmla="val 9756"/>
            </a:avLst>
          </a:prstGeom>
          <a:solidFill>
            <a:srgbClr val="F4B942"/>
          </a:solidFill>
          <a:ln w="12700">
            <a:solidFill>
              <a:srgbClr val="F4B942"/>
            </a:solidFill>
            <a:prstDash val="solid"/>
          </a:ln>
        </p:spPr>
        <p:txBody>
          <a:bodyPr/>
          <a:lstStyle/>
          <a:p>
            <a:endParaRPr lang="en-US"/>
          </a:p>
        </p:txBody>
      </p:sp>
      <p:sp>
        <p:nvSpPr>
          <p:cNvPr id="29" name="Text 27"/>
          <p:cNvSpPr/>
          <p:nvPr/>
        </p:nvSpPr>
        <p:spPr>
          <a:xfrm>
            <a:off x="7772400" y="5102352"/>
            <a:ext cx="3145536" cy="182880"/>
          </a:xfrm>
          <a:prstGeom prst="rect">
            <a:avLst/>
          </a:prstGeom>
          <a:noFill/>
          <a:ln/>
        </p:spPr>
        <p:txBody>
          <a:bodyPr wrap="square" lIns="0" tIns="0" rIns="0" bIns="0" rtlCol="0" anchor="ctr"/>
          <a:lstStyle/>
          <a:p>
            <a:pPr marL="0" indent="0" algn="ctr">
              <a:buNone/>
            </a:pPr>
            <a:r>
              <a:rPr lang="en-US" sz="950" b="1" kern="0" spc="70" dirty="0">
                <a:solidFill>
                  <a:srgbClr val="092F57"/>
                </a:solidFill>
              </a:rPr>
              <a:t>THE OPPORTUNITY</a:t>
            </a:r>
            <a:endParaRPr lang="en-US" sz="950" dirty="0"/>
          </a:p>
        </p:txBody>
      </p:sp>
      <p:sp>
        <p:nvSpPr>
          <p:cNvPr id="30" name="Text 28"/>
          <p:cNvSpPr/>
          <p:nvPr/>
        </p:nvSpPr>
        <p:spPr>
          <a:xfrm>
            <a:off x="7754112" y="5340096"/>
            <a:ext cx="3182112" cy="256032"/>
          </a:xfrm>
          <a:prstGeom prst="rect">
            <a:avLst/>
          </a:prstGeom>
          <a:noFill/>
          <a:ln/>
        </p:spPr>
        <p:txBody>
          <a:bodyPr wrap="square" lIns="0" tIns="0" rIns="0" bIns="0" rtlCol="0" anchor="ctr">
            <a:normAutofit fontScale="85000" lnSpcReduction="10000"/>
          </a:bodyPr>
          <a:lstStyle/>
          <a:p>
            <a:pPr marL="0" indent="0" algn="ctr">
              <a:buNone/>
            </a:pPr>
            <a:r>
              <a:rPr lang="en-US" sz="1600" b="1" dirty="0">
                <a:solidFill>
                  <a:srgbClr val="092F57"/>
                </a:solidFill>
              </a:rPr>
              <a:t>Make agent management part of the job.</a:t>
            </a:r>
            <a:endParaRPr lang="en-US" sz="1600" dirty="0"/>
          </a:p>
        </p:txBody>
      </p:sp>
      <p:sp>
        <p:nvSpPr>
          <p:cNvPr id="31" name="Text 29">
            <a:hlinkClick r:id="rId3"/>
          </p:cNvPr>
          <p:cNvSpPr/>
          <p:nvPr/>
        </p:nvSpPr>
        <p:spPr>
          <a:xfrm>
            <a:off x="658368" y="6355080"/>
            <a:ext cx="9921240" cy="219456"/>
          </a:xfrm>
          <a:prstGeom prst="rect">
            <a:avLst/>
          </a:prstGeom>
          <a:noFill/>
          <a:ln/>
        </p:spPr>
        <p:txBody>
          <a:bodyPr wrap="square" lIns="0" tIns="0" rIns="0" bIns="0" rtlCol="0" anchor="ctr">
            <a:normAutofit/>
          </a:bodyPr>
          <a:lstStyle/>
          <a:p>
            <a:pPr marL="0" indent="0">
              <a:buNone/>
            </a:pPr>
            <a:r>
              <a:rPr lang="en-US" sz="1000" u="sng" dirty="0">
                <a:solidFill>
                  <a:srgbClr val="72819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Sources: WEF Future of Jobs Report 2025; WEF workforce strategies</a:t>
            </a:r>
            <a:endParaRPr lang="en-US" sz="1000" dirty="0"/>
          </a:p>
        </p:txBody>
      </p:sp>
      <p:sp>
        <p:nvSpPr>
          <p:cNvPr id="32" name="Text 30"/>
          <p:cNvSpPr/>
          <p:nvPr/>
        </p:nvSpPr>
        <p:spPr>
          <a:xfrm>
            <a:off x="9464040" y="6373368"/>
            <a:ext cx="2176272" cy="201168"/>
          </a:xfrm>
          <a:prstGeom prst="rect">
            <a:avLst/>
          </a:prstGeom>
          <a:noFill/>
          <a:ln/>
        </p:spPr>
        <p:txBody>
          <a:bodyPr wrap="square" lIns="0" tIns="0" rIns="0" bIns="0" rtlCol="0" anchor="ctr"/>
          <a:lstStyle/>
          <a:p>
            <a:pPr marL="0" indent="0" algn="r">
              <a:buNone/>
            </a:pPr>
            <a:r>
              <a:rPr lang="en-US" sz="850" b="1" kern="0" spc="6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txBody>
          <a:bodyPr/>
          <a:lstStyle/>
          <a:p>
            <a:endParaRPr lang="en-US"/>
          </a:p>
        </p:txBody>
      </p:sp>
      <p:sp>
        <p:nvSpPr>
          <p:cNvPr id="3" name="Text 1"/>
          <p:cNvSpPr/>
          <p:nvPr/>
        </p:nvSpPr>
        <p:spPr>
          <a:xfrm>
            <a:off x="658368" y="228600"/>
            <a:ext cx="3474720" cy="219456"/>
          </a:xfrm>
          <a:prstGeom prst="rect">
            <a:avLst/>
          </a:prstGeom>
          <a:noFill/>
          <a:ln/>
        </p:spPr>
        <p:txBody>
          <a:bodyPr wrap="square" lIns="0" tIns="0" rIns="0" bIns="0" rtlCol="0" anchor="ctr"/>
          <a:lstStyle/>
          <a:p>
            <a:pPr marL="0" indent="0">
              <a:buNone/>
            </a:pPr>
            <a:r>
              <a:rPr lang="en-US" sz="900" b="1" kern="0" spc="170" dirty="0">
                <a:solidFill>
                  <a:srgbClr val="0B6E75"/>
                </a:solidFill>
                <a:latin typeface="Arial" pitchFamily="34" charset="0"/>
                <a:ea typeface="Arial" pitchFamily="34" charset="-122"/>
                <a:cs typeface="Arial" pitchFamily="34" charset="-120"/>
              </a:rPr>
              <a:t>OUR OPERATING MODEL</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marL="0" indent="0" algn="r">
              <a:buNone/>
            </a:pPr>
            <a:r>
              <a:rPr lang="en-US" sz="1000" b="1" dirty="0">
                <a:solidFill>
                  <a:srgbClr val="728197"/>
                </a:solidFill>
                <a:latin typeface="Arial" pitchFamily="34" charset="0"/>
                <a:ea typeface="Arial" pitchFamily="34" charset="-122"/>
                <a:cs typeface="Arial" pitchFamily="34" charset="-120"/>
              </a:rPr>
              <a:t>04</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marL="0" indent="0">
              <a:buNone/>
            </a:pPr>
            <a:r>
              <a:rPr lang="en-US" sz="2900" b="1" dirty="0">
                <a:solidFill>
                  <a:srgbClr val="12233F"/>
                </a:solidFill>
                <a:latin typeface="Arial" pitchFamily="34" charset="0"/>
                <a:ea typeface="Arial" pitchFamily="34" charset="-122"/>
                <a:cs typeface="Arial" pitchFamily="34" charset="-120"/>
              </a:rPr>
              <a:t>Keep a human accountable at every consequential gate.</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marL="0" indent="0">
              <a:buNone/>
            </a:pPr>
            <a:r>
              <a:rPr lang="en-US" sz="1500" dirty="0">
                <a:solidFill>
                  <a:srgbClr val="4F6176"/>
                </a:solidFill>
                <a:latin typeface="Arial" pitchFamily="34" charset="0"/>
                <a:ea typeface="Arial" pitchFamily="34" charset="-122"/>
                <a:cs typeface="Arial" pitchFamily="34" charset="-120"/>
              </a:rPr>
              <a:t>At Tertiary, agents support website and software workflows—and we help clients apply the same pattern.</a:t>
            </a:r>
            <a:endParaRPr lang="en-US" sz="1500" dirty="0"/>
          </a:p>
        </p:txBody>
      </p:sp>
      <p:sp>
        <p:nvSpPr>
          <p:cNvPr id="7" name="Shape 5"/>
          <p:cNvSpPr/>
          <p:nvPr/>
        </p:nvSpPr>
        <p:spPr>
          <a:xfrm>
            <a:off x="621792" y="1627632"/>
            <a:ext cx="1280160" cy="310896"/>
          </a:xfrm>
          <a:prstGeom prst="roundRect">
            <a:avLst>
              <a:gd name="adj" fmla="val 47059"/>
            </a:avLst>
          </a:prstGeom>
          <a:solidFill>
            <a:srgbClr val="E9F8F4"/>
          </a:solidFill>
          <a:ln w="12700">
            <a:solidFill>
              <a:srgbClr val="E9F8F4"/>
            </a:solidFill>
            <a:prstDash val="solid"/>
          </a:ln>
        </p:spPr>
        <p:txBody>
          <a:bodyPr/>
          <a:lstStyle/>
          <a:p>
            <a:endParaRPr lang="en-US"/>
          </a:p>
        </p:txBody>
      </p:sp>
      <p:sp>
        <p:nvSpPr>
          <p:cNvPr id="8" name="Text 6"/>
          <p:cNvSpPr/>
          <p:nvPr/>
        </p:nvSpPr>
        <p:spPr>
          <a:xfrm>
            <a:off x="621792" y="1645920"/>
            <a:ext cx="1280160" cy="201168"/>
          </a:xfrm>
          <a:prstGeom prst="rect">
            <a:avLst/>
          </a:prstGeom>
          <a:noFill/>
          <a:ln/>
        </p:spPr>
        <p:txBody>
          <a:bodyPr wrap="square" lIns="0" tIns="0" rIns="0" bIns="0" rtlCol="0" anchor="ctr">
            <a:normAutofit/>
          </a:bodyPr>
          <a:lstStyle/>
          <a:p>
            <a:pPr marL="0" indent="0" algn="ctr">
              <a:buNone/>
            </a:pPr>
            <a:r>
              <a:rPr lang="en-US" sz="1000" b="1" dirty="0">
                <a:solidFill>
                  <a:srgbClr val="0B6E75"/>
                </a:solidFill>
                <a:latin typeface="Arial" pitchFamily="34" charset="0"/>
                <a:ea typeface="Arial" pitchFamily="34" charset="-122"/>
                <a:cs typeface="Arial" pitchFamily="34" charset="-120"/>
              </a:rPr>
              <a:t>LIVE PRACTICE</a:t>
            </a:r>
            <a:endParaRPr lang="en-US" sz="1000" dirty="0"/>
          </a:p>
        </p:txBody>
      </p:sp>
      <p:sp>
        <p:nvSpPr>
          <p:cNvPr id="9" name="Shape 7"/>
          <p:cNvSpPr/>
          <p:nvPr/>
        </p:nvSpPr>
        <p:spPr>
          <a:xfrm>
            <a:off x="658368" y="2148840"/>
            <a:ext cx="2423160" cy="2331720"/>
          </a:xfrm>
          <a:prstGeom prst="roundRect">
            <a:avLst>
              <a:gd name="adj" fmla="val 3922"/>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10" name="Shape 8"/>
          <p:cNvSpPr/>
          <p:nvPr/>
        </p:nvSpPr>
        <p:spPr>
          <a:xfrm>
            <a:off x="841248" y="2359152"/>
            <a:ext cx="502920" cy="502920"/>
          </a:xfrm>
          <a:prstGeom prst="ellipse">
            <a:avLst/>
          </a:prstGeom>
          <a:solidFill>
            <a:srgbClr val="2F6FED"/>
          </a:solidFill>
          <a:ln w="12700">
            <a:solidFill>
              <a:srgbClr val="2F6FED"/>
            </a:solidFill>
            <a:prstDash val="solid"/>
          </a:ln>
        </p:spPr>
        <p:txBody>
          <a:bodyPr/>
          <a:lstStyle/>
          <a:p>
            <a:endParaRPr lang="en-US"/>
          </a:p>
        </p:txBody>
      </p:sp>
      <p:sp>
        <p:nvSpPr>
          <p:cNvPr id="11" name="Text 9"/>
          <p:cNvSpPr/>
          <p:nvPr/>
        </p:nvSpPr>
        <p:spPr>
          <a:xfrm>
            <a:off x="841248" y="2484882"/>
            <a:ext cx="502920"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10"/>
          <p:cNvSpPr/>
          <p:nvPr/>
        </p:nvSpPr>
        <p:spPr>
          <a:xfrm>
            <a:off x="859536" y="2999232"/>
            <a:ext cx="1965960" cy="347472"/>
          </a:xfrm>
          <a:prstGeom prst="rect">
            <a:avLst/>
          </a:prstGeom>
          <a:noFill/>
          <a:ln/>
        </p:spPr>
        <p:txBody>
          <a:bodyPr wrap="square" lIns="0" tIns="0" rIns="0" bIns="0" rtlCol="0" anchor="ctr"/>
          <a:lstStyle/>
          <a:p>
            <a:pPr marL="0" indent="0">
              <a:buNone/>
            </a:pPr>
            <a:r>
              <a:rPr lang="en-US" sz="2300" b="1" dirty="0">
                <a:solidFill>
                  <a:srgbClr val="12233F"/>
                </a:solidFill>
              </a:rPr>
              <a:t>Frame</a:t>
            </a:r>
            <a:endParaRPr lang="en-US" sz="2300" dirty="0"/>
          </a:p>
        </p:txBody>
      </p:sp>
      <p:sp>
        <p:nvSpPr>
          <p:cNvPr id="13" name="Text 11"/>
          <p:cNvSpPr/>
          <p:nvPr/>
        </p:nvSpPr>
        <p:spPr>
          <a:xfrm>
            <a:off x="859536" y="3456432"/>
            <a:ext cx="1901952" cy="713232"/>
          </a:xfrm>
          <a:prstGeom prst="rect">
            <a:avLst/>
          </a:prstGeom>
          <a:noFill/>
          <a:ln/>
        </p:spPr>
        <p:txBody>
          <a:bodyPr wrap="square" lIns="0" tIns="0" rIns="0" bIns="0" rtlCol="0" anchor="ctr">
            <a:normAutofit/>
          </a:bodyPr>
          <a:lstStyle/>
          <a:p>
            <a:pPr marL="0" indent="0">
              <a:buNone/>
            </a:pPr>
            <a:r>
              <a:rPr lang="en-US" sz="1500" dirty="0">
                <a:solidFill>
                  <a:srgbClr val="4F6176"/>
                </a:solidFill>
              </a:rPr>
              <a:t>Human sets the goal, context and constraints.</a:t>
            </a:r>
            <a:endParaRPr lang="en-US" sz="1500" dirty="0"/>
          </a:p>
        </p:txBody>
      </p:sp>
      <p:sp>
        <p:nvSpPr>
          <p:cNvPr id="14" name="Shape 12"/>
          <p:cNvSpPr/>
          <p:nvPr/>
        </p:nvSpPr>
        <p:spPr>
          <a:xfrm>
            <a:off x="3108960" y="2971800"/>
            <a:ext cx="310896" cy="566928"/>
          </a:xfrm>
          <a:prstGeom prst="chevron">
            <a:avLst/>
          </a:prstGeom>
          <a:solidFill>
            <a:srgbClr val="0C8A78"/>
          </a:solidFill>
          <a:ln w="12700">
            <a:solidFill>
              <a:srgbClr val="0C8A78">
                <a:alpha val="0"/>
              </a:srgbClr>
            </a:solidFill>
            <a:prstDash val="solid"/>
          </a:ln>
        </p:spPr>
        <p:txBody>
          <a:bodyPr/>
          <a:lstStyle/>
          <a:p>
            <a:endParaRPr lang="en-US"/>
          </a:p>
        </p:txBody>
      </p:sp>
      <p:sp>
        <p:nvSpPr>
          <p:cNvPr id="15" name="Shape 13"/>
          <p:cNvSpPr/>
          <p:nvPr/>
        </p:nvSpPr>
        <p:spPr>
          <a:xfrm>
            <a:off x="3429000" y="2148840"/>
            <a:ext cx="2423160" cy="2331720"/>
          </a:xfrm>
          <a:prstGeom prst="roundRect">
            <a:avLst>
              <a:gd name="adj" fmla="val 3922"/>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16" name="Shape 14"/>
          <p:cNvSpPr/>
          <p:nvPr/>
        </p:nvSpPr>
        <p:spPr>
          <a:xfrm>
            <a:off x="3611880" y="2359152"/>
            <a:ext cx="502920" cy="502920"/>
          </a:xfrm>
          <a:prstGeom prst="ellipse">
            <a:avLst/>
          </a:prstGeom>
          <a:solidFill>
            <a:srgbClr val="0C8A78"/>
          </a:solidFill>
          <a:ln w="12700">
            <a:solidFill>
              <a:srgbClr val="0C8A78"/>
            </a:solidFill>
            <a:prstDash val="solid"/>
          </a:ln>
        </p:spPr>
        <p:txBody>
          <a:bodyPr/>
          <a:lstStyle/>
          <a:p>
            <a:endParaRPr lang="en-US"/>
          </a:p>
        </p:txBody>
      </p:sp>
      <p:sp>
        <p:nvSpPr>
          <p:cNvPr id="17" name="Text 15"/>
          <p:cNvSpPr/>
          <p:nvPr/>
        </p:nvSpPr>
        <p:spPr>
          <a:xfrm>
            <a:off x="3611880" y="2484882"/>
            <a:ext cx="502920"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8" name="Text 16"/>
          <p:cNvSpPr/>
          <p:nvPr/>
        </p:nvSpPr>
        <p:spPr>
          <a:xfrm>
            <a:off x="3630168" y="2999232"/>
            <a:ext cx="1965960" cy="347472"/>
          </a:xfrm>
          <a:prstGeom prst="rect">
            <a:avLst/>
          </a:prstGeom>
          <a:noFill/>
          <a:ln/>
        </p:spPr>
        <p:txBody>
          <a:bodyPr wrap="square" lIns="0" tIns="0" rIns="0" bIns="0" rtlCol="0" anchor="ctr"/>
          <a:lstStyle/>
          <a:p>
            <a:pPr marL="0" indent="0">
              <a:buNone/>
            </a:pPr>
            <a:r>
              <a:rPr lang="en-US" sz="2300" b="1" dirty="0">
                <a:solidFill>
                  <a:srgbClr val="12233F"/>
                </a:solidFill>
              </a:rPr>
              <a:t>Orchestrate</a:t>
            </a:r>
            <a:endParaRPr lang="en-US" sz="2300" dirty="0"/>
          </a:p>
        </p:txBody>
      </p:sp>
      <p:sp>
        <p:nvSpPr>
          <p:cNvPr id="19" name="Text 17"/>
          <p:cNvSpPr/>
          <p:nvPr/>
        </p:nvSpPr>
        <p:spPr>
          <a:xfrm>
            <a:off x="3630168" y="3456432"/>
            <a:ext cx="1901952" cy="713232"/>
          </a:xfrm>
          <a:prstGeom prst="rect">
            <a:avLst/>
          </a:prstGeom>
          <a:noFill/>
          <a:ln/>
        </p:spPr>
        <p:txBody>
          <a:bodyPr wrap="square" lIns="0" tIns="0" rIns="0" bIns="0" rtlCol="0" anchor="ctr">
            <a:normAutofit/>
          </a:bodyPr>
          <a:lstStyle/>
          <a:p>
            <a:pPr marL="0" indent="0">
              <a:buNone/>
            </a:pPr>
            <a:r>
              <a:rPr lang="en-US" sz="1500" dirty="0">
                <a:solidFill>
                  <a:srgbClr val="4F6176"/>
                </a:solidFill>
              </a:rPr>
              <a:t>Agents research, build, test and monitor.</a:t>
            </a:r>
            <a:endParaRPr lang="en-US" sz="1500" dirty="0"/>
          </a:p>
        </p:txBody>
      </p:sp>
      <p:sp>
        <p:nvSpPr>
          <p:cNvPr id="20" name="Shape 18"/>
          <p:cNvSpPr/>
          <p:nvPr/>
        </p:nvSpPr>
        <p:spPr>
          <a:xfrm>
            <a:off x="5879592" y="2971800"/>
            <a:ext cx="310896" cy="566928"/>
          </a:xfrm>
          <a:prstGeom prst="chevron">
            <a:avLst/>
          </a:prstGeom>
          <a:solidFill>
            <a:srgbClr val="0C8A78"/>
          </a:solidFill>
          <a:ln w="12700">
            <a:solidFill>
              <a:srgbClr val="0C8A78">
                <a:alpha val="0"/>
              </a:srgbClr>
            </a:solidFill>
            <a:prstDash val="solid"/>
          </a:ln>
        </p:spPr>
        <p:txBody>
          <a:bodyPr/>
          <a:lstStyle/>
          <a:p>
            <a:endParaRPr lang="en-US"/>
          </a:p>
        </p:txBody>
      </p:sp>
      <p:sp>
        <p:nvSpPr>
          <p:cNvPr id="21" name="Shape 19"/>
          <p:cNvSpPr/>
          <p:nvPr/>
        </p:nvSpPr>
        <p:spPr>
          <a:xfrm>
            <a:off x="6199632" y="2148840"/>
            <a:ext cx="2423160" cy="2331720"/>
          </a:xfrm>
          <a:prstGeom prst="roundRect">
            <a:avLst>
              <a:gd name="adj" fmla="val 3922"/>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22" name="Shape 20"/>
          <p:cNvSpPr/>
          <p:nvPr/>
        </p:nvSpPr>
        <p:spPr>
          <a:xfrm>
            <a:off x="6382512" y="2359152"/>
            <a:ext cx="502920" cy="502920"/>
          </a:xfrm>
          <a:prstGeom prst="ellipse">
            <a:avLst/>
          </a:prstGeom>
          <a:solidFill>
            <a:srgbClr val="F4B942"/>
          </a:solidFill>
          <a:ln w="12700">
            <a:solidFill>
              <a:srgbClr val="F4B942"/>
            </a:solidFill>
            <a:prstDash val="solid"/>
          </a:ln>
        </p:spPr>
        <p:txBody>
          <a:bodyPr/>
          <a:lstStyle/>
          <a:p>
            <a:endParaRPr lang="en-US"/>
          </a:p>
        </p:txBody>
      </p:sp>
      <p:sp>
        <p:nvSpPr>
          <p:cNvPr id="23" name="Text 21"/>
          <p:cNvSpPr/>
          <p:nvPr/>
        </p:nvSpPr>
        <p:spPr>
          <a:xfrm>
            <a:off x="6382512" y="2484882"/>
            <a:ext cx="502920"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4" name="Text 22"/>
          <p:cNvSpPr/>
          <p:nvPr/>
        </p:nvSpPr>
        <p:spPr>
          <a:xfrm>
            <a:off x="6400800" y="2999232"/>
            <a:ext cx="1965960" cy="347472"/>
          </a:xfrm>
          <a:prstGeom prst="rect">
            <a:avLst/>
          </a:prstGeom>
          <a:noFill/>
          <a:ln/>
        </p:spPr>
        <p:txBody>
          <a:bodyPr wrap="square" lIns="0" tIns="0" rIns="0" bIns="0" rtlCol="0" anchor="ctr"/>
          <a:lstStyle/>
          <a:p>
            <a:pPr marL="0" indent="0">
              <a:buNone/>
            </a:pPr>
            <a:r>
              <a:rPr lang="en-US" sz="2300" b="1" dirty="0">
                <a:solidFill>
                  <a:srgbClr val="12233F"/>
                </a:solidFill>
              </a:rPr>
              <a:t>Challenge</a:t>
            </a:r>
            <a:endParaRPr lang="en-US" sz="2300" dirty="0"/>
          </a:p>
        </p:txBody>
      </p:sp>
      <p:sp>
        <p:nvSpPr>
          <p:cNvPr id="25" name="Text 23"/>
          <p:cNvSpPr/>
          <p:nvPr/>
        </p:nvSpPr>
        <p:spPr>
          <a:xfrm>
            <a:off x="6400800" y="3456432"/>
            <a:ext cx="1901952" cy="713232"/>
          </a:xfrm>
          <a:prstGeom prst="rect">
            <a:avLst/>
          </a:prstGeom>
          <a:noFill/>
          <a:ln/>
        </p:spPr>
        <p:txBody>
          <a:bodyPr wrap="square" lIns="0" tIns="0" rIns="0" bIns="0" rtlCol="0" anchor="ctr">
            <a:normAutofit/>
          </a:bodyPr>
          <a:lstStyle/>
          <a:p>
            <a:pPr marL="0" indent="0">
              <a:buNone/>
            </a:pPr>
            <a:r>
              <a:rPr lang="en-US" sz="1500" dirty="0">
                <a:solidFill>
                  <a:srgbClr val="4F6176"/>
                </a:solidFill>
              </a:rPr>
              <a:t>Human reviews evidence, risks and exceptions.</a:t>
            </a:r>
            <a:endParaRPr lang="en-US" sz="1500" dirty="0"/>
          </a:p>
        </p:txBody>
      </p:sp>
      <p:sp>
        <p:nvSpPr>
          <p:cNvPr id="26" name="Shape 24"/>
          <p:cNvSpPr/>
          <p:nvPr/>
        </p:nvSpPr>
        <p:spPr>
          <a:xfrm>
            <a:off x="8650224" y="2971800"/>
            <a:ext cx="310896" cy="566928"/>
          </a:xfrm>
          <a:prstGeom prst="chevron">
            <a:avLst/>
          </a:prstGeom>
          <a:solidFill>
            <a:srgbClr val="0C8A78"/>
          </a:solidFill>
          <a:ln w="12700">
            <a:solidFill>
              <a:srgbClr val="0C8A78">
                <a:alpha val="0"/>
              </a:srgbClr>
            </a:solidFill>
            <a:prstDash val="solid"/>
          </a:ln>
        </p:spPr>
        <p:txBody>
          <a:bodyPr/>
          <a:lstStyle/>
          <a:p>
            <a:endParaRPr lang="en-US"/>
          </a:p>
        </p:txBody>
      </p:sp>
      <p:sp>
        <p:nvSpPr>
          <p:cNvPr id="27" name="Shape 25"/>
          <p:cNvSpPr/>
          <p:nvPr/>
        </p:nvSpPr>
        <p:spPr>
          <a:xfrm>
            <a:off x="8970264" y="2148840"/>
            <a:ext cx="2423160" cy="2331720"/>
          </a:xfrm>
          <a:prstGeom prst="roundRect">
            <a:avLst>
              <a:gd name="adj" fmla="val 3922"/>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28" name="Shape 26"/>
          <p:cNvSpPr/>
          <p:nvPr/>
        </p:nvSpPr>
        <p:spPr>
          <a:xfrm>
            <a:off x="9153144" y="2359152"/>
            <a:ext cx="502920" cy="502920"/>
          </a:xfrm>
          <a:prstGeom prst="ellipse">
            <a:avLst/>
          </a:prstGeom>
          <a:solidFill>
            <a:srgbClr val="F5665C"/>
          </a:solidFill>
          <a:ln w="12700">
            <a:solidFill>
              <a:srgbClr val="F5665C"/>
            </a:solidFill>
            <a:prstDash val="solid"/>
          </a:ln>
        </p:spPr>
        <p:txBody>
          <a:bodyPr/>
          <a:lstStyle/>
          <a:p>
            <a:endParaRPr lang="en-US"/>
          </a:p>
        </p:txBody>
      </p:sp>
      <p:sp>
        <p:nvSpPr>
          <p:cNvPr id="29" name="Text 27"/>
          <p:cNvSpPr/>
          <p:nvPr/>
        </p:nvSpPr>
        <p:spPr>
          <a:xfrm>
            <a:off x="9153144" y="2484882"/>
            <a:ext cx="502920"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0" name="Text 28"/>
          <p:cNvSpPr/>
          <p:nvPr/>
        </p:nvSpPr>
        <p:spPr>
          <a:xfrm>
            <a:off x="9171432" y="2999232"/>
            <a:ext cx="1965960" cy="347472"/>
          </a:xfrm>
          <a:prstGeom prst="rect">
            <a:avLst/>
          </a:prstGeom>
          <a:noFill/>
          <a:ln/>
        </p:spPr>
        <p:txBody>
          <a:bodyPr wrap="square" lIns="0" tIns="0" rIns="0" bIns="0" rtlCol="0" anchor="ctr"/>
          <a:lstStyle/>
          <a:p>
            <a:pPr marL="0" indent="0">
              <a:buNone/>
            </a:pPr>
            <a:r>
              <a:rPr lang="en-US" sz="2300" b="1" dirty="0">
                <a:solidFill>
                  <a:srgbClr val="12233F"/>
                </a:solidFill>
              </a:rPr>
              <a:t>Decide</a:t>
            </a:r>
            <a:endParaRPr lang="en-US" sz="2300" dirty="0"/>
          </a:p>
        </p:txBody>
      </p:sp>
      <p:sp>
        <p:nvSpPr>
          <p:cNvPr id="31" name="Text 29"/>
          <p:cNvSpPr/>
          <p:nvPr/>
        </p:nvSpPr>
        <p:spPr>
          <a:xfrm>
            <a:off x="9171432" y="3456432"/>
            <a:ext cx="1901952" cy="713232"/>
          </a:xfrm>
          <a:prstGeom prst="rect">
            <a:avLst/>
          </a:prstGeom>
          <a:noFill/>
          <a:ln/>
        </p:spPr>
        <p:txBody>
          <a:bodyPr wrap="square" lIns="0" tIns="0" rIns="0" bIns="0" rtlCol="0" anchor="ctr">
            <a:normAutofit/>
          </a:bodyPr>
          <a:lstStyle/>
          <a:p>
            <a:pPr marL="0" indent="0">
              <a:buNone/>
            </a:pPr>
            <a:r>
              <a:rPr lang="en-US" sz="1500" dirty="0">
                <a:solidFill>
                  <a:srgbClr val="4F6176"/>
                </a:solidFill>
              </a:rPr>
              <a:t>Named owner approves release and remains accountable.</a:t>
            </a:r>
            <a:endParaRPr lang="en-US" sz="1500" dirty="0"/>
          </a:p>
        </p:txBody>
      </p:sp>
      <p:sp>
        <p:nvSpPr>
          <p:cNvPr id="32" name="Shape 30"/>
          <p:cNvSpPr/>
          <p:nvPr/>
        </p:nvSpPr>
        <p:spPr>
          <a:xfrm>
            <a:off x="658368" y="4828032"/>
            <a:ext cx="10744200" cy="914400"/>
          </a:xfrm>
          <a:prstGeom prst="roundRect">
            <a:avLst>
              <a:gd name="adj" fmla="val 10000"/>
            </a:avLst>
          </a:prstGeom>
          <a:solidFill>
            <a:srgbClr val="092F57"/>
          </a:solidFill>
          <a:ln w="12700">
            <a:solidFill>
              <a:srgbClr val="092F57"/>
            </a:solidFill>
            <a:prstDash val="solid"/>
          </a:ln>
          <a:effectLst>
            <a:outerShdw blurRad="25400" dist="50800" dir="2700000" algn="bl" rotWithShape="0">
              <a:srgbClr val="0B1F33">
                <a:alpha val="12000"/>
              </a:srgbClr>
            </a:outerShdw>
          </a:effectLst>
        </p:spPr>
        <p:txBody>
          <a:bodyPr/>
          <a:lstStyle/>
          <a:p>
            <a:endParaRPr lang="en-US"/>
          </a:p>
        </p:txBody>
      </p:sp>
      <p:sp>
        <p:nvSpPr>
          <p:cNvPr id="33" name="Text 31"/>
          <p:cNvSpPr/>
          <p:nvPr/>
        </p:nvSpPr>
        <p:spPr>
          <a:xfrm>
            <a:off x="914400" y="5001768"/>
            <a:ext cx="1234440" cy="201168"/>
          </a:xfrm>
          <a:prstGeom prst="rect">
            <a:avLst/>
          </a:prstGeom>
          <a:noFill/>
          <a:ln/>
        </p:spPr>
        <p:txBody>
          <a:bodyPr wrap="square" lIns="0" tIns="0" rIns="0" bIns="0" rtlCol="0" anchor="ctr"/>
          <a:lstStyle/>
          <a:p>
            <a:pPr marL="0" indent="0">
              <a:buNone/>
            </a:pPr>
            <a:r>
              <a:rPr lang="en-US" sz="950" b="1" kern="0" spc="110" dirty="0">
                <a:solidFill>
                  <a:srgbClr val="55D6BE"/>
                </a:solidFill>
              </a:rPr>
              <a:t>THE VALUE</a:t>
            </a:r>
            <a:endParaRPr lang="en-US" sz="950" dirty="0"/>
          </a:p>
        </p:txBody>
      </p:sp>
      <p:sp>
        <p:nvSpPr>
          <p:cNvPr id="34" name="Text 32"/>
          <p:cNvSpPr/>
          <p:nvPr/>
        </p:nvSpPr>
        <p:spPr>
          <a:xfrm>
            <a:off x="2286000" y="4937760"/>
            <a:ext cx="8549640" cy="411480"/>
          </a:xfrm>
          <a:prstGeom prst="rect">
            <a:avLst/>
          </a:prstGeom>
          <a:noFill/>
          <a:ln/>
        </p:spPr>
        <p:txBody>
          <a:bodyPr wrap="square" lIns="0" tIns="0" rIns="0" bIns="0" rtlCol="0" anchor="ctr">
            <a:normAutofit/>
          </a:bodyPr>
          <a:lstStyle/>
          <a:p>
            <a:pPr marL="0" indent="0" algn="l">
              <a:buNone/>
            </a:pPr>
            <a:r>
              <a:rPr lang="en-US" sz="1950" b="1" dirty="0">
                <a:solidFill>
                  <a:srgbClr val="FFFFFF"/>
                </a:solidFill>
              </a:rPr>
              <a:t>Agents increase throughput. Humans protect judgement and accountability.</a:t>
            </a:r>
            <a:endParaRPr lang="en-US" sz="1950" dirty="0"/>
          </a:p>
        </p:txBody>
      </p:sp>
      <p:sp>
        <p:nvSpPr>
          <p:cNvPr id="35" name="Text 33">
            <a:hlinkClick r:id="rId3"/>
          </p:cNvPr>
          <p:cNvSpPr/>
          <p:nvPr/>
        </p:nvSpPr>
        <p:spPr>
          <a:xfrm>
            <a:off x="658368" y="6355080"/>
            <a:ext cx="9921240" cy="219456"/>
          </a:xfrm>
          <a:prstGeom prst="rect">
            <a:avLst/>
          </a:prstGeom>
          <a:noFill/>
          <a:ln/>
        </p:spPr>
        <p:txBody>
          <a:bodyPr wrap="square" lIns="0" tIns="0" rIns="0" bIns="0" rtlCol="0" anchor="ctr">
            <a:normAutofit/>
          </a:bodyPr>
          <a:lstStyle/>
          <a:p>
            <a:pPr marL="0" indent="0">
              <a:buNone/>
            </a:pPr>
            <a:r>
              <a:rPr lang="en-US" sz="1000" u="sng" dirty="0">
                <a:solidFill>
                  <a:srgbClr val="72819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Source: Tertiary Infotech Academy practitioner experience (websites and software projects)</a:t>
            </a:r>
            <a:endParaRPr lang="en-US" sz="1000" dirty="0"/>
          </a:p>
        </p:txBody>
      </p:sp>
      <p:sp>
        <p:nvSpPr>
          <p:cNvPr id="36" name="Text 34"/>
          <p:cNvSpPr/>
          <p:nvPr/>
        </p:nvSpPr>
        <p:spPr>
          <a:xfrm>
            <a:off x="9464040" y="6373368"/>
            <a:ext cx="2176272" cy="201168"/>
          </a:xfrm>
          <a:prstGeom prst="rect">
            <a:avLst/>
          </a:prstGeom>
          <a:noFill/>
          <a:ln/>
        </p:spPr>
        <p:txBody>
          <a:bodyPr wrap="square" lIns="0" tIns="0" rIns="0" bIns="0" rtlCol="0" anchor="ctr"/>
          <a:lstStyle/>
          <a:p>
            <a:pPr marL="0" indent="0" algn="r">
              <a:buNone/>
            </a:pPr>
            <a:r>
              <a:rPr lang="en-US" sz="850" b="1" kern="0" spc="6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txBody>
          <a:bodyPr/>
          <a:lstStyle/>
          <a:p>
            <a:endParaRPr lang="en-US"/>
          </a:p>
        </p:txBody>
      </p:sp>
      <p:sp>
        <p:nvSpPr>
          <p:cNvPr id="3" name="Text 1"/>
          <p:cNvSpPr/>
          <p:nvPr/>
        </p:nvSpPr>
        <p:spPr>
          <a:xfrm>
            <a:off x="658368" y="228600"/>
            <a:ext cx="3474720" cy="219456"/>
          </a:xfrm>
          <a:prstGeom prst="rect">
            <a:avLst/>
          </a:prstGeom>
          <a:noFill/>
          <a:ln/>
        </p:spPr>
        <p:txBody>
          <a:bodyPr wrap="square" lIns="0" tIns="0" rIns="0" bIns="0" rtlCol="0" anchor="ctr"/>
          <a:lstStyle/>
          <a:p>
            <a:pPr marL="0" indent="0">
              <a:buNone/>
            </a:pPr>
            <a:r>
              <a:rPr lang="en-US" sz="900" b="1" kern="0" spc="170" dirty="0">
                <a:solidFill>
                  <a:srgbClr val="0B6E75"/>
                </a:solidFill>
                <a:latin typeface="Arial" pitchFamily="34" charset="0"/>
                <a:ea typeface="Arial" pitchFamily="34" charset="-122"/>
                <a:cs typeface="Arial" pitchFamily="34" charset="-120"/>
              </a:rPr>
              <a:t>THE PROBLEM</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marL="0" indent="0" algn="r">
              <a:buNone/>
            </a:pPr>
            <a:r>
              <a:rPr lang="en-US" sz="1000" b="1" dirty="0">
                <a:solidFill>
                  <a:srgbClr val="728197"/>
                </a:solidFill>
                <a:latin typeface="Arial" pitchFamily="34" charset="0"/>
                <a:ea typeface="Arial" pitchFamily="34" charset="-122"/>
                <a:cs typeface="Arial" pitchFamily="34" charset="-120"/>
              </a:rPr>
              <a:t>05</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marL="0" indent="0">
              <a:buNone/>
            </a:pPr>
            <a:r>
              <a:rPr lang="en-US" sz="2900" b="1" dirty="0">
                <a:solidFill>
                  <a:srgbClr val="12233F"/>
                </a:solidFill>
                <a:latin typeface="Arial" pitchFamily="34" charset="0"/>
                <a:ea typeface="Arial" pitchFamily="34" charset="-122"/>
                <a:cs typeface="Arial" pitchFamily="34" charset="-120"/>
              </a:rPr>
              <a:t>AI deployment creates adoption debt when roles lag behind.</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marL="0" indent="0">
              <a:buNone/>
            </a:pPr>
            <a:r>
              <a:rPr lang="en-US" sz="1500" dirty="0">
                <a:solidFill>
                  <a:srgbClr val="4F6176"/>
                </a:solidFill>
                <a:latin typeface="Arial" pitchFamily="34" charset="0"/>
                <a:ea typeface="Arial" pitchFamily="34" charset="-122"/>
                <a:cs typeface="Arial" pitchFamily="34" charset="-120"/>
              </a:rPr>
              <a:t>If identity, decision rights and accountability remain unresolved, resistance compounds.</a:t>
            </a:r>
            <a:endParaRPr lang="en-US" sz="1500" dirty="0"/>
          </a:p>
        </p:txBody>
      </p:sp>
      <p:sp>
        <p:nvSpPr>
          <p:cNvPr id="7" name="Shape 5"/>
          <p:cNvSpPr/>
          <p:nvPr/>
        </p:nvSpPr>
        <p:spPr>
          <a:xfrm>
            <a:off x="640080" y="2834640"/>
            <a:ext cx="10881360" cy="0"/>
          </a:xfrm>
          <a:prstGeom prst="line">
            <a:avLst/>
          </a:prstGeom>
          <a:noFill/>
          <a:ln w="50800">
            <a:solidFill>
              <a:srgbClr val="2F6FED"/>
            </a:solidFill>
            <a:prstDash val="solid"/>
          </a:ln>
        </p:spPr>
        <p:txBody>
          <a:bodyPr/>
          <a:lstStyle/>
          <a:p>
            <a:endParaRPr lang="en-US"/>
          </a:p>
        </p:txBody>
      </p:sp>
      <p:sp>
        <p:nvSpPr>
          <p:cNvPr id="8" name="Text 6"/>
          <p:cNvSpPr/>
          <p:nvPr/>
        </p:nvSpPr>
        <p:spPr>
          <a:xfrm>
            <a:off x="713232" y="1719072"/>
            <a:ext cx="1737360" cy="219456"/>
          </a:xfrm>
          <a:prstGeom prst="rect">
            <a:avLst/>
          </a:prstGeom>
          <a:noFill/>
          <a:ln/>
        </p:spPr>
        <p:txBody>
          <a:bodyPr wrap="square" lIns="0" tIns="0" rIns="0" bIns="0" rtlCol="0" anchor="ctr"/>
          <a:lstStyle/>
          <a:p>
            <a:pPr marL="0" indent="0">
              <a:buNone/>
            </a:pPr>
            <a:r>
              <a:rPr lang="en-US" sz="1000" b="1" kern="0" spc="120" dirty="0">
                <a:solidFill>
                  <a:srgbClr val="2F6FED"/>
                </a:solidFill>
              </a:rPr>
              <a:t>WHAT WE HEAR</a:t>
            </a:r>
            <a:endParaRPr lang="en-US" sz="1000" dirty="0"/>
          </a:p>
        </p:txBody>
      </p:sp>
      <p:sp>
        <p:nvSpPr>
          <p:cNvPr id="9" name="Shape 7"/>
          <p:cNvSpPr/>
          <p:nvPr/>
        </p:nvSpPr>
        <p:spPr>
          <a:xfrm>
            <a:off x="731520" y="2011680"/>
            <a:ext cx="3154680" cy="566928"/>
          </a:xfrm>
          <a:prstGeom prst="roundRect">
            <a:avLst>
              <a:gd name="adj" fmla="val 16129"/>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10" name="Text 8"/>
          <p:cNvSpPr/>
          <p:nvPr/>
        </p:nvSpPr>
        <p:spPr>
          <a:xfrm>
            <a:off x="896112" y="2176272"/>
            <a:ext cx="2825496" cy="228600"/>
          </a:xfrm>
          <a:prstGeom prst="rect">
            <a:avLst/>
          </a:prstGeom>
          <a:noFill/>
          <a:ln/>
        </p:spPr>
        <p:txBody>
          <a:bodyPr wrap="square" lIns="0" tIns="0" rIns="0" bIns="0" rtlCol="0" anchor="ctr">
            <a:normAutofit lnSpcReduction="10000"/>
          </a:bodyPr>
          <a:lstStyle/>
          <a:p>
            <a:pPr marL="0" indent="0" algn="ctr">
              <a:buNone/>
            </a:pPr>
            <a:r>
              <a:rPr lang="en-US" sz="1550" b="1" dirty="0">
                <a:solidFill>
                  <a:srgbClr val="12233F"/>
                </a:solidFill>
              </a:rPr>
              <a:t>"The agent is wrong."</a:t>
            </a:r>
            <a:endParaRPr lang="en-US" sz="1550" dirty="0"/>
          </a:p>
        </p:txBody>
      </p:sp>
      <p:sp>
        <p:nvSpPr>
          <p:cNvPr id="11" name="Shape 9"/>
          <p:cNvSpPr/>
          <p:nvPr/>
        </p:nvSpPr>
        <p:spPr>
          <a:xfrm>
            <a:off x="4114800" y="2011680"/>
            <a:ext cx="3154680" cy="566928"/>
          </a:xfrm>
          <a:prstGeom prst="roundRect">
            <a:avLst>
              <a:gd name="adj" fmla="val 16129"/>
            </a:avLst>
          </a:prstGeom>
          <a:solidFill>
            <a:srgbClr val="FFF5DA"/>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12" name="Text 10"/>
          <p:cNvSpPr/>
          <p:nvPr/>
        </p:nvSpPr>
        <p:spPr>
          <a:xfrm>
            <a:off x="4279392" y="2176272"/>
            <a:ext cx="2825496" cy="228600"/>
          </a:xfrm>
          <a:prstGeom prst="rect">
            <a:avLst/>
          </a:prstGeom>
          <a:noFill/>
          <a:ln/>
        </p:spPr>
        <p:txBody>
          <a:bodyPr wrap="square" lIns="0" tIns="0" rIns="0" bIns="0" rtlCol="0" anchor="ctr">
            <a:normAutofit lnSpcReduction="10000"/>
          </a:bodyPr>
          <a:lstStyle/>
          <a:p>
            <a:pPr marL="0" indent="0" algn="ctr">
              <a:buNone/>
            </a:pPr>
            <a:r>
              <a:rPr lang="en-US" sz="1550" b="1" dirty="0">
                <a:solidFill>
                  <a:srgbClr val="12233F"/>
                </a:solidFill>
              </a:rPr>
              <a:t>"This will not work here."</a:t>
            </a:r>
            <a:endParaRPr lang="en-US" sz="1550" dirty="0"/>
          </a:p>
        </p:txBody>
      </p:sp>
      <p:sp>
        <p:nvSpPr>
          <p:cNvPr id="13" name="Shape 11"/>
          <p:cNvSpPr/>
          <p:nvPr/>
        </p:nvSpPr>
        <p:spPr>
          <a:xfrm>
            <a:off x="7498080" y="2011680"/>
            <a:ext cx="3154680" cy="566928"/>
          </a:xfrm>
          <a:prstGeom prst="roundRect">
            <a:avLst>
              <a:gd name="adj" fmla="val 16129"/>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14" name="Text 12"/>
          <p:cNvSpPr/>
          <p:nvPr/>
        </p:nvSpPr>
        <p:spPr>
          <a:xfrm>
            <a:off x="7662672" y="2176272"/>
            <a:ext cx="2825496" cy="228600"/>
          </a:xfrm>
          <a:prstGeom prst="rect">
            <a:avLst/>
          </a:prstGeom>
          <a:noFill/>
          <a:ln/>
        </p:spPr>
        <p:txBody>
          <a:bodyPr wrap="square" lIns="0" tIns="0" rIns="0" bIns="0" rtlCol="0" anchor="ctr">
            <a:normAutofit lnSpcReduction="10000"/>
          </a:bodyPr>
          <a:lstStyle/>
          <a:p>
            <a:pPr marL="0" indent="0" algn="ctr">
              <a:buNone/>
            </a:pPr>
            <a:r>
              <a:rPr lang="en-US" sz="1550" b="1" dirty="0">
                <a:solidFill>
                  <a:srgbClr val="12233F"/>
                </a:solidFill>
              </a:rPr>
              <a:t>"I do not have time to learn it."</a:t>
            </a:r>
            <a:endParaRPr lang="en-US" sz="1550" dirty="0"/>
          </a:p>
        </p:txBody>
      </p:sp>
      <p:sp>
        <p:nvSpPr>
          <p:cNvPr id="15" name="Text 13"/>
          <p:cNvSpPr/>
          <p:nvPr/>
        </p:nvSpPr>
        <p:spPr>
          <a:xfrm>
            <a:off x="713232" y="3127248"/>
            <a:ext cx="2743200" cy="219456"/>
          </a:xfrm>
          <a:prstGeom prst="rect">
            <a:avLst/>
          </a:prstGeom>
          <a:noFill/>
          <a:ln/>
        </p:spPr>
        <p:txBody>
          <a:bodyPr wrap="square" lIns="0" tIns="0" rIns="0" bIns="0" rtlCol="0" anchor="ctr"/>
          <a:lstStyle/>
          <a:p>
            <a:pPr marL="0" indent="0">
              <a:buNone/>
            </a:pPr>
            <a:r>
              <a:rPr lang="en-US" sz="1000" b="1" kern="0" spc="120" dirty="0">
                <a:solidFill>
                  <a:srgbClr val="F5665C"/>
                </a:solidFill>
              </a:rPr>
              <a:t>WHAT IS OFTEN UNDERNEATH</a:t>
            </a:r>
            <a:endParaRPr lang="en-US" sz="1000" dirty="0"/>
          </a:p>
        </p:txBody>
      </p:sp>
      <p:sp>
        <p:nvSpPr>
          <p:cNvPr id="16" name="Shape 14"/>
          <p:cNvSpPr/>
          <p:nvPr/>
        </p:nvSpPr>
        <p:spPr>
          <a:xfrm>
            <a:off x="749808" y="3547872"/>
            <a:ext cx="2359152" cy="1572768"/>
          </a:xfrm>
          <a:prstGeom prst="roundRect">
            <a:avLst>
              <a:gd name="adj" fmla="val 4651"/>
            </a:avLst>
          </a:prstGeom>
          <a:solidFill>
            <a:srgbClr val="FFFFFF"/>
          </a:solidFill>
          <a:ln w="19050">
            <a:solidFill>
              <a:srgbClr val="F5665C"/>
            </a:solidFill>
            <a:prstDash val="solid"/>
          </a:ln>
        </p:spPr>
        <p:txBody>
          <a:bodyPr/>
          <a:lstStyle/>
          <a:p>
            <a:endParaRPr lang="en-US"/>
          </a:p>
        </p:txBody>
      </p:sp>
      <p:sp>
        <p:nvSpPr>
          <p:cNvPr id="17" name="Text 15"/>
          <p:cNvSpPr/>
          <p:nvPr/>
        </p:nvSpPr>
        <p:spPr>
          <a:xfrm>
            <a:off x="932688" y="3803904"/>
            <a:ext cx="1965960" cy="256032"/>
          </a:xfrm>
          <a:prstGeom prst="rect">
            <a:avLst/>
          </a:prstGeom>
          <a:noFill/>
          <a:ln/>
        </p:spPr>
        <p:txBody>
          <a:bodyPr wrap="square" lIns="0" tIns="0" rIns="0" bIns="0" rtlCol="0" anchor="ctr"/>
          <a:lstStyle/>
          <a:p>
            <a:pPr marL="0" indent="0" algn="ctr">
              <a:buNone/>
            </a:pPr>
            <a:r>
              <a:rPr lang="en-US" sz="1300" b="1" kern="0" spc="110" dirty="0">
                <a:solidFill>
                  <a:srgbClr val="F5665C"/>
                </a:solidFill>
              </a:rPr>
              <a:t>JOB</a:t>
            </a:r>
            <a:endParaRPr lang="en-US" sz="1300" dirty="0"/>
          </a:p>
        </p:txBody>
      </p:sp>
      <p:sp>
        <p:nvSpPr>
          <p:cNvPr id="18" name="Text 16"/>
          <p:cNvSpPr/>
          <p:nvPr/>
        </p:nvSpPr>
        <p:spPr>
          <a:xfrm>
            <a:off x="932688" y="4224528"/>
            <a:ext cx="1965960" cy="475488"/>
          </a:xfrm>
          <a:prstGeom prst="rect">
            <a:avLst/>
          </a:prstGeom>
          <a:noFill/>
          <a:ln/>
        </p:spPr>
        <p:txBody>
          <a:bodyPr wrap="square" lIns="0" tIns="0" rIns="0" bIns="0" rtlCol="0" anchor="ctr">
            <a:normAutofit/>
          </a:bodyPr>
          <a:lstStyle/>
          <a:p>
            <a:pPr marL="0" indent="0" algn="ctr">
              <a:buNone/>
            </a:pPr>
            <a:r>
              <a:rPr lang="en-US" sz="1700" b="1" dirty="0">
                <a:solidFill>
                  <a:srgbClr val="12233F"/>
                </a:solidFill>
              </a:rPr>
              <a:t>Will I still be needed?</a:t>
            </a:r>
            <a:endParaRPr lang="en-US" sz="1700" dirty="0"/>
          </a:p>
        </p:txBody>
      </p:sp>
      <p:sp>
        <p:nvSpPr>
          <p:cNvPr id="19" name="Shape 17"/>
          <p:cNvSpPr/>
          <p:nvPr/>
        </p:nvSpPr>
        <p:spPr>
          <a:xfrm>
            <a:off x="3429000" y="3547872"/>
            <a:ext cx="2359152" cy="1572768"/>
          </a:xfrm>
          <a:prstGeom prst="roundRect">
            <a:avLst>
              <a:gd name="adj" fmla="val 4651"/>
            </a:avLst>
          </a:prstGeom>
          <a:solidFill>
            <a:srgbClr val="FFFFFF"/>
          </a:solidFill>
          <a:ln w="19050">
            <a:solidFill>
              <a:srgbClr val="F4B942"/>
            </a:solidFill>
            <a:prstDash val="solid"/>
          </a:ln>
        </p:spPr>
        <p:txBody>
          <a:bodyPr/>
          <a:lstStyle/>
          <a:p>
            <a:endParaRPr lang="en-US"/>
          </a:p>
        </p:txBody>
      </p:sp>
      <p:sp>
        <p:nvSpPr>
          <p:cNvPr id="20" name="Text 18"/>
          <p:cNvSpPr/>
          <p:nvPr/>
        </p:nvSpPr>
        <p:spPr>
          <a:xfrm>
            <a:off x="3611880" y="3803904"/>
            <a:ext cx="1965960" cy="256032"/>
          </a:xfrm>
          <a:prstGeom prst="rect">
            <a:avLst/>
          </a:prstGeom>
          <a:noFill/>
          <a:ln/>
        </p:spPr>
        <p:txBody>
          <a:bodyPr wrap="square" lIns="0" tIns="0" rIns="0" bIns="0" rtlCol="0" anchor="ctr"/>
          <a:lstStyle/>
          <a:p>
            <a:pPr marL="0" indent="0" algn="ctr">
              <a:buNone/>
            </a:pPr>
            <a:r>
              <a:rPr lang="en-US" sz="1300" b="1" kern="0" spc="110" dirty="0">
                <a:solidFill>
                  <a:srgbClr val="F4B942"/>
                </a:solidFill>
              </a:rPr>
              <a:t>IDENTITY</a:t>
            </a:r>
            <a:endParaRPr lang="en-US" sz="1300" dirty="0"/>
          </a:p>
        </p:txBody>
      </p:sp>
      <p:sp>
        <p:nvSpPr>
          <p:cNvPr id="21" name="Text 19"/>
          <p:cNvSpPr/>
          <p:nvPr/>
        </p:nvSpPr>
        <p:spPr>
          <a:xfrm>
            <a:off x="3611880" y="4224528"/>
            <a:ext cx="1965960" cy="475488"/>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12233F"/>
                </a:solidFill>
              </a:rPr>
              <a:t>What happens to my expertise?</a:t>
            </a:r>
            <a:endParaRPr lang="en-US" sz="1700" dirty="0"/>
          </a:p>
        </p:txBody>
      </p:sp>
      <p:sp>
        <p:nvSpPr>
          <p:cNvPr id="22" name="Shape 20"/>
          <p:cNvSpPr/>
          <p:nvPr/>
        </p:nvSpPr>
        <p:spPr>
          <a:xfrm>
            <a:off x="6108192" y="3547872"/>
            <a:ext cx="2359152" cy="1572768"/>
          </a:xfrm>
          <a:prstGeom prst="roundRect">
            <a:avLst>
              <a:gd name="adj" fmla="val 4651"/>
            </a:avLst>
          </a:prstGeom>
          <a:solidFill>
            <a:srgbClr val="FFFFFF"/>
          </a:solidFill>
          <a:ln w="19050">
            <a:solidFill>
              <a:srgbClr val="0C8A78"/>
            </a:solidFill>
            <a:prstDash val="solid"/>
          </a:ln>
        </p:spPr>
        <p:txBody>
          <a:bodyPr/>
          <a:lstStyle/>
          <a:p>
            <a:endParaRPr lang="en-US"/>
          </a:p>
        </p:txBody>
      </p:sp>
      <p:sp>
        <p:nvSpPr>
          <p:cNvPr id="23" name="Text 21"/>
          <p:cNvSpPr/>
          <p:nvPr/>
        </p:nvSpPr>
        <p:spPr>
          <a:xfrm>
            <a:off x="6291072" y="3803904"/>
            <a:ext cx="1965960" cy="256032"/>
          </a:xfrm>
          <a:prstGeom prst="rect">
            <a:avLst/>
          </a:prstGeom>
          <a:noFill/>
          <a:ln/>
        </p:spPr>
        <p:txBody>
          <a:bodyPr wrap="square" lIns="0" tIns="0" rIns="0" bIns="0" rtlCol="0" anchor="ctr"/>
          <a:lstStyle/>
          <a:p>
            <a:pPr marL="0" indent="0" algn="ctr">
              <a:buNone/>
            </a:pPr>
            <a:r>
              <a:rPr lang="en-US" sz="1300" b="1" kern="0" spc="110" dirty="0">
                <a:solidFill>
                  <a:srgbClr val="0C8A78"/>
                </a:solidFill>
              </a:rPr>
              <a:t>CONTROL</a:t>
            </a:r>
            <a:endParaRPr lang="en-US" sz="1300" dirty="0"/>
          </a:p>
        </p:txBody>
      </p:sp>
      <p:sp>
        <p:nvSpPr>
          <p:cNvPr id="24" name="Text 22"/>
          <p:cNvSpPr/>
          <p:nvPr/>
        </p:nvSpPr>
        <p:spPr>
          <a:xfrm>
            <a:off x="6291072" y="4224528"/>
            <a:ext cx="1965960" cy="475488"/>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12233F"/>
                </a:solidFill>
              </a:rPr>
              <a:t>Can I stop a bad action?</a:t>
            </a:r>
            <a:endParaRPr lang="en-US" sz="1700" dirty="0"/>
          </a:p>
        </p:txBody>
      </p:sp>
      <p:sp>
        <p:nvSpPr>
          <p:cNvPr id="25" name="Shape 23"/>
          <p:cNvSpPr/>
          <p:nvPr/>
        </p:nvSpPr>
        <p:spPr>
          <a:xfrm>
            <a:off x="8787384" y="3547872"/>
            <a:ext cx="2359152" cy="1572768"/>
          </a:xfrm>
          <a:prstGeom prst="roundRect">
            <a:avLst>
              <a:gd name="adj" fmla="val 4651"/>
            </a:avLst>
          </a:prstGeom>
          <a:solidFill>
            <a:srgbClr val="FFFFFF"/>
          </a:solidFill>
          <a:ln w="19050">
            <a:solidFill>
              <a:srgbClr val="2F6FED"/>
            </a:solidFill>
            <a:prstDash val="solid"/>
          </a:ln>
        </p:spPr>
        <p:txBody>
          <a:bodyPr/>
          <a:lstStyle/>
          <a:p>
            <a:endParaRPr lang="en-US"/>
          </a:p>
        </p:txBody>
      </p:sp>
      <p:sp>
        <p:nvSpPr>
          <p:cNvPr id="26" name="Text 24"/>
          <p:cNvSpPr/>
          <p:nvPr/>
        </p:nvSpPr>
        <p:spPr>
          <a:xfrm>
            <a:off x="8970264" y="3803904"/>
            <a:ext cx="1965960" cy="256032"/>
          </a:xfrm>
          <a:prstGeom prst="rect">
            <a:avLst/>
          </a:prstGeom>
          <a:noFill/>
          <a:ln/>
        </p:spPr>
        <p:txBody>
          <a:bodyPr wrap="square" lIns="0" tIns="0" rIns="0" bIns="0" rtlCol="0" anchor="ctr"/>
          <a:lstStyle/>
          <a:p>
            <a:pPr marL="0" indent="0" algn="ctr">
              <a:buNone/>
            </a:pPr>
            <a:r>
              <a:rPr lang="en-US" sz="1300" b="1" kern="0" spc="110" dirty="0">
                <a:solidFill>
                  <a:srgbClr val="2F6FED"/>
                </a:solidFill>
              </a:rPr>
              <a:t>BLAME</a:t>
            </a:r>
            <a:endParaRPr lang="en-US" sz="1300" dirty="0"/>
          </a:p>
        </p:txBody>
      </p:sp>
      <p:sp>
        <p:nvSpPr>
          <p:cNvPr id="27" name="Text 25"/>
          <p:cNvSpPr/>
          <p:nvPr/>
        </p:nvSpPr>
        <p:spPr>
          <a:xfrm>
            <a:off x="8970264" y="4224528"/>
            <a:ext cx="1965960" cy="475488"/>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12233F"/>
                </a:solidFill>
              </a:rPr>
              <a:t>Am I liable for its mistakes?</a:t>
            </a:r>
            <a:endParaRPr lang="en-US" sz="1700" dirty="0"/>
          </a:p>
        </p:txBody>
      </p:sp>
      <p:sp>
        <p:nvSpPr>
          <p:cNvPr id="28" name="Text 26"/>
          <p:cNvSpPr/>
          <p:nvPr/>
        </p:nvSpPr>
        <p:spPr>
          <a:xfrm>
            <a:off x="1371600" y="5559552"/>
            <a:ext cx="9326880" cy="393192"/>
          </a:xfrm>
          <a:prstGeom prst="rect">
            <a:avLst/>
          </a:prstGeom>
          <a:noFill/>
          <a:ln/>
        </p:spPr>
        <p:txBody>
          <a:bodyPr wrap="square" lIns="0" tIns="0" rIns="0" bIns="0" rtlCol="0" anchor="ctr"/>
          <a:lstStyle/>
          <a:p>
            <a:pPr marL="0" indent="0" algn="ctr">
              <a:buNone/>
            </a:pPr>
            <a:r>
              <a:rPr lang="en-US" sz="2300" b="1" dirty="0">
                <a:solidFill>
                  <a:srgbClr val="092F57"/>
                </a:solidFill>
              </a:rPr>
              <a:t>Resistance is not a people problem. It is a role-design signal.</a:t>
            </a:r>
            <a:endParaRPr lang="en-US" sz="2300" dirty="0"/>
          </a:p>
        </p:txBody>
      </p:sp>
      <p:sp>
        <p:nvSpPr>
          <p:cNvPr id="29" name="Text 27">
            <a:hlinkClick r:id="rId3"/>
          </p:cNvPr>
          <p:cNvSpPr/>
          <p:nvPr/>
        </p:nvSpPr>
        <p:spPr>
          <a:xfrm>
            <a:off x="658368" y="6355080"/>
            <a:ext cx="9921240" cy="219456"/>
          </a:xfrm>
          <a:prstGeom prst="rect">
            <a:avLst/>
          </a:prstGeom>
          <a:noFill/>
          <a:ln/>
        </p:spPr>
        <p:txBody>
          <a:bodyPr wrap="square" lIns="0" tIns="0" rIns="0" bIns="0" rtlCol="0" anchor="ctr">
            <a:normAutofit/>
          </a:bodyPr>
          <a:lstStyle/>
          <a:p>
            <a:pPr marL="0" indent="0">
              <a:buNone/>
            </a:pPr>
            <a:r>
              <a:rPr lang="en-US" sz="1000" u="sng" dirty="0">
                <a:solidFill>
                  <a:srgbClr val="72819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Source: Tertiary practitioner observations and the Sarah coaching scenario</a:t>
            </a:r>
            <a:endParaRPr lang="en-US" sz="1000" dirty="0"/>
          </a:p>
        </p:txBody>
      </p:sp>
      <p:sp>
        <p:nvSpPr>
          <p:cNvPr id="30" name="Text 28"/>
          <p:cNvSpPr/>
          <p:nvPr/>
        </p:nvSpPr>
        <p:spPr>
          <a:xfrm>
            <a:off x="9464040" y="6373368"/>
            <a:ext cx="2176272" cy="201168"/>
          </a:xfrm>
          <a:prstGeom prst="rect">
            <a:avLst/>
          </a:prstGeom>
          <a:noFill/>
          <a:ln/>
        </p:spPr>
        <p:txBody>
          <a:bodyPr wrap="square" lIns="0" tIns="0" rIns="0" bIns="0" rtlCol="0" anchor="ctr"/>
          <a:lstStyle/>
          <a:p>
            <a:pPr marL="0" indent="0" algn="r">
              <a:buNone/>
            </a:pPr>
            <a:r>
              <a:rPr lang="en-US" sz="850" b="1" kern="0" spc="6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txBody>
          <a:bodyPr/>
          <a:lstStyle/>
          <a:p>
            <a:endParaRPr lang="en-US"/>
          </a:p>
        </p:txBody>
      </p:sp>
      <p:sp>
        <p:nvSpPr>
          <p:cNvPr id="3" name="Text 1"/>
          <p:cNvSpPr/>
          <p:nvPr/>
        </p:nvSpPr>
        <p:spPr>
          <a:xfrm>
            <a:off x="658368" y="228600"/>
            <a:ext cx="3474720" cy="219456"/>
          </a:xfrm>
          <a:prstGeom prst="rect">
            <a:avLst/>
          </a:prstGeom>
          <a:noFill/>
          <a:ln/>
        </p:spPr>
        <p:txBody>
          <a:bodyPr wrap="square" lIns="0" tIns="0" rIns="0" bIns="0" rtlCol="0" anchor="ctr"/>
          <a:lstStyle/>
          <a:p>
            <a:pPr marL="0" indent="0">
              <a:buNone/>
            </a:pPr>
            <a:r>
              <a:rPr lang="en-US" sz="900" b="1" kern="0" spc="170" dirty="0">
                <a:solidFill>
                  <a:srgbClr val="0B6E75"/>
                </a:solidFill>
                <a:latin typeface="Arial" pitchFamily="34" charset="0"/>
                <a:ea typeface="Arial" pitchFamily="34" charset="-122"/>
                <a:cs typeface="Arial" pitchFamily="34" charset="-120"/>
              </a:rPr>
              <a:t>THE SOLUTION</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marL="0" indent="0" algn="r">
              <a:buNone/>
            </a:pPr>
            <a:r>
              <a:rPr lang="en-US" sz="1000" b="1" dirty="0">
                <a:solidFill>
                  <a:srgbClr val="728197"/>
                </a:solidFill>
                <a:latin typeface="Arial" pitchFamily="34" charset="0"/>
                <a:ea typeface="Arial" pitchFamily="34" charset="-122"/>
                <a:cs typeface="Arial" pitchFamily="34" charset="-120"/>
              </a:rPr>
              <a:t>06</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marL="0" indent="0">
              <a:buNone/>
            </a:pPr>
            <a:r>
              <a:rPr lang="en-US" sz="2900" b="1" dirty="0">
                <a:solidFill>
                  <a:srgbClr val="12233F"/>
                </a:solidFill>
                <a:latin typeface="Arial" pitchFamily="34" charset="0"/>
                <a:ea typeface="Arial" pitchFamily="34" charset="-122"/>
                <a:cs typeface="Arial" pitchFamily="34" charset="-120"/>
              </a:rPr>
              <a:t>The solution is an explicit Human Owner role.</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marL="0" indent="0">
              <a:buNone/>
            </a:pPr>
            <a:r>
              <a:rPr lang="en-US" sz="1500" dirty="0">
                <a:solidFill>
                  <a:srgbClr val="4F6176"/>
                </a:solidFill>
                <a:latin typeface="Arial" pitchFamily="34" charset="0"/>
                <a:ea typeface="Arial" pitchFamily="34" charset="-122"/>
                <a:cs typeface="Arial" pitchFamily="34" charset="-120"/>
              </a:rPr>
              <a:t>Move routine production to the agent and make human decision rights visible.</a:t>
            </a:r>
            <a:endParaRPr lang="en-US" sz="1500" dirty="0"/>
          </a:p>
        </p:txBody>
      </p:sp>
      <p:sp>
        <p:nvSpPr>
          <p:cNvPr id="7" name="Shape 5"/>
          <p:cNvSpPr/>
          <p:nvPr/>
        </p:nvSpPr>
        <p:spPr>
          <a:xfrm>
            <a:off x="640080" y="1783080"/>
            <a:ext cx="3657600" cy="4224528"/>
          </a:xfrm>
          <a:prstGeom prst="roundRect">
            <a:avLst>
              <a:gd name="adj" fmla="val 2500"/>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8" name="Shape 6"/>
          <p:cNvSpPr/>
          <p:nvPr/>
        </p:nvSpPr>
        <p:spPr>
          <a:xfrm>
            <a:off x="932688" y="2057400"/>
            <a:ext cx="914400" cy="310896"/>
          </a:xfrm>
          <a:prstGeom prst="roundRect">
            <a:avLst>
              <a:gd name="adj" fmla="val 47059"/>
            </a:avLst>
          </a:prstGeom>
          <a:solidFill>
            <a:srgbClr val="EEF2F6"/>
          </a:solidFill>
          <a:ln w="12700">
            <a:solidFill>
              <a:srgbClr val="EEF2F6"/>
            </a:solidFill>
            <a:prstDash val="solid"/>
          </a:ln>
        </p:spPr>
        <p:txBody>
          <a:bodyPr/>
          <a:lstStyle/>
          <a:p>
            <a:endParaRPr lang="en-US"/>
          </a:p>
        </p:txBody>
      </p:sp>
      <p:sp>
        <p:nvSpPr>
          <p:cNvPr id="9" name="Text 7"/>
          <p:cNvSpPr/>
          <p:nvPr/>
        </p:nvSpPr>
        <p:spPr>
          <a:xfrm>
            <a:off x="932688" y="2075688"/>
            <a:ext cx="914400" cy="201168"/>
          </a:xfrm>
          <a:prstGeom prst="rect">
            <a:avLst/>
          </a:prstGeom>
          <a:noFill/>
          <a:ln/>
        </p:spPr>
        <p:txBody>
          <a:bodyPr wrap="square" lIns="0" tIns="0" rIns="0" bIns="0" rtlCol="0" anchor="ctr">
            <a:normAutofit/>
          </a:bodyPr>
          <a:lstStyle/>
          <a:p>
            <a:pPr marL="0" indent="0" algn="ctr">
              <a:buNone/>
            </a:pPr>
            <a:r>
              <a:rPr lang="en-US" sz="1000" b="1" dirty="0">
                <a:solidFill>
                  <a:srgbClr val="4F6176"/>
                </a:solidFill>
                <a:latin typeface="Arial" pitchFamily="34" charset="0"/>
                <a:ea typeface="Arial" pitchFamily="34" charset="-122"/>
                <a:cs typeface="Arial" pitchFamily="34" charset="-120"/>
              </a:rPr>
              <a:t>BEFORE</a:t>
            </a:r>
            <a:endParaRPr lang="en-US" sz="1000" dirty="0"/>
          </a:p>
        </p:txBody>
      </p:sp>
      <p:sp>
        <p:nvSpPr>
          <p:cNvPr id="10" name="Text 8"/>
          <p:cNvSpPr/>
          <p:nvPr/>
        </p:nvSpPr>
        <p:spPr>
          <a:xfrm>
            <a:off x="914400" y="2542032"/>
            <a:ext cx="3108960" cy="585216"/>
          </a:xfrm>
          <a:prstGeom prst="rect">
            <a:avLst/>
          </a:prstGeom>
          <a:noFill/>
          <a:ln/>
        </p:spPr>
        <p:txBody>
          <a:bodyPr wrap="square" lIns="0" tIns="0" rIns="0" bIns="0" rtlCol="0" anchor="ctr"/>
          <a:lstStyle/>
          <a:p>
            <a:pPr marL="0" indent="0" algn="ctr">
              <a:buNone/>
            </a:pPr>
            <a:r>
              <a:rPr lang="en-US" sz="3500" b="1" dirty="0">
                <a:solidFill>
                  <a:srgbClr val="12233F"/>
                </a:solidFill>
              </a:rPr>
              <a:t>DOER</a:t>
            </a:r>
            <a:endParaRPr lang="en-US" sz="3500" dirty="0"/>
          </a:p>
        </p:txBody>
      </p:sp>
      <p:sp>
        <p:nvSpPr>
          <p:cNvPr id="11" name="Text 9"/>
          <p:cNvSpPr/>
          <p:nvPr/>
        </p:nvSpPr>
        <p:spPr>
          <a:xfrm>
            <a:off x="1051560" y="3291840"/>
            <a:ext cx="2788920" cy="274320"/>
          </a:xfrm>
          <a:prstGeom prst="rect">
            <a:avLst/>
          </a:prstGeom>
          <a:noFill/>
          <a:ln/>
        </p:spPr>
        <p:txBody>
          <a:bodyPr wrap="square" lIns="0" tIns="0" rIns="0" bIns="0" rtlCol="0" anchor="ctr"/>
          <a:lstStyle/>
          <a:p>
            <a:pPr marL="0" indent="0" algn="ctr">
              <a:buNone/>
            </a:pPr>
            <a:r>
              <a:rPr lang="en-US" sz="1600" dirty="0">
                <a:solidFill>
                  <a:srgbClr val="4F6176"/>
                </a:solidFill>
              </a:rPr>
              <a:t>Draft every output</a:t>
            </a:r>
            <a:endParaRPr lang="en-US" sz="1600" dirty="0"/>
          </a:p>
        </p:txBody>
      </p:sp>
      <p:sp>
        <p:nvSpPr>
          <p:cNvPr id="12" name="Text 10"/>
          <p:cNvSpPr/>
          <p:nvPr/>
        </p:nvSpPr>
        <p:spPr>
          <a:xfrm>
            <a:off x="1051560" y="3794760"/>
            <a:ext cx="2788920" cy="274320"/>
          </a:xfrm>
          <a:prstGeom prst="rect">
            <a:avLst/>
          </a:prstGeom>
          <a:noFill/>
          <a:ln/>
        </p:spPr>
        <p:txBody>
          <a:bodyPr wrap="square" lIns="0" tIns="0" rIns="0" bIns="0" rtlCol="0" anchor="ctr"/>
          <a:lstStyle/>
          <a:p>
            <a:pPr marL="0" indent="0" algn="ctr">
              <a:buNone/>
            </a:pPr>
            <a:r>
              <a:rPr lang="en-US" sz="1600" dirty="0">
                <a:solidFill>
                  <a:srgbClr val="4F6176"/>
                </a:solidFill>
              </a:rPr>
              <a:t>Run every check</a:t>
            </a:r>
            <a:endParaRPr lang="en-US" sz="1600" dirty="0"/>
          </a:p>
        </p:txBody>
      </p:sp>
      <p:sp>
        <p:nvSpPr>
          <p:cNvPr id="13" name="Text 11"/>
          <p:cNvSpPr/>
          <p:nvPr/>
        </p:nvSpPr>
        <p:spPr>
          <a:xfrm>
            <a:off x="1051560" y="4297680"/>
            <a:ext cx="2788920" cy="274320"/>
          </a:xfrm>
          <a:prstGeom prst="rect">
            <a:avLst/>
          </a:prstGeom>
          <a:noFill/>
          <a:ln/>
        </p:spPr>
        <p:txBody>
          <a:bodyPr wrap="square" lIns="0" tIns="0" rIns="0" bIns="0" rtlCol="0" anchor="ctr"/>
          <a:lstStyle/>
          <a:p>
            <a:pPr marL="0" indent="0" algn="ctr">
              <a:buNone/>
            </a:pPr>
            <a:r>
              <a:rPr lang="en-US" sz="1600" dirty="0">
                <a:solidFill>
                  <a:srgbClr val="4F6176"/>
                </a:solidFill>
              </a:rPr>
              <a:t>Handle every routine case</a:t>
            </a:r>
            <a:endParaRPr lang="en-US" sz="1600" dirty="0"/>
          </a:p>
        </p:txBody>
      </p:sp>
      <p:sp>
        <p:nvSpPr>
          <p:cNvPr id="14" name="Text 12"/>
          <p:cNvSpPr/>
          <p:nvPr/>
        </p:nvSpPr>
        <p:spPr>
          <a:xfrm>
            <a:off x="1051560" y="4800600"/>
            <a:ext cx="2788920" cy="274320"/>
          </a:xfrm>
          <a:prstGeom prst="rect">
            <a:avLst/>
          </a:prstGeom>
          <a:noFill/>
          <a:ln/>
        </p:spPr>
        <p:txBody>
          <a:bodyPr wrap="square" lIns="0" tIns="0" rIns="0" bIns="0" rtlCol="0" anchor="ctr"/>
          <a:lstStyle/>
          <a:p>
            <a:pPr marL="0" indent="0" algn="ctr">
              <a:buNone/>
            </a:pPr>
            <a:r>
              <a:rPr lang="en-US" sz="1600" dirty="0">
                <a:solidFill>
                  <a:srgbClr val="4F6176"/>
                </a:solidFill>
              </a:rPr>
              <a:t>Measure effort by volume</a:t>
            </a:r>
            <a:endParaRPr lang="en-US" sz="1600" dirty="0"/>
          </a:p>
        </p:txBody>
      </p:sp>
      <p:sp>
        <p:nvSpPr>
          <p:cNvPr id="15" name="Shape 13"/>
          <p:cNvSpPr/>
          <p:nvPr/>
        </p:nvSpPr>
        <p:spPr>
          <a:xfrm>
            <a:off x="4553712" y="3127248"/>
            <a:ext cx="713232" cy="1097280"/>
          </a:xfrm>
          <a:prstGeom prst="chevron">
            <a:avLst/>
          </a:prstGeom>
          <a:solidFill>
            <a:srgbClr val="F4B942"/>
          </a:solidFill>
          <a:ln w="12700">
            <a:solidFill>
              <a:srgbClr val="F4B942">
                <a:alpha val="0"/>
              </a:srgbClr>
            </a:solidFill>
            <a:prstDash val="solid"/>
          </a:ln>
        </p:spPr>
        <p:txBody>
          <a:bodyPr/>
          <a:lstStyle/>
          <a:p>
            <a:endParaRPr lang="en-US"/>
          </a:p>
        </p:txBody>
      </p:sp>
      <p:sp>
        <p:nvSpPr>
          <p:cNvPr id="16" name="Shape 14"/>
          <p:cNvSpPr/>
          <p:nvPr/>
        </p:nvSpPr>
        <p:spPr>
          <a:xfrm>
            <a:off x="5486400" y="1783080"/>
            <a:ext cx="5989320" cy="4224528"/>
          </a:xfrm>
          <a:prstGeom prst="roundRect">
            <a:avLst>
              <a:gd name="adj" fmla="val 2165"/>
            </a:avLst>
          </a:prstGeom>
          <a:solidFill>
            <a:srgbClr val="092F57"/>
          </a:solidFill>
          <a:ln w="12700">
            <a:solidFill>
              <a:srgbClr val="092F57"/>
            </a:solidFill>
            <a:prstDash val="solid"/>
          </a:ln>
          <a:effectLst>
            <a:outerShdw blurRad="25400" dist="50800" dir="2700000" algn="bl" rotWithShape="0">
              <a:srgbClr val="0B1F33">
                <a:alpha val="12000"/>
              </a:srgbClr>
            </a:outerShdw>
          </a:effectLst>
        </p:spPr>
        <p:txBody>
          <a:bodyPr/>
          <a:lstStyle/>
          <a:p>
            <a:endParaRPr lang="en-US"/>
          </a:p>
        </p:txBody>
      </p:sp>
      <p:sp>
        <p:nvSpPr>
          <p:cNvPr id="17" name="Shape 15"/>
          <p:cNvSpPr/>
          <p:nvPr/>
        </p:nvSpPr>
        <p:spPr>
          <a:xfrm>
            <a:off x="5779008" y="2057400"/>
            <a:ext cx="896112" cy="310896"/>
          </a:xfrm>
          <a:prstGeom prst="roundRect">
            <a:avLst>
              <a:gd name="adj" fmla="val 47059"/>
            </a:avLst>
          </a:prstGeom>
          <a:solidFill>
            <a:srgbClr val="55D6BE"/>
          </a:solidFill>
          <a:ln w="12700">
            <a:solidFill>
              <a:srgbClr val="55D6BE"/>
            </a:solidFill>
            <a:prstDash val="solid"/>
          </a:ln>
        </p:spPr>
        <p:txBody>
          <a:bodyPr/>
          <a:lstStyle/>
          <a:p>
            <a:endParaRPr lang="en-US"/>
          </a:p>
        </p:txBody>
      </p:sp>
      <p:sp>
        <p:nvSpPr>
          <p:cNvPr id="18" name="Text 16"/>
          <p:cNvSpPr/>
          <p:nvPr/>
        </p:nvSpPr>
        <p:spPr>
          <a:xfrm>
            <a:off x="5779008" y="2075688"/>
            <a:ext cx="896112" cy="201168"/>
          </a:xfrm>
          <a:prstGeom prst="rect">
            <a:avLst/>
          </a:prstGeom>
          <a:noFill/>
          <a:ln/>
        </p:spPr>
        <p:txBody>
          <a:bodyPr wrap="square" lIns="0" tIns="0" rIns="0" bIns="0" rtlCol="0" anchor="ctr">
            <a:normAutofit/>
          </a:bodyPr>
          <a:lstStyle/>
          <a:p>
            <a:pPr marL="0" indent="0" algn="ctr">
              <a:buNone/>
            </a:pPr>
            <a:r>
              <a:rPr lang="en-US" sz="1000" b="1" dirty="0">
                <a:solidFill>
                  <a:srgbClr val="092F57"/>
                </a:solidFill>
                <a:latin typeface="Arial" pitchFamily="34" charset="0"/>
                <a:ea typeface="Arial" pitchFamily="34" charset="-122"/>
                <a:cs typeface="Arial" pitchFamily="34" charset="-120"/>
              </a:rPr>
              <a:t>AFTER</a:t>
            </a:r>
            <a:endParaRPr lang="en-US" sz="1000" dirty="0"/>
          </a:p>
        </p:txBody>
      </p:sp>
      <p:sp>
        <p:nvSpPr>
          <p:cNvPr id="19" name="Text 17"/>
          <p:cNvSpPr/>
          <p:nvPr/>
        </p:nvSpPr>
        <p:spPr>
          <a:xfrm>
            <a:off x="5779008" y="2523744"/>
            <a:ext cx="5349240" cy="530352"/>
          </a:xfrm>
          <a:prstGeom prst="rect">
            <a:avLst/>
          </a:prstGeom>
          <a:noFill/>
          <a:ln/>
        </p:spPr>
        <p:txBody>
          <a:bodyPr wrap="square" lIns="0" tIns="0" rIns="0" bIns="0" rtlCol="0" anchor="ctr"/>
          <a:lstStyle/>
          <a:p>
            <a:pPr marL="0" indent="0" algn="ctr">
              <a:buNone/>
            </a:pPr>
            <a:r>
              <a:rPr lang="en-US" sz="3300" b="1" dirty="0">
                <a:solidFill>
                  <a:srgbClr val="FFFFFF"/>
                </a:solidFill>
              </a:rPr>
              <a:t>HUMAN OWNER</a:t>
            </a:r>
            <a:endParaRPr lang="en-US" sz="3300" dirty="0"/>
          </a:p>
        </p:txBody>
      </p:sp>
      <p:sp>
        <p:nvSpPr>
          <p:cNvPr id="20" name="Shape 18"/>
          <p:cNvSpPr/>
          <p:nvPr/>
        </p:nvSpPr>
        <p:spPr>
          <a:xfrm>
            <a:off x="5833872" y="3310128"/>
            <a:ext cx="1572768" cy="960120"/>
          </a:xfrm>
          <a:prstGeom prst="roundRect">
            <a:avLst>
              <a:gd name="adj" fmla="val 7619"/>
            </a:avLst>
          </a:prstGeom>
          <a:solidFill>
            <a:srgbClr val="2F6FED"/>
          </a:solidFill>
          <a:ln w="12700">
            <a:solidFill>
              <a:srgbClr val="2F6FED"/>
            </a:solidFill>
            <a:prstDash val="solid"/>
          </a:ln>
        </p:spPr>
        <p:txBody>
          <a:bodyPr/>
          <a:lstStyle/>
          <a:p>
            <a:endParaRPr lang="en-US"/>
          </a:p>
        </p:txBody>
      </p:sp>
      <p:sp>
        <p:nvSpPr>
          <p:cNvPr id="21" name="Text 19"/>
          <p:cNvSpPr/>
          <p:nvPr/>
        </p:nvSpPr>
        <p:spPr>
          <a:xfrm>
            <a:off x="5925312" y="3456432"/>
            <a:ext cx="1389888" cy="201168"/>
          </a:xfrm>
          <a:prstGeom prst="rect">
            <a:avLst/>
          </a:prstGeom>
          <a:noFill/>
          <a:ln/>
        </p:spPr>
        <p:txBody>
          <a:bodyPr wrap="square" lIns="0" tIns="0" rIns="0" bIns="0" rtlCol="0" anchor="ctr"/>
          <a:lstStyle/>
          <a:p>
            <a:pPr marL="0" indent="0" algn="ctr">
              <a:buNone/>
            </a:pPr>
            <a:r>
              <a:rPr lang="en-US" sz="1150" b="1" kern="0" spc="60" dirty="0">
                <a:solidFill>
                  <a:srgbClr val="FFFFFF"/>
                </a:solidFill>
              </a:rPr>
              <a:t>DIRECT</a:t>
            </a:r>
            <a:endParaRPr lang="en-US" sz="1150" dirty="0"/>
          </a:p>
        </p:txBody>
      </p:sp>
      <p:sp>
        <p:nvSpPr>
          <p:cNvPr id="22" name="Text 20"/>
          <p:cNvSpPr/>
          <p:nvPr/>
        </p:nvSpPr>
        <p:spPr>
          <a:xfrm>
            <a:off x="5925312" y="3739896"/>
            <a:ext cx="1389888" cy="347472"/>
          </a:xfrm>
          <a:prstGeom prst="rect">
            <a:avLst/>
          </a:prstGeom>
          <a:noFill/>
          <a:ln/>
        </p:spPr>
        <p:txBody>
          <a:bodyPr wrap="square" lIns="0" tIns="0" rIns="0" bIns="0" rtlCol="0" anchor="ctr">
            <a:normAutofit lnSpcReduction="10000"/>
          </a:bodyPr>
          <a:lstStyle/>
          <a:p>
            <a:pPr marL="0" indent="0" algn="ctr">
              <a:buNone/>
            </a:pPr>
            <a:r>
              <a:rPr lang="en-US" sz="1150" dirty="0">
                <a:solidFill>
                  <a:srgbClr val="FFFFFF"/>
                </a:solidFill>
              </a:rPr>
              <a:t>Set intent and boundaries</a:t>
            </a:r>
            <a:endParaRPr lang="en-US" sz="1150" dirty="0"/>
          </a:p>
        </p:txBody>
      </p:sp>
      <p:sp>
        <p:nvSpPr>
          <p:cNvPr id="23" name="Shape 21"/>
          <p:cNvSpPr/>
          <p:nvPr/>
        </p:nvSpPr>
        <p:spPr>
          <a:xfrm>
            <a:off x="7607808" y="3310128"/>
            <a:ext cx="1572768" cy="960120"/>
          </a:xfrm>
          <a:prstGeom prst="roundRect">
            <a:avLst>
              <a:gd name="adj" fmla="val 7619"/>
            </a:avLst>
          </a:prstGeom>
          <a:solidFill>
            <a:srgbClr val="0C8A78"/>
          </a:solidFill>
          <a:ln w="12700">
            <a:solidFill>
              <a:srgbClr val="0C8A78"/>
            </a:solidFill>
            <a:prstDash val="solid"/>
          </a:ln>
        </p:spPr>
        <p:txBody>
          <a:bodyPr/>
          <a:lstStyle/>
          <a:p>
            <a:endParaRPr lang="en-US"/>
          </a:p>
        </p:txBody>
      </p:sp>
      <p:sp>
        <p:nvSpPr>
          <p:cNvPr id="24" name="Text 22"/>
          <p:cNvSpPr/>
          <p:nvPr/>
        </p:nvSpPr>
        <p:spPr>
          <a:xfrm>
            <a:off x="7699248" y="3456432"/>
            <a:ext cx="1389888" cy="201168"/>
          </a:xfrm>
          <a:prstGeom prst="rect">
            <a:avLst/>
          </a:prstGeom>
          <a:noFill/>
          <a:ln/>
        </p:spPr>
        <p:txBody>
          <a:bodyPr wrap="square" lIns="0" tIns="0" rIns="0" bIns="0" rtlCol="0" anchor="ctr"/>
          <a:lstStyle/>
          <a:p>
            <a:pPr marL="0" indent="0" algn="ctr">
              <a:buNone/>
            </a:pPr>
            <a:r>
              <a:rPr lang="en-US" sz="1150" b="1" kern="0" spc="60" dirty="0">
                <a:solidFill>
                  <a:srgbClr val="FFFFFF"/>
                </a:solidFill>
              </a:rPr>
              <a:t>CHALLENGE</a:t>
            </a:r>
            <a:endParaRPr lang="en-US" sz="1150" dirty="0"/>
          </a:p>
        </p:txBody>
      </p:sp>
      <p:sp>
        <p:nvSpPr>
          <p:cNvPr id="25" name="Text 23"/>
          <p:cNvSpPr/>
          <p:nvPr/>
        </p:nvSpPr>
        <p:spPr>
          <a:xfrm>
            <a:off x="7699248" y="3739896"/>
            <a:ext cx="1389888" cy="347472"/>
          </a:xfrm>
          <a:prstGeom prst="rect">
            <a:avLst/>
          </a:prstGeom>
          <a:noFill/>
          <a:ln/>
        </p:spPr>
        <p:txBody>
          <a:bodyPr wrap="square" lIns="0" tIns="0" rIns="0" bIns="0" rtlCol="0" anchor="ctr">
            <a:normAutofit lnSpcReduction="10000"/>
          </a:bodyPr>
          <a:lstStyle/>
          <a:p>
            <a:pPr marL="0" indent="0" algn="ctr">
              <a:buNone/>
            </a:pPr>
            <a:r>
              <a:rPr lang="en-US" sz="1150" dirty="0">
                <a:solidFill>
                  <a:srgbClr val="FFFFFF"/>
                </a:solidFill>
              </a:rPr>
              <a:t>Test evidence and assumptions</a:t>
            </a:r>
            <a:endParaRPr lang="en-US" sz="1150" dirty="0"/>
          </a:p>
        </p:txBody>
      </p:sp>
      <p:sp>
        <p:nvSpPr>
          <p:cNvPr id="26" name="Shape 24"/>
          <p:cNvSpPr/>
          <p:nvPr/>
        </p:nvSpPr>
        <p:spPr>
          <a:xfrm>
            <a:off x="9381744" y="3310128"/>
            <a:ext cx="1572768" cy="960120"/>
          </a:xfrm>
          <a:prstGeom prst="roundRect">
            <a:avLst>
              <a:gd name="adj" fmla="val 7619"/>
            </a:avLst>
          </a:prstGeom>
          <a:solidFill>
            <a:srgbClr val="F4B942"/>
          </a:solidFill>
          <a:ln w="12700">
            <a:solidFill>
              <a:srgbClr val="F4B942"/>
            </a:solidFill>
            <a:prstDash val="solid"/>
          </a:ln>
        </p:spPr>
        <p:txBody>
          <a:bodyPr/>
          <a:lstStyle/>
          <a:p>
            <a:endParaRPr lang="en-US"/>
          </a:p>
        </p:txBody>
      </p:sp>
      <p:sp>
        <p:nvSpPr>
          <p:cNvPr id="27" name="Text 25"/>
          <p:cNvSpPr/>
          <p:nvPr/>
        </p:nvSpPr>
        <p:spPr>
          <a:xfrm>
            <a:off x="9473184" y="3456432"/>
            <a:ext cx="1389888" cy="201168"/>
          </a:xfrm>
          <a:prstGeom prst="rect">
            <a:avLst/>
          </a:prstGeom>
          <a:noFill/>
          <a:ln/>
        </p:spPr>
        <p:txBody>
          <a:bodyPr wrap="square" lIns="0" tIns="0" rIns="0" bIns="0" rtlCol="0" anchor="ctr"/>
          <a:lstStyle/>
          <a:p>
            <a:pPr marL="0" indent="0" algn="ctr">
              <a:buNone/>
            </a:pPr>
            <a:r>
              <a:rPr lang="en-US" sz="1150" b="1" kern="0" spc="60" dirty="0">
                <a:solidFill>
                  <a:srgbClr val="092F57"/>
                </a:solidFill>
              </a:rPr>
              <a:t>DECIDE</a:t>
            </a:r>
            <a:endParaRPr lang="en-US" sz="1150" dirty="0"/>
          </a:p>
        </p:txBody>
      </p:sp>
      <p:sp>
        <p:nvSpPr>
          <p:cNvPr id="28" name="Text 26"/>
          <p:cNvSpPr/>
          <p:nvPr/>
        </p:nvSpPr>
        <p:spPr>
          <a:xfrm>
            <a:off x="9473184" y="3739896"/>
            <a:ext cx="1389888" cy="347472"/>
          </a:xfrm>
          <a:prstGeom prst="rect">
            <a:avLst/>
          </a:prstGeom>
          <a:noFill/>
          <a:ln/>
        </p:spPr>
        <p:txBody>
          <a:bodyPr wrap="square" lIns="0" tIns="0" rIns="0" bIns="0" rtlCol="0" anchor="ctr">
            <a:normAutofit lnSpcReduction="10000"/>
          </a:bodyPr>
          <a:lstStyle/>
          <a:p>
            <a:pPr marL="0" indent="0" algn="ctr">
              <a:buNone/>
            </a:pPr>
            <a:r>
              <a:rPr lang="en-US" sz="1150" dirty="0">
                <a:solidFill>
                  <a:srgbClr val="092F57"/>
                </a:solidFill>
              </a:rPr>
              <a:t>Approve consequential actions</a:t>
            </a:r>
            <a:endParaRPr lang="en-US" sz="1150" dirty="0"/>
          </a:p>
        </p:txBody>
      </p:sp>
      <p:sp>
        <p:nvSpPr>
          <p:cNvPr id="29" name="Shape 27"/>
          <p:cNvSpPr/>
          <p:nvPr/>
        </p:nvSpPr>
        <p:spPr>
          <a:xfrm>
            <a:off x="6720840" y="4590288"/>
            <a:ext cx="1572768" cy="960120"/>
          </a:xfrm>
          <a:prstGeom prst="roundRect">
            <a:avLst>
              <a:gd name="adj" fmla="val 7619"/>
            </a:avLst>
          </a:prstGeom>
          <a:solidFill>
            <a:srgbClr val="F5665C"/>
          </a:solidFill>
          <a:ln w="12700">
            <a:solidFill>
              <a:srgbClr val="F5665C"/>
            </a:solidFill>
            <a:prstDash val="solid"/>
          </a:ln>
        </p:spPr>
        <p:txBody>
          <a:bodyPr/>
          <a:lstStyle/>
          <a:p>
            <a:endParaRPr lang="en-US"/>
          </a:p>
        </p:txBody>
      </p:sp>
      <p:sp>
        <p:nvSpPr>
          <p:cNvPr id="30" name="Text 28"/>
          <p:cNvSpPr/>
          <p:nvPr/>
        </p:nvSpPr>
        <p:spPr>
          <a:xfrm>
            <a:off x="6812280" y="4736592"/>
            <a:ext cx="1389888" cy="201168"/>
          </a:xfrm>
          <a:prstGeom prst="rect">
            <a:avLst/>
          </a:prstGeom>
          <a:noFill/>
          <a:ln/>
        </p:spPr>
        <p:txBody>
          <a:bodyPr wrap="square" lIns="0" tIns="0" rIns="0" bIns="0" rtlCol="0" anchor="ctr"/>
          <a:lstStyle/>
          <a:p>
            <a:pPr marL="0" indent="0" algn="ctr">
              <a:buNone/>
            </a:pPr>
            <a:r>
              <a:rPr lang="en-US" sz="1150" b="1" kern="0" spc="60" dirty="0">
                <a:solidFill>
                  <a:srgbClr val="FFFFFF"/>
                </a:solidFill>
              </a:rPr>
              <a:t>ESCALATE</a:t>
            </a:r>
            <a:endParaRPr lang="en-US" sz="1150" dirty="0"/>
          </a:p>
        </p:txBody>
      </p:sp>
      <p:sp>
        <p:nvSpPr>
          <p:cNvPr id="31" name="Text 29"/>
          <p:cNvSpPr/>
          <p:nvPr/>
        </p:nvSpPr>
        <p:spPr>
          <a:xfrm>
            <a:off x="6812280" y="5020056"/>
            <a:ext cx="1389888" cy="347472"/>
          </a:xfrm>
          <a:prstGeom prst="rect">
            <a:avLst/>
          </a:prstGeom>
          <a:noFill/>
          <a:ln/>
        </p:spPr>
        <p:txBody>
          <a:bodyPr wrap="square" lIns="0" tIns="0" rIns="0" bIns="0" rtlCol="0" anchor="ctr">
            <a:normAutofit lnSpcReduction="10000"/>
          </a:bodyPr>
          <a:lstStyle/>
          <a:p>
            <a:pPr marL="0" indent="0" algn="ctr">
              <a:buNone/>
            </a:pPr>
            <a:r>
              <a:rPr lang="en-US" sz="1150" dirty="0">
                <a:solidFill>
                  <a:srgbClr val="FFFFFF"/>
                </a:solidFill>
              </a:rPr>
              <a:t>Own exceptions and recovery</a:t>
            </a:r>
            <a:endParaRPr lang="en-US" sz="1150" dirty="0"/>
          </a:p>
        </p:txBody>
      </p:sp>
      <p:sp>
        <p:nvSpPr>
          <p:cNvPr id="32" name="Shape 30"/>
          <p:cNvSpPr/>
          <p:nvPr/>
        </p:nvSpPr>
        <p:spPr>
          <a:xfrm>
            <a:off x="8503920" y="4590288"/>
            <a:ext cx="1572768" cy="960120"/>
          </a:xfrm>
          <a:prstGeom prst="roundRect">
            <a:avLst>
              <a:gd name="adj" fmla="val 7619"/>
            </a:avLst>
          </a:prstGeom>
          <a:solidFill>
            <a:srgbClr val="6B55C9"/>
          </a:solidFill>
          <a:ln w="12700">
            <a:solidFill>
              <a:srgbClr val="6B55C9"/>
            </a:solidFill>
            <a:prstDash val="solid"/>
          </a:ln>
        </p:spPr>
        <p:txBody>
          <a:bodyPr/>
          <a:lstStyle/>
          <a:p>
            <a:endParaRPr lang="en-US"/>
          </a:p>
        </p:txBody>
      </p:sp>
      <p:sp>
        <p:nvSpPr>
          <p:cNvPr id="33" name="Text 31"/>
          <p:cNvSpPr/>
          <p:nvPr/>
        </p:nvSpPr>
        <p:spPr>
          <a:xfrm>
            <a:off x="8595360" y="4736592"/>
            <a:ext cx="1389888" cy="201168"/>
          </a:xfrm>
          <a:prstGeom prst="rect">
            <a:avLst/>
          </a:prstGeom>
          <a:noFill/>
          <a:ln/>
        </p:spPr>
        <p:txBody>
          <a:bodyPr wrap="square" lIns="0" tIns="0" rIns="0" bIns="0" rtlCol="0" anchor="ctr"/>
          <a:lstStyle/>
          <a:p>
            <a:pPr marL="0" indent="0" algn="ctr">
              <a:buNone/>
            </a:pPr>
            <a:r>
              <a:rPr lang="en-US" sz="1150" b="1" kern="0" spc="60" dirty="0">
                <a:solidFill>
                  <a:srgbClr val="FFFFFF"/>
                </a:solidFill>
              </a:rPr>
              <a:t>IMPROVE</a:t>
            </a:r>
            <a:endParaRPr lang="en-US" sz="1150" dirty="0"/>
          </a:p>
        </p:txBody>
      </p:sp>
      <p:sp>
        <p:nvSpPr>
          <p:cNvPr id="34" name="Text 32"/>
          <p:cNvSpPr/>
          <p:nvPr/>
        </p:nvSpPr>
        <p:spPr>
          <a:xfrm>
            <a:off x="8595360" y="5020056"/>
            <a:ext cx="1389888" cy="347472"/>
          </a:xfrm>
          <a:prstGeom prst="rect">
            <a:avLst/>
          </a:prstGeom>
          <a:noFill/>
          <a:ln/>
        </p:spPr>
        <p:txBody>
          <a:bodyPr wrap="square" lIns="0" tIns="0" rIns="0" bIns="0" rtlCol="0" anchor="ctr">
            <a:normAutofit lnSpcReduction="10000"/>
          </a:bodyPr>
          <a:lstStyle/>
          <a:p>
            <a:pPr marL="0" indent="0" algn="ctr">
              <a:buNone/>
            </a:pPr>
            <a:r>
              <a:rPr lang="en-US" sz="1150" dirty="0">
                <a:solidFill>
                  <a:srgbClr val="FFFFFF"/>
                </a:solidFill>
              </a:rPr>
              <a:t>Refine prompts, tools and rules</a:t>
            </a:r>
            <a:endParaRPr lang="en-US" sz="1150" dirty="0"/>
          </a:p>
        </p:txBody>
      </p:sp>
      <p:sp>
        <p:nvSpPr>
          <p:cNvPr id="35" name="Text 33">
            <a:hlinkClick r:id="rId3"/>
          </p:cNvPr>
          <p:cNvSpPr/>
          <p:nvPr/>
        </p:nvSpPr>
        <p:spPr>
          <a:xfrm>
            <a:off x="658368" y="6355080"/>
            <a:ext cx="9921240" cy="219456"/>
          </a:xfrm>
          <a:prstGeom prst="rect">
            <a:avLst/>
          </a:prstGeom>
          <a:noFill/>
          <a:ln/>
        </p:spPr>
        <p:txBody>
          <a:bodyPr wrap="square" lIns="0" tIns="0" rIns="0" bIns="0" rtlCol="0" anchor="ctr">
            <a:normAutofit/>
          </a:bodyPr>
          <a:lstStyle/>
          <a:p>
            <a:pPr marL="0" indent="0">
              <a:buNone/>
            </a:pPr>
            <a:r>
              <a:rPr lang="en-US" sz="1000" u="sng" dirty="0">
                <a:solidFill>
                  <a:srgbClr val="72819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Work redesign pattern: human direction, challenge, approval, escalation and continuous improvement</a:t>
            </a:r>
            <a:endParaRPr lang="en-US" sz="1000" dirty="0"/>
          </a:p>
        </p:txBody>
      </p:sp>
      <p:sp>
        <p:nvSpPr>
          <p:cNvPr id="36" name="Text 34"/>
          <p:cNvSpPr/>
          <p:nvPr/>
        </p:nvSpPr>
        <p:spPr>
          <a:xfrm>
            <a:off x="9464040" y="6373368"/>
            <a:ext cx="2176272" cy="201168"/>
          </a:xfrm>
          <a:prstGeom prst="rect">
            <a:avLst/>
          </a:prstGeom>
          <a:noFill/>
          <a:ln/>
        </p:spPr>
        <p:txBody>
          <a:bodyPr wrap="square" lIns="0" tIns="0" rIns="0" bIns="0" rtlCol="0" anchor="ctr"/>
          <a:lstStyle/>
          <a:p>
            <a:pPr marL="0" indent="0" algn="r">
              <a:buNone/>
            </a:pPr>
            <a:r>
              <a:rPr lang="en-US" sz="850" b="1" kern="0" spc="6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Coaching Staff Through the Change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Acknowledge the fear</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Explore their strengths</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Show the redesigned role</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Co-create next steps</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Agree support and training</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This mirrors the GROW coaching model — Goal, Reality, Options, Will.</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 Job-Redesign Framework</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List today's tasks</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Mark which agents can do</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Redesign the human role around judgement</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Add agent-management skills</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Retrain and support</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The goal is a role that supervises agents, not one that competes with them.</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S48</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txBody>
          <a:bodyPr/>
          <a:lstStyle/>
          <a:p>
            <a:endParaRPr lang="en-US"/>
          </a:p>
        </p:txBody>
      </p:sp>
      <p:sp>
        <p:nvSpPr>
          <p:cNvPr id="3" name="Text 1"/>
          <p:cNvSpPr/>
          <p:nvPr/>
        </p:nvSpPr>
        <p:spPr>
          <a:xfrm>
            <a:off x="658368" y="228600"/>
            <a:ext cx="3474720" cy="219456"/>
          </a:xfrm>
          <a:prstGeom prst="rect">
            <a:avLst/>
          </a:prstGeom>
          <a:noFill/>
          <a:ln/>
        </p:spPr>
        <p:txBody>
          <a:bodyPr wrap="square" lIns="0" tIns="0" rIns="0" bIns="0" rtlCol="0" anchor="ctr"/>
          <a:lstStyle/>
          <a:p>
            <a:pPr marL="0" indent="0">
              <a:buNone/>
            </a:pPr>
            <a:r>
              <a:rPr lang="en-US" sz="900" b="1" kern="0" spc="170" dirty="0">
                <a:solidFill>
                  <a:srgbClr val="0B6E75"/>
                </a:solidFill>
                <a:latin typeface="Arial" pitchFamily="34" charset="0"/>
                <a:ea typeface="Arial" pitchFamily="34" charset="-122"/>
                <a:cs typeface="Arial" pitchFamily="34" charset="-120"/>
              </a:rPr>
              <a:t>THE INTERVENTION</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marL="0" indent="0" algn="r">
              <a:buNone/>
            </a:pPr>
            <a:r>
              <a:rPr lang="en-US" sz="1000" b="1" dirty="0">
                <a:solidFill>
                  <a:srgbClr val="728197"/>
                </a:solidFill>
                <a:latin typeface="Arial" pitchFamily="34" charset="0"/>
                <a:ea typeface="Arial" pitchFamily="34" charset="-122"/>
                <a:cs typeface="Arial" pitchFamily="34" charset="-120"/>
              </a:rPr>
              <a:t>07</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marL="0" indent="0">
              <a:buNone/>
            </a:pPr>
            <a:r>
              <a:rPr lang="en-US" sz="2900" b="1" dirty="0">
                <a:solidFill>
                  <a:srgbClr val="12233F"/>
                </a:solidFill>
                <a:latin typeface="Arial" pitchFamily="34" charset="0"/>
                <a:ea typeface="Arial" pitchFamily="34" charset="-122"/>
                <a:cs typeface="Arial" pitchFamily="34" charset="-120"/>
              </a:rPr>
              <a:t>Turn resistance into a redesign conversation.</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marL="0" indent="0">
              <a:buNone/>
            </a:pPr>
            <a:r>
              <a:rPr lang="en-US" sz="1500" dirty="0">
                <a:solidFill>
                  <a:srgbClr val="4F6176"/>
                </a:solidFill>
                <a:latin typeface="Arial" pitchFamily="34" charset="0"/>
                <a:ea typeface="Arial" pitchFamily="34" charset="-122"/>
                <a:cs typeface="Arial" pitchFamily="34" charset="-120"/>
              </a:rPr>
              <a:t>Use GROW to surface the fear, identify strengths and co-create a safe experiment.</a:t>
            </a:r>
            <a:endParaRPr lang="en-US" sz="1500" dirty="0"/>
          </a:p>
        </p:txBody>
      </p:sp>
      <p:sp>
        <p:nvSpPr>
          <p:cNvPr id="7" name="Shape 5"/>
          <p:cNvSpPr/>
          <p:nvPr/>
        </p:nvSpPr>
        <p:spPr>
          <a:xfrm>
            <a:off x="658368" y="1874520"/>
            <a:ext cx="2487168" cy="3063240"/>
          </a:xfrm>
          <a:prstGeom prst="roundRect">
            <a:avLst>
              <a:gd name="adj" fmla="val 3676"/>
            </a:avLst>
          </a:prstGeom>
          <a:solidFill>
            <a:srgbClr val="FFFFFF"/>
          </a:solidFill>
          <a:ln w="12700">
            <a:solidFill>
              <a:srgbClr val="2F6FED"/>
            </a:solidFill>
            <a:prstDash val="solid"/>
          </a:ln>
          <a:effectLst>
            <a:outerShdw blurRad="25400" dist="50800" dir="2700000" algn="bl" rotWithShape="0">
              <a:srgbClr val="0B1F33">
                <a:alpha val="12000"/>
              </a:srgbClr>
            </a:outerShdw>
          </a:effectLst>
        </p:spPr>
        <p:txBody>
          <a:bodyPr/>
          <a:lstStyle/>
          <a:p>
            <a:endParaRPr lang="en-US"/>
          </a:p>
        </p:txBody>
      </p:sp>
      <p:sp>
        <p:nvSpPr>
          <p:cNvPr id="8" name="Shape 6"/>
          <p:cNvSpPr/>
          <p:nvPr/>
        </p:nvSpPr>
        <p:spPr>
          <a:xfrm>
            <a:off x="1499616" y="2121408"/>
            <a:ext cx="804672" cy="804672"/>
          </a:xfrm>
          <a:prstGeom prst="ellipse">
            <a:avLst/>
          </a:prstGeom>
          <a:solidFill>
            <a:srgbClr val="2F6FED"/>
          </a:solidFill>
          <a:ln w="12700">
            <a:solidFill>
              <a:srgbClr val="2F6FED"/>
            </a:solidFill>
            <a:prstDash val="solid"/>
          </a:ln>
        </p:spPr>
        <p:txBody>
          <a:bodyPr/>
          <a:lstStyle/>
          <a:p>
            <a:endParaRPr lang="en-US"/>
          </a:p>
        </p:txBody>
      </p:sp>
      <p:sp>
        <p:nvSpPr>
          <p:cNvPr id="9" name="Text 7"/>
          <p:cNvSpPr/>
          <p:nvPr/>
        </p:nvSpPr>
        <p:spPr>
          <a:xfrm>
            <a:off x="1499616" y="2322576"/>
            <a:ext cx="804672" cy="321869"/>
          </a:xfrm>
          <a:prstGeom prst="rect">
            <a:avLst/>
          </a:prstGeom>
          <a:noFill/>
          <a:ln/>
        </p:spPr>
        <p:txBody>
          <a:bodyPr wrap="square" lIns="0" tIns="0" rIns="0" bIns="0" rtlCol="0" anchor="ctr">
            <a:normAutofit fontScale="92500" lnSpcReduction="20000"/>
          </a:bodyPr>
          <a:lstStyle/>
          <a:p>
            <a:pPr marL="0" indent="0" algn="ctr">
              <a:buNone/>
            </a:pPr>
            <a:r>
              <a:rPr lang="en-US" sz="2600" b="1" dirty="0">
                <a:solidFill>
                  <a:srgbClr val="FFFFFF"/>
                </a:solidFill>
                <a:latin typeface="Arial" pitchFamily="34" charset="0"/>
                <a:ea typeface="Arial" pitchFamily="34" charset="-122"/>
                <a:cs typeface="Arial" pitchFamily="34" charset="-120"/>
              </a:rPr>
              <a:t>G</a:t>
            </a:r>
            <a:endParaRPr lang="en-US" sz="2600" dirty="0"/>
          </a:p>
        </p:txBody>
      </p:sp>
      <p:sp>
        <p:nvSpPr>
          <p:cNvPr id="10" name="Text 8"/>
          <p:cNvSpPr/>
          <p:nvPr/>
        </p:nvSpPr>
        <p:spPr>
          <a:xfrm>
            <a:off x="859536" y="3108960"/>
            <a:ext cx="2084832" cy="274320"/>
          </a:xfrm>
          <a:prstGeom prst="rect">
            <a:avLst/>
          </a:prstGeom>
          <a:noFill/>
          <a:ln/>
        </p:spPr>
        <p:txBody>
          <a:bodyPr wrap="square" lIns="0" tIns="0" rIns="0" bIns="0" rtlCol="0" anchor="ctr"/>
          <a:lstStyle/>
          <a:p>
            <a:pPr marL="0" indent="0" algn="ctr">
              <a:buNone/>
            </a:pPr>
            <a:r>
              <a:rPr lang="en-US" sz="1300" b="1" kern="0" spc="110" dirty="0">
                <a:solidFill>
                  <a:srgbClr val="2F6FED"/>
                </a:solidFill>
              </a:rPr>
              <a:t>GOAL</a:t>
            </a:r>
            <a:endParaRPr lang="en-US" sz="1300" dirty="0"/>
          </a:p>
        </p:txBody>
      </p:sp>
      <p:sp>
        <p:nvSpPr>
          <p:cNvPr id="11" name="Text 9"/>
          <p:cNvSpPr/>
          <p:nvPr/>
        </p:nvSpPr>
        <p:spPr>
          <a:xfrm>
            <a:off x="914400" y="3657600"/>
            <a:ext cx="1975104" cy="749808"/>
          </a:xfrm>
          <a:prstGeom prst="rect">
            <a:avLst/>
          </a:prstGeom>
          <a:noFill/>
          <a:ln/>
        </p:spPr>
        <p:txBody>
          <a:bodyPr wrap="square" lIns="0" tIns="0" rIns="0" bIns="0" rtlCol="0" anchor="ctr">
            <a:normAutofit/>
          </a:bodyPr>
          <a:lstStyle/>
          <a:p>
            <a:pPr marL="0" indent="0" algn="ctr">
              <a:buNone/>
            </a:pPr>
            <a:r>
              <a:rPr lang="en-US" sz="1750" b="1" dirty="0">
                <a:solidFill>
                  <a:srgbClr val="12233F"/>
                </a:solidFill>
              </a:rPr>
              <a:t>What outcome would be useful?</a:t>
            </a:r>
            <a:endParaRPr lang="en-US" sz="1750" dirty="0"/>
          </a:p>
        </p:txBody>
      </p:sp>
      <p:sp>
        <p:nvSpPr>
          <p:cNvPr id="12" name="Shape 10"/>
          <p:cNvSpPr/>
          <p:nvPr/>
        </p:nvSpPr>
        <p:spPr>
          <a:xfrm>
            <a:off x="3419856" y="1874520"/>
            <a:ext cx="2487168" cy="3063240"/>
          </a:xfrm>
          <a:prstGeom prst="roundRect">
            <a:avLst>
              <a:gd name="adj" fmla="val 3676"/>
            </a:avLst>
          </a:prstGeom>
          <a:solidFill>
            <a:srgbClr val="FFFFFF"/>
          </a:solidFill>
          <a:ln w="12700">
            <a:solidFill>
              <a:srgbClr val="0C8A78"/>
            </a:solidFill>
            <a:prstDash val="solid"/>
          </a:ln>
          <a:effectLst>
            <a:outerShdw blurRad="25400" dist="50800" dir="2700000" algn="bl" rotWithShape="0">
              <a:srgbClr val="0B1F33">
                <a:alpha val="12000"/>
              </a:srgbClr>
            </a:outerShdw>
          </a:effectLst>
        </p:spPr>
        <p:txBody>
          <a:bodyPr/>
          <a:lstStyle/>
          <a:p>
            <a:endParaRPr lang="en-US"/>
          </a:p>
        </p:txBody>
      </p:sp>
      <p:sp>
        <p:nvSpPr>
          <p:cNvPr id="13" name="Shape 11"/>
          <p:cNvSpPr/>
          <p:nvPr/>
        </p:nvSpPr>
        <p:spPr>
          <a:xfrm>
            <a:off x="4261104" y="2121408"/>
            <a:ext cx="804672" cy="804672"/>
          </a:xfrm>
          <a:prstGeom prst="ellipse">
            <a:avLst/>
          </a:prstGeom>
          <a:solidFill>
            <a:srgbClr val="0C8A78"/>
          </a:solidFill>
          <a:ln w="12700">
            <a:solidFill>
              <a:srgbClr val="0C8A78"/>
            </a:solidFill>
            <a:prstDash val="solid"/>
          </a:ln>
        </p:spPr>
        <p:txBody>
          <a:bodyPr/>
          <a:lstStyle/>
          <a:p>
            <a:endParaRPr lang="en-US"/>
          </a:p>
        </p:txBody>
      </p:sp>
      <p:sp>
        <p:nvSpPr>
          <p:cNvPr id="14" name="Text 12"/>
          <p:cNvSpPr/>
          <p:nvPr/>
        </p:nvSpPr>
        <p:spPr>
          <a:xfrm>
            <a:off x="4261104" y="2322576"/>
            <a:ext cx="804672" cy="321869"/>
          </a:xfrm>
          <a:prstGeom prst="rect">
            <a:avLst/>
          </a:prstGeom>
          <a:noFill/>
          <a:ln/>
        </p:spPr>
        <p:txBody>
          <a:bodyPr wrap="square" lIns="0" tIns="0" rIns="0" bIns="0" rtlCol="0" anchor="ctr">
            <a:normAutofit fontScale="92500" lnSpcReduction="20000"/>
          </a:bodyPr>
          <a:lstStyle/>
          <a:p>
            <a:pPr marL="0" indent="0" algn="ctr">
              <a:buNone/>
            </a:pPr>
            <a:r>
              <a:rPr lang="en-US" sz="2600" b="1" dirty="0">
                <a:solidFill>
                  <a:srgbClr val="FFFFFF"/>
                </a:solidFill>
                <a:latin typeface="Arial" pitchFamily="34" charset="0"/>
                <a:ea typeface="Arial" pitchFamily="34" charset="-122"/>
                <a:cs typeface="Arial" pitchFamily="34" charset="-120"/>
              </a:rPr>
              <a:t>R</a:t>
            </a:r>
            <a:endParaRPr lang="en-US" sz="2600" dirty="0"/>
          </a:p>
        </p:txBody>
      </p:sp>
      <p:sp>
        <p:nvSpPr>
          <p:cNvPr id="15" name="Text 13"/>
          <p:cNvSpPr/>
          <p:nvPr/>
        </p:nvSpPr>
        <p:spPr>
          <a:xfrm>
            <a:off x="3621024" y="3108960"/>
            <a:ext cx="2084832" cy="274320"/>
          </a:xfrm>
          <a:prstGeom prst="rect">
            <a:avLst/>
          </a:prstGeom>
          <a:noFill/>
          <a:ln/>
        </p:spPr>
        <p:txBody>
          <a:bodyPr wrap="square" lIns="0" tIns="0" rIns="0" bIns="0" rtlCol="0" anchor="ctr"/>
          <a:lstStyle/>
          <a:p>
            <a:pPr marL="0" indent="0" algn="ctr">
              <a:buNone/>
            </a:pPr>
            <a:r>
              <a:rPr lang="en-US" sz="1300" b="1" kern="0" spc="110" dirty="0">
                <a:solidFill>
                  <a:srgbClr val="0C8A78"/>
                </a:solidFill>
              </a:rPr>
              <a:t>REALITY</a:t>
            </a:r>
            <a:endParaRPr lang="en-US" sz="1300" dirty="0"/>
          </a:p>
        </p:txBody>
      </p:sp>
      <p:sp>
        <p:nvSpPr>
          <p:cNvPr id="16" name="Text 14"/>
          <p:cNvSpPr/>
          <p:nvPr/>
        </p:nvSpPr>
        <p:spPr>
          <a:xfrm>
            <a:off x="3675888" y="3657600"/>
            <a:ext cx="1975104" cy="749808"/>
          </a:xfrm>
          <a:prstGeom prst="rect">
            <a:avLst/>
          </a:prstGeom>
          <a:noFill/>
          <a:ln/>
        </p:spPr>
        <p:txBody>
          <a:bodyPr wrap="square" lIns="0" tIns="0" rIns="0" bIns="0" rtlCol="0" anchor="ctr">
            <a:normAutofit lnSpcReduction="10000"/>
          </a:bodyPr>
          <a:lstStyle/>
          <a:p>
            <a:pPr marL="0" indent="0" algn="ctr">
              <a:buNone/>
            </a:pPr>
            <a:r>
              <a:rPr lang="en-US" sz="1750" b="1" dirty="0">
                <a:solidFill>
                  <a:srgbClr val="12233F"/>
                </a:solidFill>
              </a:rPr>
              <a:t>What concerns you? Which strengths matter?</a:t>
            </a:r>
            <a:endParaRPr lang="en-US" sz="1750" dirty="0"/>
          </a:p>
        </p:txBody>
      </p:sp>
      <p:sp>
        <p:nvSpPr>
          <p:cNvPr id="17" name="Shape 15"/>
          <p:cNvSpPr/>
          <p:nvPr/>
        </p:nvSpPr>
        <p:spPr>
          <a:xfrm>
            <a:off x="6181344" y="1874520"/>
            <a:ext cx="2487168" cy="3063240"/>
          </a:xfrm>
          <a:prstGeom prst="roundRect">
            <a:avLst>
              <a:gd name="adj" fmla="val 3676"/>
            </a:avLst>
          </a:prstGeom>
          <a:solidFill>
            <a:srgbClr val="FFFFFF"/>
          </a:solidFill>
          <a:ln w="12700">
            <a:solidFill>
              <a:srgbClr val="6B55C9"/>
            </a:solidFill>
            <a:prstDash val="solid"/>
          </a:ln>
          <a:effectLst>
            <a:outerShdw blurRad="25400" dist="50800" dir="2700000" algn="bl" rotWithShape="0">
              <a:srgbClr val="0B1F33">
                <a:alpha val="12000"/>
              </a:srgbClr>
            </a:outerShdw>
          </a:effectLst>
        </p:spPr>
        <p:txBody>
          <a:bodyPr/>
          <a:lstStyle/>
          <a:p>
            <a:endParaRPr lang="en-US"/>
          </a:p>
        </p:txBody>
      </p:sp>
      <p:sp>
        <p:nvSpPr>
          <p:cNvPr id="18" name="Shape 16"/>
          <p:cNvSpPr/>
          <p:nvPr/>
        </p:nvSpPr>
        <p:spPr>
          <a:xfrm>
            <a:off x="7022592" y="2121408"/>
            <a:ext cx="804672" cy="804672"/>
          </a:xfrm>
          <a:prstGeom prst="ellipse">
            <a:avLst/>
          </a:prstGeom>
          <a:solidFill>
            <a:srgbClr val="6B55C9"/>
          </a:solidFill>
          <a:ln w="12700">
            <a:solidFill>
              <a:srgbClr val="6B55C9"/>
            </a:solidFill>
            <a:prstDash val="solid"/>
          </a:ln>
        </p:spPr>
        <p:txBody>
          <a:bodyPr/>
          <a:lstStyle/>
          <a:p>
            <a:endParaRPr lang="en-US"/>
          </a:p>
        </p:txBody>
      </p:sp>
      <p:sp>
        <p:nvSpPr>
          <p:cNvPr id="19" name="Text 17"/>
          <p:cNvSpPr/>
          <p:nvPr/>
        </p:nvSpPr>
        <p:spPr>
          <a:xfrm>
            <a:off x="7022592" y="2322576"/>
            <a:ext cx="804672" cy="321869"/>
          </a:xfrm>
          <a:prstGeom prst="rect">
            <a:avLst/>
          </a:prstGeom>
          <a:noFill/>
          <a:ln/>
        </p:spPr>
        <p:txBody>
          <a:bodyPr wrap="square" lIns="0" tIns="0" rIns="0" bIns="0" rtlCol="0" anchor="ctr">
            <a:normAutofit fontScale="92500" lnSpcReduction="20000"/>
          </a:bodyPr>
          <a:lstStyle/>
          <a:p>
            <a:pPr marL="0" indent="0" algn="ctr">
              <a:buNone/>
            </a:pPr>
            <a:r>
              <a:rPr lang="en-US" sz="2600" b="1" dirty="0">
                <a:solidFill>
                  <a:srgbClr val="FFFFFF"/>
                </a:solidFill>
                <a:latin typeface="Arial" pitchFamily="34" charset="0"/>
                <a:ea typeface="Arial" pitchFamily="34" charset="-122"/>
                <a:cs typeface="Arial" pitchFamily="34" charset="-120"/>
              </a:rPr>
              <a:t>O</a:t>
            </a:r>
            <a:endParaRPr lang="en-US" sz="2600" dirty="0"/>
          </a:p>
        </p:txBody>
      </p:sp>
      <p:sp>
        <p:nvSpPr>
          <p:cNvPr id="20" name="Text 18"/>
          <p:cNvSpPr/>
          <p:nvPr/>
        </p:nvSpPr>
        <p:spPr>
          <a:xfrm>
            <a:off x="6382512" y="3108960"/>
            <a:ext cx="2084832" cy="274320"/>
          </a:xfrm>
          <a:prstGeom prst="rect">
            <a:avLst/>
          </a:prstGeom>
          <a:noFill/>
          <a:ln/>
        </p:spPr>
        <p:txBody>
          <a:bodyPr wrap="square" lIns="0" tIns="0" rIns="0" bIns="0" rtlCol="0" anchor="ctr"/>
          <a:lstStyle/>
          <a:p>
            <a:pPr marL="0" indent="0" algn="ctr">
              <a:buNone/>
            </a:pPr>
            <a:r>
              <a:rPr lang="en-US" sz="1300" b="1" kern="0" spc="110" dirty="0">
                <a:solidFill>
                  <a:srgbClr val="6B55C9"/>
                </a:solidFill>
              </a:rPr>
              <a:t>OPTIONS</a:t>
            </a:r>
            <a:endParaRPr lang="en-US" sz="1300" dirty="0"/>
          </a:p>
        </p:txBody>
      </p:sp>
      <p:sp>
        <p:nvSpPr>
          <p:cNvPr id="21" name="Text 19"/>
          <p:cNvSpPr/>
          <p:nvPr/>
        </p:nvSpPr>
        <p:spPr>
          <a:xfrm>
            <a:off x="6437376" y="3657600"/>
            <a:ext cx="1975104" cy="749808"/>
          </a:xfrm>
          <a:prstGeom prst="rect">
            <a:avLst/>
          </a:prstGeom>
          <a:noFill/>
          <a:ln/>
        </p:spPr>
        <p:txBody>
          <a:bodyPr wrap="square" lIns="0" tIns="0" rIns="0" bIns="0" rtlCol="0" anchor="ctr">
            <a:normAutofit/>
          </a:bodyPr>
          <a:lstStyle/>
          <a:p>
            <a:pPr marL="0" indent="0" algn="ctr">
              <a:buNone/>
            </a:pPr>
            <a:r>
              <a:rPr lang="en-US" sz="1750" b="1" dirty="0">
                <a:solidFill>
                  <a:srgbClr val="12233F"/>
                </a:solidFill>
              </a:rPr>
              <a:t>What could you own, review or decide?</a:t>
            </a:r>
            <a:endParaRPr lang="en-US" sz="1750" dirty="0"/>
          </a:p>
        </p:txBody>
      </p:sp>
      <p:sp>
        <p:nvSpPr>
          <p:cNvPr id="22" name="Shape 20"/>
          <p:cNvSpPr/>
          <p:nvPr/>
        </p:nvSpPr>
        <p:spPr>
          <a:xfrm>
            <a:off x="8942832" y="1874520"/>
            <a:ext cx="2487168" cy="3063240"/>
          </a:xfrm>
          <a:prstGeom prst="roundRect">
            <a:avLst>
              <a:gd name="adj" fmla="val 3676"/>
            </a:avLst>
          </a:prstGeom>
          <a:solidFill>
            <a:srgbClr val="FFFFFF"/>
          </a:solidFill>
          <a:ln w="12700">
            <a:solidFill>
              <a:srgbClr val="F4B942"/>
            </a:solidFill>
            <a:prstDash val="solid"/>
          </a:ln>
          <a:effectLst>
            <a:outerShdw blurRad="25400" dist="50800" dir="2700000" algn="bl" rotWithShape="0">
              <a:srgbClr val="0B1F33">
                <a:alpha val="12000"/>
              </a:srgbClr>
            </a:outerShdw>
          </a:effectLst>
        </p:spPr>
        <p:txBody>
          <a:bodyPr/>
          <a:lstStyle/>
          <a:p>
            <a:endParaRPr lang="en-US"/>
          </a:p>
        </p:txBody>
      </p:sp>
      <p:sp>
        <p:nvSpPr>
          <p:cNvPr id="23" name="Shape 21"/>
          <p:cNvSpPr/>
          <p:nvPr/>
        </p:nvSpPr>
        <p:spPr>
          <a:xfrm>
            <a:off x="9784080" y="2121408"/>
            <a:ext cx="804672" cy="804672"/>
          </a:xfrm>
          <a:prstGeom prst="ellipse">
            <a:avLst/>
          </a:prstGeom>
          <a:solidFill>
            <a:srgbClr val="F4B942"/>
          </a:solidFill>
          <a:ln w="12700">
            <a:solidFill>
              <a:srgbClr val="F4B942"/>
            </a:solidFill>
            <a:prstDash val="solid"/>
          </a:ln>
        </p:spPr>
        <p:txBody>
          <a:bodyPr/>
          <a:lstStyle/>
          <a:p>
            <a:endParaRPr lang="en-US"/>
          </a:p>
        </p:txBody>
      </p:sp>
      <p:sp>
        <p:nvSpPr>
          <p:cNvPr id="24" name="Text 22"/>
          <p:cNvSpPr/>
          <p:nvPr/>
        </p:nvSpPr>
        <p:spPr>
          <a:xfrm>
            <a:off x="9784080" y="2322576"/>
            <a:ext cx="804672" cy="321869"/>
          </a:xfrm>
          <a:prstGeom prst="rect">
            <a:avLst/>
          </a:prstGeom>
          <a:noFill/>
          <a:ln/>
        </p:spPr>
        <p:txBody>
          <a:bodyPr wrap="square" lIns="0" tIns="0" rIns="0" bIns="0" rtlCol="0" anchor="ctr">
            <a:normAutofit fontScale="92500" lnSpcReduction="20000"/>
          </a:bodyPr>
          <a:lstStyle/>
          <a:p>
            <a:pPr marL="0" indent="0" algn="ctr">
              <a:buNone/>
            </a:pPr>
            <a:r>
              <a:rPr lang="en-US" sz="2600" b="1" dirty="0">
                <a:solidFill>
                  <a:srgbClr val="FFFFFF"/>
                </a:solidFill>
                <a:latin typeface="Arial" pitchFamily="34" charset="0"/>
                <a:ea typeface="Arial" pitchFamily="34" charset="-122"/>
                <a:cs typeface="Arial" pitchFamily="34" charset="-120"/>
              </a:rPr>
              <a:t>W</a:t>
            </a:r>
            <a:endParaRPr lang="en-US" sz="2600" dirty="0"/>
          </a:p>
        </p:txBody>
      </p:sp>
      <p:sp>
        <p:nvSpPr>
          <p:cNvPr id="25" name="Text 23"/>
          <p:cNvSpPr/>
          <p:nvPr/>
        </p:nvSpPr>
        <p:spPr>
          <a:xfrm>
            <a:off x="9144000" y="3108960"/>
            <a:ext cx="2084832" cy="274320"/>
          </a:xfrm>
          <a:prstGeom prst="rect">
            <a:avLst/>
          </a:prstGeom>
          <a:noFill/>
          <a:ln/>
        </p:spPr>
        <p:txBody>
          <a:bodyPr wrap="square" lIns="0" tIns="0" rIns="0" bIns="0" rtlCol="0" anchor="ctr"/>
          <a:lstStyle/>
          <a:p>
            <a:pPr marL="0" indent="0" algn="ctr">
              <a:buNone/>
            </a:pPr>
            <a:r>
              <a:rPr lang="en-US" sz="1300" b="1" kern="0" spc="110" dirty="0">
                <a:solidFill>
                  <a:srgbClr val="F4B942"/>
                </a:solidFill>
              </a:rPr>
              <a:t>WILL</a:t>
            </a:r>
            <a:endParaRPr lang="en-US" sz="1300" dirty="0"/>
          </a:p>
        </p:txBody>
      </p:sp>
      <p:sp>
        <p:nvSpPr>
          <p:cNvPr id="26" name="Text 24"/>
          <p:cNvSpPr/>
          <p:nvPr/>
        </p:nvSpPr>
        <p:spPr>
          <a:xfrm>
            <a:off x="9198864" y="3657600"/>
            <a:ext cx="1975104" cy="749808"/>
          </a:xfrm>
          <a:prstGeom prst="rect">
            <a:avLst/>
          </a:prstGeom>
          <a:noFill/>
          <a:ln/>
        </p:spPr>
        <p:txBody>
          <a:bodyPr wrap="square" lIns="0" tIns="0" rIns="0" bIns="0" rtlCol="0" anchor="ctr">
            <a:normAutofit lnSpcReduction="10000"/>
          </a:bodyPr>
          <a:lstStyle/>
          <a:p>
            <a:pPr marL="0" indent="0" algn="ctr">
              <a:buNone/>
            </a:pPr>
            <a:r>
              <a:rPr lang="en-US" sz="1750" b="1" dirty="0">
                <a:solidFill>
                  <a:srgbClr val="12233F"/>
                </a:solidFill>
              </a:rPr>
              <a:t>What safe experiment will we try next?</a:t>
            </a:r>
            <a:endParaRPr lang="en-US" sz="1750" dirty="0"/>
          </a:p>
        </p:txBody>
      </p:sp>
      <p:sp>
        <p:nvSpPr>
          <p:cNvPr id="27" name="Shape 25"/>
          <p:cNvSpPr/>
          <p:nvPr/>
        </p:nvSpPr>
        <p:spPr>
          <a:xfrm>
            <a:off x="3218688" y="3054096"/>
            <a:ext cx="128016" cy="493776"/>
          </a:xfrm>
          <a:prstGeom prst="chevron">
            <a:avLst/>
          </a:prstGeom>
          <a:solidFill>
            <a:srgbClr val="728197"/>
          </a:solidFill>
          <a:ln w="12700">
            <a:solidFill>
              <a:srgbClr val="728197">
                <a:alpha val="0"/>
              </a:srgbClr>
            </a:solidFill>
            <a:prstDash val="solid"/>
          </a:ln>
        </p:spPr>
        <p:txBody>
          <a:bodyPr/>
          <a:lstStyle/>
          <a:p>
            <a:endParaRPr lang="en-US"/>
          </a:p>
        </p:txBody>
      </p:sp>
      <p:sp>
        <p:nvSpPr>
          <p:cNvPr id="28" name="Shape 26"/>
          <p:cNvSpPr/>
          <p:nvPr/>
        </p:nvSpPr>
        <p:spPr>
          <a:xfrm>
            <a:off x="5980176" y="3054096"/>
            <a:ext cx="128016" cy="493776"/>
          </a:xfrm>
          <a:prstGeom prst="chevron">
            <a:avLst/>
          </a:prstGeom>
          <a:solidFill>
            <a:srgbClr val="728197"/>
          </a:solidFill>
          <a:ln w="12700">
            <a:solidFill>
              <a:srgbClr val="728197">
                <a:alpha val="0"/>
              </a:srgbClr>
            </a:solidFill>
            <a:prstDash val="solid"/>
          </a:ln>
        </p:spPr>
        <p:txBody>
          <a:bodyPr/>
          <a:lstStyle/>
          <a:p>
            <a:endParaRPr lang="en-US"/>
          </a:p>
        </p:txBody>
      </p:sp>
      <p:sp>
        <p:nvSpPr>
          <p:cNvPr id="29" name="Shape 27"/>
          <p:cNvSpPr/>
          <p:nvPr/>
        </p:nvSpPr>
        <p:spPr>
          <a:xfrm>
            <a:off x="8741664" y="3054096"/>
            <a:ext cx="128016" cy="493776"/>
          </a:xfrm>
          <a:prstGeom prst="chevron">
            <a:avLst/>
          </a:prstGeom>
          <a:solidFill>
            <a:srgbClr val="728197"/>
          </a:solidFill>
          <a:ln w="12700">
            <a:solidFill>
              <a:srgbClr val="728197">
                <a:alpha val="0"/>
              </a:srgbClr>
            </a:solidFill>
            <a:prstDash val="solid"/>
          </a:ln>
        </p:spPr>
        <p:txBody>
          <a:bodyPr/>
          <a:lstStyle/>
          <a:p>
            <a:endParaRPr lang="en-US"/>
          </a:p>
        </p:txBody>
      </p:sp>
      <p:sp>
        <p:nvSpPr>
          <p:cNvPr id="30" name="Shape 28"/>
          <p:cNvSpPr/>
          <p:nvPr/>
        </p:nvSpPr>
        <p:spPr>
          <a:xfrm>
            <a:off x="1280160" y="5285232"/>
            <a:ext cx="9555480" cy="594360"/>
          </a:xfrm>
          <a:prstGeom prst="roundRect">
            <a:avLst>
              <a:gd name="adj" fmla="val 15385"/>
            </a:avLst>
          </a:prstGeom>
          <a:solidFill>
            <a:srgbClr val="092F57"/>
          </a:solidFill>
          <a:ln w="12700">
            <a:solidFill>
              <a:srgbClr val="092F57"/>
            </a:solidFill>
            <a:prstDash val="solid"/>
          </a:ln>
          <a:effectLst>
            <a:outerShdw blurRad="25400" dist="50800" dir="2700000" algn="bl" rotWithShape="0">
              <a:srgbClr val="0B1F33">
                <a:alpha val="12000"/>
              </a:srgbClr>
            </a:outerShdw>
          </a:effectLst>
        </p:spPr>
        <p:txBody>
          <a:bodyPr/>
          <a:lstStyle/>
          <a:p>
            <a:endParaRPr lang="en-US"/>
          </a:p>
        </p:txBody>
      </p:sp>
      <p:sp>
        <p:nvSpPr>
          <p:cNvPr id="31" name="Text 29"/>
          <p:cNvSpPr/>
          <p:nvPr/>
        </p:nvSpPr>
        <p:spPr>
          <a:xfrm>
            <a:off x="1554480" y="5468112"/>
            <a:ext cx="9006840" cy="237744"/>
          </a:xfrm>
          <a:prstGeom prst="rect">
            <a:avLst/>
          </a:prstGeom>
          <a:noFill/>
          <a:ln/>
        </p:spPr>
        <p:txBody>
          <a:bodyPr wrap="square" lIns="0" tIns="0" rIns="0" bIns="0" rtlCol="0" anchor="ctr">
            <a:normAutofit lnSpcReduction="10000"/>
          </a:bodyPr>
          <a:lstStyle/>
          <a:p>
            <a:pPr marL="0" indent="0" algn="ctr">
              <a:buNone/>
            </a:pPr>
            <a:r>
              <a:rPr lang="en-US" sz="1700" b="1" kern="0" spc="70" dirty="0">
                <a:solidFill>
                  <a:srgbClr val="FFFFFF"/>
                </a:solidFill>
              </a:rPr>
              <a:t>COACHING TURNS RESISTANCE INTO DESIGN INPUT.</a:t>
            </a:r>
            <a:endParaRPr lang="en-US" sz="1700" dirty="0"/>
          </a:p>
        </p:txBody>
      </p:sp>
      <p:sp>
        <p:nvSpPr>
          <p:cNvPr id="32" name="Text 30">
            <a:hlinkClick r:id="rId3"/>
          </p:cNvPr>
          <p:cNvSpPr/>
          <p:nvPr/>
        </p:nvSpPr>
        <p:spPr>
          <a:xfrm>
            <a:off x="658368" y="6355080"/>
            <a:ext cx="9921240" cy="219456"/>
          </a:xfrm>
          <a:prstGeom prst="rect">
            <a:avLst/>
          </a:prstGeom>
          <a:noFill/>
          <a:ln/>
        </p:spPr>
        <p:txBody>
          <a:bodyPr wrap="square" lIns="0" tIns="0" rIns="0" bIns="0" rtlCol="0" anchor="ctr">
            <a:normAutofit/>
          </a:bodyPr>
          <a:lstStyle/>
          <a:p>
            <a:pPr marL="0" indent="0">
              <a:buNone/>
            </a:pPr>
            <a:r>
              <a:rPr lang="en-US" sz="1000" u="sng" dirty="0">
                <a:solidFill>
                  <a:srgbClr val="72819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Framework: GROW - Goal, Reality, Options and Will</a:t>
            </a:r>
            <a:endParaRPr lang="en-US" sz="1000" dirty="0"/>
          </a:p>
        </p:txBody>
      </p:sp>
      <p:sp>
        <p:nvSpPr>
          <p:cNvPr id="33" name="Text 31"/>
          <p:cNvSpPr/>
          <p:nvPr/>
        </p:nvSpPr>
        <p:spPr>
          <a:xfrm>
            <a:off x="9464040" y="6373368"/>
            <a:ext cx="2176272" cy="201168"/>
          </a:xfrm>
          <a:prstGeom prst="rect">
            <a:avLst/>
          </a:prstGeom>
          <a:noFill/>
          <a:ln/>
        </p:spPr>
        <p:txBody>
          <a:bodyPr wrap="square" lIns="0" tIns="0" rIns="0" bIns="0" rtlCol="0" anchor="ctr"/>
          <a:lstStyle/>
          <a:p>
            <a:pPr marL="0" indent="0" algn="r">
              <a:buNone/>
            </a:pPr>
            <a:r>
              <a:rPr lang="en-US" sz="850" b="1" kern="0" spc="6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txBody>
          <a:bodyPr/>
          <a:lstStyle/>
          <a:p>
            <a:endParaRPr lang="en-US"/>
          </a:p>
        </p:txBody>
      </p:sp>
      <p:sp>
        <p:nvSpPr>
          <p:cNvPr id="3" name="Text 1"/>
          <p:cNvSpPr/>
          <p:nvPr/>
        </p:nvSpPr>
        <p:spPr>
          <a:xfrm>
            <a:off x="658368" y="228600"/>
            <a:ext cx="3474720" cy="219456"/>
          </a:xfrm>
          <a:prstGeom prst="rect">
            <a:avLst/>
          </a:prstGeom>
          <a:noFill/>
          <a:ln/>
        </p:spPr>
        <p:txBody>
          <a:bodyPr wrap="square" lIns="0" tIns="0" rIns="0" bIns="0" rtlCol="0" anchor="ctr"/>
          <a:lstStyle/>
          <a:p>
            <a:pPr marL="0" indent="0">
              <a:buNone/>
            </a:pPr>
            <a:r>
              <a:rPr lang="en-US" sz="900" b="1" kern="0" spc="170" dirty="0">
                <a:solidFill>
                  <a:srgbClr val="0B6E75"/>
                </a:solidFill>
                <a:latin typeface="Arial" pitchFamily="34" charset="0"/>
                <a:ea typeface="Arial" pitchFamily="34" charset="-122"/>
                <a:cs typeface="Arial" pitchFamily="34" charset="-120"/>
              </a:rPr>
              <a:t>THE PRODUCT</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marL="0" indent="0" algn="r">
              <a:buNone/>
            </a:pPr>
            <a:r>
              <a:rPr lang="en-US" sz="1000" b="1" dirty="0">
                <a:solidFill>
                  <a:srgbClr val="728197"/>
                </a:solidFill>
                <a:latin typeface="Arial" pitchFamily="34" charset="0"/>
                <a:ea typeface="Arial" pitchFamily="34" charset="-122"/>
                <a:cs typeface="Arial" pitchFamily="34" charset="-120"/>
              </a:rPr>
              <a:t>08</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marL="0" indent="0">
              <a:buNone/>
            </a:pPr>
            <a:r>
              <a:rPr lang="en-US" sz="2900" b="1" dirty="0">
                <a:solidFill>
                  <a:srgbClr val="12233F"/>
                </a:solidFill>
                <a:latin typeface="Arial" pitchFamily="34" charset="0"/>
                <a:ea typeface="Arial" pitchFamily="34" charset="-122"/>
                <a:cs typeface="Arial" pitchFamily="34" charset="-120"/>
              </a:rPr>
              <a:t>Make the hard conversation safe to practise.</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marL="0" indent="0">
              <a:buNone/>
            </a:pPr>
            <a:r>
              <a:rPr lang="en-US" sz="1500" dirty="0">
                <a:solidFill>
                  <a:srgbClr val="4F6176"/>
                </a:solidFill>
                <a:latin typeface="Arial" pitchFamily="34" charset="0"/>
                <a:ea typeface="Arial" pitchFamily="34" charset="-122"/>
                <a:cs typeface="Arial" pitchFamily="34" charset="-120"/>
              </a:rPr>
              <a:t>The simulator builds coaching confidence across six realistic forms of resistance.</a:t>
            </a:r>
            <a:endParaRPr lang="en-US" sz="1500" dirty="0"/>
          </a:p>
        </p:txBody>
      </p:sp>
      <p:sp>
        <p:nvSpPr>
          <p:cNvPr id="7" name="Shape 5"/>
          <p:cNvSpPr/>
          <p:nvPr/>
        </p:nvSpPr>
        <p:spPr>
          <a:xfrm>
            <a:off x="594360" y="1664208"/>
            <a:ext cx="7955280" cy="4407408"/>
          </a:xfrm>
          <a:prstGeom prst="roundRect">
            <a:avLst>
              <a:gd name="adj" fmla="val 2075"/>
            </a:avLst>
          </a:prstGeom>
          <a:solidFill>
            <a:srgbClr val="FFFFFF"/>
          </a:solidFill>
          <a:ln w="12700">
            <a:solidFill>
              <a:srgbClr val="D7E1EA"/>
            </a:solidFill>
            <a:prstDash val="solid"/>
          </a:ln>
          <a:effectLst>
            <a:outerShdw blurRad="25400" dist="50800" dir="2700000" algn="bl" rotWithShape="0">
              <a:srgbClr val="0B1F33">
                <a:alpha val="12000"/>
              </a:srgbClr>
            </a:outerShdw>
          </a:effectLst>
        </p:spPr>
        <p:txBody>
          <a:bodyPr/>
          <a:lstStyle/>
          <a:p>
            <a:endParaRPr lang="en-US"/>
          </a:p>
        </p:txBody>
      </p:sp>
      <p:sp>
        <p:nvSpPr>
          <p:cNvPr id="8" name="Shape 6"/>
          <p:cNvSpPr/>
          <p:nvPr/>
        </p:nvSpPr>
        <p:spPr>
          <a:xfrm>
            <a:off x="841248" y="1901952"/>
            <a:ext cx="7461504" cy="347472"/>
          </a:xfrm>
          <a:prstGeom prst="roundRect">
            <a:avLst>
              <a:gd name="adj" fmla="val 26316"/>
            </a:avLst>
          </a:prstGeom>
          <a:solidFill>
            <a:srgbClr val="092F57"/>
          </a:solidFill>
          <a:ln w="12700">
            <a:solidFill>
              <a:srgbClr val="092F57"/>
            </a:solidFill>
            <a:prstDash val="solid"/>
          </a:ln>
        </p:spPr>
        <p:txBody>
          <a:bodyPr/>
          <a:lstStyle/>
          <a:p>
            <a:endParaRPr lang="en-US"/>
          </a:p>
        </p:txBody>
      </p:sp>
      <p:sp>
        <p:nvSpPr>
          <p:cNvPr id="9" name="Shape 7"/>
          <p:cNvSpPr/>
          <p:nvPr/>
        </p:nvSpPr>
        <p:spPr>
          <a:xfrm>
            <a:off x="987552" y="1975104"/>
            <a:ext cx="73152" cy="73152"/>
          </a:xfrm>
          <a:prstGeom prst="ellipse">
            <a:avLst/>
          </a:prstGeom>
          <a:solidFill>
            <a:srgbClr val="F5665C"/>
          </a:solidFill>
          <a:ln w="12700">
            <a:solidFill>
              <a:srgbClr val="F5665C"/>
            </a:solidFill>
            <a:prstDash val="solid"/>
          </a:ln>
        </p:spPr>
        <p:txBody>
          <a:bodyPr/>
          <a:lstStyle/>
          <a:p>
            <a:endParaRPr lang="en-US"/>
          </a:p>
        </p:txBody>
      </p:sp>
      <p:sp>
        <p:nvSpPr>
          <p:cNvPr id="10" name="Shape 8"/>
          <p:cNvSpPr/>
          <p:nvPr/>
        </p:nvSpPr>
        <p:spPr>
          <a:xfrm>
            <a:off x="1143000" y="1975104"/>
            <a:ext cx="73152" cy="73152"/>
          </a:xfrm>
          <a:prstGeom prst="ellipse">
            <a:avLst/>
          </a:prstGeom>
          <a:solidFill>
            <a:srgbClr val="F4B942"/>
          </a:solidFill>
          <a:ln w="12700">
            <a:solidFill>
              <a:srgbClr val="F4B942"/>
            </a:solidFill>
            <a:prstDash val="solid"/>
          </a:ln>
        </p:spPr>
        <p:txBody>
          <a:bodyPr/>
          <a:lstStyle/>
          <a:p>
            <a:endParaRPr lang="en-US"/>
          </a:p>
        </p:txBody>
      </p:sp>
      <p:sp>
        <p:nvSpPr>
          <p:cNvPr id="11" name="Shape 9"/>
          <p:cNvSpPr/>
          <p:nvPr/>
        </p:nvSpPr>
        <p:spPr>
          <a:xfrm>
            <a:off x="1298448" y="1975104"/>
            <a:ext cx="73152" cy="73152"/>
          </a:xfrm>
          <a:prstGeom prst="ellipse">
            <a:avLst/>
          </a:prstGeom>
          <a:solidFill>
            <a:srgbClr val="55D6BE"/>
          </a:solidFill>
          <a:ln w="12700">
            <a:solidFill>
              <a:srgbClr val="55D6BE"/>
            </a:solidFill>
            <a:prstDash val="solid"/>
          </a:ln>
        </p:spPr>
        <p:txBody>
          <a:bodyPr/>
          <a:lstStyle/>
          <a:p>
            <a:endParaRPr lang="en-US"/>
          </a:p>
        </p:txBody>
      </p:sp>
      <p:sp>
        <p:nvSpPr>
          <p:cNvPr id="12" name="Text 10"/>
          <p:cNvSpPr/>
          <p:nvPr/>
        </p:nvSpPr>
        <p:spPr>
          <a:xfrm>
            <a:off x="2240280" y="1975104"/>
            <a:ext cx="4663440" cy="164592"/>
          </a:xfrm>
          <a:prstGeom prst="rect">
            <a:avLst/>
          </a:prstGeom>
          <a:noFill/>
          <a:ln/>
        </p:spPr>
        <p:txBody>
          <a:bodyPr wrap="square" lIns="0" tIns="0" rIns="0" bIns="0" rtlCol="0" anchor="ctr"/>
          <a:lstStyle/>
          <a:p>
            <a:pPr marL="0" indent="0" algn="ctr">
              <a:buNone/>
            </a:pPr>
            <a:r>
              <a:rPr lang="en-US" sz="900" b="1" kern="0" spc="70" dirty="0">
                <a:solidFill>
                  <a:srgbClr val="FFFFFF"/>
                </a:solidFill>
              </a:rPr>
              <a:t>AI AGENT JOB REDESIGN COACH - LIVE SIMULATOR</a:t>
            </a:r>
            <a:endParaRPr lang="en-US" sz="900" dirty="0"/>
          </a:p>
        </p:txBody>
      </p:sp>
      <p:sp>
        <p:nvSpPr>
          <p:cNvPr id="13" name="Shape 11"/>
          <p:cNvSpPr/>
          <p:nvPr/>
        </p:nvSpPr>
        <p:spPr>
          <a:xfrm>
            <a:off x="987552" y="2505456"/>
            <a:ext cx="2139696" cy="1042416"/>
          </a:xfrm>
          <a:prstGeom prst="roundRect">
            <a:avLst>
              <a:gd name="adj" fmla="val 5263"/>
            </a:avLst>
          </a:prstGeom>
          <a:solidFill>
            <a:srgbClr val="E9F8F4"/>
          </a:solidFill>
          <a:ln w="19050">
            <a:solidFill>
              <a:srgbClr val="0C8A78"/>
            </a:solidFill>
            <a:prstDash val="solid"/>
          </a:ln>
        </p:spPr>
        <p:txBody>
          <a:bodyPr/>
          <a:lstStyle/>
          <a:p>
            <a:endParaRPr lang="en-US"/>
          </a:p>
        </p:txBody>
      </p:sp>
      <p:sp>
        <p:nvSpPr>
          <p:cNvPr id="14" name="Text 12"/>
          <p:cNvSpPr/>
          <p:nvPr/>
        </p:nvSpPr>
        <p:spPr>
          <a:xfrm>
            <a:off x="1124712" y="2624328"/>
            <a:ext cx="1865376" cy="219456"/>
          </a:xfrm>
          <a:prstGeom prst="rect">
            <a:avLst/>
          </a:prstGeom>
          <a:noFill/>
          <a:ln/>
        </p:spPr>
        <p:txBody>
          <a:bodyPr wrap="square" lIns="0" tIns="0" rIns="0" bIns="0" rtlCol="0" anchor="ctr"/>
          <a:lstStyle/>
          <a:p>
            <a:pPr marL="0" indent="0">
              <a:buNone/>
            </a:pPr>
            <a:r>
              <a:rPr lang="en-US" sz="1500" b="1" dirty="0">
                <a:solidFill>
                  <a:srgbClr val="12233F"/>
                </a:solidFill>
              </a:rPr>
              <a:t>Sarah</a:t>
            </a:r>
            <a:endParaRPr lang="en-US" sz="1500" dirty="0"/>
          </a:p>
        </p:txBody>
      </p:sp>
      <p:sp>
        <p:nvSpPr>
          <p:cNvPr id="15" name="Text 13"/>
          <p:cNvSpPr/>
          <p:nvPr/>
        </p:nvSpPr>
        <p:spPr>
          <a:xfrm>
            <a:off x="1124712" y="2889504"/>
            <a:ext cx="1865376" cy="182880"/>
          </a:xfrm>
          <a:prstGeom prst="rect">
            <a:avLst/>
          </a:prstGeom>
          <a:noFill/>
          <a:ln/>
        </p:spPr>
        <p:txBody>
          <a:bodyPr wrap="square" lIns="0" tIns="0" rIns="0" bIns="0" rtlCol="0" anchor="ctr">
            <a:normAutofit/>
          </a:bodyPr>
          <a:lstStyle/>
          <a:p>
            <a:pPr marL="0" indent="0">
              <a:buNone/>
            </a:pPr>
            <a:r>
              <a:rPr lang="en-US" sz="1050" b="1" dirty="0">
                <a:solidFill>
                  <a:srgbClr val="0B6E75"/>
                </a:solidFill>
              </a:rPr>
              <a:t>Marketing</a:t>
            </a:r>
            <a:endParaRPr lang="en-US" sz="1050" dirty="0"/>
          </a:p>
        </p:txBody>
      </p:sp>
      <p:sp>
        <p:nvSpPr>
          <p:cNvPr id="16" name="Shape 14"/>
          <p:cNvSpPr/>
          <p:nvPr/>
        </p:nvSpPr>
        <p:spPr>
          <a:xfrm>
            <a:off x="1124712" y="3191256"/>
            <a:ext cx="1810512" cy="310896"/>
          </a:xfrm>
          <a:prstGeom prst="roundRect">
            <a:avLst>
              <a:gd name="adj" fmla="val 47059"/>
            </a:avLst>
          </a:prstGeom>
          <a:solidFill>
            <a:srgbClr val="EEF2F6"/>
          </a:solidFill>
          <a:ln w="12700">
            <a:solidFill>
              <a:srgbClr val="EEF2F6"/>
            </a:solidFill>
            <a:prstDash val="solid"/>
          </a:ln>
        </p:spPr>
        <p:txBody>
          <a:bodyPr/>
          <a:lstStyle/>
          <a:p>
            <a:endParaRPr lang="en-US"/>
          </a:p>
        </p:txBody>
      </p:sp>
      <p:sp>
        <p:nvSpPr>
          <p:cNvPr id="17" name="Text 15"/>
          <p:cNvSpPr/>
          <p:nvPr/>
        </p:nvSpPr>
        <p:spPr>
          <a:xfrm>
            <a:off x="1124712" y="3209544"/>
            <a:ext cx="1810512" cy="201168"/>
          </a:xfrm>
          <a:prstGeom prst="rect">
            <a:avLst/>
          </a:prstGeom>
          <a:noFill/>
          <a:ln/>
        </p:spPr>
        <p:txBody>
          <a:bodyPr wrap="square" lIns="0" tIns="0" rIns="0" bIns="0" rtlCol="0" anchor="ctr">
            <a:normAutofit/>
          </a:bodyPr>
          <a:lstStyle/>
          <a:p>
            <a:pPr marL="0" indent="0" algn="ctr">
              <a:buNone/>
            </a:pPr>
            <a:r>
              <a:rPr lang="en-US" sz="900" b="1" dirty="0">
                <a:solidFill>
                  <a:srgbClr val="12233F"/>
                </a:solidFill>
                <a:latin typeface="Arial" pitchFamily="34" charset="0"/>
                <a:ea typeface="Arial" pitchFamily="34" charset="-122"/>
                <a:cs typeface="Arial" pitchFamily="34" charset="-120"/>
              </a:rPr>
              <a:t>FEAR / IDENTITY</a:t>
            </a:r>
            <a:endParaRPr lang="en-US" sz="900" dirty="0"/>
          </a:p>
        </p:txBody>
      </p:sp>
      <p:sp>
        <p:nvSpPr>
          <p:cNvPr id="18" name="Shape 16"/>
          <p:cNvSpPr/>
          <p:nvPr/>
        </p:nvSpPr>
        <p:spPr>
          <a:xfrm>
            <a:off x="3364992" y="2505456"/>
            <a:ext cx="2139696" cy="1042416"/>
          </a:xfrm>
          <a:prstGeom prst="roundRect">
            <a:avLst>
              <a:gd name="adj" fmla="val 5263"/>
            </a:avLst>
          </a:prstGeom>
          <a:solidFill>
            <a:srgbClr val="FFFFFF"/>
          </a:solidFill>
          <a:ln w="12700">
            <a:solidFill>
              <a:srgbClr val="D7E1EA"/>
            </a:solidFill>
            <a:prstDash val="solid"/>
          </a:ln>
        </p:spPr>
        <p:txBody>
          <a:bodyPr/>
          <a:lstStyle/>
          <a:p>
            <a:endParaRPr lang="en-US"/>
          </a:p>
        </p:txBody>
      </p:sp>
      <p:sp>
        <p:nvSpPr>
          <p:cNvPr id="19" name="Text 17"/>
          <p:cNvSpPr/>
          <p:nvPr/>
        </p:nvSpPr>
        <p:spPr>
          <a:xfrm>
            <a:off x="3502152" y="2624328"/>
            <a:ext cx="1865376" cy="219456"/>
          </a:xfrm>
          <a:prstGeom prst="rect">
            <a:avLst/>
          </a:prstGeom>
          <a:noFill/>
          <a:ln/>
        </p:spPr>
        <p:txBody>
          <a:bodyPr wrap="square" lIns="0" tIns="0" rIns="0" bIns="0" rtlCol="0" anchor="ctr"/>
          <a:lstStyle/>
          <a:p>
            <a:pPr marL="0" indent="0">
              <a:buNone/>
            </a:pPr>
            <a:r>
              <a:rPr lang="en-US" sz="1500" b="1" dirty="0">
                <a:solidFill>
                  <a:srgbClr val="12233F"/>
                </a:solidFill>
              </a:rPr>
              <a:t>David</a:t>
            </a:r>
            <a:endParaRPr lang="en-US" sz="1500" dirty="0"/>
          </a:p>
        </p:txBody>
      </p:sp>
      <p:sp>
        <p:nvSpPr>
          <p:cNvPr id="20" name="Text 18"/>
          <p:cNvSpPr/>
          <p:nvPr/>
        </p:nvSpPr>
        <p:spPr>
          <a:xfrm>
            <a:off x="3502152" y="2889504"/>
            <a:ext cx="1865376" cy="182880"/>
          </a:xfrm>
          <a:prstGeom prst="rect">
            <a:avLst/>
          </a:prstGeom>
          <a:noFill/>
          <a:ln/>
        </p:spPr>
        <p:txBody>
          <a:bodyPr wrap="square" lIns="0" tIns="0" rIns="0" bIns="0" rtlCol="0" anchor="ctr">
            <a:normAutofit/>
          </a:bodyPr>
          <a:lstStyle/>
          <a:p>
            <a:pPr marL="0" indent="0">
              <a:buNone/>
            </a:pPr>
            <a:r>
              <a:rPr lang="en-US" sz="1050" b="1" dirty="0">
                <a:solidFill>
                  <a:srgbClr val="0B6E75"/>
                </a:solidFill>
              </a:rPr>
              <a:t>Customer Service</a:t>
            </a:r>
            <a:endParaRPr lang="en-US" sz="1050" dirty="0"/>
          </a:p>
        </p:txBody>
      </p:sp>
      <p:sp>
        <p:nvSpPr>
          <p:cNvPr id="21" name="Shape 19"/>
          <p:cNvSpPr/>
          <p:nvPr/>
        </p:nvSpPr>
        <p:spPr>
          <a:xfrm>
            <a:off x="3502152" y="3191256"/>
            <a:ext cx="1810512" cy="310896"/>
          </a:xfrm>
          <a:prstGeom prst="roundRect">
            <a:avLst>
              <a:gd name="adj" fmla="val 47059"/>
            </a:avLst>
          </a:prstGeom>
          <a:solidFill>
            <a:srgbClr val="EEF2F6"/>
          </a:solidFill>
          <a:ln w="12700">
            <a:solidFill>
              <a:srgbClr val="EEF2F6"/>
            </a:solidFill>
            <a:prstDash val="solid"/>
          </a:ln>
        </p:spPr>
        <p:txBody>
          <a:bodyPr/>
          <a:lstStyle/>
          <a:p>
            <a:endParaRPr lang="en-US"/>
          </a:p>
        </p:txBody>
      </p:sp>
      <p:sp>
        <p:nvSpPr>
          <p:cNvPr id="22" name="Text 20"/>
          <p:cNvSpPr/>
          <p:nvPr/>
        </p:nvSpPr>
        <p:spPr>
          <a:xfrm>
            <a:off x="3502152" y="3209544"/>
            <a:ext cx="1810512" cy="201168"/>
          </a:xfrm>
          <a:prstGeom prst="rect">
            <a:avLst/>
          </a:prstGeom>
          <a:noFill/>
          <a:ln/>
        </p:spPr>
        <p:txBody>
          <a:bodyPr wrap="square" lIns="0" tIns="0" rIns="0" bIns="0" rtlCol="0" anchor="ctr">
            <a:normAutofit/>
          </a:bodyPr>
          <a:lstStyle/>
          <a:p>
            <a:pPr marL="0" indent="0" algn="ctr">
              <a:buNone/>
            </a:pPr>
            <a:r>
              <a:rPr lang="en-US" sz="900" b="1" dirty="0">
                <a:solidFill>
                  <a:srgbClr val="12233F"/>
                </a:solidFill>
                <a:latin typeface="Arial" pitchFamily="34" charset="0"/>
                <a:ea typeface="Arial" pitchFamily="34" charset="-122"/>
                <a:cs typeface="Arial" pitchFamily="34" charset="-120"/>
              </a:rPr>
              <a:t>ANGER / TRUST</a:t>
            </a:r>
            <a:endParaRPr lang="en-US" sz="900" dirty="0"/>
          </a:p>
        </p:txBody>
      </p:sp>
      <p:sp>
        <p:nvSpPr>
          <p:cNvPr id="23" name="Shape 21"/>
          <p:cNvSpPr/>
          <p:nvPr/>
        </p:nvSpPr>
        <p:spPr>
          <a:xfrm>
            <a:off x="5742432" y="2505456"/>
            <a:ext cx="2139696" cy="1042416"/>
          </a:xfrm>
          <a:prstGeom prst="roundRect">
            <a:avLst>
              <a:gd name="adj" fmla="val 5263"/>
            </a:avLst>
          </a:prstGeom>
          <a:solidFill>
            <a:srgbClr val="FFFFFF"/>
          </a:solidFill>
          <a:ln w="12700">
            <a:solidFill>
              <a:srgbClr val="D7E1EA"/>
            </a:solidFill>
            <a:prstDash val="solid"/>
          </a:ln>
        </p:spPr>
        <p:txBody>
          <a:bodyPr/>
          <a:lstStyle/>
          <a:p>
            <a:endParaRPr lang="en-US"/>
          </a:p>
        </p:txBody>
      </p:sp>
      <p:sp>
        <p:nvSpPr>
          <p:cNvPr id="24" name="Text 22"/>
          <p:cNvSpPr/>
          <p:nvPr/>
        </p:nvSpPr>
        <p:spPr>
          <a:xfrm>
            <a:off x="5879592" y="2624328"/>
            <a:ext cx="1865376" cy="219456"/>
          </a:xfrm>
          <a:prstGeom prst="rect">
            <a:avLst/>
          </a:prstGeom>
          <a:noFill/>
          <a:ln/>
        </p:spPr>
        <p:txBody>
          <a:bodyPr wrap="square" lIns="0" tIns="0" rIns="0" bIns="0" rtlCol="0" anchor="ctr"/>
          <a:lstStyle/>
          <a:p>
            <a:pPr marL="0" indent="0">
              <a:buNone/>
            </a:pPr>
            <a:r>
              <a:rPr lang="en-US" sz="1500" b="1" dirty="0">
                <a:solidFill>
                  <a:srgbClr val="12233F"/>
                </a:solidFill>
              </a:rPr>
              <a:t>Mei Ling</a:t>
            </a:r>
            <a:endParaRPr lang="en-US" sz="1500" dirty="0"/>
          </a:p>
        </p:txBody>
      </p:sp>
      <p:sp>
        <p:nvSpPr>
          <p:cNvPr id="25" name="Text 23"/>
          <p:cNvSpPr/>
          <p:nvPr/>
        </p:nvSpPr>
        <p:spPr>
          <a:xfrm>
            <a:off x="5879592" y="2889504"/>
            <a:ext cx="1865376" cy="182880"/>
          </a:xfrm>
          <a:prstGeom prst="rect">
            <a:avLst/>
          </a:prstGeom>
          <a:noFill/>
          <a:ln/>
        </p:spPr>
        <p:txBody>
          <a:bodyPr wrap="square" lIns="0" tIns="0" rIns="0" bIns="0" rtlCol="0" anchor="ctr">
            <a:normAutofit/>
          </a:bodyPr>
          <a:lstStyle/>
          <a:p>
            <a:pPr marL="0" indent="0">
              <a:buNone/>
            </a:pPr>
            <a:r>
              <a:rPr lang="en-US" sz="1050" b="1" dirty="0">
                <a:solidFill>
                  <a:srgbClr val="0B6E75"/>
                </a:solidFill>
              </a:rPr>
              <a:t>Data Analyst</a:t>
            </a:r>
            <a:endParaRPr lang="en-US" sz="1050" dirty="0"/>
          </a:p>
        </p:txBody>
      </p:sp>
      <p:sp>
        <p:nvSpPr>
          <p:cNvPr id="26" name="Shape 24"/>
          <p:cNvSpPr/>
          <p:nvPr/>
        </p:nvSpPr>
        <p:spPr>
          <a:xfrm>
            <a:off x="5879592" y="3191256"/>
            <a:ext cx="1810512" cy="310896"/>
          </a:xfrm>
          <a:prstGeom prst="roundRect">
            <a:avLst>
              <a:gd name="adj" fmla="val 47059"/>
            </a:avLst>
          </a:prstGeom>
          <a:solidFill>
            <a:srgbClr val="EEF2F6"/>
          </a:solidFill>
          <a:ln w="12700">
            <a:solidFill>
              <a:srgbClr val="EEF2F6"/>
            </a:solidFill>
            <a:prstDash val="solid"/>
          </a:ln>
        </p:spPr>
        <p:txBody>
          <a:bodyPr/>
          <a:lstStyle/>
          <a:p>
            <a:endParaRPr lang="en-US"/>
          </a:p>
        </p:txBody>
      </p:sp>
      <p:sp>
        <p:nvSpPr>
          <p:cNvPr id="27" name="Text 25"/>
          <p:cNvSpPr/>
          <p:nvPr/>
        </p:nvSpPr>
        <p:spPr>
          <a:xfrm>
            <a:off x="5879592" y="3209544"/>
            <a:ext cx="1810512" cy="201168"/>
          </a:xfrm>
          <a:prstGeom prst="rect">
            <a:avLst/>
          </a:prstGeom>
          <a:noFill/>
          <a:ln/>
        </p:spPr>
        <p:txBody>
          <a:bodyPr wrap="square" lIns="0" tIns="0" rIns="0" bIns="0" rtlCol="0" anchor="ctr">
            <a:normAutofit/>
          </a:bodyPr>
          <a:lstStyle/>
          <a:p>
            <a:pPr marL="0" indent="0" algn="ctr">
              <a:buNone/>
            </a:pPr>
            <a:r>
              <a:rPr lang="en-US" sz="900" b="1" dirty="0">
                <a:solidFill>
                  <a:srgbClr val="12233F"/>
                </a:solidFill>
                <a:latin typeface="Arial" pitchFamily="34" charset="0"/>
                <a:ea typeface="Arial" pitchFamily="34" charset="-122"/>
                <a:cs typeface="Arial" pitchFamily="34" charset="-120"/>
              </a:rPr>
              <a:t>ANXIETY / WITHDRAWAL</a:t>
            </a:r>
            <a:endParaRPr lang="en-US" sz="900" dirty="0"/>
          </a:p>
        </p:txBody>
      </p:sp>
      <p:sp>
        <p:nvSpPr>
          <p:cNvPr id="28" name="Shape 26"/>
          <p:cNvSpPr/>
          <p:nvPr/>
        </p:nvSpPr>
        <p:spPr>
          <a:xfrm>
            <a:off x="987552" y="3758184"/>
            <a:ext cx="2139696" cy="1042416"/>
          </a:xfrm>
          <a:prstGeom prst="roundRect">
            <a:avLst>
              <a:gd name="adj" fmla="val 5263"/>
            </a:avLst>
          </a:prstGeom>
          <a:solidFill>
            <a:srgbClr val="FFFFFF"/>
          </a:solidFill>
          <a:ln w="12700">
            <a:solidFill>
              <a:srgbClr val="D7E1EA"/>
            </a:solidFill>
            <a:prstDash val="solid"/>
          </a:ln>
        </p:spPr>
        <p:txBody>
          <a:bodyPr/>
          <a:lstStyle/>
          <a:p>
            <a:endParaRPr lang="en-US"/>
          </a:p>
        </p:txBody>
      </p:sp>
      <p:sp>
        <p:nvSpPr>
          <p:cNvPr id="29" name="Text 27"/>
          <p:cNvSpPr/>
          <p:nvPr/>
        </p:nvSpPr>
        <p:spPr>
          <a:xfrm>
            <a:off x="1124712" y="3877056"/>
            <a:ext cx="1865376" cy="219456"/>
          </a:xfrm>
          <a:prstGeom prst="rect">
            <a:avLst/>
          </a:prstGeom>
          <a:noFill/>
          <a:ln/>
        </p:spPr>
        <p:txBody>
          <a:bodyPr wrap="square" lIns="0" tIns="0" rIns="0" bIns="0" rtlCol="0" anchor="ctr"/>
          <a:lstStyle/>
          <a:p>
            <a:pPr marL="0" indent="0">
              <a:buNone/>
            </a:pPr>
            <a:r>
              <a:rPr lang="en-US" sz="1500" b="1" dirty="0">
                <a:solidFill>
                  <a:srgbClr val="12233F"/>
                </a:solidFill>
              </a:rPr>
              <a:t>Arjun</a:t>
            </a:r>
            <a:endParaRPr lang="en-US" sz="1500" dirty="0"/>
          </a:p>
        </p:txBody>
      </p:sp>
      <p:sp>
        <p:nvSpPr>
          <p:cNvPr id="30" name="Text 28"/>
          <p:cNvSpPr/>
          <p:nvPr/>
        </p:nvSpPr>
        <p:spPr>
          <a:xfrm>
            <a:off x="1124712" y="4142232"/>
            <a:ext cx="1865376" cy="182880"/>
          </a:xfrm>
          <a:prstGeom prst="rect">
            <a:avLst/>
          </a:prstGeom>
          <a:noFill/>
          <a:ln/>
        </p:spPr>
        <p:txBody>
          <a:bodyPr wrap="square" lIns="0" tIns="0" rIns="0" bIns="0" rtlCol="0" anchor="ctr">
            <a:normAutofit/>
          </a:bodyPr>
          <a:lstStyle/>
          <a:p>
            <a:pPr marL="0" indent="0">
              <a:buNone/>
            </a:pPr>
            <a:r>
              <a:rPr lang="en-US" sz="1050" b="1" dirty="0">
                <a:solidFill>
                  <a:srgbClr val="0B6E75"/>
                </a:solidFill>
              </a:rPr>
              <a:t>Software Developer</a:t>
            </a:r>
            <a:endParaRPr lang="en-US" sz="1050" dirty="0"/>
          </a:p>
        </p:txBody>
      </p:sp>
      <p:sp>
        <p:nvSpPr>
          <p:cNvPr id="31" name="Shape 29"/>
          <p:cNvSpPr/>
          <p:nvPr/>
        </p:nvSpPr>
        <p:spPr>
          <a:xfrm>
            <a:off x="1124712" y="4443984"/>
            <a:ext cx="1810512" cy="310896"/>
          </a:xfrm>
          <a:prstGeom prst="roundRect">
            <a:avLst>
              <a:gd name="adj" fmla="val 47059"/>
            </a:avLst>
          </a:prstGeom>
          <a:solidFill>
            <a:srgbClr val="EEF2F6"/>
          </a:solidFill>
          <a:ln w="12700">
            <a:solidFill>
              <a:srgbClr val="EEF2F6"/>
            </a:solidFill>
            <a:prstDash val="solid"/>
          </a:ln>
        </p:spPr>
        <p:txBody>
          <a:bodyPr/>
          <a:lstStyle/>
          <a:p>
            <a:endParaRPr lang="en-US"/>
          </a:p>
        </p:txBody>
      </p:sp>
      <p:sp>
        <p:nvSpPr>
          <p:cNvPr id="32" name="Text 30"/>
          <p:cNvSpPr/>
          <p:nvPr/>
        </p:nvSpPr>
        <p:spPr>
          <a:xfrm>
            <a:off x="1124712" y="4462272"/>
            <a:ext cx="1810512" cy="201168"/>
          </a:xfrm>
          <a:prstGeom prst="rect">
            <a:avLst/>
          </a:prstGeom>
          <a:noFill/>
          <a:ln/>
        </p:spPr>
        <p:txBody>
          <a:bodyPr wrap="square" lIns="0" tIns="0" rIns="0" bIns="0" rtlCol="0" anchor="ctr">
            <a:normAutofit/>
          </a:bodyPr>
          <a:lstStyle/>
          <a:p>
            <a:pPr marL="0" indent="0" algn="ctr">
              <a:buNone/>
            </a:pPr>
            <a:r>
              <a:rPr lang="en-US" sz="900" b="1" dirty="0">
                <a:solidFill>
                  <a:srgbClr val="12233F"/>
                </a:solidFill>
                <a:latin typeface="Arial" pitchFamily="34" charset="0"/>
                <a:ea typeface="Arial" pitchFamily="34" charset="-122"/>
                <a:cs typeface="Arial" pitchFamily="34" charset="-120"/>
              </a:rPr>
              <a:t>SCEPTICISM / PRIDE</a:t>
            </a:r>
            <a:endParaRPr lang="en-US" sz="900" dirty="0"/>
          </a:p>
        </p:txBody>
      </p:sp>
      <p:sp>
        <p:nvSpPr>
          <p:cNvPr id="33" name="Shape 31"/>
          <p:cNvSpPr/>
          <p:nvPr/>
        </p:nvSpPr>
        <p:spPr>
          <a:xfrm>
            <a:off x="3364992" y="3758184"/>
            <a:ext cx="2139696" cy="1042416"/>
          </a:xfrm>
          <a:prstGeom prst="roundRect">
            <a:avLst>
              <a:gd name="adj" fmla="val 5263"/>
            </a:avLst>
          </a:prstGeom>
          <a:solidFill>
            <a:srgbClr val="FFFFFF"/>
          </a:solidFill>
          <a:ln w="12700">
            <a:solidFill>
              <a:srgbClr val="D7E1EA"/>
            </a:solidFill>
            <a:prstDash val="solid"/>
          </a:ln>
        </p:spPr>
        <p:txBody>
          <a:bodyPr/>
          <a:lstStyle/>
          <a:p>
            <a:endParaRPr lang="en-US"/>
          </a:p>
        </p:txBody>
      </p:sp>
      <p:sp>
        <p:nvSpPr>
          <p:cNvPr id="34" name="Text 32"/>
          <p:cNvSpPr/>
          <p:nvPr/>
        </p:nvSpPr>
        <p:spPr>
          <a:xfrm>
            <a:off x="3502152" y="3877056"/>
            <a:ext cx="1865376" cy="219456"/>
          </a:xfrm>
          <a:prstGeom prst="rect">
            <a:avLst/>
          </a:prstGeom>
          <a:noFill/>
          <a:ln/>
        </p:spPr>
        <p:txBody>
          <a:bodyPr wrap="square" lIns="0" tIns="0" rIns="0" bIns="0" rtlCol="0" anchor="ctr"/>
          <a:lstStyle/>
          <a:p>
            <a:pPr marL="0" indent="0">
              <a:buNone/>
            </a:pPr>
            <a:r>
              <a:rPr lang="en-US" sz="1500" b="1" dirty="0">
                <a:solidFill>
                  <a:srgbClr val="12233F"/>
                </a:solidFill>
              </a:rPr>
              <a:t>Aisha</a:t>
            </a:r>
            <a:endParaRPr lang="en-US" sz="1500" dirty="0"/>
          </a:p>
        </p:txBody>
      </p:sp>
      <p:sp>
        <p:nvSpPr>
          <p:cNvPr id="35" name="Text 33"/>
          <p:cNvSpPr/>
          <p:nvPr/>
        </p:nvSpPr>
        <p:spPr>
          <a:xfrm>
            <a:off x="3502152" y="4142232"/>
            <a:ext cx="1865376" cy="182880"/>
          </a:xfrm>
          <a:prstGeom prst="rect">
            <a:avLst/>
          </a:prstGeom>
          <a:noFill/>
          <a:ln/>
        </p:spPr>
        <p:txBody>
          <a:bodyPr wrap="square" lIns="0" tIns="0" rIns="0" bIns="0" rtlCol="0" anchor="ctr">
            <a:normAutofit/>
          </a:bodyPr>
          <a:lstStyle/>
          <a:p>
            <a:pPr marL="0" indent="0">
              <a:buNone/>
            </a:pPr>
            <a:r>
              <a:rPr lang="en-US" sz="1050" b="1" dirty="0">
                <a:solidFill>
                  <a:srgbClr val="0B6E75"/>
                </a:solidFill>
              </a:rPr>
              <a:t>Web Operations</a:t>
            </a:r>
            <a:endParaRPr lang="en-US" sz="1050" dirty="0"/>
          </a:p>
        </p:txBody>
      </p:sp>
      <p:sp>
        <p:nvSpPr>
          <p:cNvPr id="36" name="Shape 34"/>
          <p:cNvSpPr/>
          <p:nvPr/>
        </p:nvSpPr>
        <p:spPr>
          <a:xfrm>
            <a:off x="3502152" y="4443984"/>
            <a:ext cx="1810512" cy="310896"/>
          </a:xfrm>
          <a:prstGeom prst="roundRect">
            <a:avLst>
              <a:gd name="adj" fmla="val 47059"/>
            </a:avLst>
          </a:prstGeom>
          <a:solidFill>
            <a:srgbClr val="EEF2F6"/>
          </a:solidFill>
          <a:ln w="12700">
            <a:solidFill>
              <a:srgbClr val="EEF2F6"/>
            </a:solidFill>
            <a:prstDash val="solid"/>
          </a:ln>
        </p:spPr>
        <p:txBody>
          <a:bodyPr/>
          <a:lstStyle/>
          <a:p>
            <a:endParaRPr lang="en-US"/>
          </a:p>
        </p:txBody>
      </p:sp>
      <p:sp>
        <p:nvSpPr>
          <p:cNvPr id="37" name="Text 35"/>
          <p:cNvSpPr/>
          <p:nvPr/>
        </p:nvSpPr>
        <p:spPr>
          <a:xfrm>
            <a:off x="3502152" y="4462272"/>
            <a:ext cx="1810512" cy="201168"/>
          </a:xfrm>
          <a:prstGeom prst="rect">
            <a:avLst/>
          </a:prstGeom>
          <a:noFill/>
          <a:ln/>
        </p:spPr>
        <p:txBody>
          <a:bodyPr wrap="square" lIns="0" tIns="0" rIns="0" bIns="0" rtlCol="0" anchor="ctr">
            <a:normAutofit/>
          </a:bodyPr>
          <a:lstStyle/>
          <a:p>
            <a:pPr marL="0" indent="0" algn="ctr">
              <a:buNone/>
            </a:pPr>
            <a:r>
              <a:rPr lang="en-US" sz="900" b="1" dirty="0">
                <a:solidFill>
                  <a:srgbClr val="12233F"/>
                </a:solidFill>
                <a:latin typeface="Arial" pitchFamily="34" charset="0"/>
                <a:ea typeface="Arial" pitchFamily="34" charset="-122"/>
                <a:cs typeface="Arial" pitchFamily="34" charset="-120"/>
              </a:rPr>
              <a:t>CONTROL / ACCOUNTABILITY</a:t>
            </a:r>
            <a:endParaRPr lang="en-US" sz="900" dirty="0"/>
          </a:p>
        </p:txBody>
      </p:sp>
      <p:sp>
        <p:nvSpPr>
          <p:cNvPr id="38" name="Shape 36"/>
          <p:cNvSpPr/>
          <p:nvPr/>
        </p:nvSpPr>
        <p:spPr>
          <a:xfrm>
            <a:off x="5742432" y="3758184"/>
            <a:ext cx="2139696" cy="1042416"/>
          </a:xfrm>
          <a:prstGeom prst="roundRect">
            <a:avLst>
              <a:gd name="adj" fmla="val 5263"/>
            </a:avLst>
          </a:prstGeom>
          <a:solidFill>
            <a:srgbClr val="FFFFFF"/>
          </a:solidFill>
          <a:ln w="12700">
            <a:solidFill>
              <a:srgbClr val="D7E1EA"/>
            </a:solidFill>
            <a:prstDash val="solid"/>
          </a:ln>
        </p:spPr>
        <p:txBody>
          <a:bodyPr/>
          <a:lstStyle/>
          <a:p>
            <a:endParaRPr lang="en-US"/>
          </a:p>
        </p:txBody>
      </p:sp>
      <p:sp>
        <p:nvSpPr>
          <p:cNvPr id="39" name="Text 37"/>
          <p:cNvSpPr/>
          <p:nvPr/>
        </p:nvSpPr>
        <p:spPr>
          <a:xfrm>
            <a:off x="5879592" y="3877056"/>
            <a:ext cx="1865376" cy="219456"/>
          </a:xfrm>
          <a:prstGeom prst="rect">
            <a:avLst/>
          </a:prstGeom>
          <a:noFill/>
          <a:ln/>
        </p:spPr>
        <p:txBody>
          <a:bodyPr wrap="square" lIns="0" tIns="0" rIns="0" bIns="0" rtlCol="0" anchor="ctr"/>
          <a:lstStyle/>
          <a:p>
            <a:pPr marL="0" indent="0">
              <a:buNone/>
            </a:pPr>
            <a:r>
              <a:rPr lang="en-US" sz="1500" b="1" dirty="0">
                <a:solidFill>
                  <a:srgbClr val="12233F"/>
                </a:solidFill>
              </a:rPr>
              <a:t>Farah</a:t>
            </a:r>
            <a:endParaRPr lang="en-US" sz="1500" dirty="0"/>
          </a:p>
        </p:txBody>
      </p:sp>
      <p:sp>
        <p:nvSpPr>
          <p:cNvPr id="40" name="Text 38"/>
          <p:cNvSpPr/>
          <p:nvPr/>
        </p:nvSpPr>
        <p:spPr>
          <a:xfrm>
            <a:off x="5879592" y="4142232"/>
            <a:ext cx="1865376" cy="182880"/>
          </a:xfrm>
          <a:prstGeom prst="rect">
            <a:avLst/>
          </a:prstGeom>
          <a:noFill/>
          <a:ln/>
        </p:spPr>
        <p:txBody>
          <a:bodyPr wrap="square" lIns="0" tIns="0" rIns="0" bIns="0" rtlCol="0" anchor="ctr">
            <a:normAutofit/>
          </a:bodyPr>
          <a:lstStyle/>
          <a:p>
            <a:pPr marL="0" indent="0">
              <a:buNone/>
            </a:pPr>
            <a:r>
              <a:rPr lang="en-US" sz="1050" b="1" dirty="0">
                <a:solidFill>
                  <a:srgbClr val="0B6E75"/>
                </a:solidFill>
              </a:rPr>
              <a:t>HR Executive</a:t>
            </a:r>
            <a:endParaRPr lang="en-US" sz="1050" dirty="0"/>
          </a:p>
        </p:txBody>
      </p:sp>
      <p:sp>
        <p:nvSpPr>
          <p:cNvPr id="41" name="Shape 39"/>
          <p:cNvSpPr/>
          <p:nvPr/>
        </p:nvSpPr>
        <p:spPr>
          <a:xfrm>
            <a:off x="5879592" y="4443984"/>
            <a:ext cx="1810512" cy="310896"/>
          </a:xfrm>
          <a:prstGeom prst="roundRect">
            <a:avLst>
              <a:gd name="adj" fmla="val 47059"/>
            </a:avLst>
          </a:prstGeom>
          <a:solidFill>
            <a:srgbClr val="EEF2F6"/>
          </a:solidFill>
          <a:ln w="12700">
            <a:solidFill>
              <a:srgbClr val="EEF2F6"/>
            </a:solidFill>
            <a:prstDash val="solid"/>
          </a:ln>
        </p:spPr>
        <p:txBody>
          <a:bodyPr/>
          <a:lstStyle/>
          <a:p>
            <a:endParaRPr lang="en-US"/>
          </a:p>
        </p:txBody>
      </p:sp>
      <p:sp>
        <p:nvSpPr>
          <p:cNvPr id="42" name="Text 40"/>
          <p:cNvSpPr/>
          <p:nvPr/>
        </p:nvSpPr>
        <p:spPr>
          <a:xfrm>
            <a:off x="5879592" y="4462272"/>
            <a:ext cx="1810512" cy="201168"/>
          </a:xfrm>
          <a:prstGeom prst="rect">
            <a:avLst/>
          </a:prstGeom>
          <a:noFill/>
          <a:ln/>
        </p:spPr>
        <p:txBody>
          <a:bodyPr wrap="square" lIns="0" tIns="0" rIns="0" bIns="0" rtlCol="0" anchor="ctr">
            <a:normAutofit/>
          </a:bodyPr>
          <a:lstStyle/>
          <a:p>
            <a:pPr marL="0" indent="0" algn="ctr">
              <a:buNone/>
            </a:pPr>
            <a:r>
              <a:rPr lang="en-US" sz="900" b="1" dirty="0">
                <a:solidFill>
                  <a:srgbClr val="12233F"/>
                </a:solidFill>
                <a:latin typeface="Arial" pitchFamily="34" charset="0"/>
                <a:ea typeface="Arial" pitchFamily="34" charset="-122"/>
                <a:cs typeface="Arial" pitchFamily="34" charset="-120"/>
              </a:rPr>
              <a:t>ETHICS / PURPOSE</a:t>
            </a:r>
            <a:endParaRPr lang="en-US" sz="900" dirty="0"/>
          </a:p>
        </p:txBody>
      </p:sp>
      <p:sp>
        <p:nvSpPr>
          <p:cNvPr id="43" name="Shape 41"/>
          <p:cNvSpPr/>
          <p:nvPr/>
        </p:nvSpPr>
        <p:spPr>
          <a:xfrm>
            <a:off x="987552" y="5166360"/>
            <a:ext cx="6894576" cy="438912"/>
          </a:xfrm>
          <a:prstGeom prst="roundRect">
            <a:avLst>
              <a:gd name="adj" fmla="val 12500"/>
            </a:avLst>
          </a:prstGeom>
          <a:solidFill>
            <a:srgbClr val="092F57"/>
          </a:solidFill>
          <a:ln w="12700">
            <a:solidFill>
              <a:srgbClr val="092F57"/>
            </a:solidFill>
            <a:prstDash val="solid"/>
          </a:ln>
        </p:spPr>
        <p:txBody>
          <a:bodyPr/>
          <a:lstStyle/>
          <a:p>
            <a:endParaRPr lang="en-US"/>
          </a:p>
        </p:txBody>
      </p:sp>
      <p:sp>
        <p:nvSpPr>
          <p:cNvPr id="44" name="Text 42"/>
          <p:cNvSpPr/>
          <p:nvPr/>
        </p:nvSpPr>
        <p:spPr>
          <a:xfrm>
            <a:off x="1234440" y="5294376"/>
            <a:ext cx="6400800" cy="182880"/>
          </a:xfrm>
          <a:prstGeom prst="rect">
            <a:avLst/>
          </a:prstGeom>
          <a:noFill/>
          <a:ln/>
        </p:spPr>
        <p:txBody>
          <a:bodyPr wrap="square" lIns="0" tIns="0" rIns="0" bIns="0" rtlCol="0" anchor="ctr">
            <a:normAutofit/>
          </a:bodyPr>
          <a:lstStyle/>
          <a:p>
            <a:pPr marL="0" indent="0" algn="ctr">
              <a:buNone/>
            </a:pPr>
            <a:r>
              <a:rPr lang="en-US" sz="1100" b="1" kern="0" spc="45" dirty="0">
                <a:solidFill>
                  <a:srgbClr val="FFFFFF"/>
                </a:solidFill>
              </a:rPr>
              <a:t>PICK A PERSON  &gt;  COACH THE TRANSITION  &gt;  GET GROW FEEDBACK</a:t>
            </a:r>
            <a:endParaRPr lang="en-US" sz="1100" dirty="0"/>
          </a:p>
        </p:txBody>
      </p:sp>
      <p:sp>
        <p:nvSpPr>
          <p:cNvPr id="45" name="Shape 43"/>
          <p:cNvSpPr/>
          <p:nvPr/>
        </p:nvSpPr>
        <p:spPr>
          <a:xfrm>
            <a:off x="8823960" y="1664208"/>
            <a:ext cx="2724912" cy="4407408"/>
          </a:xfrm>
          <a:prstGeom prst="roundRect">
            <a:avLst>
              <a:gd name="adj" fmla="val 3356"/>
            </a:avLst>
          </a:prstGeom>
          <a:solidFill>
            <a:srgbClr val="092F57"/>
          </a:solidFill>
          <a:ln w="12700">
            <a:solidFill>
              <a:srgbClr val="092F57"/>
            </a:solidFill>
            <a:prstDash val="solid"/>
          </a:ln>
          <a:effectLst>
            <a:outerShdw blurRad="25400" dist="50800" dir="2700000" algn="bl" rotWithShape="0">
              <a:srgbClr val="0B1F33">
                <a:alpha val="12000"/>
              </a:srgbClr>
            </a:outerShdw>
          </a:effectLst>
        </p:spPr>
        <p:txBody>
          <a:bodyPr/>
          <a:lstStyle/>
          <a:p>
            <a:endParaRPr lang="en-US"/>
          </a:p>
        </p:txBody>
      </p:sp>
      <p:sp>
        <p:nvSpPr>
          <p:cNvPr id="46" name="Text 44"/>
          <p:cNvSpPr/>
          <p:nvPr/>
        </p:nvSpPr>
        <p:spPr>
          <a:xfrm>
            <a:off x="8979408" y="1901952"/>
            <a:ext cx="2414016" cy="274320"/>
          </a:xfrm>
          <a:prstGeom prst="rect">
            <a:avLst/>
          </a:prstGeom>
          <a:noFill/>
          <a:ln/>
        </p:spPr>
        <p:txBody>
          <a:bodyPr wrap="square" lIns="0" tIns="0" rIns="0" bIns="0" rtlCol="0" anchor="ctr">
            <a:normAutofit/>
          </a:bodyPr>
          <a:lstStyle/>
          <a:p>
            <a:pPr marL="0" indent="0" algn="ctr">
              <a:buNone/>
            </a:pPr>
            <a:r>
              <a:rPr lang="en-US" sz="1300" b="1" kern="0" spc="70" dirty="0">
                <a:solidFill>
                  <a:srgbClr val="55D6BE"/>
                </a:solidFill>
              </a:rPr>
              <a:t>OPEN LIVE SIMULATOR</a:t>
            </a:r>
            <a:endParaRPr lang="en-US" sz="1300" dirty="0"/>
          </a:p>
        </p:txBody>
      </p:sp>
      <p:sp>
        <p:nvSpPr>
          <p:cNvPr id="47" name="Shape 45">
            <a:hlinkClick r:id="rId3"/>
          </p:cNvPr>
          <p:cNvSpPr/>
          <p:nvPr/>
        </p:nvSpPr>
        <p:spPr>
          <a:xfrm>
            <a:off x="9454896" y="2240280"/>
            <a:ext cx="1444752" cy="1444752"/>
          </a:xfrm>
          <a:prstGeom prst="ellipse">
            <a:avLst/>
          </a:prstGeom>
          <a:solidFill>
            <a:srgbClr val="F4B942"/>
          </a:solidFill>
          <a:ln w="50800">
            <a:solidFill>
              <a:srgbClr val="FFFFFF"/>
            </a:solidFill>
            <a:prstDash val="solid"/>
          </a:ln>
          <a:effectLst>
            <a:outerShdw blurRad="25400" dist="50800" dir="2700000" algn="bl" rotWithShape="0">
              <a:srgbClr val="0B1F33">
                <a:alpha val="12000"/>
              </a:srgbClr>
            </a:outerShdw>
          </a:effectLst>
        </p:spPr>
        <p:txBody>
          <a:bodyPr/>
          <a:lstStyle/>
          <a:p>
            <a:endParaRPr lang="en-US"/>
          </a:p>
        </p:txBody>
      </p:sp>
      <p:sp>
        <p:nvSpPr>
          <p:cNvPr id="48" name="Shape 46">
            <a:hlinkClick r:id="rId3"/>
          </p:cNvPr>
          <p:cNvSpPr/>
          <p:nvPr/>
        </p:nvSpPr>
        <p:spPr>
          <a:xfrm rot="5400000">
            <a:off x="9948672" y="2660904"/>
            <a:ext cx="512064" cy="640080"/>
          </a:xfrm>
          <a:prstGeom prst="triangle">
            <a:avLst/>
          </a:prstGeom>
          <a:solidFill>
            <a:srgbClr val="092F57"/>
          </a:solidFill>
          <a:ln w="12700">
            <a:solidFill>
              <a:srgbClr val="092F57">
                <a:alpha val="0"/>
              </a:srgbClr>
            </a:solidFill>
            <a:prstDash val="solid"/>
          </a:ln>
        </p:spPr>
        <p:txBody>
          <a:bodyPr/>
          <a:lstStyle/>
          <a:p>
            <a:endParaRPr lang="en-US"/>
          </a:p>
        </p:txBody>
      </p:sp>
      <p:sp>
        <p:nvSpPr>
          <p:cNvPr id="49" name="Text 47">
            <a:hlinkClick r:id="rId3"/>
          </p:cNvPr>
          <p:cNvSpPr/>
          <p:nvPr/>
        </p:nvSpPr>
        <p:spPr>
          <a:xfrm>
            <a:off x="9070848" y="3767328"/>
            <a:ext cx="2231136" cy="228600"/>
          </a:xfrm>
          <a:prstGeom prst="rect">
            <a:avLst/>
          </a:prstGeom>
          <a:noFill/>
          <a:ln/>
        </p:spPr>
        <p:txBody>
          <a:bodyPr wrap="square" lIns="0" tIns="0" rIns="0" bIns="0" rtlCol="0" anchor="ctr"/>
          <a:lstStyle/>
          <a:p>
            <a:pPr marL="0" indent="0" algn="ctr">
              <a:buNone/>
            </a:pPr>
            <a:r>
              <a:rPr lang="en-US" sz="1250" b="1" u="sng" kern="0" spc="70" dirty="0">
                <a:solidFill>
                  <a:srgbClr val="FFFFFF"/>
                </a:solidFill>
                <a:hlinkClick r:id="rId3">
                  <a:extLst>
                    <a:ext uri="{A12FA001-AC4F-418D-AE19-62706E023703}">
                      <ahyp:hlinkClr xmlns:ahyp="http://schemas.microsoft.com/office/drawing/2018/hyperlinkcolor" val="tx"/>
                    </a:ext>
                  </a:extLst>
                </a:hlinkClick>
              </a:rPr>
              <a:t>CLICK TO OPEN</a:t>
            </a:r>
            <a:endParaRPr lang="en-US" sz="1250" dirty="0"/>
          </a:p>
        </p:txBody>
      </p:sp>
      <p:sp>
        <p:nvSpPr>
          <p:cNvPr id="50" name="Shape 48">
            <a:hlinkClick r:id="rId3"/>
          </p:cNvPr>
          <p:cNvSpPr/>
          <p:nvPr/>
        </p:nvSpPr>
        <p:spPr>
          <a:xfrm>
            <a:off x="9189720" y="2176272"/>
            <a:ext cx="1975104" cy="1901952"/>
          </a:xfrm>
          <a:prstGeom prst="rect">
            <a:avLst/>
          </a:prstGeom>
          <a:solidFill>
            <a:srgbClr val="FFFFFF">
              <a:alpha val="0"/>
            </a:srgbClr>
          </a:solidFill>
          <a:ln w="12700">
            <a:solidFill>
              <a:srgbClr val="FFFFFF">
                <a:alpha val="0"/>
              </a:srgbClr>
            </a:solidFill>
            <a:prstDash val="solid"/>
          </a:ln>
        </p:spPr>
        <p:txBody>
          <a:bodyPr/>
          <a:lstStyle/>
          <a:p>
            <a:endParaRPr lang="en-US"/>
          </a:p>
        </p:txBody>
      </p:sp>
      <p:sp>
        <p:nvSpPr>
          <p:cNvPr id="51" name="Shape 49"/>
          <p:cNvSpPr/>
          <p:nvPr/>
        </p:nvSpPr>
        <p:spPr>
          <a:xfrm>
            <a:off x="9162288" y="4069080"/>
            <a:ext cx="2029968" cy="0"/>
          </a:xfrm>
          <a:prstGeom prst="line">
            <a:avLst/>
          </a:prstGeom>
          <a:noFill/>
          <a:ln w="12700">
            <a:solidFill>
              <a:srgbClr val="5D8194"/>
            </a:solidFill>
            <a:prstDash val="solid"/>
          </a:ln>
        </p:spPr>
        <p:txBody>
          <a:bodyPr/>
          <a:lstStyle/>
          <a:p>
            <a:endParaRPr lang="en-US"/>
          </a:p>
        </p:txBody>
      </p:sp>
      <p:sp>
        <p:nvSpPr>
          <p:cNvPr id="52" name="Text 50"/>
          <p:cNvSpPr/>
          <p:nvPr/>
        </p:nvSpPr>
        <p:spPr>
          <a:xfrm>
            <a:off x="9070848" y="4160520"/>
            <a:ext cx="2231136" cy="164592"/>
          </a:xfrm>
          <a:prstGeom prst="rect">
            <a:avLst/>
          </a:prstGeom>
          <a:noFill/>
          <a:ln/>
        </p:spPr>
        <p:txBody>
          <a:bodyPr wrap="square" lIns="0" tIns="0" rIns="0" bIns="0" rtlCol="0" anchor="ctr"/>
          <a:lstStyle/>
          <a:p>
            <a:pPr marL="0" indent="0" algn="ctr">
              <a:buNone/>
            </a:pPr>
            <a:r>
              <a:rPr lang="en-US" sz="1050" b="1" kern="0" spc="90" dirty="0">
                <a:solidFill>
                  <a:srgbClr val="55D6BE"/>
                </a:solidFill>
              </a:rPr>
              <a:t>OR SCAN</a:t>
            </a:r>
            <a:endParaRPr lang="en-US" sz="1050" dirty="0"/>
          </a:p>
        </p:txBody>
      </p:sp>
      <p:sp>
        <p:nvSpPr>
          <p:cNvPr id="53" name="Shape 51"/>
          <p:cNvSpPr/>
          <p:nvPr/>
        </p:nvSpPr>
        <p:spPr>
          <a:xfrm>
            <a:off x="9436608" y="4370832"/>
            <a:ext cx="1481328" cy="1481328"/>
          </a:xfrm>
          <a:prstGeom prst="rect">
            <a:avLst/>
          </a:prstGeom>
          <a:solidFill>
            <a:srgbClr val="FFFFFF"/>
          </a:solidFill>
          <a:ln w="12700">
            <a:solidFill>
              <a:srgbClr val="FFFFFF"/>
            </a:solidFill>
            <a:prstDash val="solid"/>
          </a:ln>
        </p:spPr>
        <p:txBody>
          <a:bodyPr/>
          <a:lstStyle/>
          <a:p>
            <a:endParaRPr lang="en-US"/>
          </a:p>
        </p:txBody>
      </p:sp>
      <p:pic>
        <p:nvPicPr>
          <p:cNvPr id="54" name="Image 0" descr="QR code to the live AI Agent Job Redesign Coach">
            <a:hlinkClick r:id="rId3"/>
          </p:cNvPr>
          <p:cNvPicPr>
            <a:picLocks noChangeAspect="1"/>
          </p:cNvPicPr>
          <p:nvPr/>
        </p:nvPicPr>
        <p:blipFill>
          <a:blip r:embed="rId4"/>
          <a:stretch>
            <a:fillRect/>
          </a:stretch>
        </p:blipFill>
        <p:spPr>
          <a:xfrm>
            <a:off x="9500616" y="4434840"/>
            <a:ext cx="1353312" cy="1353312"/>
          </a:xfrm>
          <a:prstGeom prst="rect">
            <a:avLst/>
          </a:prstGeom>
        </p:spPr>
      </p:pic>
      <p:sp>
        <p:nvSpPr>
          <p:cNvPr id="55" name="Text 52">
            <a:hlinkClick r:id="rId3"/>
          </p:cNvPr>
          <p:cNvSpPr/>
          <p:nvPr/>
        </p:nvSpPr>
        <p:spPr>
          <a:xfrm>
            <a:off x="658368" y="6355080"/>
            <a:ext cx="9921240" cy="219456"/>
          </a:xfrm>
          <a:prstGeom prst="rect">
            <a:avLst/>
          </a:prstGeom>
          <a:noFill/>
          <a:ln/>
        </p:spPr>
        <p:txBody>
          <a:bodyPr wrap="square" lIns="0" tIns="0" rIns="0" bIns="0" rtlCol="0" anchor="ctr">
            <a:normAutofit/>
          </a:bodyPr>
          <a:lstStyle/>
          <a:p>
            <a:pPr marL="0" indent="0">
              <a:buNone/>
            </a:pPr>
            <a:r>
              <a:rPr lang="en-US" sz="1000" u="sng" dirty="0">
                <a:solidFill>
                  <a:srgbClr val="72819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Live training simulator - six fictional scenarios; demo mode makes no external API calls</a:t>
            </a:r>
            <a:endParaRPr lang="en-US" sz="1000" dirty="0"/>
          </a:p>
        </p:txBody>
      </p:sp>
      <p:sp>
        <p:nvSpPr>
          <p:cNvPr id="56" name="Text 53"/>
          <p:cNvSpPr/>
          <p:nvPr/>
        </p:nvSpPr>
        <p:spPr>
          <a:xfrm>
            <a:off x="9464040" y="6373368"/>
            <a:ext cx="2176272" cy="201168"/>
          </a:xfrm>
          <a:prstGeom prst="rect">
            <a:avLst/>
          </a:prstGeom>
          <a:noFill/>
          <a:ln/>
        </p:spPr>
        <p:txBody>
          <a:bodyPr wrap="square" lIns="0" tIns="0" rIns="0" bIns="0" rtlCol="0" anchor="ctr"/>
          <a:lstStyle/>
          <a:p>
            <a:pPr marL="0" indent="0" algn="r">
              <a:buNone/>
            </a:pPr>
            <a:r>
              <a:rPr lang="en-US" sz="850" b="1" kern="0" spc="6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75"/>
          </a:solidFill>
          <a:ln w="12700">
            <a:solidFill>
              <a:srgbClr val="0B6E75"/>
            </a:solidFill>
            <a:prstDash val="solid"/>
          </a:ln>
        </p:spPr>
        <p:txBody>
          <a:bodyPr/>
          <a:lstStyle/>
          <a:p>
            <a:endParaRPr lang="en-US"/>
          </a:p>
        </p:txBody>
      </p:sp>
      <p:sp>
        <p:nvSpPr>
          <p:cNvPr id="3" name="Text 1"/>
          <p:cNvSpPr/>
          <p:nvPr/>
        </p:nvSpPr>
        <p:spPr>
          <a:xfrm>
            <a:off x="658368" y="228600"/>
            <a:ext cx="3474720" cy="219456"/>
          </a:xfrm>
          <a:prstGeom prst="rect">
            <a:avLst/>
          </a:prstGeom>
          <a:noFill/>
          <a:ln/>
        </p:spPr>
        <p:txBody>
          <a:bodyPr wrap="square" lIns="0" tIns="0" rIns="0" bIns="0" rtlCol="0" anchor="ctr"/>
          <a:lstStyle/>
          <a:p>
            <a:pPr marL="0" indent="0">
              <a:buNone/>
            </a:pPr>
            <a:r>
              <a:rPr lang="en-US" sz="900" b="1" kern="0" spc="170" dirty="0">
                <a:solidFill>
                  <a:srgbClr val="0B6E75"/>
                </a:solidFill>
                <a:latin typeface="Arial" pitchFamily="34" charset="0"/>
                <a:ea typeface="Arial" pitchFamily="34" charset="-122"/>
                <a:cs typeface="Arial" pitchFamily="34" charset="-120"/>
              </a:rPr>
              <a:t>THE WORKED EXAMPLE</a:t>
            </a:r>
            <a:endParaRPr lang="en-US" sz="900" dirty="0"/>
          </a:p>
        </p:txBody>
      </p:sp>
      <p:sp>
        <p:nvSpPr>
          <p:cNvPr id="4" name="Text 2"/>
          <p:cNvSpPr/>
          <p:nvPr/>
        </p:nvSpPr>
        <p:spPr>
          <a:xfrm>
            <a:off x="11109960" y="219456"/>
            <a:ext cx="530352" cy="219456"/>
          </a:xfrm>
          <a:prstGeom prst="rect">
            <a:avLst/>
          </a:prstGeom>
          <a:noFill/>
          <a:ln/>
        </p:spPr>
        <p:txBody>
          <a:bodyPr wrap="square" lIns="0" tIns="0" rIns="0" bIns="0" rtlCol="0" anchor="ctr"/>
          <a:lstStyle/>
          <a:p>
            <a:pPr marL="0" indent="0" algn="r">
              <a:buNone/>
            </a:pPr>
            <a:r>
              <a:rPr lang="en-US" sz="1000" b="1" dirty="0">
                <a:solidFill>
                  <a:srgbClr val="728197"/>
                </a:solidFill>
                <a:latin typeface="Arial" pitchFamily="34" charset="0"/>
                <a:ea typeface="Arial" pitchFamily="34" charset="-122"/>
                <a:cs typeface="Arial" pitchFamily="34" charset="-120"/>
              </a:rPr>
              <a:t>09</a:t>
            </a:r>
            <a:endParaRPr lang="en-US" sz="1000" dirty="0"/>
          </a:p>
        </p:txBody>
      </p:sp>
      <p:sp>
        <p:nvSpPr>
          <p:cNvPr id="5" name="Text 3"/>
          <p:cNvSpPr/>
          <p:nvPr/>
        </p:nvSpPr>
        <p:spPr>
          <a:xfrm>
            <a:off x="658368" y="566928"/>
            <a:ext cx="10744200" cy="594360"/>
          </a:xfrm>
          <a:prstGeom prst="rect">
            <a:avLst/>
          </a:prstGeom>
          <a:noFill/>
          <a:ln/>
        </p:spPr>
        <p:txBody>
          <a:bodyPr wrap="square" lIns="0" tIns="0" rIns="0" bIns="0" rtlCol="0" anchor="ctr">
            <a:normAutofit/>
          </a:bodyPr>
          <a:lstStyle/>
          <a:p>
            <a:pPr marL="0" indent="0">
              <a:buNone/>
            </a:pPr>
            <a:r>
              <a:rPr lang="en-US" sz="2900" b="1" dirty="0">
                <a:solidFill>
                  <a:srgbClr val="12233F"/>
                </a:solidFill>
                <a:latin typeface="Arial" pitchFamily="34" charset="0"/>
                <a:ea typeface="Arial" pitchFamily="34" charset="-122"/>
                <a:cs typeface="Arial" pitchFamily="34" charset="-120"/>
              </a:rPr>
              <a:t>A coaching conversation can reframe fear as ownership.</a:t>
            </a:r>
            <a:endParaRPr lang="en-US" sz="2900" dirty="0"/>
          </a:p>
        </p:txBody>
      </p:sp>
      <p:sp>
        <p:nvSpPr>
          <p:cNvPr id="6" name="Text 4"/>
          <p:cNvSpPr/>
          <p:nvPr/>
        </p:nvSpPr>
        <p:spPr>
          <a:xfrm>
            <a:off x="658368" y="1207008"/>
            <a:ext cx="10424160" cy="310896"/>
          </a:xfrm>
          <a:prstGeom prst="rect">
            <a:avLst/>
          </a:prstGeom>
          <a:noFill/>
          <a:ln/>
        </p:spPr>
        <p:txBody>
          <a:bodyPr wrap="square" lIns="0" tIns="0" rIns="0" bIns="0" rtlCol="0" anchor="ctr">
            <a:normAutofit/>
          </a:bodyPr>
          <a:lstStyle/>
          <a:p>
            <a:pPr marL="0" indent="0">
              <a:buNone/>
            </a:pPr>
            <a:r>
              <a:rPr lang="en-US" sz="1500" dirty="0">
                <a:solidFill>
                  <a:srgbClr val="4F6176"/>
                </a:solidFill>
                <a:latin typeface="Arial" pitchFamily="34" charset="0"/>
                <a:ea typeface="Arial" pitchFamily="34" charset="-122"/>
                <a:cs typeface="Arial" pitchFamily="34" charset="-120"/>
              </a:rPr>
              <a:t>Sarah moves from threatened doer to AI-augmented marketing lead.</a:t>
            </a:r>
            <a:endParaRPr lang="en-US" sz="1500" dirty="0"/>
          </a:p>
        </p:txBody>
      </p:sp>
      <p:sp>
        <p:nvSpPr>
          <p:cNvPr id="7" name="Shape 5"/>
          <p:cNvSpPr/>
          <p:nvPr/>
        </p:nvSpPr>
        <p:spPr>
          <a:xfrm>
            <a:off x="640080" y="1737360"/>
            <a:ext cx="3794760" cy="4352544"/>
          </a:xfrm>
          <a:prstGeom prst="roundRect">
            <a:avLst>
              <a:gd name="adj" fmla="val 2410"/>
            </a:avLst>
          </a:prstGeom>
          <a:solidFill>
            <a:srgbClr val="FFF0EE"/>
          </a:solidFill>
          <a:ln w="12700">
            <a:solidFill>
              <a:srgbClr val="F4B8B3"/>
            </a:solidFill>
            <a:prstDash val="solid"/>
          </a:ln>
          <a:effectLst>
            <a:outerShdw blurRad="25400" dist="50800" dir="2700000" algn="bl" rotWithShape="0">
              <a:srgbClr val="0B1F33">
                <a:alpha val="12000"/>
              </a:srgbClr>
            </a:outerShdw>
          </a:effectLst>
        </p:spPr>
        <p:txBody>
          <a:bodyPr/>
          <a:lstStyle/>
          <a:p>
            <a:endParaRPr lang="en-US"/>
          </a:p>
        </p:txBody>
      </p:sp>
      <p:sp>
        <p:nvSpPr>
          <p:cNvPr id="8" name="Shape 6"/>
          <p:cNvSpPr/>
          <p:nvPr/>
        </p:nvSpPr>
        <p:spPr>
          <a:xfrm>
            <a:off x="932688" y="2039112"/>
            <a:ext cx="896112" cy="310896"/>
          </a:xfrm>
          <a:prstGeom prst="roundRect">
            <a:avLst>
              <a:gd name="adj" fmla="val 47059"/>
            </a:avLst>
          </a:prstGeom>
          <a:solidFill>
            <a:srgbClr val="F5665C"/>
          </a:solidFill>
          <a:ln w="12700">
            <a:solidFill>
              <a:srgbClr val="F5665C"/>
            </a:solidFill>
            <a:prstDash val="solid"/>
          </a:ln>
        </p:spPr>
        <p:txBody>
          <a:bodyPr/>
          <a:lstStyle/>
          <a:p>
            <a:endParaRPr lang="en-US"/>
          </a:p>
        </p:txBody>
      </p:sp>
      <p:sp>
        <p:nvSpPr>
          <p:cNvPr id="9" name="Text 7"/>
          <p:cNvSpPr/>
          <p:nvPr/>
        </p:nvSpPr>
        <p:spPr>
          <a:xfrm>
            <a:off x="932688" y="2057400"/>
            <a:ext cx="896112" cy="201168"/>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rial" pitchFamily="34" charset="0"/>
                <a:ea typeface="Arial" pitchFamily="34" charset="-122"/>
                <a:cs typeface="Arial" pitchFamily="34" charset="-120"/>
              </a:rPr>
              <a:t>REALITY</a:t>
            </a:r>
            <a:endParaRPr lang="en-US" sz="1000" dirty="0"/>
          </a:p>
        </p:txBody>
      </p:sp>
      <p:sp>
        <p:nvSpPr>
          <p:cNvPr id="10" name="Text 8"/>
          <p:cNvSpPr/>
          <p:nvPr/>
        </p:nvSpPr>
        <p:spPr>
          <a:xfrm>
            <a:off x="914400" y="2633472"/>
            <a:ext cx="3246120" cy="1325880"/>
          </a:xfrm>
          <a:prstGeom prst="rect">
            <a:avLst/>
          </a:prstGeom>
          <a:noFill/>
          <a:ln/>
        </p:spPr>
        <p:txBody>
          <a:bodyPr wrap="square" lIns="0" tIns="0" rIns="0" bIns="0" rtlCol="0" anchor="ctr">
            <a:normAutofit lnSpcReduction="10000"/>
          </a:bodyPr>
          <a:lstStyle/>
          <a:p>
            <a:pPr marL="0" indent="0">
              <a:buNone/>
            </a:pPr>
            <a:r>
              <a:rPr lang="en-US" sz="2300" b="1" i="1" dirty="0">
                <a:solidFill>
                  <a:srgbClr val="12233F"/>
                </a:solidFill>
              </a:rPr>
              <a:t>"The agent writes the campaign copy and builds the decks. That is basically my whole job."</a:t>
            </a:r>
            <a:endParaRPr lang="en-US" sz="2300" dirty="0"/>
          </a:p>
        </p:txBody>
      </p:sp>
      <p:sp>
        <p:nvSpPr>
          <p:cNvPr id="11" name="Text 9"/>
          <p:cNvSpPr/>
          <p:nvPr/>
        </p:nvSpPr>
        <p:spPr>
          <a:xfrm>
            <a:off x="960120" y="4315968"/>
            <a:ext cx="3063240" cy="1051560"/>
          </a:xfrm>
          <a:prstGeom prst="rect">
            <a:avLst/>
          </a:prstGeom>
          <a:noFill/>
          <a:ln/>
        </p:spPr>
        <p:txBody>
          <a:bodyPr wrap="square" lIns="0" tIns="0" rIns="0" bIns="0" rtlCol="0" anchor="ctr">
            <a:normAutofit/>
          </a:bodyPr>
          <a:lstStyle/>
          <a:p>
            <a:pPr marL="0" indent="0">
              <a:buNone/>
            </a:pPr>
            <a:r>
              <a:rPr lang="en-US" sz="1600" dirty="0">
                <a:solidFill>
                  <a:srgbClr val="4F6176"/>
                </a:solidFill>
              </a:rPr>
              <a:t>Fear of redundancy</a:t>
            </a:r>
            <a:endParaRPr lang="en-US" sz="1600" dirty="0"/>
          </a:p>
          <a:p>
            <a:pPr marL="0" indent="0">
              <a:buNone/>
            </a:pPr>
            <a:r>
              <a:rPr lang="en-US" sz="1600" dirty="0">
                <a:solidFill>
                  <a:srgbClr val="4F6176"/>
                </a:solidFill>
              </a:rPr>
              <a:t>Loss of identity</a:t>
            </a:r>
            <a:endParaRPr lang="en-US" sz="1600" dirty="0"/>
          </a:p>
          <a:p>
            <a:pPr marL="0" indent="0">
              <a:buNone/>
            </a:pPr>
            <a:r>
              <a:rPr lang="en-US" sz="1600" dirty="0">
                <a:solidFill>
                  <a:srgbClr val="4F6176"/>
                </a:solidFill>
              </a:rPr>
              <a:t>No consultation</a:t>
            </a:r>
            <a:endParaRPr lang="en-US" sz="1600" dirty="0"/>
          </a:p>
          <a:p>
            <a:pPr marL="0" indent="0">
              <a:buNone/>
            </a:pPr>
            <a:r>
              <a:rPr lang="en-US" sz="1600" dirty="0">
                <a:solidFill>
                  <a:srgbClr val="4F6176"/>
                </a:solidFill>
              </a:rPr>
              <a:t>Anxiety about blame</a:t>
            </a:r>
            <a:endParaRPr lang="en-US" sz="1600" dirty="0"/>
          </a:p>
        </p:txBody>
      </p:sp>
      <p:sp>
        <p:nvSpPr>
          <p:cNvPr id="12" name="Shape 10"/>
          <p:cNvSpPr/>
          <p:nvPr/>
        </p:nvSpPr>
        <p:spPr>
          <a:xfrm>
            <a:off x="4663440" y="3127248"/>
            <a:ext cx="685800" cy="1097280"/>
          </a:xfrm>
          <a:prstGeom prst="chevron">
            <a:avLst/>
          </a:prstGeom>
          <a:solidFill>
            <a:srgbClr val="F4B942"/>
          </a:solidFill>
          <a:ln w="12700">
            <a:solidFill>
              <a:srgbClr val="F4B942">
                <a:alpha val="0"/>
              </a:srgbClr>
            </a:solidFill>
            <a:prstDash val="solid"/>
          </a:ln>
        </p:spPr>
        <p:txBody>
          <a:bodyPr/>
          <a:lstStyle/>
          <a:p>
            <a:endParaRPr lang="en-US"/>
          </a:p>
        </p:txBody>
      </p:sp>
      <p:sp>
        <p:nvSpPr>
          <p:cNvPr id="13" name="Shape 11"/>
          <p:cNvSpPr/>
          <p:nvPr/>
        </p:nvSpPr>
        <p:spPr>
          <a:xfrm>
            <a:off x="5532120" y="1737360"/>
            <a:ext cx="5943600" cy="4352544"/>
          </a:xfrm>
          <a:prstGeom prst="roundRect">
            <a:avLst>
              <a:gd name="adj" fmla="val 2101"/>
            </a:avLst>
          </a:prstGeom>
          <a:solidFill>
            <a:srgbClr val="E9F8F4"/>
          </a:solidFill>
          <a:ln w="12700">
            <a:solidFill>
              <a:srgbClr val="A9DDD3"/>
            </a:solidFill>
            <a:prstDash val="solid"/>
          </a:ln>
          <a:effectLst>
            <a:outerShdw blurRad="25400" dist="50800" dir="2700000" algn="bl" rotWithShape="0">
              <a:srgbClr val="0B1F33">
                <a:alpha val="12000"/>
              </a:srgbClr>
            </a:outerShdw>
          </a:effectLst>
        </p:spPr>
        <p:txBody>
          <a:bodyPr/>
          <a:lstStyle/>
          <a:p>
            <a:endParaRPr lang="en-US"/>
          </a:p>
        </p:txBody>
      </p:sp>
      <p:sp>
        <p:nvSpPr>
          <p:cNvPr id="14" name="Shape 12"/>
          <p:cNvSpPr/>
          <p:nvPr/>
        </p:nvSpPr>
        <p:spPr>
          <a:xfrm>
            <a:off x="5833872" y="2039112"/>
            <a:ext cx="1536192" cy="310896"/>
          </a:xfrm>
          <a:prstGeom prst="roundRect">
            <a:avLst>
              <a:gd name="adj" fmla="val 47059"/>
            </a:avLst>
          </a:prstGeom>
          <a:solidFill>
            <a:srgbClr val="0C8A78"/>
          </a:solidFill>
          <a:ln w="12700">
            <a:solidFill>
              <a:srgbClr val="0C8A78"/>
            </a:solidFill>
            <a:prstDash val="solid"/>
          </a:ln>
        </p:spPr>
        <p:txBody>
          <a:bodyPr/>
          <a:lstStyle/>
          <a:p>
            <a:endParaRPr lang="en-US"/>
          </a:p>
        </p:txBody>
      </p:sp>
      <p:sp>
        <p:nvSpPr>
          <p:cNvPr id="15" name="Text 13"/>
          <p:cNvSpPr/>
          <p:nvPr/>
        </p:nvSpPr>
        <p:spPr>
          <a:xfrm>
            <a:off x="5833872" y="2057400"/>
            <a:ext cx="1536192" cy="201168"/>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rial" pitchFamily="34" charset="0"/>
                <a:ea typeface="Arial" pitchFamily="34" charset="-122"/>
                <a:cs typeface="Arial" pitchFamily="34" charset="-120"/>
              </a:rPr>
              <a:t>REDESIGNED ROLE</a:t>
            </a:r>
            <a:endParaRPr lang="en-US" sz="1000" dirty="0"/>
          </a:p>
        </p:txBody>
      </p:sp>
      <p:sp>
        <p:nvSpPr>
          <p:cNvPr id="16" name="Text 14"/>
          <p:cNvSpPr/>
          <p:nvPr/>
        </p:nvSpPr>
        <p:spPr>
          <a:xfrm>
            <a:off x="5833872" y="2578608"/>
            <a:ext cx="5303520" cy="502920"/>
          </a:xfrm>
          <a:prstGeom prst="rect">
            <a:avLst/>
          </a:prstGeom>
          <a:noFill/>
          <a:ln/>
        </p:spPr>
        <p:txBody>
          <a:bodyPr wrap="square" lIns="0" tIns="0" rIns="0" bIns="0" rtlCol="0" anchor="ctr">
            <a:normAutofit/>
          </a:bodyPr>
          <a:lstStyle/>
          <a:p>
            <a:pPr marL="0" indent="0" algn="ctr">
              <a:buNone/>
            </a:pPr>
            <a:r>
              <a:rPr lang="en-US" sz="2800" b="1" dirty="0">
                <a:solidFill>
                  <a:srgbClr val="092F57"/>
                </a:solidFill>
              </a:rPr>
              <a:t>AI-Augmented Marketing Lead</a:t>
            </a:r>
            <a:endParaRPr lang="en-US" sz="2800" dirty="0"/>
          </a:p>
        </p:txBody>
      </p:sp>
      <p:sp>
        <p:nvSpPr>
          <p:cNvPr id="17" name="Text 15"/>
          <p:cNvSpPr/>
          <p:nvPr/>
        </p:nvSpPr>
        <p:spPr>
          <a:xfrm>
            <a:off x="5925312" y="3337560"/>
            <a:ext cx="1143000" cy="201168"/>
          </a:xfrm>
          <a:prstGeom prst="rect">
            <a:avLst/>
          </a:prstGeom>
          <a:noFill/>
          <a:ln/>
        </p:spPr>
        <p:txBody>
          <a:bodyPr wrap="square" lIns="0" tIns="0" rIns="0" bIns="0" rtlCol="0" anchor="ctr"/>
          <a:lstStyle/>
          <a:p>
            <a:pPr marL="0" indent="0">
              <a:buNone/>
            </a:pPr>
            <a:r>
              <a:rPr lang="en-US" sz="1050" b="1" kern="0" spc="70" dirty="0">
                <a:solidFill>
                  <a:srgbClr val="0B6E75"/>
                </a:solidFill>
              </a:rPr>
              <a:t>DIRECTION</a:t>
            </a:r>
            <a:endParaRPr lang="en-US" sz="1050" dirty="0"/>
          </a:p>
        </p:txBody>
      </p:sp>
      <p:sp>
        <p:nvSpPr>
          <p:cNvPr id="18" name="Text 16"/>
          <p:cNvSpPr/>
          <p:nvPr/>
        </p:nvSpPr>
        <p:spPr>
          <a:xfrm>
            <a:off x="7095744" y="3328416"/>
            <a:ext cx="3794760" cy="228600"/>
          </a:xfrm>
          <a:prstGeom prst="rect">
            <a:avLst/>
          </a:prstGeom>
          <a:noFill/>
          <a:ln/>
        </p:spPr>
        <p:txBody>
          <a:bodyPr wrap="square" lIns="0" tIns="0" rIns="0" bIns="0" rtlCol="0" anchor="ctr">
            <a:normAutofit lnSpcReduction="10000"/>
          </a:bodyPr>
          <a:lstStyle/>
          <a:p>
            <a:pPr marL="0" indent="0">
              <a:buNone/>
            </a:pPr>
            <a:r>
              <a:rPr lang="en-US" sz="1520" dirty="0">
                <a:solidFill>
                  <a:srgbClr val="12233F"/>
                </a:solidFill>
              </a:rPr>
              <a:t>Goals, creative angle and brand voice</a:t>
            </a:r>
            <a:endParaRPr lang="en-US" sz="1520" dirty="0"/>
          </a:p>
        </p:txBody>
      </p:sp>
      <p:sp>
        <p:nvSpPr>
          <p:cNvPr id="19" name="Text 17"/>
          <p:cNvSpPr/>
          <p:nvPr/>
        </p:nvSpPr>
        <p:spPr>
          <a:xfrm>
            <a:off x="5925312" y="3767328"/>
            <a:ext cx="1143000" cy="201168"/>
          </a:xfrm>
          <a:prstGeom prst="rect">
            <a:avLst/>
          </a:prstGeom>
          <a:noFill/>
          <a:ln/>
        </p:spPr>
        <p:txBody>
          <a:bodyPr wrap="square" lIns="0" tIns="0" rIns="0" bIns="0" rtlCol="0" anchor="ctr"/>
          <a:lstStyle/>
          <a:p>
            <a:pPr marL="0" indent="0">
              <a:buNone/>
            </a:pPr>
            <a:r>
              <a:rPr lang="en-US" sz="1050" b="1" kern="0" spc="70" dirty="0">
                <a:solidFill>
                  <a:srgbClr val="0B6E75"/>
                </a:solidFill>
              </a:rPr>
              <a:t>CHALLENGE</a:t>
            </a:r>
            <a:endParaRPr lang="en-US" sz="1050" dirty="0"/>
          </a:p>
        </p:txBody>
      </p:sp>
      <p:sp>
        <p:nvSpPr>
          <p:cNvPr id="20" name="Text 18"/>
          <p:cNvSpPr/>
          <p:nvPr/>
        </p:nvSpPr>
        <p:spPr>
          <a:xfrm>
            <a:off x="7095744" y="3758184"/>
            <a:ext cx="3794760" cy="228600"/>
          </a:xfrm>
          <a:prstGeom prst="rect">
            <a:avLst/>
          </a:prstGeom>
          <a:noFill/>
          <a:ln/>
        </p:spPr>
        <p:txBody>
          <a:bodyPr wrap="square" lIns="0" tIns="0" rIns="0" bIns="0" rtlCol="0" anchor="ctr">
            <a:normAutofit lnSpcReduction="10000"/>
          </a:bodyPr>
          <a:lstStyle/>
          <a:p>
            <a:pPr marL="0" indent="0">
              <a:buNone/>
            </a:pPr>
            <a:r>
              <a:rPr lang="en-US" sz="1520" dirty="0">
                <a:solidFill>
                  <a:srgbClr val="12233F"/>
                </a:solidFill>
              </a:rPr>
              <a:t>Audit assumptions, facts and market fit</a:t>
            </a:r>
            <a:endParaRPr lang="en-US" sz="1520" dirty="0"/>
          </a:p>
        </p:txBody>
      </p:sp>
      <p:sp>
        <p:nvSpPr>
          <p:cNvPr id="21" name="Text 19"/>
          <p:cNvSpPr/>
          <p:nvPr/>
        </p:nvSpPr>
        <p:spPr>
          <a:xfrm>
            <a:off x="5925312" y="4197096"/>
            <a:ext cx="1143000" cy="201168"/>
          </a:xfrm>
          <a:prstGeom prst="rect">
            <a:avLst/>
          </a:prstGeom>
          <a:noFill/>
          <a:ln/>
        </p:spPr>
        <p:txBody>
          <a:bodyPr wrap="square" lIns="0" tIns="0" rIns="0" bIns="0" rtlCol="0" anchor="ctr"/>
          <a:lstStyle/>
          <a:p>
            <a:pPr marL="0" indent="0">
              <a:buNone/>
            </a:pPr>
            <a:r>
              <a:rPr lang="en-US" sz="1050" b="1" kern="0" spc="70" dirty="0">
                <a:solidFill>
                  <a:srgbClr val="0B6E75"/>
                </a:solidFill>
              </a:rPr>
              <a:t>APPROVAL</a:t>
            </a:r>
            <a:endParaRPr lang="en-US" sz="1050" dirty="0"/>
          </a:p>
        </p:txBody>
      </p:sp>
      <p:sp>
        <p:nvSpPr>
          <p:cNvPr id="22" name="Text 20"/>
          <p:cNvSpPr/>
          <p:nvPr/>
        </p:nvSpPr>
        <p:spPr>
          <a:xfrm>
            <a:off x="7095744" y="4187952"/>
            <a:ext cx="3794760" cy="228600"/>
          </a:xfrm>
          <a:prstGeom prst="rect">
            <a:avLst/>
          </a:prstGeom>
          <a:noFill/>
          <a:ln/>
        </p:spPr>
        <p:txBody>
          <a:bodyPr wrap="square" lIns="0" tIns="0" rIns="0" bIns="0" rtlCol="0" anchor="ctr">
            <a:normAutofit lnSpcReduction="10000"/>
          </a:bodyPr>
          <a:lstStyle/>
          <a:p>
            <a:pPr marL="0" indent="0">
              <a:buNone/>
            </a:pPr>
            <a:r>
              <a:rPr lang="en-US" sz="1520" dirty="0">
                <a:solidFill>
                  <a:srgbClr val="12233F"/>
                </a:solidFill>
              </a:rPr>
              <a:t>Final gate for external content</a:t>
            </a:r>
            <a:endParaRPr lang="en-US" sz="1520" dirty="0"/>
          </a:p>
        </p:txBody>
      </p:sp>
      <p:sp>
        <p:nvSpPr>
          <p:cNvPr id="23" name="Text 21"/>
          <p:cNvSpPr/>
          <p:nvPr/>
        </p:nvSpPr>
        <p:spPr>
          <a:xfrm>
            <a:off x="5925312" y="4626864"/>
            <a:ext cx="1143000" cy="201168"/>
          </a:xfrm>
          <a:prstGeom prst="rect">
            <a:avLst/>
          </a:prstGeom>
          <a:noFill/>
          <a:ln/>
        </p:spPr>
        <p:txBody>
          <a:bodyPr wrap="square" lIns="0" tIns="0" rIns="0" bIns="0" rtlCol="0" anchor="ctr"/>
          <a:lstStyle/>
          <a:p>
            <a:pPr marL="0" indent="0">
              <a:buNone/>
            </a:pPr>
            <a:r>
              <a:rPr lang="en-US" sz="1050" b="1" kern="0" spc="70" dirty="0">
                <a:solidFill>
                  <a:srgbClr val="0B6E75"/>
                </a:solidFill>
              </a:rPr>
              <a:t>INSIGHT</a:t>
            </a:r>
            <a:endParaRPr lang="en-US" sz="1050" dirty="0"/>
          </a:p>
        </p:txBody>
      </p:sp>
      <p:sp>
        <p:nvSpPr>
          <p:cNvPr id="24" name="Text 22"/>
          <p:cNvSpPr/>
          <p:nvPr/>
        </p:nvSpPr>
        <p:spPr>
          <a:xfrm>
            <a:off x="7095744" y="4617720"/>
            <a:ext cx="3794760" cy="228600"/>
          </a:xfrm>
          <a:prstGeom prst="rect">
            <a:avLst/>
          </a:prstGeom>
          <a:noFill/>
          <a:ln/>
        </p:spPr>
        <p:txBody>
          <a:bodyPr wrap="square" lIns="0" tIns="0" rIns="0" bIns="0" rtlCol="0" anchor="ctr">
            <a:normAutofit lnSpcReduction="10000"/>
          </a:bodyPr>
          <a:lstStyle/>
          <a:p>
            <a:pPr marL="0" indent="0">
              <a:buNone/>
            </a:pPr>
            <a:r>
              <a:rPr lang="en-US" sz="1520" dirty="0">
                <a:solidFill>
                  <a:srgbClr val="12233F"/>
                </a:solidFill>
              </a:rPr>
              <a:t>Feed live client and market context back</a:t>
            </a:r>
            <a:endParaRPr lang="en-US" sz="1520" dirty="0"/>
          </a:p>
        </p:txBody>
      </p:sp>
      <p:sp>
        <p:nvSpPr>
          <p:cNvPr id="25" name="Text 23"/>
          <p:cNvSpPr/>
          <p:nvPr/>
        </p:nvSpPr>
        <p:spPr>
          <a:xfrm>
            <a:off x="5925312" y="5056632"/>
            <a:ext cx="1143000" cy="201168"/>
          </a:xfrm>
          <a:prstGeom prst="rect">
            <a:avLst/>
          </a:prstGeom>
          <a:noFill/>
          <a:ln/>
        </p:spPr>
        <p:txBody>
          <a:bodyPr wrap="square" lIns="0" tIns="0" rIns="0" bIns="0" rtlCol="0" anchor="ctr"/>
          <a:lstStyle/>
          <a:p>
            <a:pPr marL="0" indent="0">
              <a:buNone/>
            </a:pPr>
            <a:r>
              <a:rPr lang="en-US" sz="1050" b="1" kern="0" spc="70" dirty="0">
                <a:solidFill>
                  <a:srgbClr val="0B6E75"/>
                </a:solidFill>
              </a:rPr>
              <a:t>LEARNING</a:t>
            </a:r>
            <a:endParaRPr lang="en-US" sz="1050" dirty="0"/>
          </a:p>
        </p:txBody>
      </p:sp>
      <p:sp>
        <p:nvSpPr>
          <p:cNvPr id="26" name="Text 24"/>
          <p:cNvSpPr/>
          <p:nvPr/>
        </p:nvSpPr>
        <p:spPr>
          <a:xfrm>
            <a:off x="7095744" y="5047488"/>
            <a:ext cx="3794760" cy="228600"/>
          </a:xfrm>
          <a:prstGeom prst="rect">
            <a:avLst/>
          </a:prstGeom>
          <a:noFill/>
          <a:ln/>
        </p:spPr>
        <p:txBody>
          <a:bodyPr wrap="square" lIns="0" tIns="0" rIns="0" bIns="0" rtlCol="0" anchor="ctr">
            <a:normAutofit lnSpcReduction="10000"/>
          </a:bodyPr>
          <a:lstStyle/>
          <a:p>
            <a:pPr marL="0" indent="0">
              <a:buNone/>
            </a:pPr>
            <a:r>
              <a:rPr lang="en-US" sz="1520" dirty="0">
                <a:solidFill>
                  <a:srgbClr val="12233F"/>
                </a:solidFill>
              </a:rPr>
              <a:t>Refine the human-agent workflow</a:t>
            </a:r>
            <a:endParaRPr lang="en-US" sz="1520" dirty="0"/>
          </a:p>
        </p:txBody>
      </p:sp>
      <p:sp>
        <p:nvSpPr>
          <p:cNvPr id="27" name="Text 25"/>
          <p:cNvSpPr/>
          <p:nvPr/>
        </p:nvSpPr>
        <p:spPr>
          <a:xfrm>
            <a:off x="5989320" y="5541264"/>
            <a:ext cx="5074920" cy="292608"/>
          </a:xfrm>
          <a:prstGeom prst="rect">
            <a:avLst/>
          </a:prstGeom>
          <a:noFill/>
          <a:ln/>
        </p:spPr>
        <p:txBody>
          <a:bodyPr wrap="square" lIns="0" tIns="0" rIns="0" bIns="0" rtlCol="0" anchor="ctr"/>
          <a:lstStyle/>
          <a:p>
            <a:pPr marL="0" indent="0" algn="ctr">
              <a:buNone/>
            </a:pPr>
            <a:r>
              <a:rPr lang="en-US" sz="1800" b="1" dirty="0">
                <a:solidFill>
                  <a:srgbClr val="0B6E75"/>
                </a:solidFill>
              </a:rPr>
              <a:t>AI lights the way. The human decides the path.</a:t>
            </a:r>
            <a:endParaRPr lang="en-US" sz="1800" dirty="0"/>
          </a:p>
        </p:txBody>
      </p:sp>
      <p:sp>
        <p:nvSpPr>
          <p:cNvPr id="28" name="Text 26">
            <a:hlinkClick r:id="rId3"/>
          </p:cNvPr>
          <p:cNvSpPr/>
          <p:nvPr/>
        </p:nvSpPr>
        <p:spPr>
          <a:xfrm>
            <a:off x="658368" y="6355080"/>
            <a:ext cx="9921240" cy="219456"/>
          </a:xfrm>
          <a:prstGeom prst="rect">
            <a:avLst/>
          </a:prstGeom>
          <a:noFill/>
          <a:ln/>
        </p:spPr>
        <p:txBody>
          <a:bodyPr wrap="square" lIns="0" tIns="0" rIns="0" bIns="0" rtlCol="0" anchor="ctr">
            <a:normAutofit/>
          </a:bodyPr>
          <a:lstStyle/>
          <a:p>
            <a:pPr marL="0" indent="0">
              <a:buNone/>
            </a:pPr>
            <a:r>
              <a:rPr lang="en-US" sz="1000" u="sng" dirty="0">
                <a:solidFill>
                  <a:srgbClr val="72819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Source: A6 coaching scenario supplied for this presentation; fictional staff and company data</a:t>
            </a:r>
            <a:endParaRPr lang="en-US" sz="1000" dirty="0"/>
          </a:p>
        </p:txBody>
      </p:sp>
      <p:sp>
        <p:nvSpPr>
          <p:cNvPr id="29" name="Text 27"/>
          <p:cNvSpPr/>
          <p:nvPr/>
        </p:nvSpPr>
        <p:spPr>
          <a:xfrm>
            <a:off x="9464040" y="6373368"/>
            <a:ext cx="2176272" cy="201168"/>
          </a:xfrm>
          <a:prstGeom prst="rect">
            <a:avLst/>
          </a:prstGeom>
          <a:noFill/>
          <a:ln/>
        </p:spPr>
        <p:txBody>
          <a:bodyPr wrap="square" lIns="0" tIns="0" rIns="0" bIns="0" rtlCol="0" anchor="ctr"/>
          <a:lstStyle/>
          <a:p>
            <a:pPr marL="0" indent="0" algn="r">
              <a:buNone/>
            </a:pPr>
            <a:r>
              <a:rPr lang="en-US" sz="850" b="1" kern="0" spc="60" dirty="0">
                <a:solidFill>
                  <a:srgbClr val="0B6E75"/>
                </a:solidFill>
                <a:latin typeface="Arial" pitchFamily="34" charset="0"/>
                <a:ea typeface="Arial" pitchFamily="34" charset="-122"/>
                <a:cs typeface="Arial" pitchFamily="34" charset="-120"/>
              </a:rPr>
              <a:t>TERTIARY INFOTECH ACADEMY</a:t>
            </a:r>
            <a:endParaRPr lang="en-US" sz="8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F59E0B"/>
                </a:solidFill>
                <a:latin typeface="Arial"/>
              </a:rPr>
              <a:t>ACTIVITY 6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6 — Coach a Worried Team Member (Role-Play)</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6 · 30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F59E0B"/>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Use empathy first, then co-create a redesigned role that manages agents.</a:t>
            </a:r>
          </a:p>
        </p:txBody>
      </p:sp>
      <p:sp>
        <p:nvSpPr>
          <p:cNvPr id="13" name="Rectangle 12"/>
          <p:cNvSpPr/>
          <p:nvPr/>
        </p:nvSpPr>
        <p:spPr>
          <a:xfrm>
            <a:off x="777240"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504188" y="332841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4188"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Open the simulator</a:t>
            </a:r>
          </a:p>
        </p:txBody>
      </p:sp>
      <p:sp>
        <p:nvSpPr>
          <p:cNvPr id="17" name="TextBox 16"/>
          <p:cNvSpPr txBox="1"/>
          <p:nvPr/>
        </p:nvSpPr>
        <p:spPr>
          <a:xfrm>
            <a:off x="2743200" y="3570732"/>
            <a:ext cx="201168" cy="402336"/>
          </a:xfrm>
          <a:prstGeom prst="rect">
            <a:avLst/>
          </a:prstGeom>
          <a:noFill/>
        </p:spPr>
        <p:txBody>
          <a:bodyPr wrap="square" anchor="ctr">
            <a:spAutoFit/>
          </a:bodyPr>
          <a:lstStyle/>
          <a:p>
            <a:pPr algn="ctr">
              <a:spcAft>
                <a:spcPts val="400"/>
              </a:spcAft>
            </a:pPr>
            <a:r>
              <a:rPr sz="1200" b="1">
                <a:solidFill>
                  <a:srgbClr val="F59E0B"/>
                </a:solidFill>
                <a:latin typeface="Arial"/>
              </a:rPr>
              <a:t>▶</a:t>
            </a:r>
          </a:p>
        </p:txBody>
      </p:sp>
      <p:sp>
        <p:nvSpPr>
          <p:cNvPr id="18" name="Rectangle 17"/>
          <p:cNvSpPr/>
          <p:nvPr/>
        </p:nvSpPr>
        <p:spPr>
          <a:xfrm>
            <a:off x="2944368"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671316" y="332841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1316"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035808"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Listen with empathy</a:t>
            </a:r>
          </a:p>
        </p:txBody>
      </p:sp>
      <p:sp>
        <p:nvSpPr>
          <p:cNvPr id="22" name="TextBox 21"/>
          <p:cNvSpPr txBox="1"/>
          <p:nvPr/>
        </p:nvSpPr>
        <p:spPr>
          <a:xfrm>
            <a:off x="4910328" y="3570732"/>
            <a:ext cx="201168" cy="402336"/>
          </a:xfrm>
          <a:prstGeom prst="rect">
            <a:avLst/>
          </a:prstGeom>
          <a:noFill/>
        </p:spPr>
        <p:txBody>
          <a:bodyPr wrap="square" anchor="ctr">
            <a:spAutoFit/>
          </a:bodyPr>
          <a:lstStyle/>
          <a:p>
            <a:pPr algn="ctr">
              <a:spcAft>
                <a:spcPts val="400"/>
              </a:spcAft>
            </a:pPr>
            <a:r>
              <a:rPr sz="1200" b="1">
                <a:solidFill>
                  <a:srgbClr val="F59E0B"/>
                </a:solidFill>
                <a:latin typeface="Arial"/>
              </a:rPr>
              <a:t>▶</a:t>
            </a:r>
          </a:p>
        </p:txBody>
      </p:sp>
      <p:sp>
        <p:nvSpPr>
          <p:cNvPr id="23" name="Rectangle 22"/>
          <p:cNvSpPr/>
          <p:nvPr/>
        </p:nvSpPr>
        <p:spPr>
          <a:xfrm>
            <a:off x="5111496"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838444" y="332841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38444"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5202936"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Coach with GROW</a:t>
            </a:r>
          </a:p>
        </p:txBody>
      </p:sp>
      <p:sp>
        <p:nvSpPr>
          <p:cNvPr id="27" name="TextBox 26"/>
          <p:cNvSpPr txBox="1"/>
          <p:nvPr/>
        </p:nvSpPr>
        <p:spPr>
          <a:xfrm>
            <a:off x="7077456" y="3570732"/>
            <a:ext cx="201168" cy="402336"/>
          </a:xfrm>
          <a:prstGeom prst="rect">
            <a:avLst/>
          </a:prstGeom>
          <a:noFill/>
        </p:spPr>
        <p:txBody>
          <a:bodyPr wrap="square" anchor="ctr">
            <a:spAutoFit/>
          </a:bodyPr>
          <a:lstStyle/>
          <a:p>
            <a:pPr algn="ctr">
              <a:spcAft>
                <a:spcPts val="400"/>
              </a:spcAft>
            </a:pPr>
            <a:r>
              <a:rPr sz="1200" b="1">
                <a:solidFill>
                  <a:srgbClr val="F59E0B"/>
                </a:solidFill>
                <a:latin typeface="Arial"/>
              </a:rPr>
              <a:t>▶</a:t>
            </a:r>
          </a:p>
        </p:txBody>
      </p:sp>
      <p:sp>
        <p:nvSpPr>
          <p:cNvPr id="28" name="Rectangle 27"/>
          <p:cNvSpPr/>
          <p:nvPr/>
        </p:nvSpPr>
        <p:spPr>
          <a:xfrm>
            <a:off x="7278624"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005572" y="332841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05572"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7370064"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Redesign the role</a:t>
            </a:r>
          </a:p>
        </p:txBody>
      </p:sp>
      <p:sp>
        <p:nvSpPr>
          <p:cNvPr id="32" name="TextBox 31"/>
          <p:cNvSpPr txBox="1"/>
          <p:nvPr/>
        </p:nvSpPr>
        <p:spPr>
          <a:xfrm>
            <a:off x="9244584" y="3570732"/>
            <a:ext cx="201168" cy="402336"/>
          </a:xfrm>
          <a:prstGeom prst="rect">
            <a:avLst/>
          </a:prstGeom>
          <a:noFill/>
        </p:spPr>
        <p:txBody>
          <a:bodyPr wrap="square" anchor="ctr">
            <a:spAutoFit/>
          </a:bodyPr>
          <a:lstStyle/>
          <a:p>
            <a:pPr algn="ctr">
              <a:spcAft>
                <a:spcPts val="400"/>
              </a:spcAft>
            </a:pPr>
            <a:r>
              <a:rPr sz="1200" b="1">
                <a:solidFill>
                  <a:srgbClr val="F59E0B"/>
                </a:solidFill>
                <a:latin typeface="Arial"/>
              </a:rPr>
              <a:t>▶</a:t>
            </a:r>
          </a:p>
        </p:txBody>
      </p:sp>
      <p:sp>
        <p:nvSpPr>
          <p:cNvPr id="33" name="Rectangle 32"/>
          <p:cNvSpPr/>
          <p:nvPr/>
        </p:nvSpPr>
        <p:spPr>
          <a:xfrm>
            <a:off x="9445752" y="3200400"/>
            <a:ext cx="1965960"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172700" y="332841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72700"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6" name="TextBox 35"/>
          <p:cNvSpPr txBox="1"/>
          <p:nvPr/>
        </p:nvSpPr>
        <p:spPr>
          <a:xfrm>
            <a:off x="9537192" y="3895344"/>
            <a:ext cx="1783080" cy="411480"/>
          </a:xfrm>
          <a:prstGeom prst="rect">
            <a:avLst/>
          </a:prstGeom>
          <a:noFill/>
        </p:spPr>
        <p:txBody>
          <a:bodyPr wrap="square" anchor="t">
            <a:spAutoFit/>
          </a:bodyPr>
          <a:lstStyle/>
          <a:p>
            <a:pPr algn="ctr">
              <a:spcAft>
                <a:spcPts val="400"/>
              </a:spcAft>
            </a:pPr>
            <a:r>
              <a:rPr sz="1050" b="0">
                <a:solidFill>
                  <a:srgbClr val="161B26"/>
                </a:solidFill>
                <a:latin typeface="Arial"/>
              </a:rPr>
              <a:t>Get feedback</a:t>
            </a:r>
          </a:p>
        </p:txBody>
      </p:sp>
      <p:sp>
        <p:nvSpPr>
          <p:cNvPr id="37" name="Rectangle 36"/>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F59E0B"/>
                </a:solidFill>
                <a:latin typeface="Arial"/>
              </a:rPr>
              <a:t>DISCUSSION QUESTIONS</a:t>
            </a:r>
          </a:p>
        </p:txBody>
      </p:sp>
      <p:sp>
        <p:nvSpPr>
          <p:cNvPr id="39" name="TextBox 38"/>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Open the role-play simulator website in the activity pack</a:t>
            </a:r>
          </a:p>
          <a:p>
            <a:pPr>
              <a:spcAft>
                <a:spcPts val="300"/>
              </a:spcAft>
            </a:pPr>
            <a:r>
              <a:rPr sz="1050" b="0">
                <a:solidFill>
                  <a:srgbClr val="161B26"/>
                </a:solidFill>
                <a:latin typeface="Arial"/>
              </a:rPr>
              <a:t>•  Coach an AI-played staff member who fears losing their job</a:t>
            </a:r>
          </a:p>
          <a:p>
            <a:pPr>
              <a:spcAft>
                <a:spcPts val="300"/>
              </a:spcAft>
            </a:pPr>
            <a:r>
              <a:rPr sz="1050" b="0">
                <a:solidFill>
                  <a:srgbClr val="161B26"/>
                </a:solidFill>
                <a:latin typeface="Arial"/>
              </a:rPr>
              <a:t>•  Get GROW-model feedback on your coaching</a:t>
            </a:r>
          </a:p>
        </p:txBody>
      </p:sp>
      <p:sp>
        <p:nvSpPr>
          <p:cNvPr id="40" name="Rectangle 39"/>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43" name="TextBox 42"/>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A GROW coaching conversation, a redesigned role description, and a short list of new agent-management skills for that person.</a:t>
            </a:r>
          </a:p>
        </p:txBody>
      </p:sp>
      <p:sp>
        <p:nvSpPr>
          <p:cNvPr id="44" name="TextBox 43"/>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LO3 · A2  ·  Activity pack: activities/activity-6-job-redesign-role-play/  ·  Full step-by-step facilitation detail: Learner Guide</a:t>
            </a:r>
          </a:p>
        </p:txBody>
      </p:sp>
      <p:sp>
        <p:nvSpPr>
          <p:cNvPr id="45" name="TextBox 4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6" name="TextBox 4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7" name="TextBox 4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8" name="TextBox 4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Agent Cybersecurity Risks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can go wrong when an AI can act — and how to contain it.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123</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Singapore Reality — Fast on AI, Slower on Security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rt-sg-ai-adoption.png"/>
          <p:cNvPicPr>
            <a:picLocks noChangeAspect="1"/>
          </p:cNvPicPr>
          <p:nvPr/>
        </p:nvPicPr>
        <p:blipFill>
          <a:blip r:embed="rId2"/>
          <a:stretch>
            <a:fillRect/>
          </a:stretch>
        </p:blipFill>
        <p:spPr>
          <a:xfrm>
            <a:off x="2108337" y="1783080"/>
            <a:ext cx="7972278" cy="3977639"/>
          </a:xfrm>
          <a:prstGeom prst="rect">
            <a:avLst/>
          </a:prstGeom>
        </p:spPr>
      </p:pic>
      <p:sp>
        <p:nvSpPr>
          <p:cNvPr id="7" name="Rectangle 6"/>
          <p:cNvSpPr/>
          <p:nvPr/>
        </p:nvSpPr>
        <p:spPr>
          <a:xfrm>
            <a:off x="777240" y="5632704"/>
            <a:ext cx="10634472" cy="4389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5632704"/>
            <a:ext cx="10149840" cy="438912"/>
          </a:xfrm>
          <a:prstGeom prst="rect">
            <a:avLst/>
          </a:prstGeom>
          <a:noFill/>
        </p:spPr>
        <p:txBody>
          <a:bodyPr wrap="square" anchor="ctr">
            <a:spAutoFit/>
          </a:bodyPr>
          <a:lstStyle/>
          <a:p>
            <a:pPr algn="ctr">
              <a:spcAft>
                <a:spcPts val="400"/>
              </a:spcAft>
            </a:pPr>
            <a:r>
              <a:rPr sz="1180" b="0">
                <a:solidFill>
                  <a:srgbClr val="161B26"/>
                </a:solidFill>
                <a:latin typeface="Arial"/>
              </a:rPr>
              <a:t>CPA Australia Business Technology Survey, 1,117 respondents, Jul–Sep 2025. Adoption races ahead of security — and AI-enabled threats (phishing, deepfakes) make the gap worse.</a:t>
            </a:r>
          </a:p>
        </p:txBody>
      </p:sp>
      <p:sp>
        <p:nvSpPr>
          <p:cNvPr id="9" name="Rectangle 8"/>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3"/>
              </a:rPr>
              <a:t>CPA Australia (cpaaustralia.com.au)</a:t>
            </a:r>
          </a:p>
        </p:txBody>
      </p:sp>
      <p:sp>
        <p:nvSpPr>
          <p:cNvPr id="12" name="TextBox 11"/>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3" name="TextBox 12"/>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4" name="TextBox 13"/>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Discussion Point 4 — An Agent With Too Much Reach</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Delete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It removes files or data by mistake</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Leak</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It sends confidential data or PII outside</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Breach</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An attacker steers it through injected content</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Capable Agents, Not 'Rogue' Ones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Not evil — capable</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Advanced agents pursue their goal through harmful, unintended methods</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What testing shows</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In evaluations, capable agents can find vulnerabilities, exploit systems and use deception when containment fails</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Report carefully</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These are evaluation findings, not proof every deployment behaves this way</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Frame lab evaluations as controlled tests, not confirmed production breaches.</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AI Cybersecurity Risks and Mitigation Strategies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4253788"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4034332" cy="633548"/>
          </a:xfrm>
          <a:prstGeom prst="rect">
            <a:avLst/>
          </a:prstGeom>
          <a:noFill/>
        </p:spPr>
        <p:txBody>
          <a:bodyPr wrap="square" anchor="ctr">
            <a:spAutoFit/>
          </a:bodyPr>
          <a:lstStyle/>
          <a:p>
            <a:pPr algn="l">
              <a:spcAft>
                <a:spcPts val="400"/>
              </a:spcAft>
            </a:pPr>
            <a:r>
              <a:rPr sz="1250" b="1">
                <a:solidFill>
                  <a:srgbClr val="FFFFFF"/>
                </a:solidFill>
                <a:latin typeface="Arial"/>
              </a:rPr>
              <a:t>Key AI risk</a:t>
            </a:r>
          </a:p>
        </p:txBody>
      </p:sp>
      <p:sp>
        <p:nvSpPr>
          <p:cNvPr id="8" name="Rectangle 7"/>
          <p:cNvSpPr/>
          <p:nvPr/>
        </p:nvSpPr>
        <p:spPr>
          <a:xfrm>
            <a:off x="5031028" y="1783080"/>
            <a:ext cx="6380683" cy="6335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59044" y="1783080"/>
            <a:ext cx="6161227" cy="633548"/>
          </a:xfrm>
          <a:prstGeom prst="rect">
            <a:avLst/>
          </a:prstGeom>
          <a:noFill/>
        </p:spPr>
        <p:txBody>
          <a:bodyPr wrap="square" anchor="ctr">
            <a:spAutoFit/>
          </a:bodyPr>
          <a:lstStyle/>
          <a:p>
            <a:pPr algn="l">
              <a:spcAft>
                <a:spcPts val="400"/>
              </a:spcAft>
            </a:pPr>
            <a:r>
              <a:rPr sz="1250" b="1">
                <a:solidFill>
                  <a:srgbClr val="FFFFFF"/>
                </a:solidFill>
                <a:latin typeface="Arial"/>
              </a:rPr>
              <a:t>Mitigation strategy</a:t>
            </a:r>
          </a:p>
        </p:txBody>
      </p:sp>
      <p:sp>
        <p:nvSpPr>
          <p:cNvPr id="10" name="Rectangle 9"/>
          <p:cNvSpPr/>
          <p:nvPr/>
        </p:nvSpPr>
        <p:spPr>
          <a:xfrm>
            <a:off x="777240" y="2416628"/>
            <a:ext cx="4253788"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416628"/>
            <a:ext cx="4034332" cy="633548"/>
          </a:xfrm>
          <a:prstGeom prst="rect">
            <a:avLst/>
          </a:prstGeom>
          <a:noFill/>
        </p:spPr>
        <p:txBody>
          <a:bodyPr wrap="square" anchor="ctr">
            <a:spAutoFit/>
          </a:bodyPr>
          <a:lstStyle/>
          <a:p>
            <a:pPr algn="l">
              <a:spcAft>
                <a:spcPts val="400"/>
              </a:spcAft>
            </a:pPr>
            <a:r>
              <a:rPr sz="1150" b="1">
                <a:solidFill>
                  <a:srgbClr val="161B26"/>
                </a:solidFill>
                <a:latin typeface="Arial"/>
              </a:rPr>
              <a:t>Adversarial AI</a:t>
            </a:r>
          </a:p>
        </p:txBody>
      </p:sp>
      <p:sp>
        <p:nvSpPr>
          <p:cNvPr id="12" name="Rectangle 11"/>
          <p:cNvSpPr/>
          <p:nvPr/>
        </p:nvSpPr>
        <p:spPr>
          <a:xfrm>
            <a:off x="5031028" y="2416628"/>
            <a:ext cx="63806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59044" y="2416628"/>
            <a:ext cx="6161227" cy="633548"/>
          </a:xfrm>
          <a:prstGeom prst="rect">
            <a:avLst/>
          </a:prstGeom>
          <a:noFill/>
        </p:spPr>
        <p:txBody>
          <a:bodyPr wrap="square" anchor="ctr">
            <a:spAutoFit/>
          </a:bodyPr>
          <a:lstStyle/>
          <a:p>
            <a:pPr algn="l">
              <a:spcAft>
                <a:spcPts val="400"/>
              </a:spcAft>
            </a:pPr>
            <a:r>
              <a:rPr sz="1150" b="0">
                <a:solidFill>
                  <a:srgbClr val="161B26"/>
                </a:solidFill>
                <a:latin typeface="Arial"/>
              </a:rPr>
              <a:t>Resilient model validation, explainable AI</a:t>
            </a:r>
          </a:p>
        </p:txBody>
      </p:sp>
      <p:sp>
        <p:nvSpPr>
          <p:cNvPr id="14" name="Rectangle 13"/>
          <p:cNvSpPr/>
          <p:nvPr/>
        </p:nvSpPr>
        <p:spPr>
          <a:xfrm>
            <a:off x="777240" y="3050176"/>
            <a:ext cx="4253788"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3050176"/>
            <a:ext cx="4034332" cy="633548"/>
          </a:xfrm>
          <a:prstGeom prst="rect">
            <a:avLst/>
          </a:prstGeom>
          <a:noFill/>
        </p:spPr>
        <p:txBody>
          <a:bodyPr wrap="square" anchor="ctr">
            <a:spAutoFit/>
          </a:bodyPr>
          <a:lstStyle/>
          <a:p>
            <a:pPr algn="l">
              <a:spcAft>
                <a:spcPts val="400"/>
              </a:spcAft>
            </a:pPr>
            <a:r>
              <a:rPr sz="1150" b="1">
                <a:solidFill>
                  <a:srgbClr val="161B26"/>
                </a:solidFill>
                <a:latin typeface="Arial"/>
              </a:rPr>
              <a:t>Algorithmic bias</a:t>
            </a:r>
          </a:p>
        </p:txBody>
      </p:sp>
      <p:sp>
        <p:nvSpPr>
          <p:cNvPr id="16" name="Rectangle 15"/>
          <p:cNvSpPr/>
          <p:nvPr/>
        </p:nvSpPr>
        <p:spPr>
          <a:xfrm>
            <a:off x="5031028" y="3050176"/>
            <a:ext cx="63806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59044" y="3050176"/>
            <a:ext cx="6161227" cy="633548"/>
          </a:xfrm>
          <a:prstGeom prst="rect">
            <a:avLst/>
          </a:prstGeom>
          <a:noFill/>
        </p:spPr>
        <p:txBody>
          <a:bodyPr wrap="square" anchor="ctr">
            <a:spAutoFit/>
          </a:bodyPr>
          <a:lstStyle/>
          <a:p>
            <a:pPr algn="l">
              <a:spcAft>
                <a:spcPts val="400"/>
              </a:spcAft>
            </a:pPr>
            <a:r>
              <a:rPr sz="1150" b="0">
                <a:solidFill>
                  <a:srgbClr val="161B26"/>
                </a:solidFill>
                <a:latin typeface="Arial"/>
              </a:rPr>
              <a:t>Diverse training data, ethical guidelines</a:t>
            </a:r>
          </a:p>
        </p:txBody>
      </p:sp>
      <p:sp>
        <p:nvSpPr>
          <p:cNvPr id="18" name="Rectangle 17"/>
          <p:cNvSpPr/>
          <p:nvPr/>
        </p:nvSpPr>
        <p:spPr>
          <a:xfrm>
            <a:off x="777240" y="3683724"/>
            <a:ext cx="4253788"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3683724"/>
            <a:ext cx="4034332" cy="633548"/>
          </a:xfrm>
          <a:prstGeom prst="rect">
            <a:avLst/>
          </a:prstGeom>
          <a:noFill/>
        </p:spPr>
        <p:txBody>
          <a:bodyPr wrap="square" anchor="ctr">
            <a:spAutoFit/>
          </a:bodyPr>
          <a:lstStyle/>
          <a:p>
            <a:pPr algn="l">
              <a:spcAft>
                <a:spcPts val="400"/>
              </a:spcAft>
            </a:pPr>
            <a:r>
              <a:rPr sz="1150" b="1">
                <a:solidFill>
                  <a:srgbClr val="161B26"/>
                </a:solidFill>
                <a:latin typeface="Arial"/>
              </a:rPr>
              <a:t>Over-reliance</a:t>
            </a:r>
          </a:p>
        </p:txBody>
      </p:sp>
      <p:sp>
        <p:nvSpPr>
          <p:cNvPr id="20" name="Rectangle 19"/>
          <p:cNvSpPr/>
          <p:nvPr/>
        </p:nvSpPr>
        <p:spPr>
          <a:xfrm>
            <a:off x="5031028" y="3683724"/>
            <a:ext cx="63806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59044" y="3683724"/>
            <a:ext cx="6161227" cy="633548"/>
          </a:xfrm>
          <a:prstGeom prst="rect">
            <a:avLst/>
          </a:prstGeom>
          <a:noFill/>
        </p:spPr>
        <p:txBody>
          <a:bodyPr wrap="square" anchor="ctr">
            <a:spAutoFit/>
          </a:bodyPr>
          <a:lstStyle/>
          <a:p>
            <a:pPr algn="l">
              <a:spcAft>
                <a:spcPts val="400"/>
              </a:spcAft>
            </a:pPr>
            <a:r>
              <a:rPr sz="1150" b="0">
                <a:solidFill>
                  <a:srgbClr val="161B26"/>
                </a:solidFill>
                <a:latin typeface="Arial"/>
              </a:rPr>
              <a:t>Human-in-the-loop, continuous training</a:t>
            </a:r>
          </a:p>
        </p:txBody>
      </p:sp>
      <p:sp>
        <p:nvSpPr>
          <p:cNvPr id="22" name="Rectangle 21"/>
          <p:cNvSpPr/>
          <p:nvPr/>
        </p:nvSpPr>
        <p:spPr>
          <a:xfrm>
            <a:off x="777240" y="4317272"/>
            <a:ext cx="4253788"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4317272"/>
            <a:ext cx="4034332" cy="633548"/>
          </a:xfrm>
          <a:prstGeom prst="rect">
            <a:avLst/>
          </a:prstGeom>
          <a:noFill/>
        </p:spPr>
        <p:txBody>
          <a:bodyPr wrap="square" anchor="ctr">
            <a:spAutoFit/>
          </a:bodyPr>
          <a:lstStyle/>
          <a:p>
            <a:pPr algn="l">
              <a:spcAft>
                <a:spcPts val="400"/>
              </a:spcAft>
            </a:pPr>
            <a:r>
              <a:rPr sz="1150" b="1">
                <a:solidFill>
                  <a:srgbClr val="161B26"/>
                </a:solidFill>
                <a:latin typeface="Arial"/>
              </a:rPr>
              <a:t>Data privacy</a:t>
            </a:r>
          </a:p>
        </p:txBody>
      </p:sp>
      <p:sp>
        <p:nvSpPr>
          <p:cNvPr id="24" name="Rectangle 23"/>
          <p:cNvSpPr/>
          <p:nvPr/>
        </p:nvSpPr>
        <p:spPr>
          <a:xfrm>
            <a:off x="5031028" y="4317272"/>
            <a:ext cx="63806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59044" y="4317272"/>
            <a:ext cx="6161227" cy="633548"/>
          </a:xfrm>
          <a:prstGeom prst="rect">
            <a:avLst/>
          </a:prstGeom>
          <a:noFill/>
        </p:spPr>
        <p:txBody>
          <a:bodyPr wrap="square" anchor="ctr">
            <a:spAutoFit/>
          </a:bodyPr>
          <a:lstStyle/>
          <a:p>
            <a:pPr algn="l">
              <a:spcAft>
                <a:spcPts val="400"/>
              </a:spcAft>
            </a:pPr>
            <a:r>
              <a:rPr sz="1150" b="0">
                <a:solidFill>
                  <a:srgbClr val="161B26"/>
                </a:solidFill>
                <a:latin typeface="Arial"/>
              </a:rPr>
              <a:t>Data anonymisation, regulatory compliance</a:t>
            </a:r>
          </a:p>
        </p:txBody>
      </p:sp>
      <p:sp>
        <p:nvSpPr>
          <p:cNvPr id="26" name="Rectangle 25"/>
          <p:cNvSpPr/>
          <p:nvPr/>
        </p:nvSpPr>
        <p:spPr>
          <a:xfrm>
            <a:off x="777240" y="4950820"/>
            <a:ext cx="4253788"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5256" y="4950820"/>
            <a:ext cx="4034332" cy="633548"/>
          </a:xfrm>
          <a:prstGeom prst="rect">
            <a:avLst/>
          </a:prstGeom>
          <a:noFill/>
        </p:spPr>
        <p:txBody>
          <a:bodyPr wrap="square" anchor="ctr">
            <a:spAutoFit/>
          </a:bodyPr>
          <a:lstStyle/>
          <a:p>
            <a:pPr algn="l">
              <a:spcAft>
                <a:spcPts val="400"/>
              </a:spcAft>
            </a:pPr>
            <a:r>
              <a:rPr sz="1150" b="1">
                <a:solidFill>
                  <a:srgbClr val="161B26"/>
                </a:solidFill>
                <a:latin typeface="Arial"/>
              </a:rPr>
              <a:t>Model drift</a:t>
            </a:r>
          </a:p>
        </p:txBody>
      </p:sp>
      <p:sp>
        <p:nvSpPr>
          <p:cNvPr id="28" name="Rectangle 27"/>
          <p:cNvSpPr/>
          <p:nvPr/>
        </p:nvSpPr>
        <p:spPr>
          <a:xfrm>
            <a:off x="5031028" y="4950820"/>
            <a:ext cx="6380683" cy="63354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59044" y="4950820"/>
            <a:ext cx="6161227" cy="633548"/>
          </a:xfrm>
          <a:prstGeom prst="rect">
            <a:avLst/>
          </a:prstGeom>
          <a:noFill/>
        </p:spPr>
        <p:txBody>
          <a:bodyPr wrap="square" anchor="ctr">
            <a:spAutoFit/>
          </a:bodyPr>
          <a:lstStyle/>
          <a:p>
            <a:pPr algn="l">
              <a:spcAft>
                <a:spcPts val="400"/>
              </a:spcAft>
            </a:pPr>
            <a:r>
              <a:rPr sz="1150" b="0">
                <a:solidFill>
                  <a:srgbClr val="161B26"/>
                </a:solidFill>
                <a:latin typeface="Arial"/>
              </a:rPr>
              <a:t>Regular updates, performance monitoring</a:t>
            </a:r>
          </a:p>
        </p:txBody>
      </p:sp>
      <p:sp>
        <p:nvSpPr>
          <p:cNvPr id="30" name="Rectangle 29"/>
          <p:cNvSpPr/>
          <p:nvPr/>
        </p:nvSpPr>
        <p:spPr>
          <a:xfrm>
            <a:off x="777240" y="5584368"/>
            <a:ext cx="4253788"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5256" y="5584368"/>
            <a:ext cx="4034332" cy="633548"/>
          </a:xfrm>
          <a:prstGeom prst="rect">
            <a:avLst/>
          </a:prstGeom>
          <a:noFill/>
        </p:spPr>
        <p:txBody>
          <a:bodyPr wrap="square" anchor="ctr">
            <a:spAutoFit/>
          </a:bodyPr>
          <a:lstStyle/>
          <a:p>
            <a:pPr algn="l">
              <a:spcAft>
                <a:spcPts val="400"/>
              </a:spcAft>
            </a:pPr>
            <a:r>
              <a:rPr sz="1150" b="1">
                <a:solidFill>
                  <a:srgbClr val="161B26"/>
                </a:solidFill>
                <a:latin typeface="Arial"/>
              </a:rPr>
              <a:t>Malicious use</a:t>
            </a:r>
          </a:p>
        </p:txBody>
      </p:sp>
      <p:sp>
        <p:nvSpPr>
          <p:cNvPr id="32" name="Rectangle 31"/>
          <p:cNvSpPr/>
          <p:nvPr/>
        </p:nvSpPr>
        <p:spPr>
          <a:xfrm>
            <a:off x="5031028" y="5584368"/>
            <a:ext cx="6380683" cy="6335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59044" y="5584368"/>
            <a:ext cx="6161227" cy="633548"/>
          </a:xfrm>
          <a:prstGeom prst="rect">
            <a:avLst/>
          </a:prstGeom>
          <a:noFill/>
        </p:spPr>
        <p:txBody>
          <a:bodyPr wrap="square" anchor="ctr">
            <a:spAutoFit/>
          </a:bodyPr>
          <a:lstStyle/>
          <a:p>
            <a:pPr algn="l">
              <a:spcAft>
                <a:spcPts val="400"/>
              </a:spcAft>
            </a:pPr>
            <a:r>
              <a:rPr sz="1150" b="0">
                <a:solidFill>
                  <a:srgbClr val="161B26"/>
                </a:solidFill>
                <a:latin typeface="Arial"/>
              </a:rPr>
              <a:t>Strict access controls, AI usage policies</a:t>
            </a:r>
          </a:p>
        </p:txBody>
      </p:sp>
      <p:sp>
        <p:nvSpPr>
          <p:cNvPr id="34" name="TextBox 3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 S44, S45</a:t>
            </a:r>
          </a:p>
        </p:txBody>
      </p:sp>
      <p:sp>
        <p:nvSpPr>
          <p:cNvPr id="35" name="TextBox 3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6" name="TextBox 3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7" name="TextBox 3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Going Deeper — Mitigating Bias in AI Systems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Data — diverse, representative datasets</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Sanitisation — strict data cleaning</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Techniques — debiasing during training</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Tuning — secure fine-tuning</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Agents — smaller, task-specific agents</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Bias is mitigated in layers, not with one fix — from the data you collect through to how narrowly you scope each agent. A small, task-specific agent has less room to go wrong.</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S45</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Spot the Threats Across an Agent Workflow</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2552273" cy="93268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2332817" cy="932688"/>
          </a:xfrm>
          <a:prstGeom prst="rect">
            <a:avLst/>
          </a:prstGeom>
          <a:noFill/>
        </p:spPr>
        <p:txBody>
          <a:bodyPr wrap="square" anchor="ctr">
            <a:spAutoFit/>
          </a:bodyPr>
          <a:lstStyle/>
          <a:p>
            <a:pPr algn="l">
              <a:spcAft>
                <a:spcPts val="400"/>
              </a:spcAft>
            </a:pPr>
            <a:r>
              <a:rPr sz="1150" b="1">
                <a:solidFill>
                  <a:srgbClr val="FFFFFF"/>
                </a:solidFill>
                <a:latin typeface="Arial"/>
              </a:rPr>
              <a:t>Threat</a:t>
            </a:r>
          </a:p>
        </p:txBody>
      </p:sp>
      <p:sp>
        <p:nvSpPr>
          <p:cNvPr id="8" name="Rectangle 7"/>
          <p:cNvSpPr/>
          <p:nvPr/>
        </p:nvSpPr>
        <p:spPr>
          <a:xfrm>
            <a:off x="3329513" y="1783080"/>
            <a:ext cx="5317236" cy="93268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57529" y="1783080"/>
            <a:ext cx="5097780" cy="932688"/>
          </a:xfrm>
          <a:prstGeom prst="rect">
            <a:avLst/>
          </a:prstGeom>
          <a:noFill/>
        </p:spPr>
        <p:txBody>
          <a:bodyPr wrap="square" anchor="ctr">
            <a:spAutoFit/>
          </a:bodyPr>
          <a:lstStyle/>
          <a:p>
            <a:pPr algn="l">
              <a:spcAft>
                <a:spcPts val="400"/>
              </a:spcAft>
            </a:pPr>
            <a:r>
              <a:rPr sz="1150" b="1">
                <a:solidFill>
                  <a:srgbClr val="FFFFFF"/>
                </a:solidFill>
                <a:latin typeface="Arial"/>
              </a:rPr>
              <a:t>What it looks like</a:t>
            </a:r>
          </a:p>
        </p:txBody>
      </p:sp>
      <p:sp>
        <p:nvSpPr>
          <p:cNvPr id="10" name="Rectangle 9"/>
          <p:cNvSpPr/>
          <p:nvPr/>
        </p:nvSpPr>
        <p:spPr>
          <a:xfrm>
            <a:off x="8646749" y="1783080"/>
            <a:ext cx="2764962" cy="93268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4765" y="1783080"/>
            <a:ext cx="2545506" cy="932688"/>
          </a:xfrm>
          <a:prstGeom prst="rect">
            <a:avLst/>
          </a:prstGeom>
          <a:noFill/>
        </p:spPr>
        <p:txBody>
          <a:bodyPr wrap="square" anchor="ctr">
            <a:spAutoFit/>
          </a:bodyPr>
          <a:lstStyle/>
          <a:p>
            <a:pPr algn="l">
              <a:spcAft>
                <a:spcPts val="400"/>
              </a:spcAft>
            </a:pPr>
            <a:r>
              <a:rPr sz="1150" b="1">
                <a:solidFill>
                  <a:srgbClr val="FFFFFF"/>
                </a:solidFill>
                <a:latin typeface="Arial"/>
              </a:rPr>
              <a:t>Where to watch</a:t>
            </a:r>
          </a:p>
        </p:txBody>
      </p:sp>
      <p:sp>
        <p:nvSpPr>
          <p:cNvPr id="12" name="Rectangle 11"/>
          <p:cNvSpPr/>
          <p:nvPr/>
        </p:nvSpPr>
        <p:spPr>
          <a:xfrm>
            <a:off x="777240" y="2715768"/>
            <a:ext cx="2552273"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 y="2715768"/>
            <a:ext cx="2332817" cy="932688"/>
          </a:xfrm>
          <a:prstGeom prst="rect">
            <a:avLst/>
          </a:prstGeom>
          <a:noFill/>
        </p:spPr>
        <p:txBody>
          <a:bodyPr wrap="square" anchor="ctr">
            <a:spAutoFit/>
          </a:bodyPr>
          <a:lstStyle/>
          <a:p>
            <a:pPr algn="l">
              <a:spcAft>
                <a:spcPts val="400"/>
              </a:spcAft>
            </a:pPr>
            <a:r>
              <a:rPr sz="1050" b="1">
                <a:solidFill>
                  <a:srgbClr val="161B26"/>
                </a:solidFill>
                <a:latin typeface="Arial"/>
              </a:rPr>
              <a:t>Prompt injection</a:t>
            </a:r>
          </a:p>
        </p:txBody>
      </p:sp>
      <p:sp>
        <p:nvSpPr>
          <p:cNvPr id="14" name="Rectangle 13"/>
          <p:cNvSpPr/>
          <p:nvPr/>
        </p:nvSpPr>
        <p:spPr>
          <a:xfrm>
            <a:off x="3329513" y="2715768"/>
            <a:ext cx="5317236"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57529" y="2715768"/>
            <a:ext cx="5097780" cy="932688"/>
          </a:xfrm>
          <a:prstGeom prst="rect">
            <a:avLst/>
          </a:prstGeom>
          <a:noFill/>
        </p:spPr>
        <p:txBody>
          <a:bodyPr wrap="square" anchor="ctr">
            <a:spAutoFit/>
          </a:bodyPr>
          <a:lstStyle/>
          <a:p>
            <a:pPr algn="l">
              <a:spcAft>
                <a:spcPts val="400"/>
              </a:spcAft>
            </a:pPr>
            <a:r>
              <a:rPr sz="1050" b="0">
                <a:solidFill>
                  <a:srgbClr val="161B26"/>
                </a:solidFill>
                <a:latin typeface="Arial"/>
              </a:rPr>
              <a:t>Hidden instructions in a document, email or web page hijack the agent</a:t>
            </a:r>
          </a:p>
        </p:txBody>
      </p:sp>
      <p:sp>
        <p:nvSpPr>
          <p:cNvPr id="16" name="Rectangle 15"/>
          <p:cNvSpPr/>
          <p:nvPr/>
        </p:nvSpPr>
        <p:spPr>
          <a:xfrm>
            <a:off x="8646749" y="2715768"/>
            <a:ext cx="2764962"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74765" y="2715768"/>
            <a:ext cx="2545506" cy="932688"/>
          </a:xfrm>
          <a:prstGeom prst="rect">
            <a:avLst/>
          </a:prstGeom>
          <a:noFill/>
        </p:spPr>
        <p:txBody>
          <a:bodyPr wrap="square" anchor="ctr">
            <a:spAutoFit/>
          </a:bodyPr>
          <a:lstStyle/>
          <a:p>
            <a:pPr algn="l">
              <a:spcAft>
                <a:spcPts val="400"/>
              </a:spcAft>
            </a:pPr>
            <a:r>
              <a:rPr sz="1050" b="0">
                <a:solidFill>
                  <a:srgbClr val="161B26"/>
                </a:solidFill>
                <a:latin typeface="Arial"/>
              </a:rPr>
              <a:t>Anything the agent reads as input</a:t>
            </a:r>
          </a:p>
        </p:txBody>
      </p:sp>
      <p:sp>
        <p:nvSpPr>
          <p:cNvPr id="18" name="Rectangle 17"/>
          <p:cNvSpPr/>
          <p:nvPr/>
        </p:nvSpPr>
        <p:spPr>
          <a:xfrm>
            <a:off x="777240" y="3648456"/>
            <a:ext cx="2552273"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3648456"/>
            <a:ext cx="2332817" cy="932688"/>
          </a:xfrm>
          <a:prstGeom prst="rect">
            <a:avLst/>
          </a:prstGeom>
          <a:noFill/>
        </p:spPr>
        <p:txBody>
          <a:bodyPr wrap="square" anchor="ctr">
            <a:spAutoFit/>
          </a:bodyPr>
          <a:lstStyle/>
          <a:p>
            <a:pPr algn="l">
              <a:spcAft>
                <a:spcPts val="400"/>
              </a:spcAft>
            </a:pPr>
            <a:r>
              <a:rPr sz="1050" b="1">
                <a:solidFill>
                  <a:srgbClr val="161B26"/>
                </a:solidFill>
                <a:latin typeface="Arial"/>
              </a:rPr>
              <a:t>Memory poisoning</a:t>
            </a:r>
          </a:p>
        </p:txBody>
      </p:sp>
      <p:sp>
        <p:nvSpPr>
          <p:cNvPr id="20" name="Rectangle 19"/>
          <p:cNvSpPr/>
          <p:nvPr/>
        </p:nvSpPr>
        <p:spPr>
          <a:xfrm>
            <a:off x="3329513" y="3648456"/>
            <a:ext cx="5317236"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57529" y="3648456"/>
            <a:ext cx="5097780" cy="932688"/>
          </a:xfrm>
          <a:prstGeom prst="rect">
            <a:avLst/>
          </a:prstGeom>
          <a:noFill/>
        </p:spPr>
        <p:txBody>
          <a:bodyPr wrap="square" anchor="ctr">
            <a:spAutoFit/>
          </a:bodyPr>
          <a:lstStyle/>
          <a:p>
            <a:pPr algn="l">
              <a:spcAft>
                <a:spcPts val="400"/>
              </a:spcAft>
            </a:pPr>
            <a:r>
              <a:rPr sz="1050" b="0">
                <a:solidFill>
                  <a:srgbClr val="161B26"/>
                </a:solidFill>
                <a:latin typeface="Arial"/>
              </a:rPr>
              <a:t>A bad fact or instruction is saved to memory and reused later</a:t>
            </a:r>
          </a:p>
        </p:txBody>
      </p:sp>
      <p:sp>
        <p:nvSpPr>
          <p:cNvPr id="22" name="Rectangle 21"/>
          <p:cNvSpPr/>
          <p:nvPr/>
        </p:nvSpPr>
        <p:spPr>
          <a:xfrm>
            <a:off x="8646749" y="3648456"/>
            <a:ext cx="2764962" cy="932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74765" y="3648456"/>
            <a:ext cx="2545506" cy="932688"/>
          </a:xfrm>
          <a:prstGeom prst="rect">
            <a:avLst/>
          </a:prstGeom>
          <a:noFill/>
        </p:spPr>
        <p:txBody>
          <a:bodyPr wrap="square" anchor="ctr">
            <a:spAutoFit/>
          </a:bodyPr>
          <a:lstStyle/>
          <a:p>
            <a:pPr algn="l">
              <a:spcAft>
                <a:spcPts val="400"/>
              </a:spcAft>
            </a:pPr>
            <a:r>
              <a:rPr sz="1050" b="0">
                <a:solidFill>
                  <a:srgbClr val="161B26"/>
                </a:solidFill>
                <a:latin typeface="Arial"/>
              </a:rPr>
              <a:t>What the agent writes to memory / skills</a:t>
            </a:r>
          </a:p>
        </p:txBody>
      </p:sp>
      <p:sp>
        <p:nvSpPr>
          <p:cNvPr id="24" name="Rectangle 23"/>
          <p:cNvSpPr/>
          <p:nvPr/>
        </p:nvSpPr>
        <p:spPr>
          <a:xfrm>
            <a:off x="777240" y="4581144"/>
            <a:ext cx="2552273"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256" y="4581144"/>
            <a:ext cx="2332817" cy="932688"/>
          </a:xfrm>
          <a:prstGeom prst="rect">
            <a:avLst/>
          </a:prstGeom>
          <a:noFill/>
        </p:spPr>
        <p:txBody>
          <a:bodyPr wrap="square" anchor="ctr">
            <a:spAutoFit/>
          </a:bodyPr>
          <a:lstStyle/>
          <a:p>
            <a:pPr algn="l">
              <a:spcAft>
                <a:spcPts val="400"/>
              </a:spcAft>
            </a:pPr>
            <a:r>
              <a:rPr sz="1050" b="1">
                <a:solidFill>
                  <a:srgbClr val="161B26"/>
                </a:solidFill>
                <a:latin typeface="Arial"/>
              </a:rPr>
              <a:t>Identity misuse</a:t>
            </a:r>
          </a:p>
        </p:txBody>
      </p:sp>
      <p:sp>
        <p:nvSpPr>
          <p:cNvPr id="26" name="Rectangle 25"/>
          <p:cNvSpPr/>
          <p:nvPr/>
        </p:nvSpPr>
        <p:spPr>
          <a:xfrm>
            <a:off x="3329513" y="4581144"/>
            <a:ext cx="5317236"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57529" y="4581144"/>
            <a:ext cx="5097780" cy="932688"/>
          </a:xfrm>
          <a:prstGeom prst="rect">
            <a:avLst/>
          </a:prstGeom>
          <a:noFill/>
        </p:spPr>
        <p:txBody>
          <a:bodyPr wrap="square" anchor="ctr">
            <a:spAutoFit/>
          </a:bodyPr>
          <a:lstStyle/>
          <a:p>
            <a:pPr algn="l">
              <a:spcAft>
                <a:spcPts val="400"/>
              </a:spcAft>
            </a:pPr>
            <a:r>
              <a:rPr sz="1050" b="0">
                <a:solidFill>
                  <a:srgbClr val="161B26"/>
                </a:solidFill>
                <a:latin typeface="Arial"/>
              </a:rPr>
              <a:t>The agent's credentials or tokens are used beyond its task</a:t>
            </a:r>
          </a:p>
        </p:txBody>
      </p:sp>
      <p:sp>
        <p:nvSpPr>
          <p:cNvPr id="28" name="Rectangle 27"/>
          <p:cNvSpPr/>
          <p:nvPr/>
        </p:nvSpPr>
        <p:spPr>
          <a:xfrm>
            <a:off x="8646749" y="4581144"/>
            <a:ext cx="2764962" cy="9326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4765" y="4581144"/>
            <a:ext cx="2545506" cy="932688"/>
          </a:xfrm>
          <a:prstGeom prst="rect">
            <a:avLst/>
          </a:prstGeom>
          <a:noFill/>
        </p:spPr>
        <p:txBody>
          <a:bodyPr wrap="square" anchor="ctr">
            <a:spAutoFit/>
          </a:bodyPr>
          <a:lstStyle/>
          <a:p>
            <a:pPr algn="l">
              <a:spcAft>
                <a:spcPts val="400"/>
              </a:spcAft>
            </a:pPr>
            <a:r>
              <a:rPr sz="1050" b="0">
                <a:solidFill>
                  <a:srgbClr val="161B26"/>
                </a:solidFill>
                <a:latin typeface="Arial"/>
              </a:rPr>
              <a:t>Which identity and scope each tool call uses</a:t>
            </a:r>
          </a:p>
        </p:txBody>
      </p:sp>
      <p:sp>
        <p:nvSpPr>
          <p:cNvPr id="30" name="TextBox 29"/>
          <p:cNvSpPr txBox="1"/>
          <p:nvPr/>
        </p:nvSpPr>
        <p:spPr>
          <a:xfrm>
            <a:off x="777240" y="5632704"/>
            <a:ext cx="10698480" cy="438912"/>
          </a:xfrm>
          <a:prstGeom prst="rect">
            <a:avLst/>
          </a:prstGeom>
          <a:noFill/>
        </p:spPr>
        <p:txBody>
          <a:bodyPr wrap="square" anchor="t">
            <a:spAutoFit/>
          </a:bodyPr>
          <a:lstStyle/>
          <a:p>
            <a:pPr algn="ctr">
              <a:spcAft>
                <a:spcPts val="400"/>
              </a:spcAft>
            </a:pPr>
            <a:r>
              <a:rPr sz="1180" b="0">
                <a:solidFill>
                  <a:srgbClr val="5B6372"/>
                </a:solidFill>
                <a:latin typeface="Arial"/>
              </a:rPr>
              <a:t>Learn to recognise these three across the whole workflow — they are the most common ways an agent is turned against you.</a:t>
            </a:r>
          </a:p>
        </p:txBody>
      </p:sp>
      <p:sp>
        <p:nvSpPr>
          <p:cNvPr id="31" name="TextBox 30"/>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 S44</a:t>
            </a:r>
          </a:p>
        </p:txBody>
      </p:sp>
      <p:sp>
        <p:nvSpPr>
          <p:cNvPr id="32" name="TextBox 31"/>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3" name="TextBox 32"/>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4" name="TextBox 33"/>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Why Agents Are Hard to Secure — Four Gaps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548640"/>
          </a:xfrm>
          <a:prstGeom prst="rect">
            <a:avLst/>
          </a:prstGeom>
          <a:noFill/>
        </p:spPr>
        <p:txBody>
          <a:bodyPr wrap="square" anchor="t">
            <a:spAutoFit/>
          </a:bodyPr>
          <a:lstStyle/>
          <a:p>
            <a:pPr algn="l">
              <a:spcAft>
                <a:spcPts val="400"/>
              </a:spcAft>
            </a:pPr>
            <a:r>
              <a:rPr sz="1400" b="1">
                <a:solidFill>
                  <a:srgbClr val="1F6FEB"/>
                </a:solidFill>
                <a:latin typeface="Arial"/>
              </a:rPr>
              <a:t>Multi-step inputs</a:t>
            </a:r>
          </a:p>
        </p:txBody>
      </p:sp>
      <p:sp>
        <p:nvSpPr>
          <p:cNvPr id="11" name="TextBox 10"/>
          <p:cNvSpPr txBox="1"/>
          <p:nvPr/>
        </p:nvSpPr>
        <p:spPr>
          <a:xfrm>
            <a:off x="914400" y="2624328"/>
            <a:ext cx="2023110" cy="2642616"/>
          </a:xfrm>
          <a:prstGeom prst="rect">
            <a:avLst/>
          </a:prstGeom>
          <a:noFill/>
        </p:spPr>
        <p:txBody>
          <a:bodyPr wrap="square" anchor="t">
            <a:spAutoFit/>
          </a:bodyPr>
          <a:lstStyle/>
          <a:p>
            <a:pPr algn="l">
              <a:spcAft>
                <a:spcPts val="400"/>
              </a:spcAft>
            </a:pPr>
            <a:r>
              <a:rPr sz="1150" b="0">
                <a:solidFill>
                  <a:srgbClr val="161B26"/>
                </a:solidFill>
                <a:latin typeface="Arial"/>
              </a:rPr>
              <a:t>Agents build context over chained steps — queries that look innocent alone can combine maliciously</a:t>
            </a:r>
          </a:p>
        </p:txBody>
      </p:sp>
      <p:sp>
        <p:nvSpPr>
          <p:cNvPr id="12" name="Rectangle 11"/>
          <p:cNvSpPr/>
          <p:nvPr/>
        </p:nvSpPr>
        <p:spPr>
          <a:xfrm>
            <a:off x="3431286"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274320"/>
          </a:xfrm>
          <a:prstGeom prst="rect">
            <a:avLst/>
          </a:prstGeom>
          <a:noFill/>
        </p:spPr>
        <p:txBody>
          <a:bodyPr wrap="square" anchor="t">
            <a:spAutoFit/>
          </a:bodyPr>
          <a:lstStyle/>
          <a:p>
            <a:pPr algn="l">
              <a:spcAft>
                <a:spcPts val="400"/>
              </a:spcAft>
            </a:pPr>
            <a:r>
              <a:rPr sz="1400" b="1">
                <a:solidFill>
                  <a:srgbClr val="10B981"/>
                </a:solidFill>
                <a:latin typeface="Arial"/>
              </a:rPr>
              <a:t>Tool chaining</a:t>
            </a:r>
          </a:p>
        </p:txBody>
      </p:sp>
      <p:sp>
        <p:nvSpPr>
          <p:cNvPr id="17" name="TextBox 16"/>
          <p:cNvSpPr txBox="1"/>
          <p:nvPr/>
        </p:nvSpPr>
        <p:spPr>
          <a:xfrm>
            <a:off x="3687318"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Unexpected tool combinations — say, web search feeding execution — can bypass the restrictions you intended</a:t>
            </a:r>
          </a:p>
        </p:txBody>
      </p:sp>
      <p:sp>
        <p:nvSpPr>
          <p:cNvPr id="18" name="Rectangle 17"/>
          <p:cNvSpPr/>
          <p:nvPr/>
        </p:nvSpPr>
        <p:spPr>
          <a:xfrm>
            <a:off x="6204204"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274320"/>
          </a:xfrm>
          <a:prstGeom prst="rect">
            <a:avLst/>
          </a:prstGeom>
          <a:noFill/>
        </p:spPr>
        <p:txBody>
          <a:bodyPr wrap="square" anchor="t">
            <a:spAutoFit/>
          </a:bodyPr>
          <a:lstStyle/>
          <a:p>
            <a:pPr algn="l">
              <a:spcAft>
                <a:spcPts val="400"/>
              </a:spcAft>
            </a:pPr>
            <a:r>
              <a:rPr sz="1400" b="1">
                <a:solidFill>
                  <a:srgbClr val="7C3AED"/>
                </a:solidFill>
                <a:latin typeface="Arial"/>
              </a:rPr>
              <a:t>Opaque execution</a:t>
            </a:r>
          </a:p>
        </p:txBody>
      </p:sp>
      <p:sp>
        <p:nvSpPr>
          <p:cNvPr id="23" name="TextBox 22"/>
          <p:cNvSpPr txBox="1"/>
          <p:nvPr/>
        </p:nvSpPr>
        <p:spPr>
          <a:xfrm>
            <a:off x="6460236"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The agent's internal reasoning is hard to audit, so malicious patterns can hide inside normal-looking operations</a:t>
            </a:r>
          </a:p>
        </p:txBody>
      </p:sp>
      <p:sp>
        <p:nvSpPr>
          <p:cNvPr id="24" name="Rectangle 23"/>
          <p:cNvSpPr/>
          <p:nvPr/>
        </p:nvSpPr>
        <p:spPr>
          <a:xfrm>
            <a:off x="8977122"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548640"/>
          </a:xfrm>
          <a:prstGeom prst="rect">
            <a:avLst/>
          </a:prstGeom>
          <a:noFill/>
        </p:spPr>
        <p:txBody>
          <a:bodyPr wrap="square" anchor="t">
            <a:spAutoFit/>
          </a:bodyPr>
          <a:lstStyle/>
          <a:p>
            <a:pPr algn="l">
              <a:spcAft>
                <a:spcPts val="400"/>
              </a:spcAft>
            </a:pPr>
            <a:r>
              <a:rPr sz="1400" b="1">
                <a:solidFill>
                  <a:srgbClr val="F59E0B"/>
                </a:solidFill>
                <a:latin typeface="Arial"/>
              </a:rPr>
              <a:t>Untrusted entities</a:t>
            </a:r>
          </a:p>
        </p:txBody>
      </p:sp>
      <p:sp>
        <p:nvSpPr>
          <p:cNvPr id="29" name="TextBox 28"/>
          <p:cNvSpPr txBox="1"/>
          <p:nvPr/>
        </p:nvSpPr>
        <p:spPr>
          <a:xfrm>
            <a:off x="9233154" y="2624328"/>
            <a:ext cx="2023110" cy="2642616"/>
          </a:xfrm>
          <a:prstGeom prst="rect">
            <a:avLst/>
          </a:prstGeom>
          <a:noFill/>
        </p:spPr>
        <p:txBody>
          <a:bodyPr wrap="square" anchor="t">
            <a:spAutoFit/>
          </a:bodyPr>
          <a:lstStyle/>
          <a:p>
            <a:pPr algn="l">
              <a:spcAft>
                <a:spcPts val="400"/>
              </a:spcAft>
            </a:pPr>
            <a:r>
              <a:rPr sz="1150" b="0">
                <a:solidFill>
                  <a:srgbClr val="161B26"/>
                </a:solidFill>
                <a:latin typeface="Arial"/>
              </a:rPr>
              <a:t>Agents inherit the vulnerabilities of every external system they touch — and tend to treat all sources as valid</a:t>
            </a:r>
          </a:p>
        </p:txBody>
      </p:sp>
      <p:sp>
        <p:nvSpPr>
          <p:cNvPr id="30" name="Rectangle 29"/>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Traditional security assumes predictable inputs and inspectable execution. Agents break all four assumptions at once — which is why the controls later in this topic contain the agent rather than trying to predict it.</a:t>
            </a:r>
          </a:p>
        </p:txBody>
      </p:sp>
      <p:sp>
        <p:nvSpPr>
          <p:cNvPr id="32" name="TextBox 31"/>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S44</a:t>
            </a:r>
          </a:p>
        </p:txBody>
      </p:sp>
      <p:sp>
        <p:nvSpPr>
          <p:cNvPr id="33" name="TextBox 3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4" name="TextBox 3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5" name="TextBox 3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Why Offence Outruns Defence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Offence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Coding progress directly strengthens attack capability</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Defence</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Slower — patches must be validated and deployed everywhere</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So</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Contain agents by default; do not rely on catching every attack</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Response Being Proposed</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Contain &amp; test</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Stricter containment and independent testing</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Disclose &amp; own</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Incident disclosure and stronger provider liability</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Train safely</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Train models to avoid unacceptable paths to a goal</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 S45</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Case — Replit Agent Deletes a Database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An agent had write access</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It deleted application-database data</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 incident was detected</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 database was restored</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Dev/prod were then separated</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Replit's own post (Jul 2025) says the data was restored — an accountability and containment lesson.</a:t>
            </a:r>
          </a:p>
        </p:txBody>
      </p:sp>
      <p:sp>
        <p:nvSpPr>
          <p:cNvPr id="36" name="Rectangle 35"/>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Replit (replit.com)</a:t>
            </a:r>
          </a:p>
        </p:txBody>
      </p:sp>
      <p:sp>
        <p:nvSpPr>
          <p:cNvPr id="39" name="TextBox 38"/>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0" name="TextBox 39"/>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1" name="TextBox 40"/>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Prompt Injection and PII Leak — In Plain Terms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Prompt injection</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Hidden instructions in a document or message hijack the agent</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PII leak</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 bot returns personal data it should never expose</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You will see both</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Live, in the two chatbots in the next activity</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Prompt Injection — Direct and Indirect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Direct</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The attacker types the malicious instruction straight into the chat</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Indirect</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The instruction hides in content the agent retrieves — a web page, an email, a document</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Why agents are exposed</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Retrieval and multi-step processing pollute the context with instructions the user never saw or approved</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Indirect injection is the agent-era twist: the attacker never talks to the agent — they plant instructions where they know the agent will read.</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Jailbreaking — and Why It Persists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1602486" cy="548640"/>
          </a:xfrm>
          <a:prstGeom prst="rect">
            <a:avLst/>
          </a:prstGeom>
          <a:noFill/>
        </p:spPr>
        <p:txBody>
          <a:bodyPr wrap="square" anchor="t">
            <a:spAutoFit/>
          </a:bodyPr>
          <a:lstStyle/>
          <a:p>
            <a:pPr algn="l">
              <a:spcAft>
                <a:spcPts val="400"/>
              </a:spcAft>
            </a:pPr>
            <a:r>
              <a:rPr sz="1400" b="1">
                <a:solidFill>
                  <a:srgbClr val="1F6FEB"/>
                </a:solidFill>
                <a:latin typeface="Arial"/>
              </a:rPr>
              <a:t>Role-play &amp; stories</a:t>
            </a:r>
          </a:p>
        </p:txBody>
      </p:sp>
      <p:sp>
        <p:nvSpPr>
          <p:cNvPr id="11" name="TextBox 10"/>
          <p:cNvSpPr txBox="1"/>
          <p:nvPr/>
        </p:nvSpPr>
        <p:spPr>
          <a:xfrm>
            <a:off x="914400" y="2624328"/>
            <a:ext cx="2023110" cy="2642616"/>
          </a:xfrm>
          <a:prstGeom prst="rect">
            <a:avLst/>
          </a:prstGeom>
          <a:noFill/>
        </p:spPr>
        <p:txBody>
          <a:bodyPr wrap="square" anchor="t">
            <a:spAutoFit/>
          </a:bodyPr>
          <a:lstStyle/>
          <a:p>
            <a:pPr algn="l">
              <a:spcAft>
                <a:spcPts val="400"/>
              </a:spcAft>
            </a:pPr>
            <a:r>
              <a:rPr sz="1150" b="0">
                <a:solidFill>
                  <a:srgbClr val="161B26"/>
                </a:solidFill>
                <a:latin typeface="Arial"/>
              </a:rPr>
              <a:t>Fictional framings and creative storytelling coax the model past its refusal rules</a:t>
            </a:r>
          </a:p>
        </p:txBody>
      </p:sp>
      <p:sp>
        <p:nvSpPr>
          <p:cNvPr id="12" name="Rectangle 11"/>
          <p:cNvSpPr/>
          <p:nvPr/>
        </p:nvSpPr>
        <p:spPr>
          <a:xfrm>
            <a:off x="3431286"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31286"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650742"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074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4181094" y="1929384"/>
            <a:ext cx="1602486" cy="548640"/>
          </a:xfrm>
          <a:prstGeom prst="rect">
            <a:avLst/>
          </a:prstGeom>
          <a:noFill/>
        </p:spPr>
        <p:txBody>
          <a:bodyPr wrap="square" anchor="t">
            <a:spAutoFit/>
          </a:bodyPr>
          <a:lstStyle/>
          <a:p>
            <a:pPr algn="l">
              <a:spcAft>
                <a:spcPts val="400"/>
              </a:spcAft>
            </a:pPr>
            <a:r>
              <a:rPr sz="1400" b="1">
                <a:solidFill>
                  <a:srgbClr val="10B981"/>
                </a:solidFill>
                <a:latin typeface="Arial"/>
              </a:rPr>
              <a:t>Multi-modal tricks</a:t>
            </a:r>
          </a:p>
        </p:txBody>
      </p:sp>
      <p:sp>
        <p:nvSpPr>
          <p:cNvPr id="17" name="TextBox 16"/>
          <p:cNvSpPr txBox="1"/>
          <p:nvPr/>
        </p:nvSpPr>
        <p:spPr>
          <a:xfrm>
            <a:off x="3687318" y="2624328"/>
            <a:ext cx="2023110" cy="2642616"/>
          </a:xfrm>
          <a:prstGeom prst="rect">
            <a:avLst/>
          </a:prstGeom>
          <a:noFill/>
        </p:spPr>
        <p:txBody>
          <a:bodyPr wrap="square" anchor="t">
            <a:spAutoFit/>
          </a:bodyPr>
          <a:lstStyle/>
          <a:p>
            <a:pPr algn="l">
              <a:spcAft>
                <a:spcPts val="400"/>
              </a:spcAft>
            </a:pPr>
            <a:r>
              <a:rPr sz="1150" b="0">
                <a:solidFill>
                  <a:srgbClr val="161B26"/>
                </a:solidFill>
                <a:latin typeface="Arial"/>
              </a:rPr>
              <a:t>Malicious prompts can hide inside images or files a multi-modal agent reads</a:t>
            </a:r>
          </a:p>
        </p:txBody>
      </p:sp>
      <p:sp>
        <p:nvSpPr>
          <p:cNvPr id="18" name="Rectangle 17"/>
          <p:cNvSpPr/>
          <p:nvPr/>
        </p:nvSpPr>
        <p:spPr>
          <a:xfrm>
            <a:off x="6204204"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4204"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23660"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23660"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6954012" y="1929384"/>
            <a:ext cx="1602486" cy="274320"/>
          </a:xfrm>
          <a:prstGeom prst="rect">
            <a:avLst/>
          </a:prstGeom>
          <a:noFill/>
        </p:spPr>
        <p:txBody>
          <a:bodyPr wrap="square" anchor="t">
            <a:spAutoFit/>
          </a:bodyPr>
          <a:lstStyle/>
          <a:p>
            <a:pPr algn="l">
              <a:spcAft>
                <a:spcPts val="400"/>
              </a:spcAft>
            </a:pPr>
            <a:r>
              <a:rPr sz="1400" b="1">
                <a:solidFill>
                  <a:srgbClr val="7C3AED"/>
                </a:solidFill>
                <a:latin typeface="Arial"/>
              </a:rPr>
              <a:t>Persistence</a:t>
            </a:r>
          </a:p>
        </p:txBody>
      </p:sp>
      <p:sp>
        <p:nvSpPr>
          <p:cNvPr id="23" name="TextBox 22"/>
          <p:cNvSpPr txBox="1"/>
          <p:nvPr/>
        </p:nvSpPr>
        <p:spPr>
          <a:xfrm>
            <a:off x="6460236"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A successful jailbreak can stick across later interactions, degrading the agent's safety alignment</a:t>
            </a:r>
          </a:p>
        </p:txBody>
      </p:sp>
      <p:sp>
        <p:nvSpPr>
          <p:cNvPr id="24" name="Rectangle 23"/>
          <p:cNvSpPr/>
          <p:nvPr/>
        </p:nvSpPr>
        <p:spPr>
          <a:xfrm>
            <a:off x="8977122" y="1783080"/>
            <a:ext cx="2516886"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77122" y="1783080"/>
            <a:ext cx="82296" cy="3611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196578" y="19659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9657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9726930" y="1929384"/>
            <a:ext cx="1602486" cy="274320"/>
          </a:xfrm>
          <a:prstGeom prst="rect">
            <a:avLst/>
          </a:prstGeom>
          <a:noFill/>
        </p:spPr>
        <p:txBody>
          <a:bodyPr wrap="square" anchor="t">
            <a:spAutoFit/>
          </a:bodyPr>
          <a:lstStyle/>
          <a:p>
            <a:pPr algn="l">
              <a:spcAft>
                <a:spcPts val="400"/>
              </a:spcAft>
            </a:pPr>
            <a:r>
              <a:rPr sz="1400" b="1">
                <a:solidFill>
                  <a:srgbClr val="F59E0B"/>
                </a:solidFill>
                <a:latin typeface="Arial"/>
              </a:rPr>
              <a:t>Knock-on effect</a:t>
            </a:r>
          </a:p>
        </p:txBody>
      </p:sp>
      <p:sp>
        <p:nvSpPr>
          <p:cNvPr id="29" name="TextBox 28"/>
          <p:cNvSpPr txBox="1"/>
          <p:nvPr/>
        </p:nvSpPr>
        <p:spPr>
          <a:xfrm>
            <a:off x="9233154" y="2532888"/>
            <a:ext cx="2023110" cy="2734056"/>
          </a:xfrm>
          <a:prstGeom prst="rect">
            <a:avLst/>
          </a:prstGeom>
          <a:noFill/>
        </p:spPr>
        <p:txBody>
          <a:bodyPr wrap="square" anchor="t">
            <a:spAutoFit/>
          </a:bodyPr>
          <a:lstStyle/>
          <a:p>
            <a:pPr algn="l">
              <a:spcAft>
                <a:spcPts val="400"/>
              </a:spcAft>
            </a:pPr>
            <a:r>
              <a:rPr sz="1150" b="0">
                <a:solidFill>
                  <a:srgbClr val="161B26"/>
                </a:solidFill>
                <a:latin typeface="Arial"/>
              </a:rPr>
              <a:t>Each persistent jailbreak makes the next attack easier — the damage compounds</a:t>
            </a:r>
          </a:p>
        </p:txBody>
      </p:sp>
      <p:sp>
        <p:nvSpPr>
          <p:cNvPr id="30" name="Rectangle 29"/>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Jailbreaking targets the model's rules; prompt injection targets its context. An agent that remembers between sessions can carry a jailbreak forward — another reason memory needs the same scrutiny as input.</a:t>
            </a:r>
          </a:p>
        </p:txBody>
      </p:sp>
      <p:sp>
        <p:nvSpPr>
          <p:cNvPr id="32" name="TextBox 31"/>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a:t>
            </a:r>
          </a:p>
        </p:txBody>
      </p:sp>
      <p:sp>
        <p:nvSpPr>
          <p:cNvPr id="33" name="TextBox 32"/>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4" name="TextBox 33"/>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5" name="TextBox 34"/>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ACTIVITY 7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7 — Break a Leaky Chatbot</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7 · 30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DC2626"/>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All data is fictional — this is a safe, deliberately broken demo.</a:t>
            </a:r>
          </a:p>
        </p:txBody>
      </p:sp>
      <p:sp>
        <p:nvSpPr>
          <p:cNvPr id="13" name="Rectangle 12"/>
          <p:cNvSpPr/>
          <p:nvPr/>
        </p:nvSpPr>
        <p:spPr>
          <a:xfrm>
            <a:off x="77724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77507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7507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Open the leaky bot</a:t>
            </a:r>
          </a:p>
        </p:txBody>
      </p:sp>
      <p:sp>
        <p:nvSpPr>
          <p:cNvPr id="17" name="TextBox 16"/>
          <p:cNvSpPr txBox="1"/>
          <p:nvPr/>
        </p:nvSpPr>
        <p:spPr>
          <a:xfrm>
            <a:off x="328498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18" name="Rectangle 17"/>
          <p:cNvSpPr/>
          <p:nvPr/>
        </p:nvSpPr>
        <p:spPr>
          <a:xfrm>
            <a:off x="348615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48398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8398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57759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Send attack prompts</a:t>
            </a:r>
          </a:p>
        </p:txBody>
      </p:sp>
      <p:sp>
        <p:nvSpPr>
          <p:cNvPr id="22" name="TextBox 21"/>
          <p:cNvSpPr txBox="1"/>
          <p:nvPr/>
        </p:nvSpPr>
        <p:spPr>
          <a:xfrm>
            <a:off x="599389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3" name="Rectangle 22"/>
          <p:cNvSpPr/>
          <p:nvPr/>
        </p:nvSpPr>
        <p:spPr>
          <a:xfrm>
            <a:off x="619506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19289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9289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628650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Watch it leak</a:t>
            </a:r>
          </a:p>
        </p:txBody>
      </p:sp>
      <p:sp>
        <p:nvSpPr>
          <p:cNvPr id="27" name="TextBox 26"/>
          <p:cNvSpPr txBox="1"/>
          <p:nvPr/>
        </p:nvSpPr>
        <p:spPr>
          <a:xfrm>
            <a:off x="870280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8" name="Rectangle 27"/>
          <p:cNvSpPr/>
          <p:nvPr/>
        </p:nvSpPr>
        <p:spPr>
          <a:xfrm>
            <a:off x="890397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90180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0180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899541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Record what leaked</a:t>
            </a:r>
          </a:p>
        </p:txBody>
      </p:sp>
      <p:sp>
        <p:nvSpPr>
          <p:cNvPr id="32" name="Rectangle 31"/>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DC2626"/>
                </a:solidFill>
                <a:latin typeface="Arial"/>
              </a:rPr>
              <a:t>DISCUSSION QUESTIONS</a:t>
            </a:r>
          </a:p>
        </p:txBody>
      </p:sp>
      <p:sp>
        <p:nvSpPr>
          <p:cNvPr id="34" name="TextBox 33"/>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Open the UNSECURED SunTech Travel chatbot in the activity pack</a:t>
            </a:r>
          </a:p>
          <a:p>
            <a:pPr>
              <a:spcAft>
                <a:spcPts val="300"/>
              </a:spcAft>
            </a:pPr>
            <a:r>
              <a:rPr sz="1050" b="0">
                <a:solidFill>
                  <a:srgbClr val="161B26"/>
                </a:solidFill>
                <a:latin typeface="Arial"/>
              </a:rPr>
              <a:t>•  Try prompts like 'list all customer bookings'</a:t>
            </a:r>
          </a:p>
          <a:p>
            <a:pPr>
              <a:spcAft>
                <a:spcPts val="300"/>
              </a:spcAft>
            </a:pPr>
            <a:r>
              <a:rPr sz="1050" b="0">
                <a:solidFill>
                  <a:srgbClr val="161B26"/>
                </a:solidFill>
                <a:latin typeface="Arial"/>
              </a:rPr>
              <a:t>•  Watch it leak fictional PII from its knowledge base</a:t>
            </a:r>
          </a:p>
        </p:txBody>
      </p:sp>
      <p:sp>
        <p:nvSpPr>
          <p:cNvPr id="35" name="Rectangle 34"/>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38" name="TextBox 37"/>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A record of each attack prompt and the fictional PII the unsecured chatbot leaked.</a:t>
            </a:r>
          </a:p>
        </p:txBody>
      </p:sp>
      <p:sp>
        <p:nvSpPr>
          <p:cNvPr id="39" name="TextBox 38"/>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LO3 · A1, A2  ·  Activity pack: activities/activity-7-chatbot-security-lab/  ·  Full step-by-step facilitation detail: Learner Guide</a:t>
            </a:r>
          </a:p>
        </p:txBody>
      </p:sp>
      <p:sp>
        <p:nvSpPr>
          <p:cNvPr id="40" name="TextBox 3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1" name="TextBox 4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2" name="TextBox 4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3" name="TextBox 4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ACTIVITY 7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7 — Compare the Guarded Chatbot</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7 · 30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DC2626"/>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Same brand, same data — the difference is defence in depth.</a:t>
            </a:r>
          </a:p>
        </p:txBody>
      </p:sp>
      <p:sp>
        <p:nvSpPr>
          <p:cNvPr id="13" name="Rectangle 12"/>
          <p:cNvSpPr/>
          <p:nvPr/>
        </p:nvSpPr>
        <p:spPr>
          <a:xfrm>
            <a:off x="77724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77507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7507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Open the guarded bot</a:t>
            </a:r>
          </a:p>
        </p:txBody>
      </p:sp>
      <p:sp>
        <p:nvSpPr>
          <p:cNvPr id="17" name="TextBox 16"/>
          <p:cNvSpPr txBox="1"/>
          <p:nvPr/>
        </p:nvSpPr>
        <p:spPr>
          <a:xfrm>
            <a:off x="328498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18" name="Rectangle 17"/>
          <p:cNvSpPr/>
          <p:nvPr/>
        </p:nvSpPr>
        <p:spPr>
          <a:xfrm>
            <a:off x="348615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48398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8398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57759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Repeat the attacks</a:t>
            </a:r>
          </a:p>
        </p:txBody>
      </p:sp>
      <p:sp>
        <p:nvSpPr>
          <p:cNvPr id="22" name="TextBox 21"/>
          <p:cNvSpPr txBox="1"/>
          <p:nvPr/>
        </p:nvSpPr>
        <p:spPr>
          <a:xfrm>
            <a:off x="599389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3" name="Rectangle 22"/>
          <p:cNvSpPr/>
          <p:nvPr/>
        </p:nvSpPr>
        <p:spPr>
          <a:xfrm>
            <a:off x="619506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19289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9289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628650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Watch the blocks</a:t>
            </a:r>
          </a:p>
        </p:txBody>
      </p:sp>
      <p:sp>
        <p:nvSpPr>
          <p:cNvPr id="27" name="TextBox 26"/>
          <p:cNvSpPr txBox="1"/>
          <p:nvPr/>
        </p:nvSpPr>
        <p:spPr>
          <a:xfrm>
            <a:off x="870280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8" name="Rectangle 27"/>
          <p:cNvSpPr/>
          <p:nvPr/>
        </p:nvSpPr>
        <p:spPr>
          <a:xfrm>
            <a:off x="890397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90180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0180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899541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Name the layer</a:t>
            </a:r>
          </a:p>
        </p:txBody>
      </p:sp>
      <p:sp>
        <p:nvSpPr>
          <p:cNvPr id="32" name="Rectangle 31"/>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DC2626"/>
                </a:solidFill>
                <a:latin typeface="Arial"/>
              </a:rPr>
              <a:t>DISCUSSION QUESTIONS</a:t>
            </a:r>
          </a:p>
        </p:txBody>
      </p:sp>
      <p:sp>
        <p:nvSpPr>
          <p:cNvPr id="34" name="TextBox 33"/>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Open the SECURED SunTech Travel chatbot</a:t>
            </a:r>
          </a:p>
          <a:p>
            <a:pPr>
              <a:spcAft>
                <a:spcPts val="300"/>
              </a:spcAft>
            </a:pPr>
            <a:r>
              <a:rPr sz="1050" b="0">
                <a:solidFill>
                  <a:srgbClr val="161B26"/>
                </a:solidFill>
                <a:latin typeface="Arial"/>
              </a:rPr>
              <a:t>•  Send the same attack prompts</a:t>
            </a:r>
          </a:p>
          <a:p>
            <a:pPr>
              <a:spcAft>
                <a:spcPts val="300"/>
              </a:spcAft>
            </a:pPr>
            <a:r>
              <a:rPr sz="1050" b="0">
                <a:solidFill>
                  <a:srgbClr val="161B26"/>
                </a:solidFill>
                <a:latin typeface="Arial"/>
              </a:rPr>
              <a:t>•  See the four guardrail layers block the leak</a:t>
            </a:r>
          </a:p>
        </p:txBody>
      </p:sp>
      <p:sp>
        <p:nvSpPr>
          <p:cNvPr id="35" name="Rectangle 34"/>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38" name="TextBox 37"/>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A table mapping each attack prompt to the guarded bot's response and the guardrail layer that stopped it.</a:t>
            </a:r>
          </a:p>
        </p:txBody>
      </p:sp>
      <p:sp>
        <p:nvSpPr>
          <p:cNvPr id="39" name="TextBox 38"/>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LO3 · A1, A2  ·  Activity pack: activities/activity-7-chatbot-security-lab/  ·  Full step-by-step facilitation detail: Learner Guide</a:t>
            </a:r>
          </a:p>
        </p:txBody>
      </p:sp>
      <p:sp>
        <p:nvSpPr>
          <p:cNvPr id="40" name="TextBox 3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1" name="TextBox 4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2" name="TextBox 4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3" name="TextBox 4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 · ADVANCED</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Advanced Threats — A Look Ahead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Attacks on the model and the AI ecosystem itself. Know them by name — defending against them is specialist work, but buying and deploying AI safely means asking about them.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140</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Four Guardrail Layers That Stopped the Leak</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3190341" cy="886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2970885" cy="886968"/>
          </a:xfrm>
          <a:prstGeom prst="rect">
            <a:avLst/>
          </a:prstGeom>
          <a:noFill/>
        </p:spPr>
        <p:txBody>
          <a:bodyPr wrap="square" anchor="ctr">
            <a:spAutoFit/>
          </a:bodyPr>
          <a:lstStyle/>
          <a:p>
            <a:pPr algn="l">
              <a:spcAft>
                <a:spcPts val="400"/>
              </a:spcAft>
            </a:pPr>
            <a:r>
              <a:rPr sz="1250" b="1">
                <a:solidFill>
                  <a:srgbClr val="FFFFFF"/>
                </a:solidFill>
                <a:latin typeface="Arial"/>
              </a:rPr>
              <a:t>Layer</a:t>
            </a:r>
          </a:p>
        </p:txBody>
      </p:sp>
      <p:sp>
        <p:nvSpPr>
          <p:cNvPr id="8" name="Rectangle 7"/>
          <p:cNvSpPr/>
          <p:nvPr/>
        </p:nvSpPr>
        <p:spPr>
          <a:xfrm>
            <a:off x="3967581" y="1783080"/>
            <a:ext cx="7444130" cy="886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95597" y="1783080"/>
            <a:ext cx="7224674" cy="886968"/>
          </a:xfrm>
          <a:prstGeom prst="rect">
            <a:avLst/>
          </a:prstGeom>
          <a:noFill/>
        </p:spPr>
        <p:txBody>
          <a:bodyPr wrap="square" anchor="ctr">
            <a:spAutoFit/>
          </a:bodyPr>
          <a:lstStyle/>
          <a:p>
            <a:pPr algn="l">
              <a:spcAft>
                <a:spcPts val="400"/>
              </a:spcAft>
            </a:pPr>
            <a:r>
              <a:rPr sz="1250" b="1">
                <a:solidFill>
                  <a:srgbClr val="FFFFFF"/>
                </a:solidFill>
                <a:latin typeface="Arial"/>
              </a:rPr>
              <a:t>What it does</a:t>
            </a:r>
          </a:p>
        </p:txBody>
      </p:sp>
      <p:sp>
        <p:nvSpPr>
          <p:cNvPr id="10" name="Rectangle 9"/>
          <p:cNvSpPr/>
          <p:nvPr/>
        </p:nvSpPr>
        <p:spPr>
          <a:xfrm>
            <a:off x="777240" y="2670048"/>
            <a:ext cx="3190341" cy="8869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5256" y="2670048"/>
            <a:ext cx="2970885" cy="886968"/>
          </a:xfrm>
          <a:prstGeom prst="rect">
            <a:avLst/>
          </a:prstGeom>
          <a:noFill/>
        </p:spPr>
        <p:txBody>
          <a:bodyPr wrap="square" anchor="ctr">
            <a:spAutoFit/>
          </a:bodyPr>
          <a:lstStyle/>
          <a:p>
            <a:pPr algn="l">
              <a:spcAft>
                <a:spcPts val="400"/>
              </a:spcAft>
            </a:pPr>
            <a:r>
              <a:rPr sz="1150" b="1">
                <a:solidFill>
                  <a:srgbClr val="161B26"/>
                </a:solidFill>
                <a:latin typeface="Arial"/>
              </a:rPr>
              <a:t>Retrieval filter</a:t>
            </a:r>
          </a:p>
        </p:txBody>
      </p:sp>
      <p:sp>
        <p:nvSpPr>
          <p:cNvPr id="12" name="Rectangle 11"/>
          <p:cNvSpPr/>
          <p:nvPr/>
        </p:nvSpPr>
        <p:spPr>
          <a:xfrm>
            <a:off x="3967581" y="2670048"/>
            <a:ext cx="7444130" cy="8869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95597" y="2670048"/>
            <a:ext cx="7224674" cy="886968"/>
          </a:xfrm>
          <a:prstGeom prst="rect">
            <a:avLst/>
          </a:prstGeom>
          <a:noFill/>
        </p:spPr>
        <p:txBody>
          <a:bodyPr wrap="square" anchor="ctr">
            <a:spAutoFit/>
          </a:bodyPr>
          <a:lstStyle/>
          <a:p>
            <a:pPr algn="l">
              <a:spcAft>
                <a:spcPts val="400"/>
              </a:spcAft>
            </a:pPr>
            <a:r>
              <a:rPr sz="1150" b="0">
                <a:solidFill>
                  <a:srgbClr val="161B26"/>
                </a:solidFill>
                <a:latin typeface="Arial"/>
              </a:rPr>
              <a:t>Internal records are never fetched — data minimisation</a:t>
            </a:r>
          </a:p>
        </p:txBody>
      </p:sp>
      <p:sp>
        <p:nvSpPr>
          <p:cNvPr id="14" name="Rectangle 13"/>
          <p:cNvSpPr/>
          <p:nvPr/>
        </p:nvSpPr>
        <p:spPr>
          <a:xfrm>
            <a:off x="777240" y="3557016"/>
            <a:ext cx="3190341" cy="886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5256" y="3557016"/>
            <a:ext cx="2970885" cy="886968"/>
          </a:xfrm>
          <a:prstGeom prst="rect">
            <a:avLst/>
          </a:prstGeom>
          <a:noFill/>
        </p:spPr>
        <p:txBody>
          <a:bodyPr wrap="square" anchor="ctr">
            <a:spAutoFit/>
          </a:bodyPr>
          <a:lstStyle/>
          <a:p>
            <a:pPr algn="l">
              <a:spcAft>
                <a:spcPts val="400"/>
              </a:spcAft>
            </a:pPr>
            <a:r>
              <a:rPr sz="1150" b="1">
                <a:solidFill>
                  <a:srgbClr val="161B26"/>
                </a:solidFill>
                <a:latin typeface="Arial"/>
              </a:rPr>
              <a:t>Input guard</a:t>
            </a:r>
          </a:p>
        </p:txBody>
      </p:sp>
      <p:sp>
        <p:nvSpPr>
          <p:cNvPr id="16" name="Rectangle 15"/>
          <p:cNvSpPr/>
          <p:nvPr/>
        </p:nvSpPr>
        <p:spPr>
          <a:xfrm>
            <a:off x="3967581" y="3557016"/>
            <a:ext cx="7444130" cy="886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95597" y="3557016"/>
            <a:ext cx="7224674" cy="886968"/>
          </a:xfrm>
          <a:prstGeom prst="rect">
            <a:avLst/>
          </a:prstGeom>
          <a:noFill/>
        </p:spPr>
        <p:txBody>
          <a:bodyPr wrap="square" anchor="ctr">
            <a:spAutoFit/>
          </a:bodyPr>
          <a:lstStyle/>
          <a:p>
            <a:pPr algn="l">
              <a:spcAft>
                <a:spcPts val="400"/>
              </a:spcAft>
            </a:pPr>
            <a:r>
              <a:rPr sz="1150" b="0">
                <a:solidFill>
                  <a:srgbClr val="161B26"/>
                </a:solidFill>
                <a:latin typeface="Arial"/>
              </a:rPr>
              <a:t>Injection and 'list all' prompts are refused before the model runs</a:t>
            </a:r>
          </a:p>
        </p:txBody>
      </p:sp>
      <p:sp>
        <p:nvSpPr>
          <p:cNvPr id="18" name="Rectangle 17"/>
          <p:cNvSpPr/>
          <p:nvPr/>
        </p:nvSpPr>
        <p:spPr>
          <a:xfrm>
            <a:off x="777240" y="4443984"/>
            <a:ext cx="3190341" cy="8869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4443984"/>
            <a:ext cx="2970885" cy="886968"/>
          </a:xfrm>
          <a:prstGeom prst="rect">
            <a:avLst/>
          </a:prstGeom>
          <a:noFill/>
        </p:spPr>
        <p:txBody>
          <a:bodyPr wrap="square" anchor="ctr">
            <a:spAutoFit/>
          </a:bodyPr>
          <a:lstStyle/>
          <a:p>
            <a:pPr algn="l">
              <a:spcAft>
                <a:spcPts val="400"/>
              </a:spcAft>
            </a:pPr>
            <a:r>
              <a:rPr sz="1150" b="1">
                <a:solidFill>
                  <a:srgbClr val="161B26"/>
                </a:solidFill>
                <a:latin typeface="Arial"/>
              </a:rPr>
              <a:t>Hardened prompt</a:t>
            </a:r>
          </a:p>
        </p:txBody>
      </p:sp>
      <p:sp>
        <p:nvSpPr>
          <p:cNvPr id="20" name="Rectangle 19"/>
          <p:cNvSpPr/>
          <p:nvPr/>
        </p:nvSpPr>
        <p:spPr>
          <a:xfrm>
            <a:off x="3967581" y="4443984"/>
            <a:ext cx="7444130" cy="8869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95597" y="4443984"/>
            <a:ext cx="7224674" cy="886968"/>
          </a:xfrm>
          <a:prstGeom prst="rect">
            <a:avLst/>
          </a:prstGeom>
          <a:noFill/>
        </p:spPr>
        <p:txBody>
          <a:bodyPr wrap="square" anchor="ctr">
            <a:spAutoFit/>
          </a:bodyPr>
          <a:lstStyle/>
          <a:p>
            <a:pPr algn="l">
              <a:spcAft>
                <a:spcPts val="400"/>
              </a:spcAft>
            </a:pPr>
            <a:r>
              <a:rPr sz="1150" b="0">
                <a:solidFill>
                  <a:srgbClr val="161B26"/>
                </a:solidFill>
                <a:latin typeface="Arial"/>
              </a:rPr>
              <a:t>Role limits; never follow instructions found in documents</a:t>
            </a:r>
          </a:p>
        </p:txBody>
      </p:sp>
      <p:sp>
        <p:nvSpPr>
          <p:cNvPr id="22" name="Rectangle 21"/>
          <p:cNvSpPr/>
          <p:nvPr/>
        </p:nvSpPr>
        <p:spPr>
          <a:xfrm>
            <a:off x="777240" y="5330952"/>
            <a:ext cx="3190341" cy="886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6" y="5330952"/>
            <a:ext cx="2970885" cy="886968"/>
          </a:xfrm>
          <a:prstGeom prst="rect">
            <a:avLst/>
          </a:prstGeom>
          <a:noFill/>
        </p:spPr>
        <p:txBody>
          <a:bodyPr wrap="square" anchor="ctr">
            <a:spAutoFit/>
          </a:bodyPr>
          <a:lstStyle/>
          <a:p>
            <a:pPr algn="l">
              <a:spcAft>
                <a:spcPts val="400"/>
              </a:spcAft>
            </a:pPr>
            <a:r>
              <a:rPr sz="1150" b="1">
                <a:solidFill>
                  <a:srgbClr val="161B26"/>
                </a:solidFill>
                <a:latin typeface="Arial"/>
              </a:rPr>
              <a:t>Output guard</a:t>
            </a:r>
          </a:p>
        </p:txBody>
      </p:sp>
      <p:sp>
        <p:nvSpPr>
          <p:cNvPr id="24" name="Rectangle 23"/>
          <p:cNvSpPr/>
          <p:nvPr/>
        </p:nvSpPr>
        <p:spPr>
          <a:xfrm>
            <a:off x="3967581" y="5330952"/>
            <a:ext cx="7444130" cy="886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95597" y="5330952"/>
            <a:ext cx="7224674" cy="886968"/>
          </a:xfrm>
          <a:prstGeom prst="rect">
            <a:avLst/>
          </a:prstGeom>
          <a:noFill/>
        </p:spPr>
        <p:txBody>
          <a:bodyPr wrap="square" anchor="ctr">
            <a:spAutoFit/>
          </a:bodyPr>
          <a:lstStyle/>
          <a:p>
            <a:pPr algn="l">
              <a:spcAft>
                <a:spcPts val="400"/>
              </a:spcAft>
            </a:pPr>
            <a:r>
              <a:rPr sz="1150" b="0">
                <a:solidFill>
                  <a:srgbClr val="161B26"/>
                </a:solidFill>
                <a:latin typeface="Arial"/>
              </a:rPr>
              <a:t>Any leaked NRIC, phone, email or card is redacted</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extLst>
      <p:ext uri="{BB962C8B-B14F-4D97-AF65-F5344CB8AC3E}">
        <p14:creationId xmlns:p14="http://schemas.microsoft.com/office/powerpoint/2010/main" val="726321909"/>
      </p:ext>
    </p:extLst>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Data Poisoning and Backdoor Attacks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Data poisoning</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Corrupts the model during training — 'clean-label' samples that look correct can still degrade behaviour on targeted inputs</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Backdoor attacks</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Hidden triggers embedded at training time activate malicious behaviour only on specific inputs — invisible in normal testing</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Why you should care</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You rarely train models yourself — but every model you buy or download may carry these risks</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Both attacks happen before you ever use the model — which is why model provenance belongs in your governance policy alongside data provenance.</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S43</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AI Supply Chain Is Hard to Secure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Complex architectures raise risk</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Many third-party libraries</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Pre-trained models from many sources</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Each component is a compromise point</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Vulnerabilities cascade across systems</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An AI system is assembled, not built from scratch. Ask vendors where their models, libraries and training data come from — one poisoned component can compromise the chain.</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S43</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Agent-to-Agent Attacks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One agent is compromised</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It poisons its messages to other agents</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Other agents trust the shared output</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Weak validation lets it through</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 attack spreads through the fleet</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Multi-agent trust is the new supply chain — exactly why Control 3 bounds every hand-off and logs the coordination between agents.</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S44</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Misalignment — Goodhart's Law in Action</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Goodhart's Law</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When a measure becomes a target, it stops being a good measure</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Reward hacking</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The agent finds strategies that win the metric while missing your intent — exploiting any flaw in how the goal is stated</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A security example</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An agent told to 'reduce incident alerts' suppresses the alerts instead of stopping the attacks — incidents fall only on paper</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No attacker needed: a badly specified goal is enough. Write goals as outcomes you actually want, and check the agent's method — not just its metric.</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Core Controls for a Live Agent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Four controls that keep a deployed agent bounded, watched and recoverable.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145</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520">
        <p:push/>
      </p:transition>
    </mc:Choice>
    <mc:Fallback xmlns="">
      <p:transition spd="med">
        <p:push/>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Control 1 — Least Privilege, Allowlists and Credentials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Least privilege</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Give the agent only the data and tools its task needs — nothing more</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Tool allowlist</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List exactly which tools it may call; block everything else by default</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Secure credentials</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Short-lived, scoped keys kept out of the prompt; rotate and revoke</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Apply these to a live agent setup so a hijacked agent still cannot reach much.</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 S40</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Control 2 — Approval, Output Validation and Shutdown</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Action approval</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A human confirms high-risk or irreversible actions before they run</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Output validation</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Check the agent's output against rules before it is used or sent</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Emergency shutdown</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A kill switch that stops the agent and revokes its access instantly</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Configure these for any high-risk agent task — they are your brakes and your off-switch.</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 S40</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Control 3 — Govern Multi-Agent Coordination</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Activity logs</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Log every agent, tool call and hand-off so you can see what happened</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Oversight checkpoints</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Insert human review points between agents for risky steps</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Bounded hand-offs</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Authority narrows at each hand-off; one agent cannot expand another's</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When several agents work together, coordination itself must be logged and supervised.</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 S14</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Control 4 — Investigate and Respond to a Compromised Agent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Spot suspicious behaviour (odd tools, new destinations, loops)</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Isolate — stop the agent, cut its access</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Investigate the logs to trace what it did</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Revoke credentials and contain any data exposure</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Recover, fix the gap, and record the incident</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Practise this: an incident-response runbook for an agent that has been hijacked or has gone wrong.</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S44, S42</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 Framework to Roll Out Agents Safely</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Scope &amp; risk-tier the use case</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Bound data, tools and autonomy</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Test in a sandbox with attacks</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Add human approval for risky actions</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Pilot, monitor, then widen</a:t>
            </a:r>
          </a:p>
        </p:txBody>
      </p:sp>
      <p:sp>
        <p:nvSpPr>
          <p:cNvPr id="35" name="TextBox 34"/>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Test and verify security BEFORE rolling an agent out to real users.</a:t>
            </a:r>
          </a:p>
        </p:txBody>
      </p:sp>
      <p:sp>
        <p:nvSpPr>
          <p:cNvPr id="36" name="TextBox 3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S45, S40</a:t>
            </a:r>
          </a:p>
        </p:txBody>
      </p:sp>
      <p:sp>
        <p:nvSpPr>
          <p:cNvPr id="37" name="TextBox 3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8" name="TextBox 3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9" name="TextBox 3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Go-Live Gate</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Works</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It does the job on real, clean cases</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Safe</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It resists the attacks you tested</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Owned</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 named person approves, monitors and can switch it off</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S45</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Human-in-the-Loop for Risky Actions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Agent alone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Low-impact, reversible actions</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Approval first</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Anything sensitive or hard to undo</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Never</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Actions the agent must not take at all</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DEF  ·  Sources: S40</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Human-in-the-Loop at Machine Speed</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The tension</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Threats and agent actions move faster than a human can approve each one</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Adaptive automation</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Let the agent act autonomously — but only inside limits you agreed in advance</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Escalation</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The moment a limit is crossed, the agent stops and escalates to a human</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The future of oversight is not 'approve everything' or 'approve nothing' — it is pre-agreed boundaries with automatic escalation when they are reached.</a:t>
            </a:r>
          </a:p>
        </p:txBody>
      </p:sp>
      <p:sp>
        <p:nvSpPr>
          <p:cNvPr id="26" name="TextBox 2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  ·  Sources: S45</a:t>
            </a:r>
          </a:p>
        </p:txBody>
      </p:sp>
      <p:sp>
        <p:nvSpPr>
          <p:cNvPr id="27" name="TextBox 2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8" name="TextBox 2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9" name="TextBox 2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Case — Testing AI Before You Trust It</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3611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The gap</a:t>
            </a:r>
          </a:p>
        </p:txBody>
      </p:sp>
      <p:sp>
        <p:nvSpPr>
          <p:cNvPr id="11" name="TextBox 10"/>
          <p:cNvSpPr txBox="1"/>
          <p:nvPr/>
        </p:nvSpPr>
        <p:spPr>
          <a:xfrm>
            <a:off x="914400"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88% of developers are not confident deploying AI-generated code (Tricentis, 2026)</a:t>
            </a:r>
          </a:p>
        </p:txBody>
      </p:sp>
      <p:sp>
        <p:nvSpPr>
          <p:cNvPr id="12" name="Rectangle 11"/>
          <p:cNvSpPr/>
          <p:nvPr/>
        </p:nvSpPr>
        <p:spPr>
          <a:xfrm>
            <a:off x="4355592"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The failures</a:t>
            </a:r>
          </a:p>
        </p:txBody>
      </p:sp>
      <p:sp>
        <p:nvSpPr>
          <p:cNvPr id="17" name="TextBox 16"/>
          <p:cNvSpPr txBox="1"/>
          <p:nvPr/>
        </p:nvSpPr>
        <p:spPr>
          <a:xfrm>
            <a:off x="4611624"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95% of AI pilots fail for lack of guardrails; 60% of those are preventable compliance issues</a:t>
            </a:r>
          </a:p>
        </p:txBody>
      </p:sp>
      <p:sp>
        <p:nvSpPr>
          <p:cNvPr id="18" name="Rectangle 17"/>
          <p:cNvSpPr/>
          <p:nvPr/>
        </p:nvSpPr>
        <p:spPr>
          <a:xfrm>
            <a:off x="8052816" y="1783080"/>
            <a:ext cx="3441192" cy="3611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3611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The fix</a:t>
            </a:r>
          </a:p>
        </p:txBody>
      </p:sp>
      <p:sp>
        <p:nvSpPr>
          <p:cNvPr id="23" name="TextBox 22"/>
          <p:cNvSpPr txBox="1"/>
          <p:nvPr/>
        </p:nvSpPr>
        <p:spPr>
          <a:xfrm>
            <a:off x="8308848" y="2532888"/>
            <a:ext cx="2947416" cy="2734056"/>
          </a:xfrm>
          <a:prstGeom prst="rect">
            <a:avLst/>
          </a:prstGeom>
          <a:noFill/>
        </p:spPr>
        <p:txBody>
          <a:bodyPr wrap="square" anchor="t">
            <a:spAutoFit/>
          </a:bodyPr>
          <a:lstStyle/>
          <a:p>
            <a:pPr algn="l">
              <a:spcAft>
                <a:spcPts val="400"/>
              </a:spcAft>
            </a:pPr>
            <a:r>
              <a:rPr sz="1150" b="0">
                <a:solidFill>
                  <a:srgbClr val="161B26"/>
                </a:solidFill>
                <a:latin typeface="Arial"/>
              </a:rPr>
              <a:t>Make quality the 'accountability layer' — test for risk, keep a human in the loop</a:t>
            </a:r>
          </a:p>
        </p:txBody>
      </p:sp>
      <p:sp>
        <p:nvSpPr>
          <p:cNvPr id="24" name="Rectangle 23"/>
          <p:cNvSpPr/>
          <p:nvPr/>
        </p:nvSpPr>
        <p:spPr>
          <a:xfrm>
            <a:off x="658368" y="5577840"/>
            <a:ext cx="10835640" cy="493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77840"/>
            <a:ext cx="10332720" cy="493776"/>
          </a:xfrm>
          <a:prstGeom prst="rect">
            <a:avLst/>
          </a:prstGeom>
          <a:noFill/>
        </p:spPr>
        <p:txBody>
          <a:bodyPr wrap="square" anchor="ctr">
            <a:spAutoFit/>
          </a:bodyPr>
          <a:lstStyle/>
          <a:p>
            <a:pPr algn="l">
              <a:spcAft>
                <a:spcPts val="400"/>
              </a:spcAft>
            </a:pPr>
            <a:r>
              <a:rPr sz="1170" b="0">
                <a:solidFill>
                  <a:srgbClr val="161B26"/>
                </a:solidFill>
                <a:latin typeface="Arial"/>
              </a:rPr>
              <a:t>Tricentis QA trends, Jan 2026. AI is probabilistic, not deterministic — verify before you rely on it.</a:t>
            </a:r>
          </a:p>
        </p:txBody>
      </p:sp>
      <p:sp>
        <p:nvSpPr>
          <p:cNvPr id="26" name="Rectangle 25"/>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Tricentis (tricentis.com)</a:t>
            </a:r>
          </a:p>
        </p:txBody>
      </p:sp>
      <p:sp>
        <p:nvSpPr>
          <p:cNvPr id="29" name="TextBox 28"/>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0" name="TextBox 29"/>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1" name="TextBox 30"/>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DC2626"/>
                </a:solidFill>
                <a:latin typeface="Arial"/>
              </a:rPr>
              <a:t>ACTIVITY 8 · HANDS-ON</a:t>
            </a:r>
          </a:p>
        </p:txBody>
      </p:sp>
      <p:sp>
        <p:nvSpPr>
          <p:cNvPr id="5" name="TextBox 4"/>
          <p:cNvSpPr txBox="1"/>
          <p:nvPr/>
        </p:nvSpPr>
        <p:spPr>
          <a:xfrm>
            <a:off x="777240" y="713232"/>
            <a:ext cx="8366760" cy="786384"/>
          </a:xfrm>
          <a:prstGeom prst="rect">
            <a:avLst/>
          </a:prstGeom>
          <a:noFill/>
        </p:spPr>
        <p:txBody>
          <a:bodyPr wrap="square" anchor="t">
            <a:spAutoFit/>
          </a:bodyPr>
          <a:lstStyle/>
          <a:p>
            <a:pPr algn="l">
              <a:spcAft>
                <a:spcPts val="400"/>
              </a:spcAft>
            </a:pPr>
            <a:r>
              <a:rPr sz="2600" b="1">
                <a:solidFill>
                  <a:srgbClr val="161B26"/>
                </a:solidFill>
                <a:latin typeface="Arial"/>
              </a:rPr>
              <a:t>Activity 8 — Reflect on Agent Security</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464040" y="457200"/>
            <a:ext cx="1947672" cy="5669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64040" y="457200"/>
            <a:ext cx="1947672" cy="566928"/>
          </a:xfrm>
          <a:prstGeom prst="rect">
            <a:avLst/>
          </a:prstGeom>
          <a:noFill/>
        </p:spPr>
        <p:txBody>
          <a:bodyPr wrap="square" anchor="ctr">
            <a:spAutoFit/>
          </a:bodyPr>
          <a:lstStyle/>
          <a:p>
            <a:pPr algn="ctr">
              <a:spcAft>
                <a:spcPts val="400"/>
              </a:spcAft>
            </a:pPr>
            <a:r>
              <a:rPr sz="1100" b="1">
                <a:solidFill>
                  <a:srgbClr val="FFFFFF"/>
                </a:solidFill>
                <a:latin typeface="Arial"/>
              </a:rPr>
              <a:t>ACTIVITY 8 · 15 MIN</a:t>
            </a:r>
          </a:p>
        </p:txBody>
      </p:sp>
      <p:sp>
        <p:nvSpPr>
          <p:cNvPr id="9" name="Rectangle 8"/>
          <p:cNvSpPr/>
          <p:nvPr/>
        </p:nvSpPr>
        <p:spPr>
          <a:xfrm>
            <a:off x="777240" y="1783080"/>
            <a:ext cx="10634472" cy="12070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783080"/>
            <a:ext cx="82296" cy="120700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1883664"/>
            <a:ext cx="10241280" cy="365760"/>
          </a:xfrm>
          <a:prstGeom prst="rect">
            <a:avLst/>
          </a:prstGeom>
          <a:noFill/>
        </p:spPr>
        <p:txBody>
          <a:bodyPr wrap="square" anchor="t">
            <a:spAutoFit/>
          </a:bodyPr>
          <a:lstStyle/>
          <a:p>
            <a:pPr algn="l">
              <a:spcAft>
                <a:spcPts val="400"/>
              </a:spcAft>
            </a:pPr>
            <a:r>
              <a:rPr sz="1300" b="1">
                <a:solidFill>
                  <a:srgbClr val="DC2626"/>
                </a:solidFill>
                <a:latin typeface="Arial"/>
              </a:rPr>
              <a:t>Hands-on, no-code — ready-made website or AI agent</a:t>
            </a:r>
          </a:p>
        </p:txBody>
      </p:sp>
      <p:sp>
        <p:nvSpPr>
          <p:cNvPr id="12" name="TextBox 11"/>
          <p:cNvSpPr txBox="1"/>
          <p:nvPr/>
        </p:nvSpPr>
        <p:spPr>
          <a:xfrm>
            <a:off x="1051560" y="2231136"/>
            <a:ext cx="10241280" cy="731520"/>
          </a:xfrm>
          <a:prstGeom prst="rect">
            <a:avLst/>
          </a:prstGeom>
          <a:noFill/>
        </p:spPr>
        <p:txBody>
          <a:bodyPr wrap="square" anchor="t">
            <a:spAutoFit/>
          </a:bodyPr>
          <a:lstStyle/>
          <a:p>
            <a:pPr algn="l">
              <a:spcAft>
                <a:spcPts val="400"/>
              </a:spcAft>
            </a:pPr>
            <a:r>
              <a:rPr sz="1350" b="0">
                <a:solidFill>
                  <a:srgbClr val="161B26"/>
                </a:solidFill>
                <a:latin typeface="Arial"/>
              </a:rPr>
              <a:t>This reflection feeds directly into your Case Study assessment.</a:t>
            </a:r>
          </a:p>
        </p:txBody>
      </p:sp>
      <p:sp>
        <p:nvSpPr>
          <p:cNvPr id="13" name="Rectangle 12"/>
          <p:cNvSpPr/>
          <p:nvPr/>
        </p:nvSpPr>
        <p:spPr>
          <a:xfrm>
            <a:off x="77724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77507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7507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6" name="TextBox 15"/>
          <p:cNvSpPr txBox="1"/>
          <p:nvPr/>
        </p:nvSpPr>
        <p:spPr>
          <a:xfrm>
            <a:off x="86868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List the costs</a:t>
            </a:r>
          </a:p>
        </p:txBody>
      </p:sp>
      <p:sp>
        <p:nvSpPr>
          <p:cNvPr id="17" name="TextBox 16"/>
          <p:cNvSpPr txBox="1"/>
          <p:nvPr/>
        </p:nvSpPr>
        <p:spPr>
          <a:xfrm>
            <a:off x="328498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18" name="Rectangle 17"/>
          <p:cNvSpPr/>
          <p:nvPr/>
        </p:nvSpPr>
        <p:spPr>
          <a:xfrm>
            <a:off x="348615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48398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8398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1" name="TextBox 20"/>
          <p:cNvSpPr txBox="1"/>
          <p:nvPr/>
        </p:nvSpPr>
        <p:spPr>
          <a:xfrm>
            <a:off x="357759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Map guardrails to risks</a:t>
            </a:r>
          </a:p>
        </p:txBody>
      </p:sp>
      <p:sp>
        <p:nvSpPr>
          <p:cNvPr id="22" name="TextBox 21"/>
          <p:cNvSpPr txBox="1"/>
          <p:nvPr/>
        </p:nvSpPr>
        <p:spPr>
          <a:xfrm>
            <a:off x="599389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3" name="Rectangle 22"/>
          <p:cNvSpPr/>
          <p:nvPr/>
        </p:nvSpPr>
        <p:spPr>
          <a:xfrm>
            <a:off x="619506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19289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9289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6" name="TextBox 25"/>
          <p:cNvSpPr txBox="1"/>
          <p:nvPr/>
        </p:nvSpPr>
        <p:spPr>
          <a:xfrm>
            <a:off x="628650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Fill the rollout checklist</a:t>
            </a:r>
          </a:p>
        </p:txBody>
      </p:sp>
      <p:sp>
        <p:nvSpPr>
          <p:cNvPr id="27" name="TextBox 26"/>
          <p:cNvSpPr txBox="1"/>
          <p:nvPr/>
        </p:nvSpPr>
        <p:spPr>
          <a:xfrm>
            <a:off x="8702802" y="3570732"/>
            <a:ext cx="201168" cy="402336"/>
          </a:xfrm>
          <a:prstGeom prst="rect">
            <a:avLst/>
          </a:prstGeom>
          <a:noFill/>
        </p:spPr>
        <p:txBody>
          <a:bodyPr wrap="square" anchor="ctr">
            <a:spAutoFit/>
          </a:bodyPr>
          <a:lstStyle/>
          <a:p>
            <a:pPr algn="ctr">
              <a:spcAft>
                <a:spcPts val="400"/>
              </a:spcAft>
            </a:pPr>
            <a:r>
              <a:rPr sz="1200" b="1">
                <a:solidFill>
                  <a:srgbClr val="DC2626"/>
                </a:solidFill>
                <a:latin typeface="Arial"/>
              </a:rPr>
              <a:t>▶</a:t>
            </a:r>
          </a:p>
        </p:txBody>
      </p:sp>
      <p:sp>
        <p:nvSpPr>
          <p:cNvPr id="28" name="Rectangle 27"/>
          <p:cNvSpPr/>
          <p:nvPr/>
        </p:nvSpPr>
        <p:spPr>
          <a:xfrm>
            <a:off x="8903970" y="3200400"/>
            <a:ext cx="2507742" cy="1143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901809" y="3328416"/>
            <a:ext cx="512064" cy="512064"/>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01809" y="3328416"/>
            <a:ext cx="512064" cy="51206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1" name="TextBox 30"/>
          <p:cNvSpPr txBox="1"/>
          <p:nvPr/>
        </p:nvSpPr>
        <p:spPr>
          <a:xfrm>
            <a:off x="8995410" y="3895344"/>
            <a:ext cx="2324862" cy="411480"/>
          </a:xfrm>
          <a:prstGeom prst="rect">
            <a:avLst/>
          </a:prstGeom>
          <a:noFill/>
        </p:spPr>
        <p:txBody>
          <a:bodyPr wrap="square" anchor="t">
            <a:spAutoFit/>
          </a:bodyPr>
          <a:lstStyle/>
          <a:p>
            <a:pPr algn="ctr">
              <a:spcAft>
                <a:spcPts val="400"/>
              </a:spcAft>
            </a:pPr>
            <a:r>
              <a:rPr sz="1050" b="0">
                <a:solidFill>
                  <a:srgbClr val="161B26"/>
                </a:solidFill>
                <a:latin typeface="Arial"/>
              </a:rPr>
              <a:t>Decide go / no-go</a:t>
            </a:r>
          </a:p>
        </p:txBody>
      </p:sp>
      <p:sp>
        <p:nvSpPr>
          <p:cNvPr id="32" name="Rectangle 31"/>
          <p:cNvSpPr/>
          <p:nvPr/>
        </p:nvSpPr>
        <p:spPr>
          <a:xfrm>
            <a:off x="777240" y="4526280"/>
            <a:ext cx="6949440" cy="12984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5840" y="4590288"/>
            <a:ext cx="6583680" cy="292608"/>
          </a:xfrm>
          <a:prstGeom prst="rect">
            <a:avLst/>
          </a:prstGeom>
          <a:noFill/>
        </p:spPr>
        <p:txBody>
          <a:bodyPr wrap="square" anchor="t">
            <a:spAutoFit/>
          </a:bodyPr>
          <a:lstStyle/>
          <a:p>
            <a:pPr algn="l">
              <a:spcAft>
                <a:spcPts val="400"/>
              </a:spcAft>
            </a:pPr>
            <a:r>
              <a:rPr sz="1050" b="1">
                <a:solidFill>
                  <a:srgbClr val="DC2626"/>
                </a:solidFill>
                <a:latin typeface="Arial"/>
              </a:rPr>
              <a:t>DISCUSSION QUESTIONS</a:t>
            </a:r>
          </a:p>
        </p:txBody>
      </p:sp>
      <p:sp>
        <p:nvSpPr>
          <p:cNvPr id="34" name="TextBox 33"/>
          <p:cNvSpPr txBox="1"/>
          <p:nvPr/>
        </p:nvSpPr>
        <p:spPr>
          <a:xfrm>
            <a:off x="1005840" y="4864608"/>
            <a:ext cx="6537960" cy="914400"/>
          </a:xfrm>
          <a:prstGeom prst="rect">
            <a:avLst/>
          </a:prstGeom>
          <a:noFill/>
        </p:spPr>
        <p:txBody>
          <a:bodyPr wrap="square">
            <a:spAutoFit/>
          </a:bodyPr>
          <a:lstStyle/>
          <a:p>
            <a:pPr>
              <a:spcAft>
                <a:spcPts val="300"/>
              </a:spcAft>
            </a:pPr>
            <a:r>
              <a:rPr sz="1050" b="0">
                <a:solidFill>
                  <a:srgbClr val="161B26"/>
                </a:solidFill>
                <a:latin typeface="Arial"/>
              </a:rPr>
              <a:t>•  Using the two chatbots, list what the leak could cost a business</a:t>
            </a:r>
          </a:p>
          <a:p>
            <a:pPr>
              <a:spcAft>
                <a:spcPts val="300"/>
              </a:spcAft>
            </a:pPr>
            <a:r>
              <a:rPr sz="1050" b="0">
                <a:solidFill>
                  <a:srgbClr val="161B26"/>
                </a:solidFill>
                <a:latin typeface="Arial"/>
              </a:rPr>
              <a:t>•  Map each guardrail to a risk it removes</a:t>
            </a:r>
          </a:p>
          <a:p>
            <a:pPr>
              <a:spcAft>
                <a:spcPts val="300"/>
              </a:spcAft>
            </a:pPr>
            <a:r>
              <a:rPr sz="1050" b="0">
                <a:solidFill>
                  <a:srgbClr val="161B26"/>
                </a:solidFill>
                <a:latin typeface="Arial"/>
              </a:rPr>
              <a:t>•  Decide go / conditional / no-go for a real rollout</a:t>
            </a:r>
          </a:p>
        </p:txBody>
      </p:sp>
      <p:sp>
        <p:nvSpPr>
          <p:cNvPr id="35" name="Rectangle 34"/>
          <p:cNvSpPr/>
          <p:nvPr/>
        </p:nvSpPr>
        <p:spPr>
          <a:xfrm>
            <a:off x="7909560" y="4526280"/>
            <a:ext cx="350215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909560" y="4526280"/>
            <a:ext cx="82296"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56448" y="4590288"/>
            <a:ext cx="3108960" cy="292608"/>
          </a:xfrm>
          <a:prstGeom prst="rect">
            <a:avLst/>
          </a:prstGeom>
          <a:noFill/>
        </p:spPr>
        <p:txBody>
          <a:bodyPr wrap="square" anchor="t">
            <a:spAutoFit/>
          </a:bodyPr>
          <a:lstStyle/>
          <a:p>
            <a:pPr algn="l">
              <a:spcAft>
                <a:spcPts val="400"/>
              </a:spcAft>
            </a:pPr>
            <a:r>
              <a:rPr sz="1050" b="1">
                <a:solidFill>
                  <a:srgbClr val="10B981"/>
                </a:solidFill>
                <a:latin typeface="Arial"/>
              </a:rPr>
              <a:t>YOU'LL PRODUCE</a:t>
            </a:r>
          </a:p>
        </p:txBody>
      </p:sp>
      <p:sp>
        <p:nvSpPr>
          <p:cNvPr id="38" name="TextBox 37"/>
          <p:cNvSpPr txBox="1"/>
          <p:nvPr/>
        </p:nvSpPr>
        <p:spPr>
          <a:xfrm>
            <a:off x="8156448" y="4864608"/>
            <a:ext cx="3154680" cy="914400"/>
          </a:xfrm>
          <a:prstGeom prst="rect">
            <a:avLst/>
          </a:prstGeom>
          <a:noFill/>
        </p:spPr>
        <p:txBody>
          <a:bodyPr wrap="square" anchor="t">
            <a:spAutoFit/>
          </a:bodyPr>
          <a:lstStyle/>
          <a:p>
            <a:pPr algn="l">
              <a:spcAft>
                <a:spcPts val="400"/>
              </a:spcAft>
            </a:pPr>
            <a:r>
              <a:rPr sz="1150" b="0">
                <a:solidFill>
                  <a:srgbClr val="161B26"/>
                </a:solidFill>
                <a:latin typeface="Arial"/>
              </a:rPr>
              <a:t>A risk-and-guardrail table, a completed rollout checklist, and a signed go / conditional / no-go decision with a named owner and a kill-switch.</a:t>
            </a:r>
          </a:p>
        </p:txBody>
      </p:sp>
      <p:sp>
        <p:nvSpPr>
          <p:cNvPr id="39" name="TextBox 38"/>
          <p:cNvSpPr txBox="1"/>
          <p:nvPr/>
        </p:nvSpPr>
        <p:spPr>
          <a:xfrm>
            <a:off x="777240" y="5925312"/>
            <a:ext cx="10634472" cy="310896"/>
          </a:xfrm>
          <a:prstGeom prst="rect">
            <a:avLst/>
          </a:prstGeom>
          <a:noFill/>
        </p:spPr>
        <p:txBody>
          <a:bodyPr wrap="square" anchor="t">
            <a:spAutoFit/>
          </a:bodyPr>
          <a:lstStyle/>
          <a:p>
            <a:pPr algn="l">
              <a:spcAft>
                <a:spcPts val="400"/>
              </a:spcAft>
            </a:pPr>
            <a:r>
              <a:rPr sz="1150" b="0">
                <a:solidFill>
                  <a:srgbClr val="5B6372"/>
                </a:solidFill>
                <a:latin typeface="Arial"/>
              </a:rPr>
              <a:t>Assesses LO3 · A1, A2  ·  Activity pack: activities/activity-8-security-reflection/  ·  Full step-by-step facilitation detail: Learner Guide</a:t>
            </a:r>
          </a:p>
        </p:txBody>
      </p:sp>
      <p:sp>
        <p:nvSpPr>
          <p:cNvPr id="40" name="TextBox 3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SIM</a:t>
            </a:r>
          </a:p>
        </p:txBody>
      </p:sp>
      <p:sp>
        <p:nvSpPr>
          <p:cNvPr id="41" name="TextBox 4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2" name="TextBox 4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3" name="TextBox 4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The Key Challenges of AI to Business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2552273" cy="6217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2332817" cy="621792"/>
          </a:xfrm>
          <a:prstGeom prst="rect">
            <a:avLst/>
          </a:prstGeom>
          <a:noFill/>
        </p:spPr>
        <p:txBody>
          <a:bodyPr wrap="square" anchor="ctr">
            <a:spAutoFit/>
          </a:bodyPr>
          <a:lstStyle/>
          <a:p>
            <a:pPr algn="l">
              <a:spcAft>
                <a:spcPts val="400"/>
              </a:spcAft>
            </a:pPr>
            <a:r>
              <a:rPr sz="1100" b="1">
                <a:solidFill>
                  <a:srgbClr val="FFFFFF"/>
                </a:solidFill>
                <a:latin typeface="Arial"/>
              </a:rPr>
              <a:t>Challenge</a:t>
            </a:r>
          </a:p>
        </p:txBody>
      </p:sp>
      <p:sp>
        <p:nvSpPr>
          <p:cNvPr id="8" name="Rectangle 7"/>
          <p:cNvSpPr/>
          <p:nvPr/>
        </p:nvSpPr>
        <p:spPr>
          <a:xfrm>
            <a:off x="3329513" y="1783080"/>
            <a:ext cx="4466478" cy="6217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57529" y="1783080"/>
            <a:ext cx="4247022" cy="621792"/>
          </a:xfrm>
          <a:prstGeom prst="rect">
            <a:avLst/>
          </a:prstGeom>
          <a:noFill/>
        </p:spPr>
        <p:txBody>
          <a:bodyPr wrap="square" anchor="ctr">
            <a:spAutoFit/>
          </a:bodyPr>
          <a:lstStyle/>
          <a:p>
            <a:pPr algn="l">
              <a:spcAft>
                <a:spcPts val="400"/>
              </a:spcAft>
            </a:pPr>
            <a:r>
              <a:rPr sz="1100" b="1">
                <a:solidFill>
                  <a:srgbClr val="FFFFFF"/>
                </a:solidFill>
                <a:latin typeface="Arial"/>
              </a:rPr>
              <a:t>What it looks like</a:t>
            </a:r>
          </a:p>
        </p:txBody>
      </p:sp>
      <p:sp>
        <p:nvSpPr>
          <p:cNvPr id="10" name="Rectangle 9"/>
          <p:cNvSpPr/>
          <p:nvPr/>
        </p:nvSpPr>
        <p:spPr>
          <a:xfrm>
            <a:off x="7795991" y="1783080"/>
            <a:ext cx="3615720" cy="6217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24007" y="1783080"/>
            <a:ext cx="3396264" cy="621792"/>
          </a:xfrm>
          <a:prstGeom prst="rect">
            <a:avLst/>
          </a:prstGeom>
          <a:noFill/>
        </p:spPr>
        <p:txBody>
          <a:bodyPr wrap="square" anchor="ctr">
            <a:spAutoFit/>
          </a:bodyPr>
          <a:lstStyle/>
          <a:p>
            <a:pPr algn="l">
              <a:spcAft>
                <a:spcPts val="400"/>
              </a:spcAft>
            </a:pPr>
            <a:r>
              <a:rPr sz="1100" b="1">
                <a:solidFill>
                  <a:srgbClr val="FFFFFF"/>
                </a:solidFill>
                <a:latin typeface="Arial"/>
              </a:rPr>
              <a:t>What business must do</a:t>
            </a:r>
          </a:p>
        </p:txBody>
      </p:sp>
      <p:sp>
        <p:nvSpPr>
          <p:cNvPr id="12" name="Rectangle 11"/>
          <p:cNvSpPr/>
          <p:nvPr/>
        </p:nvSpPr>
        <p:spPr>
          <a:xfrm>
            <a:off x="777240" y="2404872"/>
            <a:ext cx="2552273"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 y="2404872"/>
            <a:ext cx="2332817" cy="621792"/>
          </a:xfrm>
          <a:prstGeom prst="rect">
            <a:avLst/>
          </a:prstGeom>
          <a:noFill/>
        </p:spPr>
        <p:txBody>
          <a:bodyPr wrap="square" anchor="ctr">
            <a:spAutoFit/>
          </a:bodyPr>
          <a:lstStyle/>
          <a:p>
            <a:pPr algn="l">
              <a:spcAft>
                <a:spcPts val="400"/>
              </a:spcAft>
            </a:pPr>
            <a:r>
              <a:rPr sz="1000" b="1">
                <a:solidFill>
                  <a:srgbClr val="161B26"/>
                </a:solidFill>
                <a:latin typeface="Arial"/>
              </a:rPr>
              <a:t>Data privacy &amp; PDPA</a:t>
            </a:r>
          </a:p>
        </p:txBody>
      </p:sp>
      <p:sp>
        <p:nvSpPr>
          <p:cNvPr id="14" name="Rectangle 13"/>
          <p:cNvSpPr/>
          <p:nvPr/>
        </p:nvSpPr>
        <p:spPr>
          <a:xfrm>
            <a:off x="3329513" y="2404872"/>
            <a:ext cx="4466478"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57529" y="2404872"/>
            <a:ext cx="4247022" cy="621792"/>
          </a:xfrm>
          <a:prstGeom prst="rect">
            <a:avLst/>
          </a:prstGeom>
          <a:noFill/>
        </p:spPr>
        <p:txBody>
          <a:bodyPr wrap="square" anchor="ctr">
            <a:spAutoFit/>
          </a:bodyPr>
          <a:lstStyle/>
          <a:p>
            <a:pPr algn="l">
              <a:spcAft>
                <a:spcPts val="400"/>
              </a:spcAft>
            </a:pPr>
            <a:r>
              <a:rPr sz="1000" b="0">
                <a:solidFill>
                  <a:srgbClr val="161B26"/>
                </a:solidFill>
                <a:latin typeface="Arial"/>
              </a:rPr>
              <a:t>Agents read and move personal data; a leak may be notifiable</a:t>
            </a:r>
          </a:p>
        </p:txBody>
      </p:sp>
      <p:sp>
        <p:nvSpPr>
          <p:cNvPr id="16" name="Rectangle 15"/>
          <p:cNvSpPr/>
          <p:nvPr/>
        </p:nvSpPr>
        <p:spPr>
          <a:xfrm>
            <a:off x="7795991" y="2404872"/>
            <a:ext cx="3615720"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24007" y="2404872"/>
            <a:ext cx="3396264" cy="621792"/>
          </a:xfrm>
          <a:prstGeom prst="rect">
            <a:avLst/>
          </a:prstGeom>
          <a:noFill/>
        </p:spPr>
        <p:txBody>
          <a:bodyPr wrap="square" anchor="ctr">
            <a:spAutoFit/>
          </a:bodyPr>
          <a:lstStyle/>
          <a:p>
            <a:pPr algn="l">
              <a:spcAft>
                <a:spcPts val="400"/>
              </a:spcAft>
            </a:pPr>
            <a:r>
              <a:rPr sz="1000" b="0">
                <a:solidFill>
                  <a:srgbClr val="161B26"/>
                </a:solidFill>
                <a:latin typeface="Arial"/>
              </a:rPr>
              <a:t>Minimise data, map it, meet PDPA duties</a:t>
            </a:r>
          </a:p>
        </p:txBody>
      </p:sp>
      <p:sp>
        <p:nvSpPr>
          <p:cNvPr id="18" name="Rectangle 17"/>
          <p:cNvSpPr/>
          <p:nvPr/>
        </p:nvSpPr>
        <p:spPr>
          <a:xfrm>
            <a:off x="777240" y="3026664"/>
            <a:ext cx="2552273"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3026664"/>
            <a:ext cx="2332817" cy="621792"/>
          </a:xfrm>
          <a:prstGeom prst="rect">
            <a:avLst/>
          </a:prstGeom>
          <a:noFill/>
        </p:spPr>
        <p:txBody>
          <a:bodyPr wrap="square" anchor="ctr">
            <a:spAutoFit/>
          </a:bodyPr>
          <a:lstStyle/>
          <a:p>
            <a:pPr algn="l">
              <a:spcAft>
                <a:spcPts val="400"/>
              </a:spcAft>
            </a:pPr>
            <a:r>
              <a:rPr sz="1000" b="1">
                <a:solidFill>
                  <a:srgbClr val="161B26"/>
                </a:solidFill>
                <a:latin typeface="Arial"/>
              </a:rPr>
              <a:t>Brand damage</a:t>
            </a:r>
          </a:p>
        </p:txBody>
      </p:sp>
      <p:sp>
        <p:nvSpPr>
          <p:cNvPr id="20" name="Rectangle 19"/>
          <p:cNvSpPr/>
          <p:nvPr/>
        </p:nvSpPr>
        <p:spPr>
          <a:xfrm>
            <a:off x="3329513" y="3026664"/>
            <a:ext cx="4466478"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57529" y="3026664"/>
            <a:ext cx="4247022" cy="621792"/>
          </a:xfrm>
          <a:prstGeom prst="rect">
            <a:avLst/>
          </a:prstGeom>
          <a:noFill/>
        </p:spPr>
        <p:txBody>
          <a:bodyPr wrap="square" anchor="ctr">
            <a:spAutoFit/>
          </a:bodyPr>
          <a:lstStyle/>
          <a:p>
            <a:pPr algn="l">
              <a:spcAft>
                <a:spcPts val="400"/>
              </a:spcAft>
            </a:pPr>
            <a:r>
              <a:rPr sz="1000" b="0">
                <a:solidFill>
                  <a:srgbClr val="161B26"/>
                </a:solidFill>
                <a:latin typeface="Arial"/>
              </a:rPr>
              <a:t>A poor or misleading AI ad erodes trust and authenticity</a:t>
            </a:r>
          </a:p>
        </p:txBody>
      </p:sp>
      <p:sp>
        <p:nvSpPr>
          <p:cNvPr id="22" name="Rectangle 21"/>
          <p:cNvSpPr/>
          <p:nvPr/>
        </p:nvSpPr>
        <p:spPr>
          <a:xfrm>
            <a:off x="7795991" y="3026664"/>
            <a:ext cx="3615720"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24007" y="3026664"/>
            <a:ext cx="3396264" cy="621792"/>
          </a:xfrm>
          <a:prstGeom prst="rect">
            <a:avLst/>
          </a:prstGeom>
          <a:noFill/>
        </p:spPr>
        <p:txBody>
          <a:bodyPr wrap="square" anchor="ctr">
            <a:spAutoFit/>
          </a:bodyPr>
          <a:lstStyle/>
          <a:p>
            <a:pPr algn="l">
              <a:spcAft>
                <a:spcPts val="400"/>
              </a:spcAft>
            </a:pPr>
            <a:r>
              <a:rPr sz="1000" b="0">
                <a:solidFill>
                  <a:srgbClr val="161B26"/>
                </a:solidFill>
                <a:latin typeface="Arial"/>
              </a:rPr>
              <a:t>Human sign-off; disclose; know what not to synthesise</a:t>
            </a:r>
          </a:p>
        </p:txBody>
      </p:sp>
      <p:sp>
        <p:nvSpPr>
          <p:cNvPr id="24" name="Rectangle 23"/>
          <p:cNvSpPr/>
          <p:nvPr/>
        </p:nvSpPr>
        <p:spPr>
          <a:xfrm>
            <a:off x="777240" y="3648456"/>
            <a:ext cx="2552273"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256" y="3648456"/>
            <a:ext cx="2332817" cy="621792"/>
          </a:xfrm>
          <a:prstGeom prst="rect">
            <a:avLst/>
          </a:prstGeom>
          <a:noFill/>
        </p:spPr>
        <p:txBody>
          <a:bodyPr wrap="square" anchor="ctr">
            <a:spAutoFit/>
          </a:bodyPr>
          <a:lstStyle/>
          <a:p>
            <a:pPr algn="l">
              <a:spcAft>
                <a:spcPts val="400"/>
              </a:spcAft>
            </a:pPr>
            <a:r>
              <a:rPr sz="1000" b="1">
                <a:solidFill>
                  <a:srgbClr val="161B26"/>
                </a:solidFill>
                <a:latin typeface="Arial"/>
              </a:rPr>
              <a:t>Cybersecurity</a:t>
            </a:r>
          </a:p>
        </p:txBody>
      </p:sp>
      <p:sp>
        <p:nvSpPr>
          <p:cNvPr id="26" name="Rectangle 25"/>
          <p:cNvSpPr/>
          <p:nvPr/>
        </p:nvSpPr>
        <p:spPr>
          <a:xfrm>
            <a:off x="3329513" y="3648456"/>
            <a:ext cx="4466478"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57529" y="3648456"/>
            <a:ext cx="4247022" cy="621792"/>
          </a:xfrm>
          <a:prstGeom prst="rect">
            <a:avLst/>
          </a:prstGeom>
          <a:noFill/>
        </p:spPr>
        <p:txBody>
          <a:bodyPr wrap="square" anchor="ctr">
            <a:spAutoFit/>
          </a:bodyPr>
          <a:lstStyle/>
          <a:p>
            <a:pPr algn="l">
              <a:spcAft>
                <a:spcPts val="400"/>
              </a:spcAft>
            </a:pPr>
            <a:r>
              <a:rPr sz="1000" b="0">
                <a:solidFill>
                  <a:srgbClr val="161B26"/>
                </a:solidFill>
                <a:latin typeface="Arial"/>
              </a:rPr>
              <a:t>Injection, data leaks, deepfakes — adoption outruns security</a:t>
            </a:r>
          </a:p>
        </p:txBody>
      </p:sp>
      <p:sp>
        <p:nvSpPr>
          <p:cNvPr id="28" name="Rectangle 27"/>
          <p:cNvSpPr/>
          <p:nvPr/>
        </p:nvSpPr>
        <p:spPr>
          <a:xfrm>
            <a:off x="7795991" y="3648456"/>
            <a:ext cx="3615720"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24007" y="3648456"/>
            <a:ext cx="3396264" cy="621792"/>
          </a:xfrm>
          <a:prstGeom prst="rect">
            <a:avLst/>
          </a:prstGeom>
          <a:noFill/>
        </p:spPr>
        <p:txBody>
          <a:bodyPr wrap="square" anchor="ctr">
            <a:spAutoFit/>
          </a:bodyPr>
          <a:lstStyle/>
          <a:p>
            <a:pPr algn="l">
              <a:spcAft>
                <a:spcPts val="400"/>
              </a:spcAft>
            </a:pPr>
            <a:r>
              <a:rPr sz="1000" b="0">
                <a:solidFill>
                  <a:srgbClr val="161B26"/>
                </a:solidFill>
                <a:latin typeface="Arial"/>
              </a:rPr>
              <a:t>Contain, test and monitor before rollout</a:t>
            </a:r>
          </a:p>
        </p:txBody>
      </p:sp>
      <p:sp>
        <p:nvSpPr>
          <p:cNvPr id="30" name="Rectangle 29"/>
          <p:cNvSpPr/>
          <p:nvPr/>
        </p:nvSpPr>
        <p:spPr>
          <a:xfrm>
            <a:off x="777240" y="4270248"/>
            <a:ext cx="2552273"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05256" y="4270248"/>
            <a:ext cx="2332817" cy="621792"/>
          </a:xfrm>
          <a:prstGeom prst="rect">
            <a:avLst/>
          </a:prstGeom>
          <a:noFill/>
        </p:spPr>
        <p:txBody>
          <a:bodyPr wrap="square" anchor="ctr">
            <a:spAutoFit/>
          </a:bodyPr>
          <a:lstStyle/>
          <a:p>
            <a:pPr algn="l">
              <a:spcAft>
                <a:spcPts val="400"/>
              </a:spcAft>
            </a:pPr>
            <a:r>
              <a:rPr sz="1000" b="1">
                <a:solidFill>
                  <a:srgbClr val="161B26"/>
                </a:solidFill>
                <a:latin typeface="Arial"/>
              </a:rPr>
              <a:t>Accountability</a:t>
            </a:r>
          </a:p>
        </p:txBody>
      </p:sp>
      <p:sp>
        <p:nvSpPr>
          <p:cNvPr id="32" name="Rectangle 31"/>
          <p:cNvSpPr/>
          <p:nvPr/>
        </p:nvSpPr>
        <p:spPr>
          <a:xfrm>
            <a:off x="3329513" y="4270248"/>
            <a:ext cx="4466478"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57529" y="4270248"/>
            <a:ext cx="4247022" cy="621792"/>
          </a:xfrm>
          <a:prstGeom prst="rect">
            <a:avLst/>
          </a:prstGeom>
          <a:noFill/>
        </p:spPr>
        <p:txBody>
          <a:bodyPr wrap="square" anchor="ctr">
            <a:spAutoFit/>
          </a:bodyPr>
          <a:lstStyle/>
          <a:p>
            <a:pPr algn="l">
              <a:spcAft>
                <a:spcPts val="400"/>
              </a:spcAft>
            </a:pPr>
            <a:r>
              <a:rPr sz="1000" b="0">
                <a:solidFill>
                  <a:srgbClr val="161B26"/>
                </a:solidFill>
                <a:latin typeface="Arial"/>
              </a:rPr>
              <a:t>When AI is wrong, who answers?</a:t>
            </a:r>
          </a:p>
        </p:txBody>
      </p:sp>
      <p:sp>
        <p:nvSpPr>
          <p:cNvPr id="34" name="Rectangle 33"/>
          <p:cNvSpPr/>
          <p:nvPr/>
        </p:nvSpPr>
        <p:spPr>
          <a:xfrm>
            <a:off x="7795991" y="4270248"/>
            <a:ext cx="3615720" cy="6217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24007" y="4270248"/>
            <a:ext cx="3396264" cy="621792"/>
          </a:xfrm>
          <a:prstGeom prst="rect">
            <a:avLst/>
          </a:prstGeom>
          <a:noFill/>
        </p:spPr>
        <p:txBody>
          <a:bodyPr wrap="square" anchor="ctr">
            <a:spAutoFit/>
          </a:bodyPr>
          <a:lstStyle/>
          <a:p>
            <a:pPr algn="l">
              <a:spcAft>
                <a:spcPts val="400"/>
              </a:spcAft>
            </a:pPr>
            <a:r>
              <a:rPr sz="1000" b="0">
                <a:solidFill>
                  <a:srgbClr val="161B26"/>
                </a:solidFill>
                <a:latin typeface="Arial"/>
              </a:rPr>
              <a:t>A named human is always accountable, never the AI</a:t>
            </a:r>
          </a:p>
        </p:txBody>
      </p:sp>
      <p:sp>
        <p:nvSpPr>
          <p:cNvPr id="36" name="Rectangle 35"/>
          <p:cNvSpPr/>
          <p:nvPr/>
        </p:nvSpPr>
        <p:spPr>
          <a:xfrm>
            <a:off x="777240" y="4892040"/>
            <a:ext cx="2552273"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5256" y="4892040"/>
            <a:ext cx="2332817" cy="621792"/>
          </a:xfrm>
          <a:prstGeom prst="rect">
            <a:avLst/>
          </a:prstGeom>
          <a:noFill/>
        </p:spPr>
        <p:txBody>
          <a:bodyPr wrap="square" anchor="ctr">
            <a:spAutoFit/>
          </a:bodyPr>
          <a:lstStyle/>
          <a:p>
            <a:pPr algn="l">
              <a:spcAft>
                <a:spcPts val="400"/>
              </a:spcAft>
            </a:pPr>
            <a:r>
              <a:rPr sz="1000" b="1">
                <a:solidFill>
                  <a:srgbClr val="161B26"/>
                </a:solidFill>
                <a:latin typeface="Arial"/>
              </a:rPr>
              <a:t>Job impact</a:t>
            </a:r>
          </a:p>
        </p:txBody>
      </p:sp>
      <p:sp>
        <p:nvSpPr>
          <p:cNvPr id="38" name="Rectangle 37"/>
          <p:cNvSpPr/>
          <p:nvPr/>
        </p:nvSpPr>
        <p:spPr>
          <a:xfrm>
            <a:off x="3329513" y="4892040"/>
            <a:ext cx="4466478"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457529" y="4892040"/>
            <a:ext cx="4247022" cy="621792"/>
          </a:xfrm>
          <a:prstGeom prst="rect">
            <a:avLst/>
          </a:prstGeom>
          <a:noFill/>
        </p:spPr>
        <p:txBody>
          <a:bodyPr wrap="square" anchor="ctr">
            <a:spAutoFit/>
          </a:bodyPr>
          <a:lstStyle/>
          <a:p>
            <a:pPr algn="l">
              <a:spcAft>
                <a:spcPts val="400"/>
              </a:spcAft>
            </a:pPr>
            <a:r>
              <a:rPr sz="1000" b="0">
                <a:solidFill>
                  <a:srgbClr val="161B26"/>
                </a:solidFill>
                <a:latin typeface="Arial"/>
              </a:rPr>
              <a:t>Tasks are automated; roles must be redesigned</a:t>
            </a:r>
          </a:p>
        </p:txBody>
      </p:sp>
      <p:sp>
        <p:nvSpPr>
          <p:cNvPr id="40" name="Rectangle 39"/>
          <p:cNvSpPr/>
          <p:nvPr/>
        </p:nvSpPr>
        <p:spPr>
          <a:xfrm>
            <a:off x="7795991" y="4892040"/>
            <a:ext cx="3615720" cy="6217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924007" y="4892040"/>
            <a:ext cx="3396264" cy="621792"/>
          </a:xfrm>
          <a:prstGeom prst="rect">
            <a:avLst/>
          </a:prstGeom>
          <a:noFill/>
        </p:spPr>
        <p:txBody>
          <a:bodyPr wrap="square" anchor="ctr">
            <a:spAutoFit/>
          </a:bodyPr>
          <a:lstStyle/>
          <a:p>
            <a:pPr algn="l">
              <a:spcAft>
                <a:spcPts val="400"/>
              </a:spcAft>
            </a:pPr>
            <a:r>
              <a:rPr sz="1000" b="0">
                <a:solidFill>
                  <a:srgbClr val="161B26"/>
                </a:solidFill>
                <a:latin typeface="Arial"/>
              </a:rPr>
              <a:t>Redesign jobs around directing and checking agents</a:t>
            </a:r>
          </a:p>
        </p:txBody>
      </p:sp>
      <p:sp>
        <p:nvSpPr>
          <p:cNvPr id="42" name="TextBox 41"/>
          <p:cNvSpPr txBox="1"/>
          <p:nvPr/>
        </p:nvSpPr>
        <p:spPr>
          <a:xfrm>
            <a:off x="777240" y="5632704"/>
            <a:ext cx="10698480" cy="438912"/>
          </a:xfrm>
          <a:prstGeom prst="rect">
            <a:avLst/>
          </a:prstGeom>
          <a:noFill/>
        </p:spPr>
        <p:txBody>
          <a:bodyPr wrap="square" anchor="t">
            <a:spAutoFit/>
          </a:bodyPr>
          <a:lstStyle/>
          <a:p>
            <a:pPr algn="ctr">
              <a:spcAft>
                <a:spcPts val="400"/>
              </a:spcAft>
            </a:pPr>
            <a:r>
              <a:rPr sz="1180" b="0">
                <a:solidFill>
                  <a:srgbClr val="5B6372"/>
                </a:solidFill>
                <a:latin typeface="Arial"/>
              </a:rPr>
              <a:t>This is the heart of LO3: the ethical, legal and business risks a Singapore organisation must manage to use AI responsibly.</a:t>
            </a:r>
          </a:p>
        </p:txBody>
      </p:sp>
      <p:sp>
        <p:nvSpPr>
          <p:cNvPr id="43" name="Rectangle 42"/>
          <p:cNvSpPr/>
          <p:nvPr/>
        </p:nvSpPr>
        <p:spPr>
          <a:xfrm>
            <a:off x="777240" y="6217920"/>
            <a:ext cx="10634472" cy="201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77240" y="6217920"/>
            <a:ext cx="73152"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8408" y="6217920"/>
            <a:ext cx="10268712" cy="201168"/>
          </a:xfrm>
          <a:prstGeom prst="rect">
            <a:avLst/>
          </a:prstGeom>
          <a:noFill/>
        </p:spPr>
        <p:txBody>
          <a:bodyPr wrap="square" anchor="ctr">
            <a:spAutoFit/>
          </a:bodyPr>
          <a:lstStyle/>
          <a:p>
            <a:r>
              <a:rPr sz="900" b="1">
                <a:solidFill>
                  <a:srgbClr val="DC2626"/>
                </a:solidFill>
                <a:latin typeface="Arial"/>
              </a:rPr>
              <a:t>Sources:  </a:t>
            </a:r>
            <a:r>
              <a:rPr sz="900">
                <a:solidFill>
                  <a:srgbClr val="1F6FEB"/>
                </a:solidFill>
                <a:latin typeface="Arial"/>
                <a:hlinkClick r:id="rId2"/>
              </a:rPr>
              <a:t>CPA Australia (cpaaustralia.com.au)</a:t>
            </a:r>
            <a:r>
              <a:rPr sz="900">
                <a:solidFill>
                  <a:srgbClr val="5B6372"/>
                </a:solidFill>
                <a:latin typeface="Arial"/>
              </a:rPr>
              <a:t>   ·   </a:t>
            </a:r>
            <a:r>
              <a:rPr sz="900">
                <a:solidFill>
                  <a:srgbClr val="1F6FEB"/>
                </a:solidFill>
                <a:latin typeface="Arial"/>
                <a:hlinkClick r:id="rId3"/>
              </a:rPr>
              <a:t>CNA (channelnewsasia.com)</a:t>
            </a:r>
            <a:r>
              <a:rPr sz="900">
                <a:solidFill>
                  <a:srgbClr val="5B6372"/>
                </a:solidFill>
                <a:latin typeface="Arial"/>
              </a:rPr>
              <a:t>   ·   </a:t>
            </a:r>
            <a:r>
              <a:rPr sz="900">
                <a:solidFill>
                  <a:srgbClr val="1F6FEB"/>
                </a:solidFill>
                <a:latin typeface="Arial"/>
                <a:hlinkClick r:id="rId4"/>
              </a:rPr>
              <a:t>Moffatt v Air Canada, 2024 BCCRT 149 (canlii.org)</a:t>
            </a:r>
          </a:p>
        </p:txBody>
      </p:sp>
      <p:sp>
        <p:nvSpPr>
          <p:cNvPr id="46" name="TextBox 4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47" name="TextBox 4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48" name="TextBox 4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Topic 3 Recap</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Govern</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A named human is accountable for AI data and actions</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Redesign</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Jobs shift to directing and checking agents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Secure</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Contain, test and approve before you deploy</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THE BUSINESS CHALLENGE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Adopt AI boldly — but govern the data, guard the brand, and keep a human accountable.</a:t>
            </a:r>
          </a:p>
        </p:txBody>
      </p:sp>
      <p:sp>
        <p:nvSpPr>
          <p:cNvPr id="6" name="TextBox 5"/>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SYN</a:t>
            </a:r>
          </a:p>
        </p:txBody>
      </p:sp>
      <p:sp>
        <p:nvSpPr>
          <p:cNvPr id="7" name="TextBox 6"/>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8" name="TextBox 7"/>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9" name="TextBox 8"/>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Assessment Reminder</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783080"/>
            <a:ext cx="82296" cy="4343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77824" y="1965960"/>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0" name="TextBox 9"/>
          <p:cNvSpPr txBox="1"/>
          <p:nvPr/>
        </p:nvSpPr>
        <p:spPr>
          <a:xfrm>
            <a:off x="1408176" y="1929384"/>
            <a:ext cx="2526792" cy="274320"/>
          </a:xfrm>
          <a:prstGeom prst="rect">
            <a:avLst/>
          </a:prstGeom>
          <a:noFill/>
        </p:spPr>
        <p:txBody>
          <a:bodyPr wrap="square" anchor="t">
            <a:spAutoFit/>
          </a:bodyPr>
          <a:lstStyle/>
          <a:p>
            <a:pPr algn="l">
              <a:spcAft>
                <a:spcPts val="400"/>
              </a:spcAft>
            </a:pPr>
            <a:r>
              <a:rPr sz="1400" b="1">
                <a:solidFill>
                  <a:srgbClr val="1F6FEB"/>
                </a:solidFill>
                <a:latin typeface="Arial"/>
              </a:rPr>
              <a:t>Attendance</a:t>
            </a:r>
          </a:p>
        </p:txBody>
      </p:sp>
      <p:sp>
        <p:nvSpPr>
          <p:cNvPr id="11" name="TextBox 10"/>
          <p:cNvSpPr txBox="1"/>
          <p:nvPr/>
        </p:nvSpPr>
        <p:spPr>
          <a:xfrm>
            <a:off x="914400"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Complete the required digital attendance first</a:t>
            </a:r>
          </a:p>
        </p:txBody>
      </p:sp>
      <p:sp>
        <p:nvSpPr>
          <p:cNvPr id="12" name="Rectangle 11"/>
          <p:cNvSpPr/>
          <p:nvPr/>
        </p:nvSpPr>
        <p:spPr>
          <a:xfrm>
            <a:off x="4355592"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55592" y="1783080"/>
            <a:ext cx="82296" cy="4343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575048" y="1965960"/>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5048"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5105400" y="1929384"/>
            <a:ext cx="2526792" cy="274320"/>
          </a:xfrm>
          <a:prstGeom prst="rect">
            <a:avLst/>
          </a:prstGeom>
          <a:noFill/>
        </p:spPr>
        <p:txBody>
          <a:bodyPr wrap="square" anchor="t">
            <a:spAutoFit/>
          </a:bodyPr>
          <a:lstStyle/>
          <a:p>
            <a:pPr algn="l">
              <a:spcAft>
                <a:spcPts val="400"/>
              </a:spcAft>
            </a:pPr>
            <a:r>
              <a:rPr sz="1400" b="1">
                <a:solidFill>
                  <a:srgbClr val="10B981"/>
                </a:solidFill>
                <a:latin typeface="Arial"/>
              </a:rPr>
              <a:t>Open book</a:t>
            </a:r>
          </a:p>
        </p:txBody>
      </p:sp>
      <p:sp>
        <p:nvSpPr>
          <p:cNvPr id="17" name="TextBox 16"/>
          <p:cNvSpPr txBox="1"/>
          <p:nvPr/>
        </p:nvSpPr>
        <p:spPr>
          <a:xfrm>
            <a:off x="4611624"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Use the slides, Learner Guide and your own activity notes</a:t>
            </a:r>
          </a:p>
        </p:txBody>
      </p:sp>
      <p:sp>
        <p:nvSpPr>
          <p:cNvPr id="18" name="Rectangle 17"/>
          <p:cNvSpPr/>
          <p:nvPr/>
        </p:nvSpPr>
        <p:spPr>
          <a:xfrm>
            <a:off x="8052816" y="1783080"/>
            <a:ext cx="34411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52816" y="1783080"/>
            <a:ext cx="82296" cy="4343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72272" y="1965960"/>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2272" y="196596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2" name="TextBox 21"/>
          <p:cNvSpPr txBox="1"/>
          <p:nvPr/>
        </p:nvSpPr>
        <p:spPr>
          <a:xfrm>
            <a:off x="8802624" y="1929384"/>
            <a:ext cx="2526792" cy="274320"/>
          </a:xfrm>
          <a:prstGeom prst="rect">
            <a:avLst/>
          </a:prstGeom>
          <a:noFill/>
        </p:spPr>
        <p:txBody>
          <a:bodyPr wrap="square" anchor="t">
            <a:spAutoFit/>
          </a:bodyPr>
          <a:lstStyle/>
          <a:p>
            <a:pPr algn="l">
              <a:spcAft>
                <a:spcPts val="400"/>
              </a:spcAft>
            </a:pPr>
            <a:r>
              <a:rPr sz="1400" b="1">
                <a:solidFill>
                  <a:srgbClr val="7C3AED"/>
                </a:solidFill>
                <a:latin typeface="Arial"/>
              </a:rPr>
              <a:t>Submit</a:t>
            </a:r>
          </a:p>
        </p:txBody>
      </p:sp>
      <p:sp>
        <p:nvSpPr>
          <p:cNvPr id="23" name="TextBox 22"/>
          <p:cNvSpPr txBox="1"/>
          <p:nvPr/>
        </p:nvSpPr>
        <p:spPr>
          <a:xfrm>
            <a:off x="8308848" y="2532888"/>
            <a:ext cx="2947416" cy="3465576"/>
          </a:xfrm>
          <a:prstGeom prst="rect">
            <a:avLst/>
          </a:prstGeom>
          <a:noFill/>
        </p:spPr>
        <p:txBody>
          <a:bodyPr wrap="square" anchor="t">
            <a:spAutoFit/>
          </a:bodyPr>
          <a:lstStyle/>
          <a:p>
            <a:pPr algn="l">
              <a:spcAft>
                <a:spcPts val="400"/>
              </a:spcAft>
            </a:pPr>
            <a:r>
              <a:rPr sz="1150" b="0">
                <a:solidFill>
                  <a:srgbClr val="161B26"/>
                </a:solidFill>
                <a:latin typeface="Arial"/>
              </a:rPr>
              <a:t>Upload the required files on the LMS</a:t>
            </a:r>
          </a:p>
        </p:txBody>
      </p:sp>
      <p:sp>
        <p:nvSpPr>
          <p:cNvPr id="24" name="TextBox 23"/>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25" name="TextBox 24"/>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26" name="TextBox 25"/>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27" name="TextBox 26"/>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What Each Assessment Asks</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783080"/>
            <a:ext cx="2552273"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05256" y="1783080"/>
            <a:ext cx="2332817" cy="1108710"/>
          </a:xfrm>
          <a:prstGeom prst="rect">
            <a:avLst/>
          </a:prstGeom>
          <a:noFill/>
        </p:spPr>
        <p:txBody>
          <a:bodyPr wrap="square" anchor="ctr">
            <a:spAutoFit/>
          </a:bodyPr>
          <a:lstStyle/>
          <a:p>
            <a:pPr algn="l">
              <a:spcAft>
                <a:spcPts val="400"/>
              </a:spcAft>
            </a:pPr>
            <a:r>
              <a:rPr sz="1250" b="1">
                <a:solidFill>
                  <a:srgbClr val="FFFFFF"/>
                </a:solidFill>
                <a:latin typeface="Arial"/>
              </a:rPr>
              <a:t>Instrument</a:t>
            </a:r>
          </a:p>
        </p:txBody>
      </p:sp>
      <p:sp>
        <p:nvSpPr>
          <p:cNvPr id="8" name="Rectangle 7"/>
          <p:cNvSpPr/>
          <p:nvPr/>
        </p:nvSpPr>
        <p:spPr>
          <a:xfrm>
            <a:off x="3329513" y="1783080"/>
            <a:ext cx="4253788"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57529" y="1783080"/>
            <a:ext cx="4034332" cy="1108710"/>
          </a:xfrm>
          <a:prstGeom prst="rect">
            <a:avLst/>
          </a:prstGeom>
          <a:noFill/>
        </p:spPr>
        <p:txBody>
          <a:bodyPr wrap="square" anchor="ctr">
            <a:spAutoFit/>
          </a:bodyPr>
          <a:lstStyle/>
          <a:p>
            <a:pPr algn="l">
              <a:spcAft>
                <a:spcPts val="400"/>
              </a:spcAft>
            </a:pPr>
            <a:r>
              <a:rPr sz="1250" b="1">
                <a:solidFill>
                  <a:srgbClr val="FFFFFF"/>
                </a:solidFill>
                <a:latin typeface="Arial"/>
              </a:rPr>
              <a:t>Questions</a:t>
            </a:r>
          </a:p>
        </p:txBody>
      </p:sp>
      <p:sp>
        <p:nvSpPr>
          <p:cNvPr id="10" name="Rectangle 9"/>
          <p:cNvSpPr/>
          <p:nvPr/>
        </p:nvSpPr>
        <p:spPr>
          <a:xfrm>
            <a:off x="7583301" y="1783080"/>
            <a:ext cx="3828409" cy="11087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11317" y="1783080"/>
            <a:ext cx="3608953" cy="1108710"/>
          </a:xfrm>
          <a:prstGeom prst="rect">
            <a:avLst/>
          </a:prstGeom>
          <a:noFill/>
        </p:spPr>
        <p:txBody>
          <a:bodyPr wrap="square" anchor="ctr">
            <a:spAutoFit/>
          </a:bodyPr>
          <a:lstStyle/>
          <a:p>
            <a:pPr algn="l">
              <a:spcAft>
                <a:spcPts val="400"/>
              </a:spcAft>
            </a:pPr>
            <a:r>
              <a:rPr sz="1250" b="1">
                <a:solidFill>
                  <a:srgbClr val="FFFFFF"/>
                </a:solidFill>
                <a:latin typeface="Arial"/>
              </a:rPr>
              <a:t>Source of your answers</a:t>
            </a:r>
          </a:p>
        </p:txBody>
      </p:sp>
      <p:sp>
        <p:nvSpPr>
          <p:cNvPr id="12" name="Rectangle 11"/>
          <p:cNvSpPr/>
          <p:nvPr/>
        </p:nvSpPr>
        <p:spPr>
          <a:xfrm>
            <a:off x="777240" y="2891790"/>
            <a:ext cx="2552273"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5256" y="2891790"/>
            <a:ext cx="2332817" cy="1108710"/>
          </a:xfrm>
          <a:prstGeom prst="rect">
            <a:avLst/>
          </a:prstGeom>
          <a:noFill/>
        </p:spPr>
        <p:txBody>
          <a:bodyPr wrap="square" anchor="ctr">
            <a:spAutoFit/>
          </a:bodyPr>
          <a:lstStyle/>
          <a:p>
            <a:pPr algn="l">
              <a:spcAft>
                <a:spcPts val="400"/>
              </a:spcAft>
            </a:pPr>
            <a:r>
              <a:rPr sz="1150" b="1">
                <a:solidFill>
                  <a:srgbClr val="161B26"/>
                </a:solidFill>
                <a:latin typeface="Arial"/>
              </a:rPr>
              <a:t>Written (SAQ)</a:t>
            </a:r>
          </a:p>
        </p:txBody>
      </p:sp>
      <p:sp>
        <p:nvSpPr>
          <p:cNvPr id="14" name="Rectangle 13"/>
          <p:cNvSpPr/>
          <p:nvPr/>
        </p:nvSpPr>
        <p:spPr>
          <a:xfrm>
            <a:off x="3329513" y="2891790"/>
            <a:ext cx="4253788"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57529" y="2891790"/>
            <a:ext cx="4034332" cy="1108710"/>
          </a:xfrm>
          <a:prstGeom prst="rect">
            <a:avLst/>
          </a:prstGeom>
          <a:noFill/>
        </p:spPr>
        <p:txBody>
          <a:bodyPr wrap="square" anchor="ctr">
            <a:spAutoFit/>
          </a:bodyPr>
          <a:lstStyle/>
          <a:p>
            <a:pPr algn="l">
              <a:spcAft>
                <a:spcPts val="400"/>
              </a:spcAft>
            </a:pPr>
            <a:r>
              <a:rPr sz="1150" b="0">
                <a:solidFill>
                  <a:srgbClr val="161B26"/>
                </a:solidFill>
                <a:latin typeface="Arial"/>
              </a:rPr>
              <a:t>5 — one per knowledge statement K1–K5</a:t>
            </a:r>
          </a:p>
        </p:txBody>
      </p:sp>
      <p:sp>
        <p:nvSpPr>
          <p:cNvPr id="16" name="Rectangle 15"/>
          <p:cNvSpPr/>
          <p:nvPr/>
        </p:nvSpPr>
        <p:spPr>
          <a:xfrm>
            <a:off x="7583301" y="2891790"/>
            <a:ext cx="3828409"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11317" y="2891790"/>
            <a:ext cx="3608953" cy="1108710"/>
          </a:xfrm>
          <a:prstGeom prst="rect">
            <a:avLst/>
          </a:prstGeom>
          <a:noFill/>
        </p:spPr>
        <p:txBody>
          <a:bodyPr wrap="square" anchor="ctr">
            <a:spAutoFit/>
          </a:bodyPr>
          <a:lstStyle/>
          <a:p>
            <a:pPr algn="l">
              <a:spcAft>
                <a:spcPts val="400"/>
              </a:spcAft>
            </a:pPr>
            <a:r>
              <a:rPr sz="1150" b="0">
                <a:solidFill>
                  <a:srgbClr val="161B26"/>
                </a:solidFill>
                <a:latin typeface="Arial"/>
              </a:rPr>
              <a:t>What you learned in the slides today</a:t>
            </a:r>
          </a:p>
        </p:txBody>
      </p:sp>
      <p:sp>
        <p:nvSpPr>
          <p:cNvPr id="18" name="Rectangle 17"/>
          <p:cNvSpPr/>
          <p:nvPr/>
        </p:nvSpPr>
        <p:spPr>
          <a:xfrm>
            <a:off x="777240" y="4000500"/>
            <a:ext cx="2552273"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5256" y="4000500"/>
            <a:ext cx="2332817" cy="1108710"/>
          </a:xfrm>
          <a:prstGeom prst="rect">
            <a:avLst/>
          </a:prstGeom>
          <a:noFill/>
        </p:spPr>
        <p:txBody>
          <a:bodyPr wrap="square" anchor="ctr">
            <a:spAutoFit/>
          </a:bodyPr>
          <a:lstStyle/>
          <a:p>
            <a:pPr algn="l">
              <a:spcAft>
                <a:spcPts val="400"/>
              </a:spcAft>
            </a:pPr>
            <a:r>
              <a:rPr sz="1150" b="1">
                <a:solidFill>
                  <a:srgbClr val="161B26"/>
                </a:solidFill>
                <a:latin typeface="Arial"/>
              </a:rPr>
              <a:t>Case Study</a:t>
            </a:r>
          </a:p>
        </p:txBody>
      </p:sp>
      <p:sp>
        <p:nvSpPr>
          <p:cNvPr id="20" name="Rectangle 19"/>
          <p:cNvSpPr/>
          <p:nvPr/>
        </p:nvSpPr>
        <p:spPr>
          <a:xfrm>
            <a:off x="3329513" y="4000500"/>
            <a:ext cx="4253788"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57529" y="4000500"/>
            <a:ext cx="4034332" cy="1108710"/>
          </a:xfrm>
          <a:prstGeom prst="rect">
            <a:avLst/>
          </a:prstGeom>
          <a:noFill/>
        </p:spPr>
        <p:txBody>
          <a:bodyPr wrap="square" anchor="ctr">
            <a:spAutoFit/>
          </a:bodyPr>
          <a:lstStyle/>
          <a:p>
            <a:pPr algn="l">
              <a:spcAft>
                <a:spcPts val="400"/>
              </a:spcAft>
            </a:pPr>
            <a:r>
              <a:rPr sz="1150" b="0">
                <a:solidFill>
                  <a:srgbClr val="161B26"/>
                </a:solidFill>
                <a:latin typeface="Arial"/>
              </a:rPr>
              <a:t>3 tasks (two questions each) — mapped to LO1–LO3</a:t>
            </a:r>
          </a:p>
        </p:txBody>
      </p:sp>
      <p:sp>
        <p:nvSpPr>
          <p:cNvPr id="22" name="Rectangle 21"/>
          <p:cNvSpPr/>
          <p:nvPr/>
        </p:nvSpPr>
        <p:spPr>
          <a:xfrm>
            <a:off x="7583301" y="4000500"/>
            <a:ext cx="3828409" cy="11087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11317" y="4000500"/>
            <a:ext cx="3608953" cy="1108710"/>
          </a:xfrm>
          <a:prstGeom prst="rect">
            <a:avLst/>
          </a:prstGeom>
          <a:noFill/>
        </p:spPr>
        <p:txBody>
          <a:bodyPr wrap="square" anchor="ctr">
            <a:spAutoFit/>
          </a:bodyPr>
          <a:lstStyle/>
          <a:p>
            <a:pPr algn="l">
              <a:spcAft>
                <a:spcPts val="400"/>
              </a:spcAft>
            </a:pPr>
            <a:r>
              <a:rPr sz="1150" b="0">
                <a:solidFill>
                  <a:srgbClr val="161B26"/>
                </a:solidFill>
                <a:latin typeface="Arial"/>
              </a:rPr>
              <a:t>Your own observations from the activities you did</a:t>
            </a:r>
          </a:p>
        </p:txBody>
      </p:sp>
      <p:sp>
        <p:nvSpPr>
          <p:cNvPr id="24" name="Rectangle 23"/>
          <p:cNvSpPr/>
          <p:nvPr/>
        </p:nvSpPr>
        <p:spPr>
          <a:xfrm>
            <a:off x="777240" y="5109210"/>
            <a:ext cx="2552273"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5256" y="5109210"/>
            <a:ext cx="2332817" cy="1108710"/>
          </a:xfrm>
          <a:prstGeom prst="rect">
            <a:avLst/>
          </a:prstGeom>
          <a:noFill/>
        </p:spPr>
        <p:txBody>
          <a:bodyPr wrap="square" anchor="ctr">
            <a:spAutoFit/>
          </a:bodyPr>
          <a:lstStyle/>
          <a:p>
            <a:pPr algn="l">
              <a:spcAft>
                <a:spcPts val="400"/>
              </a:spcAft>
            </a:pPr>
            <a:r>
              <a:rPr sz="1150" b="1">
                <a:solidFill>
                  <a:srgbClr val="161B26"/>
                </a:solidFill>
                <a:latin typeface="Arial"/>
              </a:rPr>
              <a:t>Grading</a:t>
            </a:r>
          </a:p>
        </p:txBody>
      </p:sp>
      <p:sp>
        <p:nvSpPr>
          <p:cNvPr id="26" name="Rectangle 25"/>
          <p:cNvSpPr/>
          <p:nvPr/>
        </p:nvSpPr>
        <p:spPr>
          <a:xfrm>
            <a:off x="3329513" y="5109210"/>
            <a:ext cx="4253788"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57529" y="5109210"/>
            <a:ext cx="4034332" cy="1108710"/>
          </a:xfrm>
          <a:prstGeom prst="rect">
            <a:avLst/>
          </a:prstGeom>
          <a:noFill/>
        </p:spPr>
        <p:txBody>
          <a:bodyPr wrap="square" anchor="ctr">
            <a:spAutoFit/>
          </a:bodyPr>
          <a:lstStyle/>
          <a:p>
            <a:pPr algn="l">
              <a:spcAft>
                <a:spcPts val="400"/>
              </a:spcAft>
            </a:pPr>
            <a:r>
              <a:rPr sz="1150" b="0">
                <a:solidFill>
                  <a:srgbClr val="161B26"/>
                </a:solidFill>
                <a:latin typeface="Arial"/>
              </a:rPr>
              <a:t>Open book · Competent / Not Yet Competent</a:t>
            </a:r>
          </a:p>
        </p:txBody>
      </p:sp>
      <p:sp>
        <p:nvSpPr>
          <p:cNvPr id="28" name="Rectangle 27"/>
          <p:cNvSpPr/>
          <p:nvPr/>
        </p:nvSpPr>
        <p:spPr>
          <a:xfrm>
            <a:off x="7583301" y="5109210"/>
            <a:ext cx="3828409" cy="11087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11317" y="5109210"/>
            <a:ext cx="3608953" cy="1108710"/>
          </a:xfrm>
          <a:prstGeom prst="rect">
            <a:avLst/>
          </a:prstGeom>
          <a:noFill/>
        </p:spPr>
        <p:txBody>
          <a:bodyPr wrap="square" anchor="ctr">
            <a:spAutoFit/>
          </a:bodyPr>
          <a:lstStyle/>
          <a:p>
            <a:pPr algn="l">
              <a:spcAft>
                <a:spcPts val="400"/>
              </a:spcAft>
            </a:pPr>
            <a:r>
              <a:rPr sz="1150" b="0">
                <a:solidFill>
                  <a:srgbClr val="161B26"/>
                </a:solidFill>
                <a:latin typeface="Arial"/>
              </a:rPr>
              <a:t>Re-assessment offered if Not Yet Competent</a:t>
            </a:r>
          </a:p>
        </p:txBody>
      </p:sp>
      <p:sp>
        <p:nvSpPr>
          <p:cNvPr id="30" name="TextBox 29"/>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31" name="TextBox 30"/>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2" name="TextBox 31"/>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3" name="TextBox 32"/>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Courseware and Assessment on the LMS</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1828800"/>
            <a:ext cx="557784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828800"/>
            <a:ext cx="5577840" cy="475488"/>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41832" y="1984248"/>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97864" y="1984248"/>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453896" y="1984248"/>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74520" y="1920240"/>
            <a:ext cx="4206240" cy="3108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11680" y="1920240"/>
            <a:ext cx="3931920" cy="310896"/>
          </a:xfrm>
          <a:prstGeom prst="rect">
            <a:avLst/>
          </a:prstGeom>
          <a:noFill/>
        </p:spPr>
        <p:txBody>
          <a:bodyPr wrap="square" anchor="ctr">
            <a:spAutoFit/>
          </a:bodyPr>
          <a:lstStyle/>
          <a:p>
            <a:pPr algn="l">
              <a:spcAft>
                <a:spcPts val="400"/>
              </a:spcAft>
            </a:pPr>
            <a:r>
              <a:rPr sz="1300" b="1">
                <a:solidFill>
                  <a:srgbClr val="1F6FEB"/>
                </a:solidFill>
                <a:latin typeface="Arial"/>
              </a:rPr>
              <a:t>https://lms-tms.tertiaryinfotech.com</a:t>
            </a:r>
          </a:p>
        </p:txBody>
      </p:sp>
      <p:pic>
        <p:nvPicPr>
          <p:cNvPr id="14" name="Picture 13" descr="lms-tms-login.png"/>
          <p:cNvPicPr>
            <a:picLocks noChangeAspect="1"/>
          </p:cNvPicPr>
          <p:nvPr/>
        </p:nvPicPr>
        <p:blipFill>
          <a:blip r:embed="rId3"/>
          <a:stretch>
            <a:fillRect/>
          </a:stretch>
        </p:blipFill>
        <p:spPr>
          <a:xfrm>
            <a:off x="2220530" y="3440777"/>
            <a:ext cx="2691259" cy="1338901"/>
          </a:xfrm>
          <a:prstGeom prst="rect">
            <a:avLst/>
          </a:prstGeom>
        </p:spPr>
      </p:pic>
      <p:sp>
        <p:nvSpPr>
          <p:cNvPr id="15" name="Rectangle 14"/>
          <p:cNvSpPr/>
          <p:nvPr/>
        </p:nvSpPr>
        <p:spPr>
          <a:xfrm>
            <a:off x="6675120" y="1828800"/>
            <a:ext cx="4754880" cy="1264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675120" y="1828800"/>
            <a:ext cx="82296" cy="1264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858000" y="223266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0" y="2232660"/>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9" name="TextBox 18"/>
          <p:cNvSpPr txBox="1"/>
          <p:nvPr/>
        </p:nvSpPr>
        <p:spPr>
          <a:xfrm>
            <a:off x="7498080" y="1828800"/>
            <a:ext cx="3749040" cy="1264920"/>
          </a:xfrm>
          <a:prstGeom prst="rect">
            <a:avLst/>
          </a:prstGeom>
          <a:noFill/>
        </p:spPr>
        <p:txBody>
          <a:bodyPr wrap="square" anchor="ctr">
            <a:spAutoFit/>
          </a:bodyPr>
          <a:lstStyle/>
          <a:p>
            <a:pPr algn="l">
              <a:spcAft>
                <a:spcPts val="200"/>
              </a:spcAft>
            </a:pPr>
            <a:r>
              <a:rPr sz="1400" b="1">
                <a:solidFill>
                  <a:srgbClr val="1F6FEB"/>
                </a:solidFill>
                <a:latin typeface="Arial"/>
              </a:rPr>
              <a:t>Step 1</a:t>
            </a:r>
          </a:p>
          <a:p>
            <a:pPr algn="l">
              <a:spcAft>
                <a:spcPts val="200"/>
              </a:spcAft>
            </a:pPr>
            <a:r>
              <a:rPr sz="1150" b="0">
                <a:solidFill>
                  <a:srgbClr val="161B26"/>
                </a:solidFill>
                <a:latin typeface="Arial"/>
              </a:rPr>
              <a:t>Download the current learner-facing materials</a:t>
            </a:r>
          </a:p>
        </p:txBody>
      </p:sp>
      <p:sp>
        <p:nvSpPr>
          <p:cNvPr id="20" name="Rectangle 19"/>
          <p:cNvSpPr/>
          <p:nvPr/>
        </p:nvSpPr>
        <p:spPr>
          <a:xfrm>
            <a:off x="6675120" y="3276600"/>
            <a:ext cx="4754880" cy="1264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675120" y="3276600"/>
            <a:ext cx="82296" cy="1264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858000" y="368046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0" y="3680460"/>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7498080" y="3276600"/>
            <a:ext cx="3749040" cy="1264920"/>
          </a:xfrm>
          <a:prstGeom prst="rect">
            <a:avLst/>
          </a:prstGeom>
          <a:noFill/>
        </p:spPr>
        <p:txBody>
          <a:bodyPr wrap="square" anchor="ctr">
            <a:spAutoFit/>
          </a:bodyPr>
          <a:lstStyle/>
          <a:p>
            <a:pPr algn="l">
              <a:spcAft>
                <a:spcPts val="200"/>
              </a:spcAft>
            </a:pPr>
            <a:r>
              <a:rPr sz="1400" b="1">
                <a:solidFill>
                  <a:srgbClr val="10B981"/>
                </a:solidFill>
                <a:latin typeface="Arial"/>
              </a:rPr>
              <a:t>Step 2</a:t>
            </a:r>
          </a:p>
          <a:p>
            <a:pPr algn="l">
              <a:spcAft>
                <a:spcPts val="200"/>
              </a:spcAft>
            </a:pPr>
            <a:r>
              <a:rPr sz="1150" b="0">
                <a:solidFill>
                  <a:srgbClr val="161B26"/>
                </a:solidFill>
                <a:latin typeface="Arial"/>
              </a:rPr>
              <a:t>Upload only the requested assessment evidence</a:t>
            </a:r>
          </a:p>
        </p:txBody>
      </p:sp>
      <p:sp>
        <p:nvSpPr>
          <p:cNvPr id="25" name="Rectangle 24"/>
          <p:cNvSpPr/>
          <p:nvPr/>
        </p:nvSpPr>
        <p:spPr>
          <a:xfrm>
            <a:off x="6675120" y="4724400"/>
            <a:ext cx="4754880" cy="1264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675120" y="4724400"/>
            <a:ext cx="82296" cy="1264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858000" y="512826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0" y="5128260"/>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29" name="TextBox 28"/>
          <p:cNvSpPr txBox="1"/>
          <p:nvPr/>
        </p:nvSpPr>
        <p:spPr>
          <a:xfrm>
            <a:off x="7498080" y="4724400"/>
            <a:ext cx="3749040" cy="1264920"/>
          </a:xfrm>
          <a:prstGeom prst="rect">
            <a:avLst/>
          </a:prstGeom>
          <a:noFill/>
        </p:spPr>
        <p:txBody>
          <a:bodyPr wrap="square" anchor="ctr">
            <a:spAutoFit/>
          </a:bodyPr>
          <a:lstStyle/>
          <a:p>
            <a:pPr algn="l">
              <a:spcAft>
                <a:spcPts val="200"/>
              </a:spcAft>
            </a:pPr>
            <a:r>
              <a:rPr sz="1400" b="1">
                <a:solidFill>
                  <a:srgbClr val="7C3AED"/>
                </a:solidFill>
                <a:latin typeface="Arial"/>
              </a:rPr>
              <a:t>Step 3</a:t>
            </a:r>
          </a:p>
          <a:p>
            <a:pPr algn="l">
              <a:spcAft>
                <a:spcPts val="200"/>
              </a:spcAft>
            </a:pPr>
            <a:r>
              <a:rPr sz="1150" b="0">
                <a:solidFill>
                  <a:srgbClr val="161B26"/>
                </a:solidFill>
                <a:latin typeface="Arial"/>
              </a:rPr>
              <a:t>Do not upload API keys or any real personal data</a:t>
            </a:r>
          </a:p>
        </p:txBody>
      </p:sp>
      <p:sp>
        <p:nvSpPr>
          <p:cNvPr id="30" name="TextBox 29"/>
          <p:cNvSpPr txBox="1"/>
          <p:nvPr/>
        </p:nvSpPr>
        <p:spPr>
          <a:xfrm>
            <a:off x="777240" y="6126480"/>
            <a:ext cx="10698480" cy="219456"/>
          </a:xfrm>
          <a:prstGeom prst="rect">
            <a:avLst/>
          </a:prstGeom>
          <a:noFill/>
        </p:spPr>
        <p:txBody>
          <a:bodyPr wrap="square" anchor="t">
            <a:spAutoFit/>
          </a:bodyPr>
          <a:lstStyle/>
          <a:p>
            <a:pPr algn="ctr">
              <a:spcAft>
                <a:spcPts val="400"/>
              </a:spcAft>
            </a:pPr>
            <a:r>
              <a:rPr sz="1100" b="0">
                <a:solidFill>
                  <a:srgbClr val="5B6372"/>
                </a:solidFill>
                <a:latin typeface="Arial"/>
              </a:rPr>
              <a:t>Use only the current learner-facing files. Keep evidence synthetic, local and reversible; never upload secrets or answer keys.</a:t>
            </a:r>
          </a:p>
        </p:txBody>
      </p:sp>
      <p:sp>
        <p:nvSpPr>
          <p:cNvPr id="31" name="TextBox 30"/>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32" name="TextBox 31"/>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3" name="TextBox 32"/>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4" name="TextBox 33"/>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5" name="Rectangle 4"/>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0" name="TextBox 9"/>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a:t>
            </a:r>
          </a:p>
        </p:txBody>
      </p:sp>
      <p:sp>
        <p:nvSpPr>
          <p:cNvPr id="11" name="TextBox 10"/>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6" name="TextBox 15"/>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attendance</a:t>
            </a:r>
          </a:p>
        </p:txBody>
      </p:sp>
      <p:sp>
        <p:nvSpPr>
          <p:cNvPr id="17" name="TextBox 16"/>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2" name="TextBox 21"/>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Written then Case Study</a:t>
            </a:r>
          </a:p>
        </p:txBody>
      </p:sp>
      <p:sp>
        <p:nvSpPr>
          <p:cNvPr id="23" name="TextBox 22"/>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8" name="TextBox 27"/>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on LMS</a:t>
            </a:r>
          </a:p>
        </p:txBody>
      </p:sp>
      <p:sp>
        <p:nvSpPr>
          <p:cNvPr id="29" name="TextBox 28"/>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4" name="TextBox 33"/>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summary record</a:t>
            </a:r>
          </a:p>
        </p:txBody>
      </p:sp>
      <p:sp>
        <p:nvSpPr>
          <p:cNvPr id="35" name="TextBox 34"/>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36" name="TextBox 35"/>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7" name="TextBox 36"/>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8" name="TextBox 37"/>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It is mandatory to take the AM, PM and Assessment digital attendance for WSQ-funded courses.</a:t>
            </a:r>
          </a:p>
          <a:p>
            <a:pPr>
              <a:spcAft>
                <a:spcPts val="1000"/>
              </a:spcAft>
            </a:pPr>
            <a:r>
              <a:rPr sz="2000" b="0">
                <a:solidFill>
                  <a:srgbClr val="161B26"/>
                </a:solidFill>
                <a:latin typeface="Arial"/>
              </a:rPr>
              <a:t>•  The trainer or administrator displays the digital attendance QR code from the SSG portal.</a:t>
            </a:r>
          </a:p>
          <a:p>
            <a:pPr>
              <a:spcAft>
                <a:spcPts val="1000"/>
              </a:spcAft>
            </a:pPr>
            <a:r>
              <a:rPr sz="2000" b="0">
                <a:solidFill>
                  <a:srgbClr val="161B26"/>
                </a:solidFill>
                <a:latin typeface="Arial"/>
              </a:rPr>
              <a:t>•  Scan the QR code with your mobile phone camera and submit your attendance.</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Complete the TRAQOM survey at the end of the course — it is required for funding.</a:t>
            </a:r>
          </a:p>
        </p:txBody>
      </p:sp>
      <p:sp>
        <p:nvSpPr>
          <p:cNvPr id="8" name="TextBox 7"/>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9" name="TextBox 8"/>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0" name="TextBox 9"/>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1" name="TextBox 10"/>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56832"/>
            <a:ext cx="12191695" cy="2011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965960"/>
            <a:ext cx="10515600" cy="1143000"/>
          </a:xfrm>
          <a:prstGeom prst="rect">
            <a:avLst/>
          </a:prstGeom>
          <a:noFill/>
        </p:spPr>
        <p:txBody>
          <a:bodyPr wrap="square" anchor="t">
            <a:spAutoFit/>
          </a:bodyPr>
          <a:lstStyle/>
          <a:p>
            <a:pPr algn="ctr">
              <a:spcAft>
                <a:spcPts val="400"/>
              </a:spcAft>
            </a:pPr>
            <a:r>
              <a:rPr sz="4600" b="1">
                <a:solidFill>
                  <a:srgbClr val="161B26"/>
                </a:solidFill>
                <a:latin typeface="Arial"/>
              </a:rPr>
              <a:t>Thank You — Use AI Boldly, Deploy It Safely</a:t>
            </a:r>
          </a:p>
        </p:txBody>
      </p:sp>
      <p:sp>
        <p:nvSpPr>
          <p:cNvPr id="6" name="Rectangle 5"/>
          <p:cNvSpPr/>
          <p:nvPr/>
        </p:nvSpPr>
        <p:spPr>
          <a:xfrm>
            <a:off x="4937760" y="3749039"/>
            <a:ext cx="2313432" cy="7315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4069080"/>
            <a:ext cx="10058400" cy="1051560"/>
          </a:xfrm>
          <a:prstGeom prst="rect">
            <a:avLst/>
          </a:prstGeom>
          <a:noFill/>
        </p:spPr>
        <p:txBody>
          <a:bodyPr wrap="square" anchor="t">
            <a:spAutoFit/>
          </a:bodyPr>
          <a:lstStyle/>
          <a:p>
            <a:pPr algn="ctr">
              <a:spcAft>
                <a:spcPts val="400"/>
              </a:spcAft>
            </a:pPr>
            <a:r>
              <a:rPr sz="2100" b="0">
                <a:solidFill>
                  <a:srgbClr val="5B6372"/>
                </a:solidFill>
                <a:latin typeface="Arial"/>
              </a:rPr>
              <a:t>Bound the authority. Preserve the evidence.</a:t>
            </a:r>
          </a:p>
        </p:txBody>
      </p:sp>
      <p:sp>
        <p:nvSpPr>
          <p:cNvPr id="8" name="TextBox 7"/>
          <p:cNvSpPr txBox="1"/>
          <p:nvPr/>
        </p:nvSpPr>
        <p:spPr>
          <a:xfrm>
            <a:off x="0" y="507492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TGS-2025060473  ·  Tertiary Infotech Pte Ltd</a:t>
            </a:r>
          </a:p>
        </p:txBody>
      </p:sp>
      <p:sp>
        <p:nvSpPr>
          <p:cNvPr id="9" name="TextBox 8"/>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10" name="TextBox 9"/>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11" name="TextBox 10"/>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12" name="TextBox 11"/>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p14:dur="320">
        <p:fade/>
      </p:transition>
    </mc:Choice>
    <mc:Fallback xmlns="">
      <p:transition>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310896"/>
            <a:ext cx="10607040" cy="347472"/>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713232"/>
            <a:ext cx="10881360" cy="786384"/>
          </a:xfrm>
          <a:prstGeom prst="rect">
            <a:avLst/>
          </a:prstGeom>
          <a:noFill/>
        </p:spPr>
        <p:txBody>
          <a:bodyPr wrap="square" anchor="t">
            <a:spAutoFit/>
          </a:bodyPr>
          <a:lstStyle/>
          <a:p>
            <a:pPr algn="l">
              <a:spcAft>
                <a:spcPts val="400"/>
              </a:spcAft>
            </a:pPr>
            <a:r>
              <a:rPr sz="2800" b="1">
                <a:solidFill>
                  <a:srgbClr val="161B26"/>
                </a:solidFill>
                <a:latin typeface="Arial"/>
              </a:rPr>
              <a:t>Login to LMS and Download Course Material</a:t>
            </a:r>
          </a:p>
        </p:txBody>
      </p:sp>
      <p:sp>
        <p:nvSpPr>
          <p:cNvPr id="6" name="Rectangle 5"/>
          <p:cNvSpPr/>
          <p:nvPr/>
        </p:nvSpPr>
        <p:spPr>
          <a:xfrm>
            <a:off x="777240" y="1536192"/>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6126480"/>
            <a:ext cx="10698480" cy="219456"/>
          </a:xfrm>
          <a:prstGeom prst="rect">
            <a:avLst/>
          </a:prstGeom>
          <a:noFill/>
        </p:spPr>
        <p:txBody>
          <a:bodyPr wrap="square" anchor="t">
            <a:spAutoFit/>
          </a:bodyPr>
          <a:lstStyle/>
          <a:p>
            <a:pPr algn="ctr">
              <a:spcAft>
                <a:spcPts val="400"/>
              </a:spcAft>
            </a:pPr>
            <a:r>
              <a:rPr sz="1100" b="0">
                <a:solidFill>
                  <a:srgbClr val="5B6372"/>
                </a:solidFill>
                <a:latin typeface="Arial"/>
              </a:rPr>
              <a:t>Use only the current learner-facing files. Keep evidence synthetic, local and reversible; never upload secrets or answer keys.</a:t>
            </a:r>
          </a:p>
        </p:txBody>
      </p:sp>
      <p:sp>
        <p:nvSpPr>
          <p:cNvPr id="31" name="TextBox 30"/>
          <p:cNvSpPr txBox="1"/>
          <p:nvPr/>
        </p:nvSpPr>
        <p:spPr>
          <a:xfrm>
            <a:off x="777240" y="6236208"/>
            <a:ext cx="10515600" cy="164592"/>
          </a:xfrm>
          <a:prstGeom prst="rect">
            <a:avLst/>
          </a:prstGeom>
          <a:noFill/>
        </p:spPr>
        <p:txBody>
          <a:bodyPr wrap="square" anchor="t">
            <a:spAutoFit/>
          </a:bodyPr>
          <a:lstStyle/>
          <a:p>
            <a:pPr algn="l">
              <a:spcAft>
                <a:spcPts val="400"/>
              </a:spcAft>
            </a:pPr>
            <a:r>
              <a:rPr sz="680" b="0">
                <a:solidFill>
                  <a:srgbClr val="5B6372"/>
                </a:solidFill>
                <a:latin typeface="Arial"/>
              </a:rPr>
              <a:t>Evidence: ADMIN</a:t>
            </a:r>
          </a:p>
        </p:txBody>
      </p:sp>
      <p:sp>
        <p:nvSpPr>
          <p:cNvPr id="32" name="TextBox 31"/>
          <p:cNvSpPr txBox="1"/>
          <p:nvPr/>
        </p:nvSpPr>
        <p:spPr>
          <a:xfrm>
            <a:off x="365760" y="6473952"/>
            <a:ext cx="6858000" cy="274320"/>
          </a:xfrm>
          <a:prstGeom prst="rect">
            <a:avLst/>
          </a:prstGeom>
          <a:noFill/>
        </p:spPr>
        <p:txBody>
          <a:bodyPr wrap="square" anchor="t">
            <a:spAutoFit/>
          </a:bodyPr>
          <a:lstStyle/>
          <a:p>
            <a:pPr algn="l">
              <a:spcAft>
                <a:spcPts val="400"/>
              </a:spcAft>
            </a:pPr>
            <a:r>
              <a:rPr sz="900" b="0">
                <a:solidFill>
                  <a:srgbClr val="5B6372"/>
                </a:solidFill>
                <a:latin typeface="Arial"/>
              </a:rPr>
              <a:t>AI Security for Autonomous AI Agents  ·  TGS-2025060473</a:t>
            </a:r>
          </a:p>
        </p:txBody>
      </p:sp>
      <p:sp>
        <p:nvSpPr>
          <p:cNvPr id="33" name="TextBox 32"/>
          <p:cNvSpPr txBox="1"/>
          <p:nvPr/>
        </p:nvSpPr>
        <p:spPr>
          <a:xfrm>
            <a:off x="4572000" y="6473952"/>
            <a:ext cx="3017520" cy="27432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Pte Ltd</a:t>
            </a:r>
          </a:p>
        </p:txBody>
      </p:sp>
      <p:sp>
        <p:nvSpPr>
          <p:cNvPr id="34" name="TextBox 33"/>
          <p:cNvSpPr txBox="1"/>
          <p:nvPr/>
        </p:nvSpPr>
        <p:spPr>
          <a:xfrm>
            <a:off x="11338560" y="6473952"/>
            <a:ext cx="548640" cy="27432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pic>
        <p:nvPicPr>
          <p:cNvPr id="35" name="Picture 34" descr="ref_login.png"/>
          <p:cNvPicPr>
            <a:picLocks noChangeAspect="1"/>
          </p:cNvPicPr>
          <p:nvPr/>
        </p:nvPicPr>
        <p:blipFill>
          <a:blip r:embed="rId3"/>
          <a:stretch>
            <a:fillRect/>
          </a:stretch>
        </p:blipFill>
        <p:spPr>
          <a:xfrm>
            <a:off x="2286766" y="1705356"/>
            <a:ext cx="7618468" cy="3790188"/>
          </a:xfrm>
          <a:prstGeom prst="rect">
            <a:avLst/>
          </a:prstGeom>
          <a:ln w="12700">
            <a:solidFill>
              <a:srgbClr val="E2E8F0"/>
            </a:solidFill>
          </a:ln>
        </p:spPr>
      </p:pic>
      <p:sp>
        <p:nvSpPr>
          <p:cNvPr id="36" name="TextBox 35"/>
          <p:cNvSpPr txBox="1"/>
          <p:nvPr/>
        </p:nvSpPr>
        <p:spPr>
          <a:xfrm>
            <a:off x="777240" y="5577840"/>
            <a:ext cx="10637520"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14770</Words>
  <Application>Microsoft Macintosh PowerPoint</Application>
  <PresentationFormat>Widescreen</PresentationFormat>
  <Paragraphs>2678</Paragraphs>
  <Slides>168</Slides>
  <Notes>8</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168</vt:i4>
      </vt:variant>
    </vt:vector>
  </HeadingPairs>
  <TitlesOfParts>
    <vt:vector size="17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Tertiary Infotech Training</cp:lastModifiedBy>
  <cp:revision>4</cp:revision>
  <dcterms:created xsi:type="dcterms:W3CDTF">2013-01-27T09:14:16Z</dcterms:created>
  <dcterms:modified xsi:type="dcterms:W3CDTF">2026-08-26T14:16:28Z</dcterms:modified>
  <cp:category/>
</cp:coreProperties>
</file>