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agent security as full-system security: model, context, memory, identity, tools, and external actions. The image theme reinforces biometric identity, AI circuitry, and defense in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four-stage loop to explain why agent security differs from chatbot safety. The formula is a prioritization heuristic: autonomy is safest only when privilege, exposure, and persistence are tightly bounded.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from untrusted input to external systems. The decisive security boundary is the tool gateway: model output is a proposal, not an authorization.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Threat-model these categories in combinations. Prompt injection becomes catastrophic when paired with broad identity, powerful tools, and durable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 some injected content will reach the model. Layer controls across ingestion, context separation, tool authorization, and human approval so no single detection failure becomes an incident.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Prompt-level guardrails are not enough. Put identity, policy, validation, sandboxing, audit, approval, and shutdown controls outside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Approval follows impact, not model confidence. Require human review for deletion, payments, privilege changes, production deployment, or externally visible communication.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poisoning outlives the original interaction. Keep provenance, tenant boundaries, retention limits, and operator deletion controls. Separate preferences from executable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behavioral telemetry: initiator, context, policy decision, tool arguments, action outcome, and human approval. Protect telemetry because it may contain sensitive prompts and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practical 30-day plan. The goal is not to eliminate autonomy, but to make every autonomous action bounded, attributable, observable, and reversible.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i-agent-security-redesign/them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A10">
              <a:alpha val="58000"/>
            </a:srgbClr>
          </a:solidFill>
          <a:ln w="12700">
            <a:solidFill>
              <a:srgbClr val="030A1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30A10">
              <a:alpha val="92000"/>
            </a:srgbClr>
          </a:solidFill>
          <a:ln w="12700">
            <a:solidFill>
              <a:srgbClr val="030A1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8368" y="640080"/>
            <a:ext cx="1965960" cy="292608"/>
          </a:xfrm>
          <a:prstGeom prst="roundRect">
            <a:avLst>
              <a:gd name="adj" fmla="val 46875"/>
            </a:avLst>
          </a:prstGeom>
          <a:solidFill>
            <a:srgbClr val="4CEBFF">
              <a:alpha val="97000"/>
            </a:srgbClr>
          </a:solidFill>
          <a:ln w="12700">
            <a:solidFill>
              <a:srgbClr val="4CEBFF">
                <a:alpha val="9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4944" y="640080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BRIEFING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58368" y="1353312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Security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AI Agents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694944" y="312724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Protecting autonomous systems that reason, remember, use tools — and act in the real world.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94944" y="482803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4C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  /  ARCHITECTURE  /  CONTROLS  /  OPERATIONS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858000" y="594360"/>
            <a:ext cx="201168" cy="0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6858000" y="594360"/>
            <a:ext cx="0" cy="201168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11320272" y="594360"/>
            <a:ext cx="201168" cy="0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11521440" y="594360"/>
            <a:ext cx="0" cy="201168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14" name="Shape 11"/>
          <p:cNvSpPr/>
          <p:nvPr/>
        </p:nvSpPr>
        <p:spPr>
          <a:xfrm>
            <a:off x="6858000" y="5824728"/>
            <a:ext cx="201168" cy="0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6858000" y="5623560"/>
            <a:ext cx="0" cy="201168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11320272" y="5824728"/>
            <a:ext cx="201168" cy="0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11521440" y="5623560"/>
            <a:ext cx="0" cy="201168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18" name="Text 15"/>
          <p:cNvSpPr/>
          <p:nvPr/>
        </p:nvSpPr>
        <p:spPr>
          <a:xfrm>
            <a:off x="694944" y="61996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Tertiary Infotech Academy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i-agent-security-redesign/theme-sof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A10">
              <a:alpha val="88000"/>
            </a:srgbClr>
          </a:solidFill>
          <a:ln w="12700">
            <a:solidFill>
              <a:srgbClr val="030A1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430000" y="457200"/>
            <a:ext cx="54864" cy="54864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  <a:effectLst>
            <a:outerShdw sx="100000" sy="100000" kx="0" ky="0" algn="bl" rotWithShape="0" blurRad="38100" dist="50800" dir="2700000">
              <a:srgbClr val="FF4C5E">
                <a:alpha val="5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698480" y="1005840"/>
            <a:ext cx="54864" cy="54864"/>
          </a:xfrm>
          <a:prstGeom prst="ellipse">
            <a:avLst/>
          </a:prstGeom>
          <a:solidFill>
            <a:srgbClr val="FF7A30"/>
          </a:solidFill>
          <a:ln w="12700">
            <a:solidFill>
              <a:srgbClr val="FF7A30"/>
            </a:solidFill>
            <a:prstDash val="solid"/>
          </a:ln>
          <a:effectLst>
            <a:outerShdw sx="100000" sy="100000" kx="0" ky="0" algn="bl" rotWithShape="0" blurRad="38100" dist="50800" dir="2700000">
              <a:srgbClr val="FF7A30">
                <a:alpha val="5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6035040"/>
            <a:ext cx="54864" cy="54864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  <a:effectLst>
            <a:outerShdw sx="100000" sy="100000" kx="0" ky="0" algn="bl" rotWithShape="0" blurRad="38100" dist="50800" dir="2700000">
              <a:srgbClr val="FF4C5E">
                <a:alpha val="5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0" y="5760720"/>
            <a:ext cx="54864" cy="54864"/>
          </a:xfrm>
          <a:prstGeom prst="ellipse">
            <a:avLst/>
          </a:prstGeom>
          <a:solidFill>
            <a:srgbClr val="4CEBFF"/>
          </a:solidFill>
          <a:ln w="12700">
            <a:solidFill>
              <a:srgbClr val="4CEBFF"/>
            </a:solidFill>
            <a:prstDash val="solid"/>
          </a:ln>
          <a:effectLst>
            <a:outerShdw sx="100000" sy="100000" kx="0" ky="0" algn="bl" rotWithShape="0" blurRad="38100" dist="50800" dir="2700000">
              <a:srgbClr val="4CEBFF">
                <a:alpha val="5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C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THE AGENTIC SHIFT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66928" y="6675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language becomes execution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85216" y="122529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capability adds a new trust boundary and potential attack path.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1828800"/>
            <a:ext cx="2487168" cy="2240280"/>
          </a:xfrm>
          <a:prstGeom prst="roundRect">
            <a:avLst>
              <a:gd name="adj" fmla="val 3265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4CEBFF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4CEBFF">
                <a:alpha val="11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41248" y="2029968"/>
            <a:ext cx="457200" cy="457200"/>
          </a:xfrm>
          <a:prstGeom prst="ellipse">
            <a:avLst/>
          </a:prstGeom>
          <a:solidFill>
            <a:srgbClr val="4CEBFF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4CEBFF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41248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41248" y="2724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41248" y="3182112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Prompts, files, web, APIs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41248" y="3772814"/>
            <a:ext cx="480060" cy="0"/>
          </a:xfrm>
          <a:prstGeom prst="line">
            <a:avLst/>
          </a:prstGeom>
          <a:noFill/>
          <a:ln w="889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1321308" y="3772814"/>
            <a:ext cx="0" cy="121615"/>
          </a:xfrm>
          <a:prstGeom prst="line">
            <a:avLst/>
          </a:prstGeom>
          <a:noFill/>
          <a:ln w="889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18" name="Shape 15"/>
          <p:cNvSpPr/>
          <p:nvPr/>
        </p:nvSpPr>
        <p:spPr>
          <a:xfrm>
            <a:off x="1321308" y="3894430"/>
            <a:ext cx="633679" cy="0"/>
          </a:xfrm>
          <a:prstGeom prst="line">
            <a:avLst/>
          </a:prstGeom>
          <a:noFill/>
          <a:ln w="889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1954987" y="3894430"/>
            <a:ext cx="0" cy="86868"/>
          </a:xfrm>
          <a:prstGeom prst="line">
            <a:avLst/>
          </a:prstGeom>
          <a:noFill/>
          <a:ln w="889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20" name="Shape 17"/>
          <p:cNvSpPr/>
          <p:nvPr/>
        </p:nvSpPr>
        <p:spPr>
          <a:xfrm>
            <a:off x="1954987" y="3981298"/>
            <a:ext cx="806501" cy="0"/>
          </a:xfrm>
          <a:prstGeom prst="line">
            <a:avLst/>
          </a:prstGeom>
          <a:noFill/>
          <a:ln w="889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818388" y="3749954"/>
            <a:ext cx="45720" cy="45720"/>
          </a:xfrm>
          <a:prstGeom prst="ellipse">
            <a:avLst/>
          </a:prstGeom>
          <a:solidFill>
            <a:srgbClr val="4CEBFF"/>
          </a:solidFill>
          <a:ln w="12700">
            <a:solidFill>
              <a:srgbClr val="4CEB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298448" y="3871570"/>
            <a:ext cx="45720" cy="45720"/>
          </a:xfrm>
          <a:prstGeom prst="ellipse">
            <a:avLst/>
          </a:prstGeom>
          <a:solidFill>
            <a:srgbClr val="4CEBFF"/>
          </a:solidFill>
          <a:ln w="12700">
            <a:solidFill>
              <a:srgbClr val="4CEB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932127" y="3958438"/>
            <a:ext cx="45720" cy="45720"/>
          </a:xfrm>
          <a:prstGeom prst="ellipse">
            <a:avLst/>
          </a:prstGeom>
          <a:solidFill>
            <a:srgbClr val="4CEBFF"/>
          </a:solidFill>
          <a:ln w="12700">
            <a:solidFill>
              <a:srgbClr val="4CEB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38628" y="3958438"/>
            <a:ext cx="45720" cy="45720"/>
          </a:xfrm>
          <a:prstGeom prst="ellipse">
            <a:avLst/>
          </a:prstGeom>
          <a:solidFill>
            <a:srgbClr val="4CEBFF"/>
          </a:solidFill>
          <a:ln w="12700">
            <a:solidFill>
              <a:srgbClr val="4CEB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163824" y="2944368"/>
            <a:ext cx="283464" cy="0"/>
          </a:xfrm>
          <a:prstGeom prst="line">
            <a:avLst/>
          </a:prstGeom>
          <a:noFill/>
          <a:ln w="16510">
            <a:solidFill>
              <a:srgbClr val="1C4658">
                <a:alpha val="95000"/>
              </a:srgbClr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3502152" y="1828800"/>
            <a:ext cx="2487168" cy="2240280"/>
          </a:xfrm>
          <a:prstGeom prst="roundRect">
            <a:avLst>
              <a:gd name="adj" fmla="val 3265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FFB24A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B24A">
                <a:alpha val="11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703320" y="2029968"/>
            <a:ext cx="457200" cy="457200"/>
          </a:xfrm>
          <a:prstGeom prst="ellipse">
            <a:avLst/>
          </a:prstGeom>
          <a:solidFill>
            <a:srgbClr val="FFB24A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B24A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70332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703320" y="2724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3703320" y="3182112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Plan, choose, sequence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3703320" y="3772814"/>
            <a:ext cx="480060" cy="0"/>
          </a:xfrm>
          <a:prstGeom prst="line">
            <a:avLst/>
          </a:prstGeom>
          <a:noFill/>
          <a:ln w="8890">
            <a:solidFill>
              <a:srgbClr val="FFB24A">
                <a:alpha val="95000"/>
              </a:srgbClr>
            </a:solidFill>
            <a:prstDash val="solid"/>
            <a:tailEnd type="none"/>
          </a:ln>
        </p:spPr>
      </p:sp>
      <p:sp>
        <p:nvSpPr>
          <p:cNvPr id="32" name="Shape 29"/>
          <p:cNvSpPr/>
          <p:nvPr/>
        </p:nvSpPr>
        <p:spPr>
          <a:xfrm>
            <a:off x="4183380" y="3772814"/>
            <a:ext cx="0" cy="121615"/>
          </a:xfrm>
          <a:prstGeom prst="line">
            <a:avLst/>
          </a:prstGeom>
          <a:noFill/>
          <a:ln w="8890">
            <a:solidFill>
              <a:srgbClr val="FFB24A">
                <a:alpha val="95000"/>
              </a:srgbClr>
            </a:solidFill>
            <a:prstDash val="solid"/>
            <a:tailEnd type="none"/>
          </a:ln>
        </p:spPr>
      </p:sp>
      <p:sp>
        <p:nvSpPr>
          <p:cNvPr id="33" name="Shape 30"/>
          <p:cNvSpPr/>
          <p:nvPr/>
        </p:nvSpPr>
        <p:spPr>
          <a:xfrm>
            <a:off x="4183380" y="3894430"/>
            <a:ext cx="633679" cy="0"/>
          </a:xfrm>
          <a:prstGeom prst="line">
            <a:avLst/>
          </a:prstGeom>
          <a:noFill/>
          <a:ln w="8890">
            <a:solidFill>
              <a:srgbClr val="FFB24A">
                <a:alpha val="95000"/>
              </a:srgbClr>
            </a:solidFill>
            <a:prstDash val="solid"/>
            <a:tailEnd type="none"/>
          </a:ln>
        </p:spPr>
      </p:sp>
      <p:sp>
        <p:nvSpPr>
          <p:cNvPr id="34" name="Shape 31"/>
          <p:cNvSpPr/>
          <p:nvPr/>
        </p:nvSpPr>
        <p:spPr>
          <a:xfrm>
            <a:off x="4817059" y="3894430"/>
            <a:ext cx="0" cy="86868"/>
          </a:xfrm>
          <a:prstGeom prst="line">
            <a:avLst/>
          </a:prstGeom>
          <a:noFill/>
          <a:ln w="8890">
            <a:solidFill>
              <a:srgbClr val="FFB24A">
                <a:alpha val="95000"/>
              </a:srgbClr>
            </a:solidFill>
            <a:prstDash val="solid"/>
            <a:tailEnd type="none"/>
          </a:ln>
        </p:spPr>
      </p:sp>
      <p:sp>
        <p:nvSpPr>
          <p:cNvPr id="35" name="Shape 32"/>
          <p:cNvSpPr/>
          <p:nvPr/>
        </p:nvSpPr>
        <p:spPr>
          <a:xfrm>
            <a:off x="4817059" y="3981298"/>
            <a:ext cx="806501" cy="0"/>
          </a:xfrm>
          <a:prstGeom prst="line">
            <a:avLst/>
          </a:prstGeom>
          <a:noFill/>
          <a:ln w="8890">
            <a:solidFill>
              <a:srgbClr val="FFB24A">
                <a:alpha val="95000"/>
              </a:srgbClr>
            </a:solidFill>
            <a:prstDash val="solid"/>
            <a:tailEnd type="none"/>
          </a:ln>
        </p:spPr>
      </p:sp>
      <p:sp>
        <p:nvSpPr>
          <p:cNvPr id="36" name="Shape 33"/>
          <p:cNvSpPr/>
          <p:nvPr/>
        </p:nvSpPr>
        <p:spPr>
          <a:xfrm>
            <a:off x="3680460" y="3749954"/>
            <a:ext cx="45720" cy="45720"/>
          </a:xfrm>
          <a:prstGeom prst="ellipse">
            <a:avLst/>
          </a:prstGeom>
          <a:solidFill>
            <a:srgbClr val="FFB24A"/>
          </a:solidFill>
          <a:ln w="12700">
            <a:solidFill>
              <a:srgbClr val="FFB24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160520" y="3871570"/>
            <a:ext cx="45720" cy="45720"/>
          </a:xfrm>
          <a:prstGeom prst="ellipse">
            <a:avLst/>
          </a:prstGeom>
          <a:solidFill>
            <a:srgbClr val="FFB24A"/>
          </a:solidFill>
          <a:ln w="12700">
            <a:solidFill>
              <a:srgbClr val="FFB2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94199" y="3958438"/>
            <a:ext cx="45720" cy="45720"/>
          </a:xfrm>
          <a:prstGeom prst="ellipse">
            <a:avLst/>
          </a:prstGeom>
          <a:solidFill>
            <a:srgbClr val="FFB24A"/>
          </a:solidFill>
          <a:ln w="12700">
            <a:solidFill>
              <a:srgbClr val="FFB24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600700" y="3958438"/>
            <a:ext cx="45720" cy="45720"/>
          </a:xfrm>
          <a:prstGeom prst="ellipse">
            <a:avLst/>
          </a:prstGeom>
          <a:solidFill>
            <a:srgbClr val="FFB24A"/>
          </a:solidFill>
          <a:ln w="12700">
            <a:solidFill>
              <a:srgbClr val="FFB24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025896" y="2944368"/>
            <a:ext cx="283464" cy="0"/>
          </a:xfrm>
          <a:prstGeom prst="line">
            <a:avLst/>
          </a:prstGeom>
          <a:noFill/>
          <a:ln w="16510">
            <a:solidFill>
              <a:srgbClr val="1C4658">
                <a:alpha val="95000"/>
              </a:srgbClr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6364224" y="1828800"/>
            <a:ext cx="2487168" cy="2240280"/>
          </a:xfrm>
          <a:prstGeom prst="roundRect">
            <a:avLst>
              <a:gd name="adj" fmla="val 3265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FF4C5E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4C5E">
                <a:alpha val="11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565392" y="2029968"/>
            <a:ext cx="457200" cy="457200"/>
          </a:xfrm>
          <a:prstGeom prst="ellipse">
            <a:avLst/>
          </a:prstGeom>
          <a:solidFill>
            <a:srgbClr val="FF4C5E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4C5E">
                <a:alpha val="25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6565392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565392" y="2724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6565392" y="3182112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Tools, code, transactions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6565392" y="3772814"/>
            <a:ext cx="480060" cy="0"/>
          </a:xfrm>
          <a:prstGeom prst="line">
            <a:avLst/>
          </a:prstGeom>
          <a:noFill/>
          <a:ln w="889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47" name="Shape 44"/>
          <p:cNvSpPr/>
          <p:nvPr/>
        </p:nvSpPr>
        <p:spPr>
          <a:xfrm>
            <a:off x="7045452" y="3772814"/>
            <a:ext cx="0" cy="121615"/>
          </a:xfrm>
          <a:prstGeom prst="line">
            <a:avLst/>
          </a:prstGeom>
          <a:noFill/>
          <a:ln w="889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48" name="Shape 45"/>
          <p:cNvSpPr/>
          <p:nvPr/>
        </p:nvSpPr>
        <p:spPr>
          <a:xfrm>
            <a:off x="7045452" y="3894430"/>
            <a:ext cx="633679" cy="0"/>
          </a:xfrm>
          <a:prstGeom prst="line">
            <a:avLst/>
          </a:prstGeom>
          <a:noFill/>
          <a:ln w="889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49" name="Shape 46"/>
          <p:cNvSpPr/>
          <p:nvPr/>
        </p:nvSpPr>
        <p:spPr>
          <a:xfrm>
            <a:off x="7679131" y="3894430"/>
            <a:ext cx="0" cy="86868"/>
          </a:xfrm>
          <a:prstGeom prst="line">
            <a:avLst/>
          </a:prstGeom>
          <a:noFill/>
          <a:ln w="889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50" name="Shape 47"/>
          <p:cNvSpPr/>
          <p:nvPr/>
        </p:nvSpPr>
        <p:spPr>
          <a:xfrm>
            <a:off x="7679131" y="3981298"/>
            <a:ext cx="806501" cy="0"/>
          </a:xfrm>
          <a:prstGeom prst="line">
            <a:avLst/>
          </a:prstGeom>
          <a:noFill/>
          <a:ln w="889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51" name="Shape 48"/>
          <p:cNvSpPr/>
          <p:nvPr/>
        </p:nvSpPr>
        <p:spPr>
          <a:xfrm>
            <a:off x="6542532" y="3749954"/>
            <a:ext cx="45720" cy="45720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022592" y="3871570"/>
            <a:ext cx="45720" cy="45720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656271" y="3958438"/>
            <a:ext cx="45720" cy="45720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462772" y="3958438"/>
            <a:ext cx="45720" cy="45720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887968" y="2944368"/>
            <a:ext cx="283464" cy="0"/>
          </a:xfrm>
          <a:prstGeom prst="line">
            <a:avLst/>
          </a:prstGeom>
          <a:noFill/>
          <a:ln w="16510">
            <a:solidFill>
              <a:srgbClr val="1C4658">
                <a:alpha val="95000"/>
              </a:srgbClr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9226296" y="1828800"/>
            <a:ext cx="2487168" cy="2240280"/>
          </a:xfrm>
          <a:prstGeom prst="roundRect">
            <a:avLst>
              <a:gd name="adj" fmla="val 3265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8F7CFF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8F7CFF">
                <a:alpha val="11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9427464" y="2029968"/>
            <a:ext cx="457200" cy="457200"/>
          </a:xfrm>
          <a:prstGeom prst="ellipse">
            <a:avLst/>
          </a:prstGeom>
          <a:solidFill>
            <a:srgbClr val="8F7CFF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8F7CFF">
                <a:alpha val="25000"/>
              </a:srgbClr>
            </a:outerShdw>
          </a:effectLst>
        </p:spPr>
      </p:sp>
      <p:sp>
        <p:nvSpPr>
          <p:cNvPr id="58" name="Text 55"/>
          <p:cNvSpPr/>
          <p:nvPr/>
        </p:nvSpPr>
        <p:spPr>
          <a:xfrm>
            <a:off x="9427464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9427464" y="2724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500" dirty="0"/>
          </a:p>
        </p:txBody>
      </p:sp>
      <p:sp>
        <p:nvSpPr>
          <p:cNvPr id="60" name="Text 57"/>
          <p:cNvSpPr/>
          <p:nvPr/>
        </p:nvSpPr>
        <p:spPr>
          <a:xfrm>
            <a:off x="9427464" y="3182112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Profiles, state, long-term memory</a:t>
            </a:r>
            <a:endParaRPr lang="en-US" sz="1150" dirty="0"/>
          </a:p>
        </p:txBody>
      </p:sp>
      <p:sp>
        <p:nvSpPr>
          <p:cNvPr id="61" name="Shape 58"/>
          <p:cNvSpPr/>
          <p:nvPr/>
        </p:nvSpPr>
        <p:spPr>
          <a:xfrm>
            <a:off x="9427464" y="3772814"/>
            <a:ext cx="480060" cy="0"/>
          </a:xfrm>
          <a:prstGeom prst="line">
            <a:avLst/>
          </a:prstGeom>
          <a:noFill/>
          <a:ln w="8890">
            <a:solidFill>
              <a:srgbClr val="8F7CFF">
                <a:alpha val="95000"/>
              </a:srgbClr>
            </a:solidFill>
            <a:prstDash val="solid"/>
            <a:tailEnd type="none"/>
          </a:ln>
        </p:spPr>
      </p:sp>
      <p:sp>
        <p:nvSpPr>
          <p:cNvPr id="62" name="Shape 59"/>
          <p:cNvSpPr/>
          <p:nvPr/>
        </p:nvSpPr>
        <p:spPr>
          <a:xfrm>
            <a:off x="9907524" y="3772814"/>
            <a:ext cx="0" cy="121615"/>
          </a:xfrm>
          <a:prstGeom prst="line">
            <a:avLst/>
          </a:prstGeom>
          <a:noFill/>
          <a:ln w="8890">
            <a:solidFill>
              <a:srgbClr val="8F7CFF">
                <a:alpha val="95000"/>
              </a:srgbClr>
            </a:solidFill>
            <a:prstDash val="solid"/>
            <a:tailEnd type="none"/>
          </a:ln>
        </p:spPr>
      </p:sp>
      <p:sp>
        <p:nvSpPr>
          <p:cNvPr id="63" name="Shape 60"/>
          <p:cNvSpPr/>
          <p:nvPr/>
        </p:nvSpPr>
        <p:spPr>
          <a:xfrm>
            <a:off x="9907524" y="3894430"/>
            <a:ext cx="633679" cy="0"/>
          </a:xfrm>
          <a:prstGeom prst="line">
            <a:avLst/>
          </a:prstGeom>
          <a:noFill/>
          <a:ln w="8890">
            <a:solidFill>
              <a:srgbClr val="8F7CFF">
                <a:alpha val="95000"/>
              </a:srgbClr>
            </a:solidFill>
            <a:prstDash val="solid"/>
            <a:tailEnd type="none"/>
          </a:ln>
        </p:spPr>
      </p:sp>
      <p:sp>
        <p:nvSpPr>
          <p:cNvPr id="64" name="Shape 61"/>
          <p:cNvSpPr/>
          <p:nvPr/>
        </p:nvSpPr>
        <p:spPr>
          <a:xfrm>
            <a:off x="10541203" y="3894430"/>
            <a:ext cx="0" cy="86868"/>
          </a:xfrm>
          <a:prstGeom prst="line">
            <a:avLst/>
          </a:prstGeom>
          <a:noFill/>
          <a:ln w="8890">
            <a:solidFill>
              <a:srgbClr val="8F7CFF">
                <a:alpha val="95000"/>
              </a:srgbClr>
            </a:solidFill>
            <a:prstDash val="solid"/>
            <a:tailEnd type="none"/>
          </a:ln>
        </p:spPr>
      </p:sp>
      <p:sp>
        <p:nvSpPr>
          <p:cNvPr id="65" name="Shape 62"/>
          <p:cNvSpPr/>
          <p:nvPr/>
        </p:nvSpPr>
        <p:spPr>
          <a:xfrm>
            <a:off x="10541203" y="3981298"/>
            <a:ext cx="806501" cy="0"/>
          </a:xfrm>
          <a:prstGeom prst="line">
            <a:avLst/>
          </a:prstGeom>
          <a:noFill/>
          <a:ln w="8890">
            <a:solidFill>
              <a:srgbClr val="8F7CFF">
                <a:alpha val="95000"/>
              </a:srgbClr>
            </a:solidFill>
            <a:prstDash val="solid"/>
            <a:tailEnd type="none"/>
          </a:ln>
        </p:spPr>
      </p:sp>
      <p:sp>
        <p:nvSpPr>
          <p:cNvPr id="66" name="Shape 63"/>
          <p:cNvSpPr/>
          <p:nvPr/>
        </p:nvSpPr>
        <p:spPr>
          <a:xfrm>
            <a:off x="9404604" y="3749954"/>
            <a:ext cx="45720" cy="45720"/>
          </a:xfrm>
          <a:prstGeom prst="ellipse">
            <a:avLst/>
          </a:prstGeom>
          <a:solidFill>
            <a:srgbClr val="8F7CFF"/>
          </a:solidFill>
          <a:ln w="12700">
            <a:solidFill>
              <a:srgbClr val="8F7CFF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9884664" y="3871570"/>
            <a:ext cx="45720" cy="45720"/>
          </a:xfrm>
          <a:prstGeom prst="ellipse">
            <a:avLst/>
          </a:prstGeom>
          <a:solidFill>
            <a:srgbClr val="8F7CFF"/>
          </a:solidFill>
          <a:ln w="12700">
            <a:solidFill>
              <a:srgbClr val="8F7CFF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0518343" y="3958438"/>
            <a:ext cx="45720" cy="45720"/>
          </a:xfrm>
          <a:prstGeom prst="ellipse">
            <a:avLst/>
          </a:prstGeom>
          <a:solidFill>
            <a:srgbClr val="8F7CFF"/>
          </a:solidFill>
          <a:ln w="12700">
            <a:solidFill>
              <a:srgbClr val="8F7CFF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1324844" y="3958438"/>
            <a:ext cx="45720" cy="45720"/>
          </a:xfrm>
          <a:prstGeom prst="ellipse">
            <a:avLst/>
          </a:prstGeom>
          <a:solidFill>
            <a:srgbClr val="8F7CFF"/>
          </a:solidFill>
          <a:ln w="12700">
            <a:solidFill>
              <a:srgbClr val="8F7CFF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051560" y="4572000"/>
            <a:ext cx="10058400" cy="1143000"/>
          </a:xfrm>
          <a:prstGeom prst="roundRect">
            <a:avLst>
              <a:gd name="adj" fmla="val 6400"/>
            </a:avLst>
          </a:prstGeom>
          <a:solidFill>
            <a:srgbClr val="0B1D28">
              <a:alpha val="98000"/>
            </a:srgbClr>
          </a:solidFill>
          <a:ln w="13970">
            <a:solidFill>
              <a:srgbClr val="4CEBFF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4CEBFF">
                <a:alpha val="11000"/>
              </a:srgbClr>
            </a:outerShdw>
          </a:effectLst>
        </p:spPr>
      </p:sp>
      <p:sp>
        <p:nvSpPr>
          <p:cNvPr id="71" name="Shape 68"/>
          <p:cNvSpPr/>
          <p:nvPr/>
        </p:nvSpPr>
        <p:spPr>
          <a:xfrm>
            <a:off x="1051560" y="4572000"/>
            <a:ext cx="201168" cy="0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72" name="Shape 69"/>
          <p:cNvSpPr/>
          <p:nvPr/>
        </p:nvSpPr>
        <p:spPr>
          <a:xfrm>
            <a:off x="1051560" y="4572000"/>
            <a:ext cx="0" cy="201168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73" name="Shape 70"/>
          <p:cNvSpPr/>
          <p:nvPr/>
        </p:nvSpPr>
        <p:spPr>
          <a:xfrm>
            <a:off x="10908792" y="4572000"/>
            <a:ext cx="201168" cy="0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74" name="Shape 71"/>
          <p:cNvSpPr/>
          <p:nvPr/>
        </p:nvSpPr>
        <p:spPr>
          <a:xfrm>
            <a:off x="11109960" y="4572000"/>
            <a:ext cx="0" cy="201168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75" name="Shape 72"/>
          <p:cNvSpPr/>
          <p:nvPr/>
        </p:nvSpPr>
        <p:spPr>
          <a:xfrm>
            <a:off x="1051560" y="5715000"/>
            <a:ext cx="201168" cy="0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76" name="Shape 73"/>
          <p:cNvSpPr/>
          <p:nvPr/>
        </p:nvSpPr>
        <p:spPr>
          <a:xfrm>
            <a:off x="1051560" y="5513832"/>
            <a:ext cx="0" cy="201168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77" name="Shape 74"/>
          <p:cNvSpPr/>
          <p:nvPr/>
        </p:nvSpPr>
        <p:spPr>
          <a:xfrm>
            <a:off x="10908792" y="5715000"/>
            <a:ext cx="201168" cy="0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78" name="Shape 75"/>
          <p:cNvSpPr/>
          <p:nvPr/>
        </p:nvSpPr>
        <p:spPr>
          <a:xfrm>
            <a:off x="11109960" y="5513832"/>
            <a:ext cx="0" cy="201168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79" name="Text 76"/>
          <p:cNvSpPr/>
          <p:nvPr/>
        </p:nvSpPr>
        <p:spPr>
          <a:xfrm>
            <a:off x="1325880" y="4773168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 =  AUTONOMY  ×  PRIVILEGE  ×  EXPOSURE  ×  PERSISTENCE</a:t>
            </a:r>
            <a:endParaRPr lang="en-US" sz="2100" dirty="0"/>
          </a:p>
        </p:txBody>
      </p:sp>
      <p:sp>
        <p:nvSpPr>
          <p:cNvPr id="80" name="Text 77"/>
          <p:cNvSpPr/>
          <p:nvPr/>
        </p:nvSpPr>
        <p:spPr>
          <a:xfrm>
            <a:off x="2240280" y="525780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C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any factor and the blast radius drops.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566928" y="6537960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OWASP AI Agent Security Cheat Sheet; NIST AI RMF</a:t>
            </a:r>
            <a:endParaRPr lang="en-US" sz="650" dirty="0"/>
          </a:p>
        </p:txBody>
      </p:sp>
      <p:sp>
        <p:nvSpPr>
          <p:cNvPr id="82" name="Text 79"/>
          <p:cNvSpPr/>
          <p:nvPr/>
        </p:nvSpPr>
        <p:spPr>
          <a:xfrm>
            <a:off x="11173968" y="644652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57200"/>
            <a:ext cx="54864" cy="54864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  <a:effectLst>
            <a:outerShdw sx="100000" sy="100000" kx="0" ky="0" algn="bl" rotWithShape="0" blurRad="38100" dist="50800" dir="2700000">
              <a:srgbClr val="FF4C5E">
                <a:alpha val="5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0698480" y="1005840"/>
            <a:ext cx="54864" cy="54864"/>
          </a:xfrm>
          <a:prstGeom prst="ellipse">
            <a:avLst/>
          </a:prstGeom>
          <a:solidFill>
            <a:srgbClr val="FF7A30"/>
          </a:solidFill>
          <a:ln w="12700">
            <a:solidFill>
              <a:srgbClr val="FF7A30"/>
            </a:solidFill>
            <a:prstDash val="solid"/>
          </a:ln>
          <a:effectLst>
            <a:outerShdw sx="100000" sy="100000" kx="0" ky="0" algn="bl" rotWithShape="0" blurRad="38100" dist="50800" dir="2700000">
              <a:srgbClr val="FF7A30">
                <a:alpha val="5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6035040"/>
            <a:ext cx="54864" cy="54864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  <a:effectLst>
            <a:outerShdw sx="100000" sy="100000" kx="0" ky="0" algn="bl" rotWithShape="0" blurRad="38100" dist="50800" dir="2700000">
              <a:srgbClr val="FF4C5E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0" y="5760720"/>
            <a:ext cx="54864" cy="54864"/>
          </a:xfrm>
          <a:prstGeom prst="ellipse">
            <a:avLst/>
          </a:prstGeom>
          <a:solidFill>
            <a:srgbClr val="4CEBFF"/>
          </a:solidFill>
          <a:ln w="12700">
            <a:solidFill>
              <a:srgbClr val="4CEBFF"/>
            </a:solidFill>
            <a:prstDash val="solid"/>
          </a:ln>
          <a:effectLst>
            <a:outerShdw sx="100000" sy="100000" kx="0" ky="0" algn="bl" rotWithShape="0" blurRad="38100" dist="50800" dir="2700000">
              <a:srgbClr val="4CEBFF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C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ATTACK SURFACE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6675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is only one node in the system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85216" y="122529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the orchestration layer where untrusted content meets privileged tools.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1965960" cy="1298448"/>
          </a:xfrm>
          <a:prstGeom prst="roundRect">
            <a:avLst>
              <a:gd name="adj" fmla="val 5634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FF4C5E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4C5E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6072" y="1901952"/>
            <a:ext cx="201168" cy="0"/>
          </a:xfrm>
          <a:prstGeom prst="line">
            <a:avLst/>
          </a:prstGeom>
          <a:noFill/>
          <a:ln w="1905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76072" y="1901952"/>
            <a:ext cx="0" cy="201168"/>
          </a:xfrm>
          <a:prstGeom prst="line">
            <a:avLst/>
          </a:prstGeom>
          <a:noFill/>
          <a:ln w="1905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2194560" y="1901952"/>
            <a:ext cx="201168" cy="0"/>
          </a:xfrm>
          <a:prstGeom prst="line">
            <a:avLst/>
          </a:prstGeom>
          <a:noFill/>
          <a:ln w="1905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2395728" y="1901952"/>
            <a:ext cx="0" cy="201168"/>
          </a:xfrm>
          <a:prstGeom prst="line">
            <a:avLst/>
          </a:prstGeom>
          <a:noFill/>
          <a:ln w="1905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76072" y="3054096"/>
            <a:ext cx="201168" cy="0"/>
          </a:xfrm>
          <a:prstGeom prst="line">
            <a:avLst/>
          </a:prstGeom>
          <a:noFill/>
          <a:ln w="1905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76072" y="2852928"/>
            <a:ext cx="0" cy="201168"/>
          </a:xfrm>
          <a:prstGeom prst="line">
            <a:avLst/>
          </a:prstGeom>
          <a:noFill/>
          <a:ln w="1905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2194560" y="3054096"/>
            <a:ext cx="201168" cy="0"/>
          </a:xfrm>
          <a:prstGeom prst="line">
            <a:avLst/>
          </a:prstGeom>
          <a:noFill/>
          <a:ln w="1905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395728" y="2852928"/>
            <a:ext cx="0" cy="201168"/>
          </a:xfrm>
          <a:prstGeom prst="line">
            <a:avLst/>
          </a:prstGeom>
          <a:noFill/>
          <a:ln w="1905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667512" y="202996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261518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• web • email • files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2496312" y="2487168"/>
            <a:ext cx="310896" cy="0"/>
          </a:xfrm>
          <a:prstGeom prst="line">
            <a:avLst/>
          </a:prstGeom>
          <a:noFill/>
          <a:ln w="16510">
            <a:solidFill>
              <a:srgbClr val="FF4C5E">
                <a:alpha val="95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843784" y="1828800"/>
            <a:ext cx="1965960" cy="1298448"/>
          </a:xfrm>
          <a:prstGeom prst="roundRect">
            <a:avLst>
              <a:gd name="adj" fmla="val 5634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FFB24A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B24A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16936" y="1901952"/>
            <a:ext cx="201168" cy="0"/>
          </a:xfrm>
          <a:prstGeom prst="line">
            <a:avLst/>
          </a:prstGeom>
          <a:noFill/>
          <a:ln w="19050">
            <a:solidFill>
              <a:srgbClr val="FFB24A">
                <a:alpha val="95000"/>
              </a:srgbClr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2916936" y="1901952"/>
            <a:ext cx="0" cy="201168"/>
          </a:xfrm>
          <a:prstGeom prst="line">
            <a:avLst/>
          </a:prstGeom>
          <a:noFill/>
          <a:ln w="19050">
            <a:solidFill>
              <a:srgbClr val="FFB24A">
                <a:alpha val="95000"/>
              </a:srgbClr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4535424" y="1901952"/>
            <a:ext cx="201168" cy="0"/>
          </a:xfrm>
          <a:prstGeom prst="line">
            <a:avLst/>
          </a:prstGeom>
          <a:noFill/>
          <a:ln w="19050">
            <a:solidFill>
              <a:srgbClr val="FFB24A">
                <a:alpha val="95000"/>
              </a:srgbClr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4736592" y="1901952"/>
            <a:ext cx="0" cy="201168"/>
          </a:xfrm>
          <a:prstGeom prst="line">
            <a:avLst/>
          </a:prstGeom>
          <a:noFill/>
          <a:ln w="19050">
            <a:solidFill>
              <a:srgbClr val="FFB24A">
                <a:alpha val="95000"/>
              </a:srgbClr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2916936" y="3054096"/>
            <a:ext cx="201168" cy="0"/>
          </a:xfrm>
          <a:prstGeom prst="line">
            <a:avLst/>
          </a:prstGeom>
          <a:noFill/>
          <a:ln w="19050">
            <a:solidFill>
              <a:srgbClr val="FFB24A">
                <a:alpha val="95000"/>
              </a:srgbClr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2916936" y="2852928"/>
            <a:ext cx="0" cy="201168"/>
          </a:xfrm>
          <a:prstGeom prst="line">
            <a:avLst/>
          </a:prstGeom>
          <a:noFill/>
          <a:ln w="19050">
            <a:solidFill>
              <a:srgbClr val="FFB24A">
                <a:alpha val="95000"/>
              </a:srgbClr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4535424" y="3054096"/>
            <a:ext cx="201168" cy="0"/>
          </a:xfrm>
          <a:prstGeom prst="line">
            <a:avLst/>
          </a:prstGeom>
          <a:noFill/>
          <a:ln w="19050">
            <a:solidFill>
              <a:srgbClr val="FFB24A">
                <a:alpha val="95000"/>
              </a:srgbClr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4736592" y="2852928"/>
            <a:ext cx="0" cy="201168"/>
          </a:xfrm>
          <a:prstGeom prst="line">
            <a:avLst/>
          </a:prstGeom>
          <a:noFill/>
          <a:ln w="19050">
            <a:solidFill>
              <a:srgbClr val="FFB24A">
                <a:alpha val="95000"/>
              </a:srgbClr>
            </a:solidFill>
            <a:prstDash val="solid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3008376" y="202996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980944" y="261518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• RAG • policies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4837176" y="2487168"/>
            <a:ext cx="310896" cy="0"/>
          </a:xfrm>
          <a:prstGeom prst="line">
            <a:avLst/>
          </a:prstGeom>
          <a:noFill/>
          <a:ln w="16510">
            <a:solidFill>
              <a:srgbClr val="FFB24A">
                <a:alpha val="95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184648" y="1828800"/>
            <a:ext cx="1965960" cy="1298448"/>
          </a:xfrm>
          <a:prstGeom prst="roundRect">
            <a:avLst>
              <a:gd name="adj" fmla="val 5634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4CEBFF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4CEBFF">
                <a:alpha val="11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257800" y="1901952"/>
            <a:ext cx="201168" cy="0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5257800" y="1901952"/>
            <a:ext cx="0" cy="201168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6876288" y="1901952"/>
            <a:ext cx="201168" cy="0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7077456" y="1901952"/>
            <a:ext cx="0" cy="201168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5257800" y="3054096"/>
            <a:ext cx="201168" cy="0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5257800" y="2852928"/>
            <a:ext cx="0" cy="201168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6876288" y="3054096"/>
            <a:ext cx="201168" cy="0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7077456" y="2852928"/>
            <a:ext cx="0" cy="201168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5349240" y="202996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21808" y="261518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• decide • route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7178040" y="2487168"/>
            <a:ext cx="310896" cy="0"/>
          </a:xfrm>
          <a:prstGeom prst="line">
            <a:avLst/>
          </a:prstGeom>
          <a:noFill/>
          <a:ln w="16510">
            <a:solidFill>
              <a:srgbClr val="4CEBFF">
                <a:alpha val="95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525512" y="1828800"/>
            <a:ext cx="1965960" cy="1298448"/>
          </a:xfrm>
          <a:prstGeom prst="roundRect">
            <a:avLst>
              <a:gd name="adj" fmla="val 5634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8F7CFF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8F7CFF">
                <a:alpha val="11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598664" y="1901952"/>
            <a:ext cx="201168" cy="0"/>
          </a:xfrm>
          <a:prstGeom prst="line">
            <a:avLst/>
          </a:prstGeom>
          <a:noFill/>
          <a:ln w="19050">
            <a:solidFill>
              <a:srgbClr val="8F7CFF">
                <a:alpha val="95000"/>
              </a:srgbClr>
            </a:solidFill>
            <a:prstDash val="solid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7598664" y="1901952"/>
            <a:ext cx="0" cy="201168"/>
          </a:xfrm>
          <a:prstGeom prst="line">
            <a:avLst/>
          </a:prstGeom>
          <a:noFill/>
          <a:ln w="19050">
            <a:solidFill>
              <a:srgbClr val="8F7CFF">
                <a:alpha val="95000"/>
              </a:srgbClr>
            </a:solidFill>
            <a:prstDash val="solid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9217152" y="1901952"/>
            <a:ext cx="201168" cy="0"/>
          </a:xfrm>
          <a:prstGeom prst="line">
            <a:avLst/>
          </a:prstGeom>
          <a:noFill/>
          <a:ln w="19050">
            <a:solidFill>
              <a:srgbClr val="8F7CFF">
                <a:alpha val="95000"/>
              </a:srgbClr>
            </a:solidFill>
            <a:prstDash val="solid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9418320" y="1901952"/>
            <a:ext cx="0" cy="201168"/>
          </a:xfrm>
          <a:prstGeom prst="line">
            <a:avLst/>
          </a:prstGeom>
          <a:noFill/>
          <a:ln w="19050">
            <a:solidFill>
              <a:srgbClr val="8F7CFF">
                <a:alpha val="95000"/>
              </a:srgbClr>
            </a:solidFill>
            <a:prstDash val="solid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7598664" y="3054096"/>
            <a:ext cx="201168" cy="0"/>
          </a:xfrm>
          <a:prstGeom prst="line">
            <a:avLst/>
          </a:prstGeom>
          <a:noFill/>
          <a:ln w="19050">
            <a:solidFill>
              <a:srgbClr val="8F7CFF">
                <a:alpha val="95000"/>
              </a:srgbClr>
            </a:solidFill>
            <a:prstDash val="solid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7598664" y="2852928"/>
            <a:ext cx="0" cy="201168"/>
          </a:xfrm>
          <a:prstGeom prst="line">
            <a:avLst/>
          </a:prstGeom>
          <a:noFill/>
          <a:ln w="19050">
            <a:solidFill>
              <a:srgbClr val="8F7CFF">
                <a:alpha val="95000"/>
              </a:srgbClr>
            </a:solidFill>
            <a:prstDash val="solid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9217152" y="3054096"/>
            <a:ext cx="201168" cy="0"/>
          </a:xfrm>
          <a:prstGeom prst="line">
            <a:avLst/>
          </a:prstGeom>
          <a:noFill/>
          <a:ln w="19050">
            <a:solidFill>
              <a:srgbClr val="8F7CFF">
                <a:alpha val="95000"/>
              </a:srgbClr>
            </a:solidFill>
            <a:prstDash val="solid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9418320" y="2852928"/>
            <a:ext cx="0" cy="201168"/>
          </a:xfrm>
          <a:prstGeom prst="line">
            <a:avLst/>
          </a:prstGeom>
          <a:noFill/>
          <a:ln w="19050">
            <a:solidFill>
              <a:srgbClr val="8F7CFF">
                <a:alpha val="95000"/>
              </a:srgbClr>
            </a:solidFill>
            <a:prstDash val="solid"/>
            <a:tailEnd type="none"/>
          </a:ln>
        </p:spPr>
      </p:sp>
      <p:sp>
        <p:nvSpPr>
          <p:cNvPr id="54" name="Text 52"/>
          <p:cNvSpPr/>
          <p:nvPr/>
        </p:nvSpPr>
        <p:spPr>
          <a:xfrm>
            <a:off x="7690104" y="202996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662672" y="261518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• validate • approve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9518904" y="2487168"/>
            <a:ext cx="310896" cy="0"/>
          </a:xfrm>
          <a:prstGeom prst="line">
            <a:avLst/>
          </a:prstGeom>
          <a:noFill/>
          <a:ln w="16510">
            <a:solidFill>
              <a:srgbClr val="8F7CFF">
                <a:alpha val="95000"/>
              </a:srgbClr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9866376" y="1828800"/>
            <a:ext cx="1965960" cy="1298448"/>
          </a:xfrm>
          <a:prstGeom prst="roundRect">
            <a:avLst>
              <a:gd name="adj" fmla="val 5634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FF4C5E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4C5E">
                <a:alpha val="11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939528" y="1901952"/>
            <a:ext cx="201168" cy="0"/>
          </a:xfrm>
          <a:prstGeom prst="line">
            <a:avLst/>
          </a:prstGeom>
          <a:noFill/>
          <a:ln w="1905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9939528" y="1901952"/>
            <a:ext cx="0" cy="201168"/>
          </a:xfrm>
          <a:prstGeom prst="line">
            <a:avLst/>
          </a:prstGeom>
          <a:noFill/>
          <a:ln w="1905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11558016" y="1901952"/>
            <a:ext cx="201168" cy="0"/>
          </a:xfrm>
          <a:prstGeom prst="line">
            <a:avLst/>
          </a:prstGeom>
          <a:noFill/>
          <a:ln w="1905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11759184" y="1901952"/>
            <a:ext cx="0" cy="201168"/>
          </a:xfrm>
          <a:prstGeom prst="line">
            <a:avLst/>
          </a:prstGeom>
          <a:noFill/>
          <a:ln w="1905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9939528" y="3054096"/>
            <a:ext cx="201168" cy="0"/>
          </a:xfrm>
          <a:prstGeom prst="line">
            <a:avLst/>
          </a:prstGeom>
          <a:noFill/>
          <a:ln w="1905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9939528" y="2852928"/>
            <a:ext cx="0" cy="201168"/>
          </a:xfrm>
          <a:prstGeom prst="line">
            <a:avLst/>
          </a:prstGeom>
          <a:noFill/>
          <a:ln w="1905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11558016" y="3054096"/>
            <a:ext cx="201168" cy="0"/>
          </a:xfrm>
          <a:prstGeom prst="line">
            <a:avLst/>
          </a:prstGeom>
          <a:noFill/>
          <a:ln w="1905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11759184" y="2852928"/>
            <a:ext cx="0" cy="201168"/>
          </a:xfrm>
          <a:prstGeom prst="line">
            <a:avLst/>
          </a:prstGeom>
          <a:noFill/>
          <a:ln w="1905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66" name="Text 64"/>
          <p:cNvSpPr/>
          <p:nvPr/>
        </p:nvSpPr>
        <p:spPr>
          <a:xfrm>
            <a:off x="10030968" y="202996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10003536" y="261518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• code • finance • OT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658368" y="3858768"/>
            <a:ext cx="658368" cy="658368"/>
          </a:xfrm>
          <a:prstGeom prst="ellipse">
            <a:avLst/>
          </a:prstGeom>
          <a:solidFill>
            <a:srgbClr val="4CEBFF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4CEBFF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658368" y="3858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20624" y="470001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219456" y="50474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acting?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29768" y="5555894"/>
            <a:ext cx="285750" cy="0"/>
          </a:xfrm>
          <a:prstGeom prst="line">
            <a:avLst/>
          </a:prstGeom>
          <a:noFill/>
          <a:ln w="889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715518" y="5555894"/>
            <a:ext cx="0" cy="89611"/>
          </a:xfrm>
          <a:prstGeom prst="line">
            <a:avLst/>
          </a:prstGeom>
          <a:noFill/>
          <a:ln w="889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715518" y="5645506"/>
            <a:ext cx="377190" cy="0"/>
          </a:xfrm>
          <a:prstGeom prst="line">
            <a:avLst/>
          </a:prstGeom>
          <a:noFill/>
          <a:ln w="889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1092708" y="5645506"/>
            <a:ext cx="0" cy="64008"/>
          </a:xfrm>
          <a:prstGeom prst="line">
            <a:avLst/>
          </a:prstGeom>
          <a:noFill/>
          <a:ln w="889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1092708" y="5709514"/>
            <a:ext cx="480060" cy="0"/>
          </a:xfrm>
          <a:prstGeom prst="line">
            <a:avLst/>
          </a:prstGeom>
          <a:noFill/>
          <a:ln w="889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406908" y="5533034"/>
            <a:ext cx="45720" cy="45720"/>
          </a:xfrm>
          <a:prstGeom prst="ellipse">
            <a:avLst/>
          </a:prstGeom>
          <a:solidFill>
            <a:srgbClr val="4CEBFF"/>
          </a:solidFill>
          <a:ln w="12700">
            <a:solidFill>
              <a:srgbClr val="4CEB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92658" y="5622646"/>
            <a:ext cx="45720" cy="45720"/>
          </a:xfrm>
          <a:prstGeom prst="ellipse">
            <a:avLst/>
          </a:prstGeom>
          <a:solidFill>
            <a:srgbClr val="4CEBFF"/>
          </a:solidFill>
          <a:ln w="12700">
            <a:solidFill>
              <a:srgbClr val="4CEB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69848" y="5686654"/>
            <a:ext cx="45720" cy="45720"/>
          </a:xfrm>
          <a:prstGeom prst="ellipse">
            <a:avLst/>
          </a:prstGeom>
          <a:solidFill>
            <a:srgbClr val="4CEBFF"/>
          </a:solidFill>
          <a:ln w="12700">
            <a:solidFill>
              <a:srgbClr val="4CEB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549908" y="5686654"/>
            <a:ext cx="45720" cy="45720"/>
          </a:xfrm>
          <a:prstGeom prst="ellipse">
            <a:avLst/>
          </a:prstGeom>
          <a:solidFill>
            <a:srgbClr val="4CEBFF"/>
          </a:solidFill>
          <a:ln w="12700">
            <a:solidFill>
              <a:srgbClr val="4CEB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962656" y="3858768"/>
            <a:ext cx="658368" cy="658368"/>
          </a:xfrm>
          <a:prstGeom prst="ellipse">
            <a:avLst/>
          </a:prstGeom>
          <a:solidFill>
            <a:srgbClr val="176B9B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176B9B">
                <a:alpha val="25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2962656" y="3858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2724912" y="470001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6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2523744" y="50474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enters or leaves?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2734056" y="5555894"/>
            <a:ext cx="285750" cy="0"/>
          </a:xfrm>
          <a:prstGeom prst="line">
            <a:avLst/>
          </a:prstGeom>
          <a:noFill/>
          <a:ln w="8890">
            <a:solidFill>
              <a:srgbClr val="176B9B">
                <a:alpha val="95000"/>
              </a:srgbClr>
            </a:solidFill>
            <a:prstDash val="solid"/>
            <a:tailEnd type="none"/>
          </a:ln>
        </p:spPr>
      </p:sp>
      <p:sp>
        <p:nvSpPr>
          <p:cNvPr id="86" name="Shape 84"/>
          <p:cNvSpPr/>
          <p:nvPr/>
        </p:nvSpPr>
        <p:spPr>
          <a:xfrm>
            <a:off x="3019806" y="5555894"/>
            <a:ext cx="0" cy="89611"/>
          </a:xfrm>
          <a:prstGeom prst="line">
            <a:avLst/>
          </a:prstGeom>
          <a:noFill/>
          <a:ln w="8890">
            <a:solidFill>
              <a:srgbClr val="176B9B">
                <a:alpha val="95000"/>
              </a:srgbClr>
            </a:solidFill>
            <a:prstDash val="solid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3019806" y="5645506"/>
            <a:ext cx="377190" cy="0"/>
          </a:xfrm>
          <a:prstGeom prst="line">
            <a:avLst/>
          </a:prstGeom>
          <a:noFill/>
          <a:ln w="8890">
            <a:solidFill>
              <a:srgbClr val="176B9B">
                <a:alpha val="95000"/>
              </a:srgbClr>
            </a:solidFill>
            <a:prstDash val="solid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3396996" y="5645506"/>
            <a:ext cx="0" cy="64008"/>
          </a:xfrm>
          <a:prstGeom prst="line">
            <a:avLst/>
          </a:prstGeom>
          <a:noFill/>
          <a:ln w="8890">
            <a:solidFill>
              <a:srgbClr val="176B9B">
                <a:alpha val="95000"/>
              </a:srgbClr>
            </a:solidFill>
            <a:prstDash val="solid"/>
            <a:tailEnd type="none"/>
          </a:ln>
        </p:spPr>
      </p:sp>
      <p:sp>
        <p:nvSpPr>
          <p:cNvPr id="89" name="Shape 87"/>
          <p:cNvSpPr/>
          <p:nvPr/>
        </p:nvSpPr>
        <p:spPr>
          <a:xfrm>
            <a:off x="3396996" y="5709514"/>
            <a:ext cx="480060" cy="0"/>
          </a:xfrm>
          <a:prstGeom prst="line">
            <a:avLst/>
          </a:prstGeom>
          <a:noFill/>
          <a:ln w="8890">
            <a:solidFill>
              <a:srgbClr val="176B9B">
                <a:alpha val="95000"/>
              </a:srgbClr>
            </a:solidFill>
            <a:prstDash val="solid"/>
            <a:tailEnd type="none"/>
          </a:ln>
        </p:spPr>
      </p:sp>
      <p:sp>
        <p:nvSpPr>
          <p:cNvPr id="90" name="Shape 88"/>
          <p:cNvSpPr/>
          <p:nvPr/>
        </p:nvSpPr>
        <p:spPr>
          <a:xfrm>
            <a:off x="2711196" y="5533034"/>
            <a:ext cx="45720" cy="45720"/>
          </a:xfrm>
          <a:prstGeom prst="ellipse">
            <a:avLst/>
          </a:prstGeom>
          <a:solidFill>
            <a:srgbClr val="176B9B"/>
          </a:solidFill>
          <a:ln w="12700">
            <a:solidFill>
              <a:srgbClr val="176B9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996946" y="5622646"/>
            <a:ext cx="45720" cy="45720"/>
          </a:xfrm>
          <a:prstGeom prst="ellipse">
            <a:avLst/>
          </a:prstGeom>
          <a:solidFill>
            <a:srgbClr val="176B9B"/>
          </a:solidFill>
          <a:ln w="12700">
            <a:solidFill>
              <a:srgbClr val="176B9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74136" y="5686654"/>
            <a:ext cx="45720" cy="45720"/>
          </a:xfrm>
          <a:prstGeom prst="ellipse">
            <a:avLst/>
          </a:prstGeom>
          <a:solidFill>
            <a:srgbClr val="176B9B"/>
          </a:solidFill>
          <a:ln w="12700">
            <a:solidFill>
              <a:srgbClr val="176B9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854196" y="5686654"/>
            <a:ext cx="45720" cy="45720"/>
          </a:xfrm>
          <a:prstGeom prst="ellipse">
            <a:avLst/>
          </a:prstGeom>
          <a:solidFill>
            <a:srgbClr val="176B9B"/>
          </a:solidFill>
          <a:ln w="12700">
            <a:solidFill>
              <a:srgbClr val="176B9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266944" y="3858768"/>
            <a:ext cx="658368" cy="658368"/>
          </a:xfrm>
          <a:prstGeom prst="ellipse">
            <a:avLst/>
          </a:prstGeom>
          <a:solidFill>
            <a:srgbClr val="FFB24A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B24A">
                <a:alpha val="25000"/>
              </a:srgbClr>
            </a:outerShdw>
          </a:effectLst>
        </p:spPr>
      </p:sp>
      <p:sp>
        <p:nvSpPr>
          <p:cNvPr id="95" name="Text 93"/>
          <p:cNvSpPr/>
          <p:nvPr/>
        </p:nvSpPr>
        <p:spPr>
          <a:xfrm>
            <a:off x="5266944" y="3858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5029200" y="470001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050" dirty="0"/>
          </a:p>
        </p:txBody>
      </p:sp>
      <p:sp>
        <p:nvSpPr>
          <p:cNvPr id="97" name="Text 95"/>
          <p:cNvSpPr/>
          <p:nvPr/>
        </p:nvSpPr>
        <p:spPr>
          <a:xfrm>
            <a:off x="4828032" y="50474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action is allowed?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5038344" y="5555894"/>
            <a:ext cx="285750" cy="0"/>
          </a:xfrm>
          <a:prstGeom prst="line">
            <a:avLst/>
          </a:prstGeom>
          <a:noFill/>
          <a:ln w="8890">
            <a:solidFill>
              <a:srgbClr val="FFB24A">
                <a:alpha val="95000"/>
              </a:srgbClr>
            </a:solidFill>
            <a:prstDash val="solid"/>
            <a:tailEnd type="none"/>
          </a:ln>
        </p:spPr>
      </p:sp>
      <p:sp>
        <p:nvSpPr>
          <p:cNvPr id="99" name="Shape 97"/>
          <p:cNvSpPr/>
          <p:nvPr/>
        </p:nvSpPr>
        <p:spPr>
          <a:xfrm>
            <a:off x="5324094" y="5555894"/>
            <a:ext cx="0" cy="89611"/>
          </a:xfrm>
          <a:prstGeom prst="line">
            <a:avLst/>
          </a:prstGeom>
          <a:noFill/>
          <a:ln w="8890">
            <a:solidFill>
              <a:srgbClr val="FFB24A">
                <a:alpha val="95000"/>
              </a:srgbClr>
            </a:solidFill>
            <a:prstDash val="solid"/>
            <a:tailEnd type="none"/>
          </a:ln>
        </p:spPr>
      </p:sp>
      <p:sp>
        <p:nvSpPr>
          <p:cNvPr id="100" name="Shape 98"/>
          <p:cNvSpPr/>
          <p:nvPr/>
        </p:nvSpPr>
        <p:spPr>
          <a:xfrm>
            <a:off x="5324094" y="5645506"/>
            <a:ext cx="377190" cy="0"/>
          </a:xfrm>
          <a:prstGeom prst="line">
            <a:avLst/>
          </a:prstGeom>
          <a:noFill/>
          <a:ln w="8890">
            <a:solidFill>
              <a:srgbClr val="FFB24A">
                <a:alpha val="95000"/>
              </a:srgbClr>
            </a:solidFill>
            <a:prstDash val="solid"/>
            <a:tailEnd type="none"/>
          </a:ln>
        </p:spPr>
      </p:sp>
      <p:sp>
        <p:nvSpPr>
          <p:cNvPr id="101" name="Shape 99"/>
          <p:cNvSpPr/>
          <p:nvPr/>
        </p:nvSpPr>
        <p:spPr>
          <a:xfrm>
            <a:off x="5701284" y="5645506"/>
            <a:ext cx="0" cy="64008"/>
          </a:xfrm>
          <a:prstGeom prst="line">
            <a:avLst/>
          </a:prstGeom>
          <a:noFill/>
          <a:ln w="8890">
            <a:solidFill>
              <a:srgbClr val="FFB24A">
                <a:alpha val="95000"/>
              </a:srgbClr>
            </a:solidFill>
            <a:prstDash val="solid"/>
            <a:tailEnd type="none"/>
          </a:ln>
        </p:spPr>
      </p:sp>
      <p:sp>
        <p:nvSpPr>
          <p:cNvPr id="102" name="Shape 100"/>
          <p:cNvSpPr/>
          <p:nvPr/>
        </p:nvSpPr>
        <p:spPr>
          <a:xfrm>
            <a:off x="5701284" y="5709514"/>
            <a:ext cx="480060" cy="0"/>
          </a:xfrm>
          <a:prstGeom prst="line">
            <a:avLst/>
          </a:prstGeom>
          <a:noFill/>
          <a:ln w="8890">
            <a:solidFill>
              <a:srgbClr val="FFB24A">
                <a:alpha val="95000"/>
              </a:srgbClr>
            </a:solidFill>
            <a:prstDash val="solid"/>
            <a:tailEnd type="none"/>
          </a:ln>
        </p:spPr>
      </p:sp>
      <p:sp>
        <p:nvSpPr>
          <p:cNvPr id="103" name="Shape 101"/>
          <p:cNvSpPr/>
          <p:nvPr/>
        </p:nvSpPr>
        <p:spPr>
          <a:xfrm>
            <a:off x="5015484" y="5533034"/>
            <a:ext cx="45720" cy="45720"/>
          </a:xfrm>
          <a:prstGeom prst="ellipse">
            <a:avLst/>
          </a:prstGeom>
          <a:solidFill>
            <a:srgbClr val="FFB24A"/>
          </a:solidFill>
          <a:ln w="12700">
            <a:solidFill>
              <a:srgbClr val="FFB24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301234" y="5622646"/>
            <a:ext cx="45720" cy="45720"/>
          </a:xfrm>
          <a:prstGeom prst="ellipse">
            <a:avLst/>
          </a:prstGeom>
          <a:solidFill>
            <a:srgbClr val="FFB24A"/>
          </a:solidFill>
          <a:ln w="12700">
            <a:solidFill>
              <a:srgbClr val="FFB24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678424" y="5686654"/>
            <a:ext cx="45720" cy="45720"/>
          </a:xfrm>
          <a:prstGeom prst="ellipse">
            <a:avLst/>
          </a:prstGeom>
          <a:solidFill>
            <a:srgbClr val="FFB24A"/>
          </a:solidFill>
          <a:ln w="12700">
            <a:solidFill>
              <a:srgbClr val="FFB24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158484" y="5686654"/>
            <a:ext cx="45720" cy="45720"/>
          </a:xfrm>
          <a:prstGeom prst="ellipse">
            <a:avLst/>
          </a:prstGeom>
          <a:solidFill>
            <a:srgbClr val="FFB24A"/>
          </a:solidFill>
          <a:ln w="12700">
            <a:solidFill>
              <a:srgbClr val="FFB24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571232" y="3858768"/>
            <a:ext cx="658368" cy="658368"/>
          </a:xfrm>
          <a:prstGeom prst="ellipse">
            <a:avLst/>
          </a:prstGeom>
          <a:solidFill>
            <a:srgbClr val="8F7CFF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8F7CFF">
                <a:alpha val="25000"/>
              </a:srgbClr>
            </a:outerShdw>
          </a:effectLst>
        </p:spPr>
      </p:sp>
      <p:sp>
        <p:nvSpPr>
          <p:cNvPr id="108" name="Text 106"/>
          <p:cNvSpPr/>
          <p:nvPr/>
        </p:nvSpPr>
        <p:spPr>
          <a:xfrm>
            <a:off x="7571232" y="3858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09" name="Text 107"/>
          <p:cNvSpPr/>
          <p:nvPr/>
        </p:nvSpPr>
        <p:spPr>
          <a:xfrm>
            <a:off x="7333488" y="470001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050" dirty="0"/>
          </a:p>
        </p:txBody>
      </p:sp>
      <p:sp>
        <p:nvSpPr>
          <p:cNvPr id="110" name="Text 108"/>
          <p:cNvSpPr/>
          <p:nvPr/>
        </p:nvSpPr>
        <p:spPr>
          <a:xfrm>
            <a:off x="7132320" y="50474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persists?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7342632" y="5555894"/>
            <a:ext cx="285750" cy="0"/>
          </a:xfrm>
          <a:prstGeom prst="line">
            <a:avLst/>
          </a:prstGeom>
          <a:noFill/>
          <a:ln w="8890">
            <a:solidFill>
              <a:srgbClr val="8F7CFF">
                <a:alpha val="95000"/>
              </a:srgbClr>
            </a:solidFill>
            <a:prstDash val="solid"/>
            <a:tailEnd type="none"/>
          </a:ln>
        </p:spPr>
      </p:sp>
      <p:sp>
        <p:nvSpPr>
          <p:cNvPr id="112" name="Shape 110"/>
          <p:cNvSpPr/>
          <p:nvPr/>
        </p:nvSpPr>
        <p:spPr>
          <a:xfrm>
            <a:off x="7628382" y="5555894"/>
            <a:ext cx="0" cy="89611"/>
          </a:xfrm>
          <a:prstGeom prst="line">
            <a:avLst/>
          </a:prstGeom>
          <a:noFill/>
          <a:ln w="8890">
            <a:solidFill>
              <a:srgbClr val="8F7CFF">
                <a:alpha val="95000"/>
              </a:srgbClr>
            </a:solidFill>
            <a:prstDash val="solid"/>
            <a:tailEnd type="none"/>
          </a:ln>
        </p:spPr>
      </p:sp>
      <p:sp>
        <p:nvSpPr>
          <p:cNvPr id="113" name="Shape 111"/>
          <p:cNvSpPr/>
          <p:nvPr/>
        </p:nvSpPr>
        <p:spPr>
          <a:xfrm>
            <a:off x="7628382" y="5645506"/>
            <a:ext cx="377190" cy="0"/>
          </a:xfrm>
          <a:prstGeom prst="line">
            <a:avLst/>
          </a:prstGeom>
          <a:noFill/>
          <a:ln w="8890">
            <a:solidFill>
              <a:srgbClr val="8F7CFF">
                <a:alpha val="95000"/>
              </a:srgbClr>
            </a:solidFill>
            <a:prstDash val="solid"/>
            <a:tailEnd type="none"/>
          </a:ln>
        </p:spPr>
      </p:sp>
      <p:sp>
        <p:nvSpPr>
          <p:cNvPr id="114" name="Shape 112"/>
          <p:cNvSpPr/>
          <p:nvPr/>
        </p:nvSpPr>
        <p:spPr>
          <a:xfrm>
            <a:off x="8005572" y="5645506"/>
            <a:ext cx="0" cy="64008"/>
          </a:xfrm>
          <a:prstGeom prst="line">
            <a:avLst/>
          </a:prstGeom>
          <a:noFill/>
          <a:ln w="8890">
            <a:solidFill>
              <a:srgbClr val="8F7CFF">
                <a:alpha val="95000"/>
              </a:srgbClr>
            </a:solidFill>
            <a:prstDash val="solid"/>
            <a:tailEnd type="none"/>
          </a:ln>
        </p:spPr>
      </p:sp>
      <p:sp>
        <p:nvSpPr>
          <p:cNvPr id="115" name="Shape 113"/>
          <p:cNvSpPr/>
          <p:nvPr/>
        </p:nvSpPr>
        <p:spPr>
          <a:xfrm>
            <a:off x="8005572" y="5709514"/>
            <a:ext cx="480060" cy="0"/>
          </a:xfrm>
          <a:prstGeom prst="line">
            <a:avLst/>
          </a:prstGeom>
          <a:noFill/>
          <a:ln w="8890">
            <a:solidFill>
              <a:srgbClr val="8F7CFF">
                <a:alpha val="95000"/>
              </a:srgbClr>
            </a:solidFill>
            <a:prstDash val="solid"/>
            <a:tailEnd type="none"/>
          </a:ln>
        </p:spPr>
      </p:sp>
      <p:sp>
        <p:nvSpPr>
          <p:cNvPr id="116" name="Shape 114"/>
          <p:cNvSpPr/>
          <p:nvPr/>
        </p:nvSpPr>
        <p:spPr>
          <a:xfrm>
            <a:off x="7319772" y="5533034"/>
            <a:ext cx="45720" cy="45720"/>
          </a:xfrm>
          <a:prstGeom prst="ellipse">
            <a:avLst/>
          </a:prstGeom>
          <a:solidFill>
            <a:srgbClr val="8F7CFF"/>
          </a:solidFill>
          <a:ln w="12700">
            <a:solidFill>
              <a:srgbClr val="8F7C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605522" y="5622646"/>
            <a:ext cx="45720" cy="45720"/>
          </a:xfrm>
          <a:prstGeom prst="ellipse">
            <a:avLst/>
          </a:prstGeom>
          <a:solidFill>
            <a:srgbClr val="8F7CFF"/>
          </a:solidFill>
          <a:ln w="12700">
            <a:solidFill>
              <a:srgbClr val="8F7C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982712" y="5686654"/>
            <a:ext cx="45720" cy="45720"/>
          </a:xfrm>
          <a:prstGeom prst="ellipse">
            <a:avLst/>
          </a:prstGeom>
          <a:solidFill>
            <a:srgbClr val="8F7CFF"/>
          </a:solidFill>
          <a:ln w="12700">
            <a:solidFill>
              <a:srgbClr val="8F7C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462772" y="5686654"/>
            <a:ext cx="45720" cy="45720"/>
          </a:xfrm>
          <a:prstGeom prst="ellipse">
            <a:avLst/>
          </a:prstGeom>
          <a:solidFill>
            <a:srgbClr val="8F7CFF"/>
          </a:solidFill>
          <a:ln w="12700">
            <a:solidFill>
              <a:srgbClr val="8F7C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875520" y="3858768"/>
            <a:ext cx="658368" cy="658368"/>
          </a:xfrm>
          <a:prstGeom prst="ellipse">
            <a:avLst/>
          </a:prstGeom>
          <a:solidFill>
            <a:srgbClr val="FF4C5E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4C5E">
                <a:alpha val="25000"/>
              </a:srgbClr>
            </a:outerShdw>
          </a:effectLst>
        </p:spPr>
      </p:sp>
      <p:sp>
        <p:nvSpPr>
          <p:cNvPr id="121" name="Text 119"/>
          <p:cNvSpPr/>
          <p:nvPr/>
        </p:nvSpPr>
        <p:spPr>
          <a:xfrm>
            <a:off x="9875520" y="3858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122" name="Text 120"/>
          <p:cNvSpPr/>
          <p:nvPr/>
        </p:nvSpPr>
        <p:spPr>
          <a:xfrm>
            <a:off x="9637776" y="470001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4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050" dirty="0"/>
          </a:p>
        </p:txBody>
      </p:sp>
      <p:sp>
        <p:nvSpPr>
          <p:cNvPr id="123" name="Text 121"/>
          <p:cNvSpPr/>
          <p:nvPr/>
        </p:nvSpPr>
        <p:spPr>
          <a:xfrm>
            <a:off x="9436608" y="50474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stop it?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9646920" y="5555894"/>
            <a:ext cx="285750" cy="0"/>
          </a:xfrm>
          <a:prstGeom prst="line">
            <a:avLst/>
          </a:prstGeom>
          <a:noFill/>
          <a:ln w="889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125" name="Shape 123"/>
          <p:cNvSpPr/>
          <p:nvPr/>
        </p:nvSpPr>
        <p:spPr>
          <a:xfrm>
            <a:off x="9932670" y="5555894"/>
            <a:ext cx="0" cy="89611"/>
          </a:xfrm>
          <a:prstGeom prst="line">
            <a:avLst/>
          </a:prstGeom>
          <a:noFill/>
          <a:ln w="889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126" name="Shape 124"/>
          <p:cNvSpPr/>
          <p:nvPr/>
        </p:nvSpPr>
        <p:spPr>
          <a:xfrm>
            <a:off x="9932670" y="5645506"/>
            <a:ext cx="377190" cy="0"/>
          </a:xfrm>
          <a:prstGeom prst="line">
            <a:avLst/>
          </a:prstGeom>
          <a:noFill/>
          <a:ln w="889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127" name="Shape 125"/>
          <p:cNvSpPr/>
          <p:nvPr/>
        </p:nvSpPr>
        <p:spPr>
          <a:xfrm>
            <a:off x="10309860" y="5645506"/>
            <a:ext cx="0" cy="64008"/>
          </a:xfrm>
          <a:prstGeom prst="line">
            <a:avLst/>
          </a:prstGeom>
          <a:noFill/>
          <a:ln w="889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128" name="Shape 126"/>
          <p:cNvSpPr/>
          <p:nvPr/>
        </p:nvSpPr>
        <p:spPr>
          <a:xfrm>
            <a:off x="10309860" y="5709514"/>
            <a:ext cx="480060" cy="0"/>
          </a:xfrm>
          <a:prstGeom prst="line">
            <a:avLst/>
          </a:prstGeom>
          <a:noFill/>
          <a:ln w="889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129" name="Shape 127"/>
          <p:cNvSpPr/>
          <p:nvPr/>
        </p:nvSpPr>
        <p:spPr>
          <a:xfrm>
            <a:off x="9624060" y="5533034"/>
            <a:ext cx="45720" cy="45720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909810" y="5622646"/>
            <a:ext cx="45720" cy="45720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0287000" y="5686654"/>
            <a:ext cx="45720" cy="45720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0767060" y="5686654"/>
            <a:ext cx="45720" cy="45720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66928" y="6537960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OWASP AI Agent Security Cheat Sheet; MITRE ATLAS</a:t>
            </a:r>
            <a:endParaRPr lang="en-US" sz="650" dirty="0"/>
          </a:p>
        </p:txBody>
      </p:sp>
      <p:sp>
        <p:nvSpPr>
          <p:cNvPr id="134" name="Text 132"/>
          <p:cNvSpPr/>
          <p:nvPr/>
        </p:nvSpPr>
        <p:spPr>
          <a:xfrm>
            <a:off x="11173968" y="644652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i-agent-security-redesign/theme-sof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A10">
              <a:alpha val="88000"/>
            </a:srgbClr>
          </a:solidFill>
          <a:ln w="12700">
            <a:solidFill>
              <a:srgbClr val="030A1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430000" y="457200"/>
            <a:ext cx="54864" cy="54864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  <a:effectLst>
            <a:outerShdw sx="100000" sy="100000" kx="0" ky="0" algn="bl" rotWithShape="0" blurRad="38100" dist="50800" dir="2700000">
              <a:srgbClr val="FF4C5E">
                <a:alpha val="5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698480" y="1005840"/>
            <a:ext cx="54864" cy="54864"/>
          </a:xfrm>
          <a:prstGeom prst="ellipse">
            <a:avLst/>
          </a:prstGeom>
          <a:solidFill>
            <a:srgbClr val="FF7A30"/>
          </a:solidFill>
          <a:ln w="12700">
            <a:solidFill>
              <a:srgbClr val="FF7A30"/>
            </a:solidFill>
            <a:prstDash val="solid"/>
          </a:ln>
          <a:effectLst>
            <a:outerShdw sx="100000" sy="100000" kx="0" ky="0" algn="bl" rotWithShape="0" blurRad="38100" dist="50800" dir="2700000">
              <a:srgbClr val="FF7A30">
                <a:alpha val="5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6035040"/>
            <a:ext cx="54864" cy="54864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  <a:effectLst>
            <a:outerShdw sx="100000" sy="100000" kx="0" ky="0" algn="bl" rotWithShape="0" blurRad="38100" dist="50800" dir="2700000">
              <a:srgbClr val="FF4C5E">
                <a:alpha val="5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0" y="5760720"/>
            <a:ext cx="54864" cy="54864"/>
          </a:xfrm>
          <a:prstGeom prst="ellipse">
            <a:avLst/>
          </a:prstGeom>
          <a:solidFill>
            <a:srgbClr val="4CEBFF"/>
          </a:solidFill>
          <a:ln w="12700">
            <a:solidFill>
              <a:srgbClr val="4CEBFF"/>
            </a:solidFill>
            <a:prstDash val="solid"/>
          </a:ln>
          <a:effectLst>
            <a:outerShdw sx="100000" sy="100000" kx="0" ky="0" algn="bl" rotWithShape="0" blurRad="38100" dist="50800" dir="2700000">
              <a:srgbClr val="4CEBFF">
                <a:alpha val="5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C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THREAT LANDSCAPE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66928" y="6675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failure modes to design against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85216" y="122529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attacks chain across context, identity, tools, and memory.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8368" y="1783080"/>
            <a:ext cx="3429000" cy="1572768"/>
          </a:xfrm>
          <a:prstGeom prst="roundRect">
            <a:avLst>
              <a:gd name="adj" fmla="val 4651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FF4C5E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4C5E">
                <a:alpha val="11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41248" y="1965960"/>
            <a:ext cx="457200" cy="457200"/>
          </a:xfrm>
          <a:prstGeom prst="ellipse">
            <a:avLst/>
          </a:prstGeom>
          <a:solidFill>
            <a:srgbClr val="FF4C5E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4C5E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4124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463040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463040" y="2441448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content hijacks the intended goal.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41248" y="3054096"/>
            <a:ext cx="720090" cy="0"/>
          </a:xfrm>
          <a:prstGeom prst="line">
            <a:avLst/>
          </a:prstGeom>
          <a:noFill/>
          <a:ln w="889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1561338" y="3054096"/>
            <a:ext cx="0" cy="64008"/>
          </a:xfrm>
          <a:prstGeom prst="line">
            <a:avLst/>
          </a:prstGeom>
          <a:noFill/>
          <a:ln w="889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18" name="Shape 15"/>
          <p:cNvSpPr/>
          <p:nvPr/>
        </p:nvSpPr>
        <p:spPr>
          <a:xfrm>
            <a:off x="1561338" y="3118104"/>
            <a:ext cx="950519" cy="0"/>
          </a:xfrm>
          <a:prstGeom prst="line">
            <a:avLst/>
          </a:prstGeom>
          <a:noFill/>
          <a:ln w="889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2511857" y="3118104"/>
            <a:ext cx="0" cy="45720"/>
          </a:xfrm>
          <a:prstGeom prst="line">
            <a:avLst/>
          </a:prstGeom>
          <a:noFill/>
          <a:ln w="889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20" name="Shape 17"/>
          <p:cNvSpPr/>
          <p:nvPr/>
        </p:nvSpPr>
        <p:spPr>
          <a:xfrm>
            <a:off x="2511857" y="3163824"/>
            <a:ext cx="1209751" cy="0"/>
          </a:xfrm>
          <a:prstGeom prst="line">
            <a:avLst/>
          </a:prstGeom>
          <a:noFill/>
          <a:ln w="889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818388" y="3031236"/>
            <a:ext cx="45720" cy="45720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538478" y="3095244"/>
            <a:ext cx="45720" cy="45720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88997" y="3140964"/>
            <a:ext cx="45720" cy="45720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698748" y="3140964"/>
            <a:ext cx="45720" cy="45720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80560" y="1783080"/>
            <a:ext cx="3429000" cy="1572768"/>
          </a:xfrm>
          <a:prstGeom prst="roundRect">
            <a:avLst>
              <a:gd name="adj" fmla="val 4651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FFB24A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B24A">
                <a:alpha val="11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63440" y="1965960"/>
            <a:ext cx="457200" cy="457200"/>
          </a:xfrm>
          <a:prstGeom prst="ellipse">
            <a:avLst/>
          </a:prstGeom>
          <a:solidFill>
            <a:srgbClr val="FFB24A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B24A">
                <a:alpha val="2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6634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285232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MISUSE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285232" y="2441448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tools receive unsafe arguments.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663440" y="3054096"/>
            <a:ext cx="720090" cy="0"/>
          </a:xfrm>
          <a:prstGeom prst="line">
            <a:avLst/>
          </a:prstGeom>
          <a:noFill/>
          <a:ln w="8890">
            <a:solidFill>
              <a:srgbClr val="FFB24A">
                <a:alpha val="95000"/>
              </a:srgbClr>
            </a:solidFill>
            <a:prstDash val="solid"/>
            <a:tailEnd type="none"/>
          </a:ln>
        </p:spPr>
      </p:sp>
      <p:sp>
        <p:nvSpPr>
          <p:cNvPr id="31" name="Shape 28"/>
          <p:cNvSpPr/>
          <p:nvPr/>
        </p:nvSpPr>
        <p:spPr>
          <a:xfrm>
            <a:off x="5383530" y="3054096"/>
            <a:ext cx="0" cy="64008"/>
          </a:xfrm>
          <a:prstGeom prst="line">
            <a:avLst/>
          </a:prstGeom>
          <a:noFill/>
          <a:ln w="8890">
            <a:solidFill>
              <a:srgbClr val="FFB24A">
                <a:alpha val="95000"/>
              </a:srgbClr>
            </a:solidFill>
            <a:prstDash val="solid"/>
            <a:tailEnd type="none"/>
          </a:ln>
        </p:spPr>
      </p:sp>
      <p:sp>
        <p:nvSpPr>
          <p:cNvPr id="32" name="Shape 29"/>
          <p:cNvSpPr/>
          <p:nvPr/>
        </p:nvSpPr>
        <p:spPr>
          <a:xfrm>
            <a:off x="5383530" y="3118104"/>
            <a:ext cx="950519" cy="0"/>
          </a:xfrm>
          <a:prstGeom prst="line">
            <a:avLst/>
          </a:prstGeom>
          <a:noFill/>
          <a:ln w="8890">
            <a:solidFill>
              <a:srgbClr val="FFB24A">
                <a:alpha val="95000"/>
              </a:srgbClr>
            </a:solidFill>
            <a:prstDash val="solid"/>
            <a:tailEnd type="none"/>
          </a:ln>
        </p:spPr>
      </p:sp>
      <p:sp>
        <p:nvSpPr>
          <p:cNvPr id="33" name="Shape 30"/>
          <p:cNvSpPr/>
          <p:nvPr/>
        </p:nvSpPr>
        <p:spPr>
          <a:xfrm>
            <a:off x="6334049" y="3118104"/>
            <a:ext cx="0" cy="45720"/>
          </a:xfrm>
          <a:prstGeom prst="line">
            <a:avLst/>
          </a:prstGeom>
          <a:noFill/>
          <a:ln w="8890">
            <a:solidFill>
              <a:srgbClr val="FFB24A">
                <a:alpha val="95000"/>
              </a:srgbClr>
            </a:solidFill>
            <a:prstDash val="solid"/>
            <a:tailEnd type="none"/>
          </a:ln>
        </p:spPr>
      </p:sp>
      <p:sp>
        <p:nvSpPr>
          <p:cNvPr id="34" name="Shape 31"/>
          <p:cNvSpPr/>
          <p:nvPr/>
        </p:nvSpPr>
        <p:spPr>
          <a:xfrm>
            <a:off x="6334049" y="3163824"/>
            <a:ext cx="1209751" cy="0"/>
          </a:xfrm>
          <a:prstGeom prst="line">
            <a:avLst/>
          </a:prstGeom>
          <a:noFill/>
          <a:ln w="8890">
            <a:solidFill>
              <a:srgbClr val="FFB24A">
                <a:alpha val="95000"/>
              </a:srgbClr>
            </a:solidFill>
            <a:prstDash val="solid"/>
            <a:tailEnd type="none"/>
          </a:ln>
        </p:spPr>
      </p:sp>
      <p:sp>
        <p:nvSpPr>
          <p:cNvPr id="35" name="Shape 32"/>
          <p:cNvSpPr/>
          <p:nvPr/>
        </p:nvSpPr>
        <p:spPr>
          <a:xfrm>
            <a:off x="4640580" y="3031236"/>
            <a:ext cx="45720" cy="45720"/>
          </a:xfrm>
          <a:prstGeom prst="ellipse">
            <a:avLst/>
          </a:prstGeom>
          <a:solidFill>
            <a:srgbClr val="FFB24A"/>
          </a:solidFill>
          <a:ln w="12700">
            <a:solidFill>
              <a:srgbClr val="FFB24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360670" y="3095244"/>
            <a:ext cx="45720" cy="45720"/>
          </a:xfrm>
          <a:prstGeom prst="ellipse">
            <a:avLst/>
          </a:prstGeom>
          <a:solidFill>
            <a:srgbClr val="FFB24A"/>
          </a:solidFill>
          <a:ln w="12700">
            <a:solidFill>
              <a:srgbClr val="FFB24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11189" y="3140964"/>
            <a:ext cx="45720" cy="45720"/>
          </a:xfrm>
          <a:prstGeom prst="ellipse">
            <a:avLst/>
          </a:prstGeom>
          <a:solidFill>
            <a:srgbClr val="FFB24A"/>
          </a:solidFill>
          <a:ln w="12700">
            <a:solidFill>
              <a:srgbClr val="FFB2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520940" y="3140964"/>
            <a:ext cx="45720" cy="45720"/>
          </a:xfrm>
          <a:prstGeom prst="ellipse">
            <a:avLst/>
          </a:prstGeom>
          <a:solidFill>
            <a:srgbClr val="FFB24A"/>
          </a:solidFill>
          <a:ln w="12700">
            <a:solidFill>
              <a:srgbClr val="FFB24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302752" y="1783080"/>
            <a:ext cx="3429000" cy="1572768"/>
          </a:xfrm>
          <a:prstGeom prst="roundRect">
            <a:avLst>
              <a:gd name="adj" fmla="val 4651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4CEBFF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4CEBFF">
                <a:alpha val="11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8485632" y="1965960"/>
            <a:ext cx="457200" cy="457200"/>
          </a:xfrm>
          <a:prstGeom prst="ellipse">
            <a:avLst/>
          </a:prstGeom>
          <a:solidFill>
            <a:srgbClr val="4CEBFF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4CEBFF">
                <a:alpha val="25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848563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9107424" y="1965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ABUSE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9107424" y="2441448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credentials amplify impact.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8485632" y="3054096"/>
            <a:ext cx="720090" cy="0"/>
          </a:xfrm>
          <a:prstGeom prst="line">
            <a:avLst/>
          </a:prstGeom>
          <a:noFill/>
          <a:ln w="889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45" name="Shape 42"/>
          <p:cNvSpPr/>
          <p:nvPr/>
        </p:nvSpPr>
        <p:spPr>
          <a:xfrm>
            <a:off x="9205722" y="3054096"/>
            <a:ext cx="0" cy="64008"/>
          </a:xfrm>
          <a:prstGeom prst="line">
            <a:avLst/>
          </a:prstGeom>
          <a:noFill/>
          <a:ln w="889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46" name="Shape 43"/>
          <p:cNvSpPr/>
          <p:nvPr/>
        </p:nvSpPr>
        <p:spPr>
          <a:xfrm>
            <a:off x="9205722" y="3118104"/>
            <a:ext cx="950519" cy="0"/>
          </a:xfrm>
          <a:prstGeom prst="line">
            <a:avLst/>
          </a:prstGeom>
          <a:noFill/>
          <a:ln w="889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47" name="Shape 44"/>
          <p:cNvSpPr/>
          <p:nvPr/>
        </p:nvSpPr>
        <p:spPr>
          <a:xfrm>
            <a:off x="10156241" y="3118104"/>
            <a:ext cx="0" cy="45720"/>
          </a:xfrm>
          <a:prstGeom prst="line">
            <a:avLst/>
          </a:prstGeom>
          <a:noFill/>
          <a:ln w="889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48" name="Shape 45"/>
          <p:cNvSpPr/>
          <p:nvPr/>
        </p:nvSpPr>
        <p:spPr>
          <a:xfrm>
            <a:off x="10156241" y="3163824"/>
            <a:ext cx="1209751" cy="0"/>
          </a:xfrm>
          <a:prstGeom prst="line">
            <a:avLst/>
          </a:prstGeom>
          <a:noFill/>
          <a:ln w="889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49" name="Shape 46"/>
          <p:cNvSpPr/>
          <p:nvPr/>
        </p:nvSpPr>
        <p:spPr>
          <a:xfrm>
            <a:off x="8462772" y="3031236"/>
            <a:ext cx="45720" cy="45720"/>
          </a:xfrm>
          <a:prstGeom prst="ellipse">
            <a:avLst/>
          </a:prstGeom>
          <a:solidFill>
            <a:srgbClr val="4CEBFF"/>
          </a:solidFill>
          <a:ln w="12700">
            <a:solidFill>
              <a:srgbClr val="4CEB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9182862" y="3095244"/>
            <a:ext cx="45720" cy="45720"/>
          </a:xfrm>
          <a:prstGeom prst="ellipse">
            <a:avLst/>
          </a:prstGeom>
          <a:solidFill>
            <a:srgbClr val="4CEBFF"/>
          </a:solidFill>
          <a:ln w="12700">
            <a:solidFill>
              <a:srgbClr val="4CEBF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0133381" y="3140964"/>
            <a:ext cx="45720" cy="45720"/>
          </a:xfrm>
          <a:prstGeom prst="ellipse">
            <a:avLst/>
          </a:prstGeom>
          <a:solidFill>
            <a:srgbClr val="4CEBFF"/>
          </a:solidFill>
          <a:ln w="12700">
            <a:solidFill>
              <a:srgbClr val="4CEBF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1343132" y="3140964"/>
            <a:ext cx="45720" cy="45720"/>
          </a:xfrm>
          <a:prstGeom prst="ellipse">
            <a:avLst/>
          </a:prstGeom>
          <a:solidFill>
            <a:srgbClr val="4CEBFF"/>
          </a:solidFill>
          <a:ln w="12700">
            <a:solidFill>
              <a:srgbClr val="4CEBF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58368" y="3749040"/>
            <a:ext cx="3429000" cy="1572768"/>
          </a:xfrm>
          <a:prstGeom prst="roundRect">
            <a:avLst>
              <a:gd name="adj" fmla="val 4651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8F7CFF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8F7CFF">
                <a:alpha val="11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841248" y="3931920"/>
            <a:ext cx="457200" cy="457200"/>
          </a:xfrm>
          <a:prstGeom prst="ellipse">
            <a:avLst/>
          </a:prstGeom>
          <a:solidFill>
            <a:srgbClr val="8F7CFF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8F7CFF">
                <a:alpha val="25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841248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1463040" y="3931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POISONING</a:t>
            </a:r>
            <a:endParaRPr lang="en-US" sz="1250" dirty="0"/>
          </a:p>
        </p:txBody>
      </p:sp>
      <p:sp>
        <p:nvSpPr>
          <p:cNvPr id="57" name="Text 54"/>
          <p:cNvSpPr/>
          <p:nvPr/>
        </p:nvSpPr>
        <p:spPr>
          <a:xfrm>
            <a:off x="1463040" y="4407408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state persists into future sessions.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841248" y="5020056"/>
            <a:ext cx="720090" cy="0"/>
          </a:xfrm>
          <a:prstGeom prst="line">
            <a:avLst/>
          </a:prstGeom>
          <a:noFill/>
          <a:ln w="8890">
            <a:solidFill>
              <a:srgbClr val="8F7CFF">
                <a:alpha val="95000"/>
              </a:srgbClr>
            </a:solidFill>
            <a:prstDash val="solid"/>
            <a:tailEnd type="none"/>
          </a:ln>
        </p:spPr>
      </p:sp>
      <p:sp>
        <p:nvSpPr>
          <p:cNvPr id="59" name="Shape 56"/>
          <p:cNvSpPr/>
          <p:nvPr/>
        </p:nvSpPr>
        <p:spPr>
          <a:xfrm>
            <a:off x="1561338" y="5020056"/>
            <a:ext cx="0" cy="64008"/>
          </a:xfrm>
          <a:prstGeom prst="line">
            <a:avLst/>
          </a:prstGeom>
          <a:noFill/>
          <a:ln w="8890">
            <a:solidFill>
              <a:srgbClr val="8F7CFF">
                <a:alpha val="95000"/>
              </a:srgbClr>
            </a:solidFill>
            <a:prstDash val="solid"/>
            <a:tailEnd type="none"/>
          </a:ln>
        </p:spPr>
      </p:sp>
      <p:sp>
        <p:nvSpPr>
          <p:cNvPr id="60" name="Shape 57"/>
          <p:cNvSpPr/>
          <p:nvPr/>
        </p:nvSpPr>
        <p:spPr>
          <a:xfrm>
            <a:off x="1561338" y="5084064"/>
            <a:ext cx="950519" cy="0"/>
          </a:xfrm>
          <a:prstGeom prst="line">
            <a:avLst/>
          </a:prstGeom>
          <a:noFill/>
          <a:ln w="8890">
            <a:solidFill>
              <a:srgbClr val="8F7CFF">
                <a:alpha val="95000"/>
              </a:srgbClr>
            </a:solidFill>
            <a:prstDash val="solid"/>
            <a:tailEnd type="none"/>
          </a:ln>
        </p:spPr>
      </p:sp>
      <p:sp>
        <p:nvSpPr>
          <p:cNvPr id="61" name="Shape 58"/>
          <p:cNvSpPr/>
          <p:nvPr/>
        </p:nvSpPr>
        <p:spPr>
          <a:xfrm>
            <a:off x="2511857" y="5084064"/>
            <a:ext cx="0" cy="45720"/>
          </a:xfrm>
          <a:prstGeom prst="line">
            <a:avLst/>
          </a:prstGeom>
          <a:noFill/>
          <a:ln w="8890">
            <a:solidFill>
              <a:srgbClr val="8F7CFF">
                <a:alpha val="95000"/>
              </a:srgbClr>
            </a:solidFill>
            <a:prstDash val="solid"/>
            <a:tailEnd type="none"/>
          </a:ln>
        </p:spPr>
      </p:sp>
      <p:sp>
        <p:nvSpPr>
          <p:cNvPr id="62" name="Shape 59"/>
          <p:cNvSpPr/>
          <p:nvPr/>
        </p:nvSpPr>
        <p:spPr>
          <a:xfrm>
            <a:off x="2511857" y="5129784"/>
            <a:ext cx="1209751" cy="0"/>
          </a:xfrm>
          <a:prstGeom prst="line">
            <a:avLst/>
          </a:prstGeom>
          <a:noFill/>
          <a:ln w="8890">
            <a:solidFill>
              <a:srgbClr val="8F7CFF">
                <a:alpha val="95000"/>
              </a:srgbClr>
            </a:solidFill>
            <a:prstDash val="solid"/>
            <a:tailEnd type="none"/>
          </a:ln>
        </p:spPr>
      </p:sp>
      <p:sp>
        <p:nvSpPr>
          <p:cNvPr id="63" name="Shape 60"/>
          <p:cNvSpPr/>
          <p:nvPr/>
        </p:nvSpPr>
        <p:spPr>
          <a:xfrm>
            <a:off x="818388" y="4997196"/>
            <a:ext cx="45720" cy="45720"/>
          </a:xfrm>
          <a:prstGeom prst="ellipse">
            <a:avLst/>
          </a:prstGeom>
          <a:solidFill>
            <a:srgbClr val="8F7CFF"/>
          </a:solidFill>
          <a:ln w="12700">
            <a:solidFill>
              <a:srgbClr val="8F7CF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538478" y="5061204"/>
            <a:ext cx="45720" cy="45720"/>
          </a:xfrm>
          <a:prstGeom prst="ellipse">
            <a:avLst/>
          </a:prstGeom>
          <a:solidFill>
            <a:srgbClr val="8F7CFF"/>
          </a:solidFill>
          <a:ln w="12700">
            <a:solidFill>
              <a:srgbClr val="8F7CFF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2488997" y="5106924"/>
            <a:ext cx="45720" cy="45720"/>
          </a:xfrm>
          <a:prstGeom prst="ellipse">
            <a:avLst/>
          </a:prstGeom>
          <a:solidFill>
            <a:srgbClr val="8F7CFF"/>
          </a:solidFill>
          <a:ln w="12700">
            <a:solidFill>
              <a:srgbClr val="8F7CFF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698748" y="5106924"/>
            <a:ext cx="45720" cy="45720"/>
          </a:xfrm>
          <a:prstGeom prst="ellipse">
            <a:avLst/>
          </a:prstGeom>
          <a:solidFill>
            <a:srgbClr val="8F7CFF"/>
          </a:solidFill>
          <a:ln w="12700">
            <a:solidFill>
              <a:srgbClr val="8F7CFF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480560" y="3749040"/>
            <a:ext cx="3429000" cy="1572768"/>
          </a:xfrm>
          <a:prstGeom prst="roundRect">
            <a:avLst>
              <a:gd name="adj" fmla="val 4651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176B9B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176B9B">
                <a:alpha val="11000"/>
              </a:srgbClr>
            </a:outerShdw>
          </a:effectLst>
        </p:spPr>
      </p:sp>
      <p:sp>
        <p:nvSpPr>
          <p:cNvPr id="68" name="Shape 65"/>
          <p:cNvSpPr/>
          <p:nvPr/>
        </p:nvSpPr>
        <p:spPr>
          <a:xfrm>
            <a:off x="4663440" y="3931920"/>
            <a:ext cx="457200" cy="457200"/>
          </a:xfrm>
          <a:prstGeom prst="ellipse">
            <a:avLst/>
          </a:prstGeom>
          <a:solidFill>
            <a:srgbClr val="176B9B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176B9B">
                <a:alpha val="25000"/>
              </a:srgbClr>
            </a:outerShdw>
          </a:effectLst>
        </p:spPr>
      </p:sp>
      <p:sp>
        <p:nvSpPr>
          <p:cNvPr id="69" name="Text 66"/>
          <p:cNvSpPr/>
          <p:nvPr/>
        </p:nvSpPr>
        <p:spPr>
          <a:xfrm>
            <a:off x="46634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5285232" y="3931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1250" dirty="0"/>
          </a:p>
        </p:txBody>
      </p:sp>
      <p:sp>
        <p:nvSpPr>
          <p:cNvPr id="71" name="Text 68"/>
          <p:cNvSpPr/>
          <p:nvPr/>
        </p:nvSpPr>
        <p:spPr>
          <a:xfrm>
            <a:off x="5285232" y="4407408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Models, skills, MCP servers, or packages are poisoned.</a:t>
            </a:r>
            <a:endParaRPr lang="en-US" sz="1050" dirty="0"/>
          </a:p>
        </p:txBody>
      </p:sp>
      <p:sp>
        <p:nvSpPr>
          <p:cNvPr id="72" name="Shape 69"/>
          <p:cNvSpPr/>
          <p:nvPr/>
        </p:nvSpPr>
        <p:spPr>
          <a:xfrm>
            <a:off x="4663440" y="5020056"/>
            <a:ext cx="720090" cy="0"/>
          </a:xfrm>
          <a:prstGeom prst="line">
            <a:avLst/>
          </a:prstGeom>
          <a:noFill/>
          <a:ln w="8890">
            <a:solidFill>
              <a:srgbClr val="176B9B">
                <a:alpha val="95000"/>
              </a:srgbClr>
            </a:solidFill>
            <a:prstDash val="solid"/>
            <a:tailEnd type="none"/>
          </a:ln>
        </p:spPr>
      </p:sp>
      <p:sp>
        <p:nvSpPr>
          <p:cNvPr id="73" name="Shape 70"/>
          <p:cNvSpPr/>
          <p:nvPr/>
        </p:nvSpPr>
        <p:spPr>
          <a:xfrm>
            <a:off x="5383530" y="5020056"/>
            <a:ext cx="0" cy="64008"/>
          </a:xfrm>
          <a:prstGeom prst="line">
            <a:avLst/>
          </a:prstGeom>
          <a:noFill/>
          <a:ln w="8890">
            <a:solidFill>
              <a:srgbClr val="176B9B">
                <a:alpha val="95000"/>
              </a:srgbClr>
            </a:solidFill>
            <a:prstDash val="solid"/>
            <a:tailEnd type="none"/>
          </a:ln>
        </p:spPr>
      </p:sp>
      <p:sp>
        <p:nvSpPr>
          <p:cNvPr id="74" name="Shape 71"/>
          <p:cNvSpPr/>
          <p:nvPr/>
        </p:nvSpPr>
        <p:spPr>
          <a:xfrm>
            <a:off x="5383530" y="5084064"/>
            <a:ext cx="950519" cy="0"/>
          </a:xfrm>
          <a:prstGeom prst="line">
            <a:avLst/>
          </a:prstGeom>
          <a:noFill/>
          <a:ln w="8890">
            <a:solidFill>
              <a:srgbClr val="176B9B">
                <a:alpha val="95000"/>
              </a:srgbClr>
            </a:solidFill>
            <a:prstDash val="solid"/>
            <a:tailEnd type="none"/>
          </a:ln>
        </p:spPr>
      </p:sp>
      <p:sp>
        <p:nvSpPr>
          <p:cNvPr id="75" name="Shape 72"/>
          <p:cNvSpPr/>
          <p:nvPr/>
        </p:nvSpPr>
        <p:spPr>
          <a:xfrm>
            <a:off x="6334049" y="5084064"/>
            <a:ext cx="0" cy="45720"/>
          </a:xfrm>
          <a:prstGeom prst="line">
            <a:avLst/>
          </a:prstGeom>
          <a:noFill/>
          <a:ln w="8890">
            <a:solidFill>
              <a:srgbClr val="176B9B">
                <a:alpha val="95000"/>
              </a:srgbClr>
            </a:solidFill>
            <a:prstDash val="solid"/>
            <a:tailEnd type="none"/>
          </a:ln>
        </p:spPr>
      </p:sp>
      <p:sp>
        <p:nvSpPr>
          <p:cNvPr id="76" name="Shape 73"/>
          <p:cNvSpPr/>
          <p:nvPr/>
        </p:nvSpPr>
        <p:spPr>
          <a:xfrm>
            <a:off x="6334049" y="5129784"/>
            <a:ext cx="1209751" cy="0"/>
          </a:xfrm>
          <a:prstGeom prst="line">
            <a:avLst/>
          </a:prstGeom>
          <a:noFill/>
          <a:ln w="8890">
            <a:solidFill>
              <a:srgbClr val="176B9B">
                <a:alpha val="95000"/>
              </a:srgbClr>
            </a:solidFill>
            <a:prstDash val="solid"/>
            <a:tailEnd type="none"/>
          </a:ln>
        </p:spPr>
      </p:sp>
      <p:sp>
        <p:nvSpPr>
          <p:cNvPr id="77" name="Shape 74"/>
          <p:cNvSpPr/>
          <p:nvPr/>
        </p:nvSpPr>
        <p:spPr>
          <a:xfrm>
            <a:off x="4640580" y="4997196"/>
            <a:ext cx="45720" cy="45720"/>
          </a:xfrm>
          <a:prstGeom prst="ellipse">
            <a:avLst/>
          </a:prstGeom>
          <a:solidFill>
            <a:srgbClr val="176B9B"/>
          </a:solidFill>
          <a:ln w="12700">
            <a:solidFill>
              <a:srgbClr val="176B9B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5360670" y="5061204"/>
            <a:ext cx="45720" cy="45720"/>
          </a:xfrm>
          <a:prstGeom prst="ellipse">
            <a:avLst/>
          </a:prstGeom>
          <a:solidFill>
            <a:srgbClr val="176B9B"/>
          </a:solidFill>
          <a:ln w="12700">
            <a:solidFill>
              <a:srgbClr val="176B9B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6311189" y="5106924"/>
            <a:ext cx="45720" cy="45720"/>
          </a:xfrm>
          <a:prstGeom prst="ellipse">
            <a:avLst/>
          </a:prstGeom>
          <a:solidFill>
            <a:srgbClr val="176B9B"/>
          </a:solidFill>
          <a:ln w="12700">
            <a:solidFill>
              <a:srgbClr val="176B9B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7520940" y="5106924"/>
            <a:ext cx="45720" cy="45720"/>
          </a:xfrm>
          <a:prstGeom prst="ellipse">
            <a:avLst/>
          </a:prstGeom>
          <a:solidFill>
            <a:srgbClr val="176B9B"/>
          </a:solidFill>
          <a:ln w="12700">
            <a:solidFill>
              <a:srgbClr val="176B9B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8302752" y="3749040"/>
            <a:ext cx="3429000" cy="1572768"/>
          </a:xfrm>
          <a:prstGeom prst="roundRect">
            <a:avLst>
              <a:gd name="adj" fmla="val 4651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FF4C5E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4C5E">
                <a:alpha val="11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8485632" y="3931920"/>
            <a:ext cx="457200" cy="457200"/>
          </a:xfrm>
          <a:prstGeom prst="ellipse">
            <a:avLst/>
          </a:prstGeom>
          <a:solidFill>
            <a:srgbClr val="FF4C5E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4C5E">
                <a:alpha val="25000"/>
              </a:srgbClr>
            </a:outerShdw>
          </a:effectLst>
        </p:spPr>
      </p:sp>
      <p:sp>
        <p:nvSpPr>
          <p:cNvPr id="83" name="Text 80"/>
          <p:cNvSpPr/>
          <p:nvPr/>
        </p:nvSpPr>
        <p:spPr>
          <a:xfrm>
            <a:off x="8485632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84" name="Text 81"/>
          <p:cNvSpPr/>
          <p:nvPr/>
        </p:nvSpPr>
        <p:spPr>
          <a:xfrm>
            <a:off x="9107424" y="3931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SPOOFING</a:t>
            </a:r>
            <a:endParaRPr lang="en-US" sz="1250" dirty="0"/>
          </a:p>
        </p:txBody>
      </p:sp>
      <p:sp>
        <p:nvSpPr>
          <p:cNvPr id="85" name="Text 82"/>
          <p:cNvSpPr/>
          <p:nvPr/>
        </p:nvSpPr>
        <p:spPr>
          <a:xfrm>
            <a:off x="9107424" y="4407408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Peers trust unauthenticated messages or claims.</a:t>
            </a:r>
            <a:endParaRPr lang="en-US" sz="1050" dirty="0"/>
          </a:p>
        </p:txBody>
      </p:sp>
      <p:sp>
        <p:nvSpPr>
          <p:cNvPr id="86" name="Shape 83"/>
          <p:cNvSpPr/>
          <p:nvPr/>
        </p:nvSpPr>
        <p:spPr>
          <a:xfrm>
            <a:off x="8485632" y="5020056"/>
            <a:ext cx="720090" cy="0"/>
          </a:xfrm>
          <a:prstGeom prst="line">
            <a:avLst/>
          </a:prstGeom>
          <a:noFill/>
          <a:ln w="889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87" name="Shape 84"/>
          <p:cNvSpPr/>
          <p:nvPr/>
        </p:nvSpPr>
        <p:spPr>
          <a:xfrm>
            <a:off x="9205722" y="5020056"/>
            <a:ext cx="0" cy="64008"/>
          </a:xfrm>
          <a:prstGeom prst="line">
            <a:avLst/>
          </a:prstGeom>
          <a:noFill/>
          <a:ln w="889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88" name="Shape 85"/>
          <p:cNvSpPr/>
          <p:nvPr/>
        </p:nvSpPr>
        <p:spPr>
          <a:xfrm>
            <a:off x="9205722" y="5084064"/>
            <a:ext cx="950519" cy="0"/>
          </a:xfrm>
          <a:prstGeom prst="line">
            <a:avLst/>
          </a:prstGeom>
          <a:noFill/>
          <a:ln w="889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89" name="Shape 86"/>
          <p:cNvSpPr/>
          <p:nvPr/>
        </p:nvSpPr>
        <p:spPr>
          <a:xfrm>
            <a:off x="10156241" y="5084064"/>
            <a:ext cx="0" cy="45720"/>
          </a:xfrm>
          <a:prstGeom prst="line">
            <a:avLst/>
          </a:prstGeom>
          <a:noFill/>
          <a:ln w="889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90" name="Shape 87"/>
          <p:cNvSpPr/>
          <p:nvPr/>
        </p:nvSpPr>
        <p:spPr>
          <a:xfrm>
            <a:off x="10156241" y="5129784"/>
            <a:ext cx="1209751" cy="0"/>
          </a:xfrm>
          <a:prstGeom prst="line">
            <a:avLst/>
          </a:prstGeom>
          <a:noFill/>
          <a:ln w="8890">
            <a:solidFill>
              <a:srgbClr val="FF4C5E">
                <a:alpha val="95000"/>
              </a:srgbClr>
            </a:solidFill>
            <a:prstDash val="solid"/>
            <a:tailEnd type="none"/>
          </a:ln>
        </p:spPr>
      </p:sp>
      <p:sp>
        <p:nvSpPr>
          <p:cNvPr id="91" name="Shape 88"/>
          <p:cNvSpPr/>
          <p:nvPr/>
        </p:nvSpPr>
        <p:spPr>
          <a:xfrm>
            <a:off x="8462772" y="4997196"/>
            <a:ext cx="45720" cy="45720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9182862" y="5061204"/>
            <a:ext cx="45720" cy="45720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10133381" y="5106924"/>
            <a:ext cx="45720" cy="45720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11343132" y="5106924"/>
            <a:ext cx="45720" cy="45720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3429000" y="5888736"/>
            <a:ext cx="5349240" cy="292608"/>
          </a:xfrm>
          <a:prstGeom prst="roundRect">
            <a:avLst>
              <a:gd name="adj" fmla="val 46875"/>
            </a:avLst>
          </a:prstGeom>
          <a:solidFill>
            <a:srgbClr val="4CEBFF">
              <a:alpha val="97000"/>
            </a:srgbClr>
          </a:solidFill>
          <a:ln w="12700">
            <a:solidFill>
              <a:srgbClr val="4CEBFF">
                <a:alpha val="90000"/>
              </a:srgbClr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3465576" y="5888736"/>
            <a:ext cx="5276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FOR COMBINATIONS — NOT ISOLATED THREATS</a:t>
            </a:r>
            <a:endParaRPr lang="en-US" sz="950" dirty="0"/>
          </a:p>
        </p:txBody>
      </p:sp>
      <p:sp>
        <p:nvSpPr>
          <p:cNvPr id="97" name="Text 94"/>
          <p:cNvSpPr/>
          <p:nvPr/>
        </p:nvSpPr>
        <p:spPr>
          <a:xfrm>
            <a:off x="566928" y="6537960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OWASP Top 10 for Agentic Applications; MITRE ATLAS</a:t>
            </a:r>
            <a:endParaRPr lang="en-US" sz="650" dirty="0"/>
          </a:p>
        </p:txBody>
      </p:sp>
      <p:sp>
        <p:nvSpPr>
          <p:cNvPr id="98" name="Text 95"/>
          <p:cNvSpPr/>
          <p:nvPr/>
        </p:nvSpPr>
        <p:spPr>
          <a:xfrm>
            <a:off x="11173968" y="644652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57200"/>
            <a:ext cx="54864" cy="54864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  <a:effectLst>
            <a:outerShdw sx="100000" sy="100000" kx="0" ky="0" algn="bl" rotWithShape="0" blurRad="38100" dist="50800" dir="2700000">
              <a:srgbClr val="FF4C5E">
                <a:alpha val="5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0698480" y="1005840"/>
            <a:ext cx="54864" cy="54864"/>
          </a:xfrm>
          <a:prstGeom prst="ellipse">
            <a:avLst/>
          </a:prstGeom>
          <a:solidFill>
            <a:srgbClr val="FF7A30"/>
          </a:solidFill>
          <a:ln w="12700">
            <a:solidFill>
              <a:srgbClr val="FF7A30"/>
            </a:solidFill>
            <a:prstDash val="solid"/>
          </a:ln>
          <a:effectLst>
            <a:outerShdw sx="100000" sy="100000" kx="0" ky="0" algn="bl" rotWithShape="0" blurRad="38100" dist="50800" dir="2700000">
              <a:srgbClr val="FF7A30">
                <a:alpha val="5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6035040"/>
            <a:ext cx="54864" cy="54864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  <a:effectLst>
            <a:outerShdw sx="100000" sy="100000" kx="0" ky="0" algn="bl" rotWithShape="0" blurRad="38100" dist="50800" dir="2700000">
              <a:srgbClr val="FF4C5E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0" y="5760720"/>
            <a:ext cx="54864" cy="54864"/>
          </a:xfrm>
          <a:prstGeom prst="ellipse">
            <a:avLst/>
          </a:prstGeom>
          <a:solidFill>
            <a:srgbClr val="4CEBFF"/>
          </a:solidFill>
          <a:ln w="12700">
            <a:solidFill>
              <a:srgbClr val="4CEBFF"/>
            </a:solidFill>
            <a:prstDash val="solid"/>
          </a:ln>
          <a:effectLst>
            <a:outerShdw sx="100000" sy="100000" kx="0" ky="0" algn="bl" rotWithShape="0" blurRad="38100" dist="50800" dir="2700000">
              <a:srgbClr val="4CEBFF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C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ATTACK CHAIN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6675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hidden instruction becomes an external action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85216" y="122529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indirect prompt injection through retrieved content.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115568" y="1874520"/>
            <a:ext cx="914400" cy="914400"/>
          </a:xfrm>
          <a:prstGeom prst="ellipse">
            <a:avLst/>
          </a:prstGeom>
          <a:solidFill>
            <a:srgbClr val="FF4C5E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4C5E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15568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9900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34015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plants instructions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2148840" y="2331720"/>
            <a:ext cx="512064" cy="0"/>
          </a:xfrm>
          <a:prstGeom prst="line">
            <a:avLst/>
          </a:prstGeom>
          <a:noFill/>
          <a:ln w="16510">
            <a:solidFill>
              <a:srgbClr val="FF4C5E">
                <a:alpha val="95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29000" y="1874520"/>
            <a:ext cx="914400" cy="914400"/>
          </a:xfrm>
          <a:prstGeom prst="ellipse">
            <a:avLst/>
          </a:prstGeom>
          <a:solidFill>
            <a:srgbClr val="FFB24A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B24A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2900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35224" y="29900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35224" y="34015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Retriever passes content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4462272" y="2331720"/>
            <a:ext cx="512064" cy="0"/>
          </a:xfrm>
          <a:prstGeom prst="line">
            <a:avLst/>
          </a:prstGeom>
          <a:noFill/>
          <a:ln w="16510">
            <a:solidFill>
              <a:srgbClr val="FFB24A">
                <a:alpha val="95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742432" y="1874520"/>
            <a:ext cx="914400" cy="914400"/>
          </a:xfrm>
          <a:prstGeom prst="ellipse">
            <a:avLst/>
          </a:prstGeom>
          <a:solidFill>
            <a:srgbClr val="4CEBFF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4CEBFF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42432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48656" y="29900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HIJACK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48656" y="34015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becomes instruction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6775704" y="2331720"/>
            <a:ext cx="512064" cy="0"/>
          </a:xfrm>
          <a:prstGeom prst="line">
            <a:avLst/>
          </a:prstGeom>
          <a:noFill/>
          <a:ln w="16510">
            <a:solidFill>
              <a:srgbClr val="4CEBFF">
                <a:alpha val="95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55864" y="1874520"/>
            <a:ext cx="914400" cy="914400"/>
          </a:xfrm>
          <a:prstGeom prst="ellipse">
            <a:avLst/>
          </a:prstGeom>
          <a:solidFill>
            <a:srgbClr val="176B9B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176B9B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55864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62088" y="29900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6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62088" y="34015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Privileged action requested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9089136" y="2331720"/>
            <a:ext cx="512064" cy="0"/>
          </a:xfrm>
          <a:prstGeom prst="line">
            <a:avLst/>
          </a:prstGeom>
          <a:noFill/>
          <a:ln w="16510">
            <a:solidFill>
              <a:srgbClr val="176B9B">
                <a:alpha val="95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369296" y="1874520"/>
            <a:ext cx="914400" cy="914400"/>
          </a:xfrm>
          <a:prstGeom prst="ellipse">
            <a:avLst/>
          </a:prstGeom>
          <a:solidFill>
            <a:srgbClr val="8F7CFF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8F7CFF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369296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875520" y="29900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875520" y="34015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or systems change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932688" y="4315968"/>
            <a:ext cx="10314432" cy="1261872"/>
          </a:xfrm>
          <a:prstGeom prst="roundRect">
            <a:avLst>
              <a:gd name="adj" fmla="val 5797"/>
            </a:avLst>
          </a:prstGeom>
          <a:solidFill>
            <a:srgbClr val="0B1D28">
              <a:alpha val="99000"/>
            </a:srgbClr>
          </a:solidFill>
          <a:ln w="13970">
            <a:solidFill>
              <a:srgbClr val="4CEBFF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4CEBFF">
                <a:alpha val="11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32688" y="4315968"/>
            <a:ext cx="201168" cy="0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932688" y="4315968"/>
            <a:ext cx="0" cy="201168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1045952" y="4315968"/>
            <a:ext cx="201168" cy="0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11247120" y="4315968"/>
            <a:ext cx="0" cy="201168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932688" y="5577840"/>
            <a:ext cx="201168" cy="0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932688" y="5376672"/>
            <a:ext cx="0" cy="201168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11045952" y="5577840"/>
            <a:ext cx="201168" cy="0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11247120" y="5376672"/>
            <a:ext cx="0" cy="201168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1170432" y="4572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THE CHAIN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154680" y="4507992"/>
            <a:ext cx="1783080" cy="292608"/>
          </a:xfrm>
          <a:prstGeom prst="roundRect">
            <a:avLst>
              <a:gd name="adj" fmla="val 46875"/>
            </a:avLst>
          </a:prstGeom>
          <a:solidFill>
            <a:srgbClr val="4CEBFF">
              <a:alpha val="97000"/>
            </a:srgbClr>
          </a:solidFill>
          <a:ln w="12700">
            <a:solidFill>
              <a:srgbClr val="4CEBFF">
                <a:alpha val="9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91256" y="4507992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untrusted content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166360" y="4507992"/>
            <a:ext cx="1783080" cy="292608"/>
          </a:xfrm>
          <a:prstGeom prst="roundRect">
            <a:avLst>
              <a:gd name="adj" fmla="val 46875"/>
            </a:avLst>
          </a:prstGeom>
          <a:solidFill>
            <a:srgbClr val="4CEBFF">
              <a:alpha val="97000"/>
            </a:srgbClr>
          </a:solidFill>
          <a:ln w="12700">
            <a:solidFill>
              <a:srgbClr val="4CEBFF">
                <a:alpha val="9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02936" y="4507992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data from instructions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178040" y="4507992"/>
            <a:ext cx="1783080" cy="292608"/>
          </a:xfrm>
          <a:prstGeom prst="roundRect">
            <a:avLst>
              <a:gd name="adj" fmla="val 46875"/>
            </a:avLst>
          </a:prstGeom>
          <a:solidFill>
            <a:srgbClr val="40E0B5">
              <a:alpha val="97000"/>
            </a:srgbClr>
          </a:solidFill>
          <a:ln w="12700">
            <a:solidFill>
              <a:srgbClr val="40E0B5">
                <a:alpha val="9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14616" y="4507992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every tool call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189720" y="4507992"/>
            <a:ext cx="1783080" cy="292608"/>
          </a:xfrm>
          <a:prstGeom prst="roundRect">
            <a:avLst>
              <a:gd name="adj" fmla="val 46875"/>
            </a:avLst>
          </a:prstGeom>
          <a:solidFill>
            <a:srgbClr val="40E0B5">
              <a:alpha val="97000"/>
            </a:srgbClr>
          </a:solidFill>
          <a:ln w="12700">
            <a:solidFill>
              <a:srgbClr val="40E0B5">
                <a:alpha val="9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26296" y="4507992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high-impact actions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66928" y="6537960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OWASP LLM01:2025 Prompt Injection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11173968" y="644652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i-agent-security-redesign/theme-sof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A10">
              <a:alpha val="88000"/>
            </a:srgbClr>
          </a:solidFill>
          <a:ln w="12700">
            <a:solidFill>
              <a:srgbClr val="030A1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430000" y="457200"/>
            <a:ext cx="54864" cy="54864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  <a:effectLst>
            <a:outerShdw sx="100000" sy="100000" kx="0" ky="0" algn="bl" rotWithShape="0" blurRad="38100" dist="50800" dir="2700000">
              <a:srgbClr val="FF4C5E">
                <a:alpha val="5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698480" y="1005840"/>
            <a:ext cx="54864" cy="54864"/>
          </a:xfrm>
          <a:prstGeom prst="ellipse">
            <a:avLst/>
          </a:prstGeom>
          <a:solidFill>
            <a:srgbClr val="FF7A30"/>
          </a:solidFill>
          <a:ln w="12700">
            <a:solidFill>
              <a:srgbClr val="FF7A30"/>
            </a:solidFill>
            <a:prstDash val="solid"/>
          </a:ln>
          <a:effectLst>
            <a:outerShdw sx="100000" sy="100000" kx="0" ky="0" algn="bl" rotWithShape="0" blurRad="38100" dist="50800" dir="2700000">
              <a:srgbClr val="FF7A30">
                <a:alpha val="5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6035040"/>
            <a:ext cx="54864" cy="54864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  <a:effectLst>
            <a:outerShdw sx="100000" sy="100000" kx="0" ky="0" algn="bl" rotWithShape="0" blurRad="38100" dist="50800" dir="2700000">
              <a:srgbClr val="FF4C5E">
                <a:alpha val="5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0" y="5760720"/>
            <a:ext cx="54864" cy="54864"/>
          </a:xfrm>
          <a:prstGeom prst="ellipse">
            <a:avLst/>
          </a:prstGeom>
          <a:solidFill>
            <a:srgbClr val="4CEBFF"/>
          </a:solidFill>
          <a:ln w="12700">
            <a:solidFill>
              <a:srgbClr val="4CEBFF"/>
            </a:solidFill>
            <a:prstDash val="solid"/>
          </a:ln>
          <a:effectLst>
            <a:outerShdw sx="100000" sy="100000" kx="0" ky="0" algn="bl" rotWithShape="0" blurRad="38100" dist="50800" dir="2700000">
              <a:srgbClr val="4CEBFF">
                <a:alpha val="5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C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SECURE ARCHITECTURE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66928" y="6675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controls around probabilistic reasoning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85216" y="122529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may propose. Policy decides. Execution proves.</a:t>
            </a:r>
            <a:endParaRPr lang="en-US" sz="1250" dirty="0"/>
          </a:p>
        </p:txBody>
      </p:sp>
      <p:pic>
        <p:nvPicPr>
          <p:cNvPr id="11" name="Image 1" descr="/tmp/ai-agent-security-redesign/theme-shield.jpg">    </p:cNvPr>
          <p:cNvPicPr>
            <a:picLocks noChangeAspect="1"/>
          </p:cNvPicPr>
          <p:nvPr/>
        </p:nvPicPr>
        <p:blipFill>
          <a:blip r:embed="rId2">
            <a:alphaModFix amt="92000"/>
          </a:blip>
          <a:stretch>
            <a:fillRect/>
          </a:stretch>
        </p:blipFill>
        <p:spPr>
          <a:xfrm>
            <a:off x="4498848" y="1572768"/>
            <a:ext cx="3182112" cy="318211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873752" y="1947672"/>
            <a:ext cx="2432304" cy="2432304"/>
          </a:xfrm>
          <a:prstGeom prst="ellipse">
            <a:avLst/>
          </a:prstGeom>
          <a:solidFill>
            <a:srgbClr val="030A10">
              <a:alpha val="78000"/>
            </a:srgbClr>
          </a:solidFill>
          <a:ln w="19050">
            <a:solidFill>
              <a:srgbClr val="4CEBFF">
                <a:alpha val="7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84648" y="2596896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658368" y="1847088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FF4C5E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4C5E">
                <a:alpha val="11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FF4C5E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4C5E">
                <a:alpha val="2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426464" y="199339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GATE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1426464" y="235000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• classify • isolate</a:t>
            </a:r>
            <a:endParaRPr lang="en-US" sz="930" dirty="0"/>
          </a:p>
        </p:txBody>
      </p:sp>
      <p:sp>
        <p:nvSpPr>
          <p:cNvPr id="19" name="Shape 15"/>
          <p:cNvSpPr/>
          <p:nvPr/>
        </p:nvSpPr>
        <p:spPr>
          <a:xfrm>
            <a:off x="3291840" y="2359152"/>
            <a:ext cx="1225296" cy="0"/>
          </a:xfrm>
          <a:prstGeom prst="line">
            <a:avLst/>
          </a:prstGeom>
          <a:noFill/>
          <a:ln w="16510">
            <a:solidFill>
              <a:srgbClr val="FF4C5E">
                <a:alpha val="95000"/>
              </a:srgbClr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804672" y="397764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4CEBFF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4CEBFF">
                <a:alpha val="11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69264" y="4233672"/>
            <a:ext cx="457200" cy="457200"/>
          </a:xfrm>
          <a:prstGeom prst="ellipse">
            <a:avLst/>
          </a:prstGeom>
          <a:solidFill>
            <a:srgbClr val="4CEBFF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4CEBFF">
                <a:alpha val="25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969264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572768" y="4123944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1572768" y="44805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• short-lived • scoped</a:t>
            </a:r>
            <a:endParaRPr lang="en-US" sz="930" dirty="0"/>
          </a:p>
        </p:txBody>
      </p:sp>
      <p:sp>
        <p:nvSpPr>
          <p:cNvPr id="25" name="Shape 21"/>
          <p:cNvSpPr/>
          <p:nvPr/>
        </p:nvSpPr>
        <p:spPr>
          <a:xfrm>
            <a:off x="3438144" y="4489704"/>
            <a:ext cx="1225296" cy="0"/>
          </a:xfrm>
          <a:prstGeom prst="line">
            <a:avLst/>
          </a:prstGeom>
          <a:noFill/>
          <a:ln w="16510">
            <a:solidFill>
              <a:srgbClr val="4CEBFF">
                <a:alpha val="95000"/>
              </a:srgbClr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8942832" y="1847088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FFB24A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B24A">
                <a:alpha val="11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9107424" y="2103120"/>
            <a:ext cx="457200" cy="457200"/>
          </a:xfrm>
          <a:prstGeom prst="ellipse">
            <a:avLst/>
          </a:prstGeom>
          <a:solidFill>
            <a:srgbClr val="FFB24A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B24A">
                <a:alpha val="25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910742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9710928" y="199339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ENGINE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9710928" y="235000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Allowlist • schema • limits</a:t>
            </a:r>
            <a:endParaRPr lang="en-US" sz="930" dirty="0"/>
          </a:p>
        </p:txBody>
      </p:sp>
      <p:sp>
        <p:nvSpPr>
          <p:cNvPr id="31" name="Shape 27"/>
          <p:cNvSpPr/>
          <p:nvPr/>
        </p:nvSpPr>
        <p:spPr>
          <a:xfrm>
            <a:off x="8942832" y="2359152"/>
            <a:ext cx="-1207008" cy="0"/>
          </a:xfrm>
          <a:prstGeom prst="line">
            <a:avLst/>
          </a:prstGeom>
          <a:noFill/>
          <a:ln w="16510">
            <a:solidFill>
              <a:srgbClr val="FFB24A">
                <a:alpha val="95000"/>
              </a:srgbClr>
            </a:solidFill>
            <a:prstDash val="solid"/>
            <a:tailEnd type="triangle"/>
          </a:ln>
        </p:spPr>
      </p:sp>
      <p:sp>
        <p:nvSpPr>
          <p:cNvPr id="32" name="Shape 28"/>
          <p:cNvSpPr/>
          <p:nvPr/>
        </p:nvSpPr>
        <p:spPr>
          <a:xfrm>
            <a:off x="8796528" y="397764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176B9B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176B9B">
                <a:alpha val="11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8961120" y="4233672"/>
            <a:ext cx="457200" cy="457200"/>
          </a:xfrm>
          <a:prstGeom prst="ellipse">
            <a:avLst/>
          </a:prstGeom>
          <a:solidFill>
            <a:srgbClr val="176B9B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176B9B">
                <a:alpha val="25000"/>
              </a:srgbClr>
            </a:outerShdw>
          </a:effectLst>
        </p:spPr>
      </p:sp>
      <p:sp>
        <p:nvSpPr>
          <p:cNvPr id="34" name="Text 30"/>
          <p:cNvSpPr/>
          <p:nvPr/>
        </p:nvSpPr>
        <p:spPr>
          <a:xfrm>
            <a:off x="896112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9564624" y="4123944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SANDBOX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9564624" y="44805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 • timeout • egress</a:t>
            </a:r>
            <a:endParaRPr lang="en-US" sz="930" dirty="0"/>
          </a:p>
        </p:txBody>
      </p:sp>
      <p:sp>
        <p:nvSpPr>
          <p:cNvPr id="37" name="Shape 33"/>
          <p:cNvSpPr/>
          <p:nvPr/>
        </p:nvSpPr>
        <p:spPr>
          <a:xfrm>
            <a:off x="8796528" y="4489704"/>
            <a:ext cx="-1207008" cy="0"/>
          </a:xfrm>
          <a:prstGeom prst="line">
            <a:avLst/>
          </a:prstGeom>
          <a:noFill/>
          <a:ln w="16510">
            <a:solidFill>
              <a:srgbClr val="176B9B">
                <a:alpha val="95000"/>
              </a:srgbClr>
            </a:solidFill>
            <a:prstDash val="solid"/>
            <a:tailEnd type="triangle"/>
          </a:ln>
        </p:spPr>
      </p:sp>
      <p:sp>
        <p:nvSpPr>
          <p:cNvPr id="38" name="Shape 34"/>
          <p:cNvSpPr/>
          <p:nvPr/>
        </p:nvSpPr>
        <p:spPr>
          <a:xfrm>
            <a:off x="3456432" y="5650992"/>
            <a:ext cx="5285232" cy="292608"/>
          </a:xfrm>
          <a:prstGeom prst="roundRect">
            <a:avLst>
              <a:gd name="adj" fmla="val 46875"/>
            </a:avLst>
          </a:prstGeom>
          <a:solidFill>
            <a:srgbClr val="4CEBFF">
              <a:alpha val="97000"/>
            </a:srgbClr>
          </a:solidFill>
          <a:ln w="12700">
            <a:solidFill>
              <a:srgbClr val="4CEBFF">
                <a:alpha val="9000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493008" y="565099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  +  HUMAN APPROVAL  +  KILL SWITCH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566928" y="6537960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OWASP AI Agent Security Cheat Sheet; NIST AI RMF</a:t>
            </a:r>
            <a:endParaRPr lang="en-US" sz="650" dirty="0"/>
          </a:p>
        </p:txBody>
      </p:sp>
      <p:sp>
        <p:nvSpPr>
          <p:cNvPr id="41" name="Text 37"/>
          <p:cNvSpPr/>
          <p:nvPr/>
        </p:nvSpPr>
        <p:spPr>
          <a:xfrm>
            <a:off x="11173968" y="644652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57200"/>
            <a:ext cx="54864" cy="54864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  <a:effectLst>
            <a:outerShdw sx="100000" sy="100000" kx="0" ky="0" algn="bl" rotWithShape="0" blurRad="38100" dist="50800" dir="2700000">
              <a:srgbClr val="FF4C5E">
                <a:alpha val="5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0698480" y="1005840"/>
            <a:ext cx="54864" cy="54864"/>
          </a:xfrm>
          <a:prstGeom prst="ellipse">
            <a:avLst/>
          </a:prstGeom>
          <a:solidFill>
            <a:srgbClr val="FF7A30"/>
          </a:solidFill>
          <a:ln w="12700">
            <a:solidFill>
              <a:srgbClr val="FF7A30"/>
            </a:solidFill>
            <a:prstDash val="solid"/>
          </a:ln>
          <a:effectLst>
            <a:outerShdw sx="100000" sy="100000" kx="0" ky="0" algn="bl" rotWithShape="0" blurRad="38100" dist="50800" dir="2700000">
              <a:srgbClr val="FF7A30">
                <a:alpha val="5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6035040"/>
            <a:ext cx="54864" cy="54864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  <a:effectLst>
            <a:outerShdw sx="100000" sy="100000" kx="0" ky="0" algn="bl" rotWithShape="0" blurRad="38100" dist="50800" dir="2700000">
              <a:srgbClr val="FF4C5E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0" y="5760720"/>
            <a:ext cx="54864" cy="54864"/>
          </a:xfrm>
          <a:prstGeom prst="ellipse">
            <a:avLst/>
          </a:prstGeom>
          <a:solidFill>
            <a:srgbClr val="4CEBFF"/>
          </a:solidFill>
          <a:ln w="12700">
            <a:solidFill>
              <a:srgbClr val="4CEBFF"/>
            </a:solidFill>
            <a:prstDash val="solid"/>
          </a:ln>
          <a:effectLst>
            <a:outerShdw sx="100000" sy="100000" kx="0" ky="0" algn="bl" rotWithShape="0" blurRad="38100" dist="50800" dir="2700000">
              <a:srgbClr val="4CEBFF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C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TOOLS &amp; IDENTITY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6675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 controls the blast radius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85216" y="122529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 capability. Shortest time. Narrowest scope.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384048" cy="384048"/>
          </a:xfrm>
          <a:prstGeom prst="ellipse">
            <a:avLst/>
          </a:prstGeom>
          <a:solidFill>
            <a:srgbClr val="4CEBFF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4CEBFF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97864" y="176479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identity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97864" y="20574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shared admin tokens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58368" y="2542032"/>
            <a:ext cx="384048" cy="384048"/>
          </a:xfrm>
          <a:prstGeom prst="ellipse">
            <a:avLst/>
          </a:prstGeom>
          <a:solidFill>
            <a:srgbClr val="4CEBFF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4CEBFF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97864" y="2523744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allowlist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97864" y="28163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approved functions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58368" y="3300984"/>
            <a:ext cx="384048" cy="384048"/>
          </a:xfrm>
          <a:prstGeom prst="ellipse">
            <a:avLst/>
          </a:prstGeom>
          <a:solidFill>
            <a:srgbClr val="4CEBFF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4CEBFF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97864" y="3282696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arguments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97864" y="357530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strict schemas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58368" y="4059936"/>
            <a:ext cx="384048" cy="384048"/>
          </a:xfrm>
          <a:prstGeom prst="ellipse">
            <a:avLst/>
          </a:prstGeom>
          <a:solidFill>
            <a:srgbClr val="4CEBFF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4CEBFF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97864" y="404164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access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97864" y="43342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Folder, tenant, row, project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58368" y="4818888"/>
            <a:ext cx="384048" cy="384048"/>
          </a:xfrm>
          <a:prstGeom prst="ellipse">
            <a:avLst/>
          </a:prstGeom>
          <a:solidFill>
            <a:srgbClr val="4CEBFF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4CEBFF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8368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97864" y="4800600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Short-lived credentials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97864" y="50932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just-in-time and revoke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4069080" y="1755648"/>
            <a:ext cx="7424928" cy="4160520"/>
          </a:xfrm>
          <a:prstGeom prst="roundRect">
            <a:avLst>
              <a:gd name="adj" fmla="val 1758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4CEBFF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4CEBFF">
                <a:alpha val="11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370832" y="19842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4C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APPROVAL MATRIX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07408" y="254203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98080" y="25420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759952" y="2542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43400" y="2862072"/>
            <a:ext cx="6766560" cy="502920"/>
          </a:xfrm>
          <a:prstGeom prst="roundRect">
            <a:avLst>
              <a:gd name="adj" fmla="val 9091"/>
            </a:avLst>
          </a:prstGeom>
          <a:solidFill>
            <a:srgbClr val="0B1D28"/>
          </a:solidFill>
          <a:ln w="8890">
            <a:solidFill>
              <a:srgbClr val="40E0B5">
                <a:alpha val="28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53712" y="28620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public data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498080" y="28620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0E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759952" y="286207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DF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4343400" y="3520440"/>
            <a:ext cx="6766560" cy="502920"/>
          </a:xfrm>
          <a:prstGeom prst="roundRect">
            <a:avLst>
              <a:gd name="adj" fmla="val 9091"/>
            </a:avLst>
          </a:prstGeom>
          <a:solidFill>
            <a:srgbClr val="102A37"/>
          </a:solidFill>
          <a:ln w="8890">
            <a:solidFill>
              <a:srgbClr val="FFB24A">
                <a:alpha val="28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53712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internal data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498080" y="3520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759952" y="352044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DF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+ LOG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4343400" y="4178808"/>
            <a:ext cx="6766560" cy="502920"/>
          </a:xfrm>
          <a:prstGeom prst="roundRect">
            <a:avLst>
              <a:gd name="adj" fmla="val 9091"/>
            </a:avLst>
          </a:prstGeom>
          <a:solidFill>
            <a:srgbClr val="0B1D28"/>
          </a:solidFill>
          <a:ln w="8890">
            <a:solidFill>
              <a:srgbClr val="FF4C5E">
                <a:alpha val="28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53712" y="41788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or modify data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498080" y="41788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4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759952" y="417880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DF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4343400" y="4837176"/>
            <a:ext cx="6766560" cy="502920"/>
          </a:xfrm>
          <a:prstGeom prst="roundRect">
            <a:avLst>
              <a:gd name="adj" fmla="val 9091"/>
            </a:avLst>
          </a:prstGeom>
          <a:solidFill>
            <a:srgbClr val="102A37"/>
          </a:solidFill>
          <a:ln w="8890">
            <a:solidFill>
              <a:srgbClr val="8F7CFF">
                <a:alpha val="28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53712" y="48371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/ identity / production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498080" y="483717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759952" y="4837176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DF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TWO-PERSON CHECK</a:t>
            </a: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566928" y="6537960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OWASP AI Agent Security Cheat Sheet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11173968" y="644652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i-agent-security-redesign/theme-sof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A10">
              <a:alpha val="88000"/>
            </a:srgbClr>
          </a:solidFill>
          <a:ln w="12700">
            <a:solidFill>
              <a:srgbClr val="030A1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430000" y="457200"/>
            <a:ext cx="54864" cy="54864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  <a:effectLst>
            <a:outerShdw sx="100000" sy="100000" kx="0" ky="0" algn="bl" rotWithShape="0" blurRad="38100" dist="50800" dir="2700000">
              <a:srgbClr val="FF4C5E">
                <a:alpha val="5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698480" y="1005840"/>
            <a:ext cx="54864" cy="54864"/>
          </a:xfrm>
          <a:prstGeom prst="ellipse">
            <a:avLst/>
          </a:prstGeom>
          <a:solidFill>
            <a:srgbClr val="FF7A30"/>
          </a:solidFill>
          <a:ln w="12700">
            <a:solidFill>
              <a:srgbClr val="FF7A30"/>
            </a:solidFill>
            <a:prstDash val="solid"/>
          </a:ln>
          <a:effectLst>
            <a:outerShdw sx="100000" sy="100000" kx="0" ky="0" algn="bl" rotWithShape="0" blurRad="38100" dist="50800" dir="2700000">
              <a:srgbClr val="FF7A30">
                <a:alpha val="5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6035040"/>
            <a:ext cx="54864" cy="54864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  <a:effectLst>
            <a:outerShdw sx="100000" sy="100000" kx="0" ky="0" algn="bl" rotWithShape="0" blurRad="38100" dist="50800" dir="2700000">
              <a:srgbClr val="FF4C5E">
                <a:alpha val="5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0" y="5760720"/>
            <a:ext cx="54864" cy="54864"/>
          </a:xfrm>
          <a:prstGeom prst="ellipse">
            <a:avLst/>
          </a:prstGeom>
          <a:solidFill>
            <a:srgbClr val="4CEBFF"/>
          </a:solidFill>
          <a:ln w="12700">
            <a:solidFill>
              <a:srgbClr val="4CEBFF"/>
            </a:solidFill>
            <a:prstDash val="solid"/>
          </a:ln>
          <a:effectLst>
            <a:outerShdw sx="100000" sy="100000" kx="0" ky="0" algn="bl" rotWithShape="0" blurRad="38100" dist="50800" dir="2700000">
              <a:srgbClr val="4CEBFF">
                <a:alpha val="5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C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MEMORY &amp; DATA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66928" y="6675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memory as a database — not as truth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85216" y="122529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Persisted context can leak data, cross tenants, or alter future behavior.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77240" y="1828800"/>
            <a:ext cx="3840480" cy="621792"/>
          </a:xfrm>
          <a:prstGeom prst="chevron">
            <a:avLst/>
          </a:prstGeom>
          <a:solidFill>
            <a:srgbClr val="FF4C5E">
              <a:alpha val="97000"/>
            </a:srgbClr>
          </a:solidFill>
          <a:ln w="12700">
            <a:solidFill>
              <a:srgbClr val="FF4C5E"/>
            </a:solidFill>
            <a:prstDash val="solid"/>
          </a:ln>
          <a:effectLst>
            <a:outerShdw sx="100000" sy="100000" kx="0" ky="0" algn="bl" rotWithShape="0" blurRad="25400" dist="50800" dir="2700000">
              <a:srgbClr val="FF4C5E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86968" y="1901952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214884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3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• remove secrets • provenance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1106424" y="2670048"/>
            <a:ext cx="3182112" cy="621792"/>
          </a:xfrm>
          <a:prstGeom prst="chevron">
            <a:avLst/>
          </a:prstGeom>
          <a:solidFill>
            <a:srgbClr val="FFB24A">
              <a:alpha val="97000"/>
            </a:srgbClr>
          </a:solidFill>
          <a:ln w="12700">
            <a:solidFill>
              <a:srgbClr val="FFB24A"/>
            </a:solidFill>
            <a:prstDash val="solid"/>
          </a:ln>
          <a:effectLst>
            <a:outerShdw sx="100000" sy="100000" kx="0" ky="0" algn="bl" rotWithShape="0" blurRad="25400" dist="50800" dir="2700000">
              <a:srgbClr val="FFB24A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216152" y="2743200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43584" y="2990088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3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• malware • content policy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1435608" y="3511296"/>
            <a:ext cx="2523744" cy="621792"/>
          </a:xfrm>
          <a:prstGeom prst="chevron">
            <a:avLst/>
          </a:prstGeom>
          <a:solidFill>
            <a:srgbClr val="4CEBFF">
              <a:alpha val="97000"/>
            </a:srgbClr>
          </a:solidFill>
          <a:ln w="12700">
            <a:solidFill>
              <a:srgbClr val="4CEBFF"/>
            </a:solidFill>
            <a:prstDash val="solid"/>
          </a:ln>
          <a:effectLst>
            <a:outerShdw sx="100000" sy="100000" kx="0" ky="0" algn="bl" rotWithShape="0" blurRad="25400" dist="50800" dir="2700000">
              <a:srgbClr val="4CEBFF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545336" y="358444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572768" y="3831336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3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isolation • TTL • encryption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1764792" y="4352544"/>
            <a:ext cx="1865376" cy="621792"/>
          </a:xfrm>
          <a:prstGeom prst="chevron">
            <a:avLst/>
          </a:prstGeom>
          <a:solidFill>
            <a:srgbClr val="176B9B">
              <a:alpha val="97000"/>
            </a:srgbClr>
          </a:solidFill>
          <a:ln w="12700">
            <a:solidFill>
              <a:srgbClr val="176B9B"/>
            </a:solidFill>
            <a:prstDash val="solid"/>
          </a:ln>
          <a:effectLst>
            <a:outerShdw sx="100000" sy="100000" kx="0" ky="0" algn="bl" rotWithShape="0" blurRad="25400" dist="50800" dir="2700000">
              <a:srgbClr val="176B9B">
                <a:alpha val="1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1874520" y="44256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901952" y="4672584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3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Need-to-know • purpose bound</a:t>
            </a:r>
            <a:endParaRPr lang="en-US" sz="830" dirty="0"/>
          </a:p>
        </p:txBody>
      </p:sp>
      <p:sp>
        <p:nvSpPr>
          <p:cNvPr id="23" name="Shape 20"/>
          <p:cNvSpPr/>
          <p:nvPr/>
        </p:nvSpPr>
        <p:spPr>
          <a:xfrm>
            <a:off x="5166360" y="182880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4CEBFF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4CEBFF">
                <a:alpha val="11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349240" y="2011680"/>
            <a:ext cx="420624" cy="420624"/>
          </a:xfrm>
          <a:prstGeom prst="ellipse">
            <a:avLst/>
          </a:prstGeom>
          <a:solidFill>
            <a:srgbClr val="4CEBFF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4CEBFF">
                <a:alpha val="2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34924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916168" y="2002536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385816" y="2505456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wrote it, when, and from what source?</a:t>
            </a:r>
            <a:endParaRPr lang="en-US" sz="980" dirty="0"/>
          </a:p>
        </p:txBody>
      </p:sp>
      <p:sp>
        <p:nvSpPr>
          <p:cNvPr id="28" name="Shape 25"/>
          <p:cNvSpPr/>
          <p:nvPr/>
        </p:nvSpPr>
        <p:spPr>
          <a:xfrm>
            <a:off x="8293608" y="182880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FFB24A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B24A">
                <a:alpha val="11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8476488" y="2011680"/>
            <a:ext cx="420624" cy="420624"/>
          </a:xfrm>
          <a:prstGeom prst="ellipse">
            <a:avLst/>
          </a:prstGeom>
          <a:solidFill>
            <a:srgbClr val="FFB24A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B24A">
                <a:alpha val="2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8476488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9043416" y="2002536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8513064" y="2505456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one user or agent influence another?</a:t>
            </a:r>
            <a:endParaRPr lang="en-US" sz="980" dirty="0"/>
          </a:p>
        </p:txBody>
      </p:sp>
      <p:sp>
        <p:nvSpPr>
          <p:cNvPr id="33" name="Shape 30"/>
          <p:cNvSpPr/>
          <p:nvPr/>
        </p:nvSpPr>
        <p:spPr>
          <a:xfrm>
            <a:off x="5166360" y="370332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8F7CFF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8F7CFF">
                <a:alpha val="11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349240" y="3886200"/>
            <a:ext cx="420624" cy="420624"/>
          </a:xfrm>
          <a:prstGeom prst="ellipse">
            <a:avLst/>
          </a:prstGeom>
          <a:solidFill>
            <a:srgbClr val="8F7CFF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8F7CFF">
                <a:alpha val="25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34924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916168" y="3877056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REVERSIBILITY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5385816" y="4379976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operators inspect, expire, and delete it?</a:t>
            </a:r>
            <a:endParaRPr lang="en-US" sz="980" dirty="0"/>
          </a:p>
        </p:txBody>
      </p:sp>
      <p:sp>
        <p:nvSpPr>
          <p:cNvPr id="38" name="Shape 35"/>
          <p:cNvSpPr/>
          <p:nvPr/>
        </p:nvSpPr>
        <p:spPr>
          <a:xfrm>
            <a:off x="8293608" y="370332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FF4C5E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4C5E">
                <a:alpha val="11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8476488" y="3886200"/>
            <a:ext cx="420624" cy="420624"/>
          </a:xfrm>
          <a:prstGeom prst="ellipse">
            <a:avLst/>
          </a:prstGeom>
          <a:solidFill>
            <a:srgbClr val="FF4C5E">
              <a:alpha val="97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4C5E">
                <a:alpha val="25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8476488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9043416" y="3877056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DLP + MINIMIZATION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8513064" y="4379976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sensitive fields excluded or tokenized?</a:t>
            </a:r>
            <a:endParaRPr lang="en-US" sz="980" dirty="0"/>
          </a:p>
        </p:txBody>
      </p:sp>
      <p:sp>
        <p:nvSpPr>
          <p:cNvPr id="43" name="Shape 40"/>
          <p:cNvSpPr/>
          <p:nvPr/>
        </p:nvSpPr>
        <p:spPr>
          <a:xfrm>
            <a:off x="5230368" y="5559552"/>
            <a:ext cx="5815584" cy="292608"/>
          </a:xfrm>
          <a:prstGeom prst="roundRect">
            <a:avLst>
              <a:gd name="adj" fmla="val 46875"/>
            </a:avLst>
          </a:prstGeom>
          <a:solidFill>
            <a:srgbClr val="4CEBFF">
              <a:alpha val="97000"/>
            </a:srgbClr>
          </a:solidFill>
          <a:ln w="12700">
            <a:solidFill>
              <a:srgbClr val="4CEBFF">
                <a:alpha val="90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266944" y="5559552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 CONTENT NEVER WRITES DURABLE MEMORY WITHOUT POLICY CHECKS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566928" y="6537960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OWASP AI Agent Security Cheat Sheet; OWASP ASI06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11173968" y="644652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457200"/>
            <a:ext cx="54864" cy="54864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  <a:effectLst>
            <a:outerShdw sx="100000" sy="100000" kx="0" ky="0" algn="bl" rotWithShape="0" blurRad="38100" dist="50800" dir="2700000">
              <a:srgbClr val="FF4C5E">
                <a:alpha val="5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0698480" y="1005840"/>
            <a:ext cx="54864" cy="54864"/>
          </a:xfrm>
          <a:prstGeom prst="ellipse">
            <a:avLst/>
          </a:prstGeom>
          <a:solidFill>
            <a:srgbClr val="FF7A30"/>
          </a:solidFill>
          <a:ln w="12700">
            <a:solidFill>
              <a:srgbClr val="FF7A30"/>
            </a:solidFill>
            <a:prstDash val="solid"/>
          </a:ln>
          <a:effectLst>
            <a:outerShdw sx="100000" sy="100000" kx="0" ky="0" algn="bl" rotWithShape="0" blurRad="38100" dist="50800" dir="2700000">
              <a:srgbClr val="FF7A30">
                <a:alpha val="5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6035040"/>
            <a:ext cx="54864" cy="54864"/>
          </a:xfrm>
          <a:prstGeom prst="ellipse">
            <a:avLst/>
          </a:prstGeom>
          <a:solidFill>
            <a:srgbClr val="FF4C5E"/>
          </a:solidFill>
          <a:ln w="12700">
            <a:solidFill>
              <a:srgbClr val="FF4C5E"/>
            </a:solidFill>
            <a:prstDash val="solid"/>
          </a:ln>
          <a:effectLst>
            <a:outerShdw sx="100000" sy="100000" kx="0" ky="0" algn="bl" rotWithShape="0" blurRad="38100" dist="50800" dir="2700000">
              <a:srgbClr val="FF4C5E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0" y="5760720"/>
            <a:ext cx="54864" cy="54864"/>
          </a:xfrm>
          <a:prstGeom prst="ellipse">
            <a:avLst/>
          </a:prstGeom>
          <a:solidFill>
            <a:srgbClr val="4CEBFF"/>
          </a:solidFill>
          <a:ln w="12700">
            <a:solidFill>
              <a:srgbClr val="4CEBFF"/>
            </a:solidFill>
            <a:prstDash val="solid"/>
          </a:ln>
          <a:effectLst>
            <a:outerShdw sx="100000" sy="100000" kx="0" ky="0" algn="bl" rotWithShape="0" blurRad="38100" dist="50800" dir="2700000">
              <a:srgbClr val="4CEBFF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C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OPERATIONS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6675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is a continuous control loop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85216" y="122529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behavior, observe decisions, contain incidents, and learn.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2057400"/>
            <a:ext cx="1828800" cy="960120"/>
          </a:xfrm>
          <a:prstGeom prst="ellipse">
            <a:avLst/>
          </a:prstGeom>
          <a:solidFill>
            <a:srgbClr val="FF4C5E">
              <a:alpha val="9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4C5E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24128" y="218541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2660904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F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• actors • tools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3154680" y="1691640"/>
            <a:ext cx="1828800" cy="960120"/>
          </a:xfrm>
          <a:prstGeom prst="ellipse">
            <a:avLst/>
          </a:prstGeom>
          <a:solidFill>
            <a:srgbClr val="FFB24A">
              <a:alpha val="9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B24A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64408" y="181965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46120" y="2295144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F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• abuse • regression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5715000" y="1691640"/>
            <a:ext cx="1828800" cy="960120"/>
          </a:xfrm>
          <a:prstGeom prst="ellipse">
            <a:avLst/>
          </a:prstGeom>
          <a:solidFill>
            <a:srgbClr val="4CEBFF">
              <a:alpha val="9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4CEBFF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24728" y="181965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06440" y="2295144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F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• calls • outcomes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8229600" y="2057400"/>
            <a:ext cx="1828800" cy="960120"/>
          </a:xfrm>
          <a:prstGeom prst="ellipse">
            <a:avLst/>
          </a:prstGeom>
          <a:solidFill>
            <a:srgbClr val="176B9B">
              <a:alpha val="9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176B9B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39328" y="218541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21040" y="2660904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F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• revoke • isolate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4754880" y="4434840"/>
            <a:ext cx="1828800" cy="960120"/>
          </a:xfrm>
          <a:prstGeom prst="ellipse">
            <a:avLst/>
          </a:prstGeom>
          <a:solidFill>
            <a:srgbClr val="8F7CFF">
              <a:alpha val="9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8F7CFF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64608" y="456285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5038344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DF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• tests • training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2743200" y="2331720"/>
            <a:ext cx="457200" cy="-164592"/>
          </a:xfrm>
          <a:prstGeom prst="line">
            <a:avLst/>
          </a:prstGeom>
          <a:noFill/>
          <a:ln w="16510">
            <a:solidFill>
              <a:srgbClr val="91B6C3">
                <a:alpha val="95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010912" y="2176272"/>
            <a:ext cx="640080" cy="0"/>
          </a:xfrm>
          <a:prstGeom prst="line">
            <a:avLst/>
          </a:prstGeom>
          <a:noFill/>
          <a:ln w="16510">
            <a:solidFill>
              <a:srgbClr val="91B6C3">
                <a:alpha val="95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571232" y="2176272"/>
            <a:ext cx="594360" cy="164592"/>
          </a:xfrm>
          <a:prstGeom prst="line">
            <a:avLst/>
          </a:prstGeom>
          <a:noFill/>
          <a:ln w="16510">
            <a:solidFill>
              <a:srgbClr val="91B6C3">
                <a:alpha val="95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641080" y="3054096"/>
            <a:ext cx="-2103120" cy="1572768"/>
          </a:xfrm>
          <a:prstGeom prst="line">
            <a:avLst/>
          </a:prstGeom>
          <a:noFill/>
          <a:ln w="16510">
            <a:solidFill>
              <a:srgbClr val="91B6C3">
                <a:alpha val="95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754880" y="4910328"/>
            <a:ext cx="-2331720" cy="-1600200"/>
          </a:xfrm>
          <a:prstGeom prst="line">
            <a:avLst/>
          </a:prstGeom>
          <a:noFill/>
          <a:ln w="16510">
            <a:solidFill>
              <a:srgbClr val="91B6C3">
                <a:alpha val="95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58368" y="4443984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0B1D28">
              <a:alpha val="92000"/>
            </a:srgbClr>
          </a:solidFill>
          <a:ln w="13970">
            <a:solidFill>
              <a:srgbClr val="4CEBFF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4CEBFF">
                <a:alpha val="11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96112" y="46725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C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SIGNALS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96112" y="506577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DF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denied / overridden  •  Unexpected egress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DF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 escalation  •  Memory-write anomaly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DF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plan loops  •  Approval bypass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566928" y="6537960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B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NIST AI RMF — Govern, Map, Measure, Manage; MITRE ATLAS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11173968" y="644652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i-agent-security-redesign/theme-r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0"/>
            <a:ext cx="57424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A10">
              <a:alpha val="72000"/>
            </a:srgbClr>
          </a:solidFill>
          <a:ln w="12700">
            <a:solidFill>
              <a:srgbClr val="030A1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7040880" cy="6858000"/>
          </a:xfrm>
          <a:prstGeom prst="rect">
            <a:avLst/>
          </a:prstGeom>
          <a:solidFill>
            <a:srgbClr val="030A10">
              <a:alpha val="96000"/>
            </a:srgbClr>
          </a:solidFill>
          <a:ln w="12700">
            <a:solidFill>
              <a:srgbClr val="030A1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8368" y="566928"/>
            <a:ext cx="1691640" cy="292608"/>
          </a:xfrm>
          <a:prstGeom prst="roundRect">
            <a:avLst>
              <a:gd name="adj" fmla="val 46875"/>
            </a:avLst>
          </a:prstGeom>
          <a:solidFill>
            <a:srgbClr val="4CEBFF">
              <a:alpha val="97000"/>
            </a:srgbClr>
          </a:solidFill>
          <a:ln w="12700">
            <a:solidFill>
              <a:srgbClr val="4CEBFF">
                <a:alpha val="9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4944" y="566928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ACTION PLAN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58368" y="1124712"/>
            <a:ext cx="53492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your first agent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four weeks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94944" y="23408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C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blast radius. Then earn autonomy.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2907792"/>
            <a:ext cx="2578608" cy="1069848"/>
          </a:xfrm>
          <a:prstGeom prst="roundRect">
            <a:avLst>
              <a:gd name="adj" fmla="val 6838"/>
            </a:avLst>
          </a:prstGeom>
          <a:solidFill>
            <a:srgbClr val="0B1D28">
              <a:alpha val="97000"/>
            </a:srgbClr>
          </a:solidFill>
          <a:ln w="13970">
            <a:solidFill>
              <a:srgbClr val="4CEBFF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4CEBFF">
                <a:alpha val="11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0392" y="303580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4C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850392" y="329184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50392" y="35935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data, tools, identities, and high-impact actions.</a:t>
            </a:r>
            <a:endParaRPr lang="en-US" sz="860" dirty="0"/>
          </a:p>
        </p:txBody>
      </p:sp>
      <p:sp>
        <p:nvSpPr>
          <p:cNvPr id="13" name="Shape 10"/>
          <p:cNvSpPr/>
          <p:nvPr/>
        </p:nvSpPr>
        <p:spPr>
          <a:xfrm>
            <a:off x="3520440" y="2907792"/>
            <a:ext cx="2578608" cy="1069848"/>
          </a:xfrm>
          <a:prstGeom prst="roundRect">
            <a:avLst>
              <a:gd name="adj" fmla="val 6838"/>
            </a:avLst>
          </a:prstGeom>
          <a:solidFill>
            <a:srgbClr val="0B1D28">
              <a:alpha val="97000"/>
            </a:srgbClr>
          </a:solidFill>
          <a:ln w="13970">
            <a:solidFill>
              <a:srgbClr val="FFB24A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B24A">
                <a:alpha val="11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685032" y="303580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B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3685032" y="329184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685032" y="35935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scoped credentials, schemas, approvals, and sandboxing.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685800" y="4215384"/>
            <a:ext cx="2578608" cy="1069848"/>
          </a:xfrm>
          <a:prstGeom prst="roundRect">
            <a:avLst>
              <a:gd name="adj" fmla="val 6838"/>
            </a:avLst>
          </a:prstGeom>
          <a:solidFill>
            <a:srgbClr val="0B1D28">
              <a:alpha val="97000"/>
            </a:srgbClr>
          </a:solidFill>
          <a:ln w="13970">
            <a:solidFill>
              <a:srgbClr val="FF4C5E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F4C5E">
                <a:alpha val="11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50392" y="434340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4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50392" y="459943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50392" y="49011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injection, memory poisoning, and tool abuse.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3520440" y="4215384"/>
            <a:ext cx="2578608" cy="1069848"/>
          </a:xfrm>
          <a:prstGeom prst="roundRect">
            <a:avLst>
              <a:gd name="adj" fmla="val 6838"/>
            </a:avLst>
          </a:prstGeom>
          <a:solidFill>
            <a:srgbClr val="0B1D28">
              <a:alpha val="97000"/>
            </a:srgbClr>
          </a:solidFill>
          <a:ln w="13970">
            <a:solidFill>
              <a:srgbClr val="8F7CFF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8F7CFF">
                <a:alpha val="11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685032" y="434340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8F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830" dirty="0"/>
          </a:p>
        </p:txBody>
      </p:sp>
      <p:sp>
        <p:nvSpPr>
          <p:cNvPr id="23" name="Text 20"/>
          <p:cNvSpPr/>
          <p:nvPr/>
        </p:nvSpPr>
        <p:spPr>
          <a:xfrm>
            <a:off x="3685032" y="459943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685032" y="49011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audit, alerts, kill switch, and incident playbook.</a:t>
            </a:r>
            <a:endParaRPr lang="en-US" sz="860" dirty="0"/>
          </a:p>
        </p:txBody>
      </p:sp>
      <p:sp>
        <p:nvSpPr>
          <p:cNvPr id="25" name="Shape 22"/>
          <p:cNvSpPr/>
          <p:nvPr/>
        </p:nvSpPr>
        <p:spPr>
          <a:xfrm>
            <a:off x="6821424" y="603504"/>
            <a:ext cx="201168" cy="0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26" name="Shape 23"/>
          <p:cNvSpPr/>
          <p:nvPr/>
        </p:nvSpPr>
        <p:spPr>
          <a:xfrm>
            <a:off x="6821424" y="603504"/>
            <a:ext cx="0" cy="201168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27" name="Shape 24"/>
          <p:cNvSpPr/>
          <p:nvPr/>
        </p:nvSpPr>
        <p:spPr>
          <a:xfrm>
            <a:off x="11329416" y="603504"/>
            <a:ext cx="201168" cy="0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28" name="Shape 25"/>
          <p:cNvSpPr/>
          <p:nvPr/>
        </p:nvSpPr>
        <p:spPr>
          <a:xfrm>
            <a:off x="11530584" y="603504"/>
            <a:ext cx="0" cy="201168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29" name="Shape 26"/>
          <p:cNvSpPr/>
          <p:nvPr/>
        </p:nvSpPr>
        <p:spPr>
          <a:xfrm>
            <a:off x="6821424" y="5888736"/>
            <a:ext cx="201168" cy="0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30" name="Shape 27"/>
          <p:cNvSpPr/>
          <p:nvPr/>
        </p:nvSpPr>
        <p:spPr>
          <a:xfrm>
            <a:off x="6821424" y="5687568"/>
            <a:ext cx="0" cy="201168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31" name="Shape 28"/>
          <p:cNvSpPr/>
          <p:nvPr/>
        </p:nvSpPr>
        <p:spPr>
          <a:xfrm>
            <a:off x="11329416" y="5888736"/>
            <a:ext cx="201168" cy="0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32" name="Shape 29"/>
          <p:cNvSpPr/>
          <p:nvPr/>
        </p:nvSpPr>
        <p:spPr>
          <a:xfrm>
            <a:off x="11530584" y="5687568"/>
            <a:ext cx="0" cy="201168"/>
          </a:xfrm>
          <a:prstGeom prst="line">
            <a:avLst/>
          </a:prstGeom>
          <a:noFill/>
          <a:ln w="19050">
            <a:solidFill>
              <a:srgbClr val="4CEBFF">
                <a:alpha val="95000"/>
              </a:srgbClr>
            </a:solidFill>
            <a:prstDash val="solid"/>
            <a:tailEnd type="none"/>
          </a:ln>
        </p:spPr>
      </p:sp>
      <p:sp>
        <p:nvSpPr>
          <p:cNvPr id="33" name="Shape 30"/>
          <p:cNvSpPr/>
          <p:nvPr/>
        </p:nvSpPr>
        <p:spPr>
          <a:xfrm>
            <a:off x="7059168" y="4224528"/>
            <a:ext cx="4206240" cy="1115568"/>
          </a:xfrm>
          <a:prstGeom prst="roundRect">
            <a:avLst>
              <a:gd name="adj" fmla="val 6557"/>
            </a:avLst>
          </a:prstGeom>
          <a:solidFill>
            <a:srgbClr val="030A10">
              <a:alpha val="76000"/>
            </a:srgbClr>
          </a:solidFill>
          <a:ln w="13970">
            <a:solidFill>
              <a:srgbClr val="4CEBFF">
                <a:alpha val="6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4CEBFF">
                <a:alpha val="11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7333488" y="446227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OUTPUT IS DATA —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AUTHORITY</a:t>
            </a:r>
            <a:endParaRPr lang="en-US" sz="1900" dirty="0"/>
          </a:p>
        </p:txBody>
      </p:sp>
      <p:sp>
        <p:nvSpPr>
          <p:cNvPr id="35" name="Text 32"/>
          <p:cNvSpPr/>
          <p:nvPr/>
        </p:nvSpPr>
        <p:spPr>
          <a:xfrm>
            <a:off x="694944" y="59253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enables responsible autonomy.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694944" y="63459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 •  NIST AI RMF  •  MITRE ATLAS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8851392" y="6355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1B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Tertiary Infotech Academy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Tertiary Infotech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Security for AI Agents</dc:title>
  <dc:subject>AI Security for AI Agents — Neon Cybersecurity Edition</dc:subject>
  <dc:creator>Tertiary Infotech Academy</dc:creator>
  <cp:lastModifiedBy>Tertiary Infotech Academy</cp:lastModifiedBy>
  <cp:revision>1</cp:revision>
  <dcterms:created xsi:type="dcterms:W3CDTF">2026-08-25T15:59:17Z</dcterms:created>
  <dcterms:modified xsi:type="dcterms:W3CDTF">2026-08-25T15:59:17Z</dcterms:modified>
</cp:coreProperties>
</file>