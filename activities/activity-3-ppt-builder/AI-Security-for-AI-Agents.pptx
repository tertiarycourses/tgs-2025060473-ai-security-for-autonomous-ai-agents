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difference: an AI agent is not only a model. It is a model connected to tools, data, memory, identities, and action channels. Security must constrain the whole system, not just filter model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four-stage loop. Traditional application security still applies, but the agent adds probabilistic planning and natural-language control. Emphasize the risk equation as a prioritization heuristic, not a formal quantitative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most important boundary is usually between model output and tool execution. A model suggestion is data; the tool gateway decides whether that data becomes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six categories as a practical threat-modeling checklist. A single prompt injection may be harmless until it reaches an agent with broad credentials, a powerful shell tool, and persistent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representative attack path. Controls should be layered because prompt-injection detection is imperfect. The safest design assumes some malicious instructions will reach the model and still prevents unauthorized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guardrails inside the prompt are not enough. The control plane must sit outside the model: identity, policy evaluation, argument validation, sandboxing, monitoring, approval, and shutdown.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should be based on impact, not on how confident the model sounds. High-impact operations include deletes, payments, privilege changes, production deployments, and externally visible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poisoning is dangerous because the malicious instruction outlives the original interaction. Keep provenance, tenant boundaries, retention limits, and operator controls. Separate user preferences from executable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security needs behavioral telemetry: who initiated the goal, what context was supplied, which policy evaluated the call, which arguments were used, what changed, and whether a human approved. Protect logs because they may contain sensitive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30-day plan. The goal is not to remove autonomy; it is to make autonomy bounded, attributable, observable, and reversible. Invite the audience to select one agent and complete the Week 1 inventory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75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FOR AI AGENTS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961120" y="651967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Infotech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594360"/>
            <a:ext cx="164592" cy="164592"/>
          </a:xfrm>
          <a:prstGeom prst="ellipse">
            <a:avLst/>
          </a:prstGeom>
          <a:solidFill>
            <a:srgbClr val="C7F464">
              <a:alpha val="90000"/>
            </a:srgbClr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59436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66751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59436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6751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594360"/>
            <a:ext cx="164592" cy="164592"/>
          </a:xfrm>
          <a:prstGeom prst="ellipse">
            <a:avLst/>
          </a:prstGeom>
          <a:solidFill>
            <a:srgbClr val="C7F464">
              <a:alpha val="90000"/>
            </a:srgbClr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4120" y="66751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182880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90195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182880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190195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1828800"/>
            <a:ext cx="164592" cy="164592"/>
          </a:xfrm>
          <a:prstGeom prst="ellipse">
            <a:avLst/>
          </a:prstGeom>
          <a:solidFill>
            <a:srgbClr val="C7F464">
              <a:alpha val="90000"/>
            </a:srgbClr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190195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182880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04120" y="190195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06324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13639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3063240"/>
            <a:ext cx="164592" cy="164592"/>
          </a:xfrm>
          <a:prstGeom prst="ellipse">
            <a:avLst/>
          </a:prstGeom>
          <a:solidFill>
            <a:srgbClr val="C7F464">
              <a:alpha val="90000"/>
            </a:srgbClr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313639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306324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313639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44200" y="3063240"/>
            <a:ext cx="164592" cy="164592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3136392"/>
            <a:ext cx="640080" cy="32004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4297680"/>
            <a:ext cx="164592" cy="164592"/>
          </a:xfrm>
          <a:prstGeom prst="ellipse">
            <a:avLst/>
          </a:prstGeom>
          <a:solidFill>
            <a:srgbClr val="C7F464">
              <a:alpha val="90000"/>
            </a:srgbClr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4370832"/>
            <a:ext cx="640080" cy="-228600"/>
          </a:xfrm>
          <a:prstGeom prst="line">
            <a:avLst/>
          </a:prstGeom>
          <a:noFill/>
          <a:ln w="15240">
            <a:solidFill>
              <a:srgbClr val="657780">
                <a:alpha val="6500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41080" y="1965960"/>
            <a:ext cx="2057400" cy="20574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85800" y="658368"/>
            <a:ext cx="2606040" cy="320040"/>
          </a:xfrm>
          <a:prstGeom prst="roundRect">
            <a:avLst>
              <a:gd name="adj" fmla="val 4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658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10-SLIDE EXECUTIVE BRIEFING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1353312"/>
            <a:ext cx="6537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Security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Agents</a:t>
            </a:r>
            <a:endParaRPr lang="en-US" sz="40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" y="331012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D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trustworthy agents that can reason, remember, use tools — and still stay within bounds.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" y="49194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F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 •  Architecture  •  Controls  •  Operations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" y="6126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Infotech Academy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SHIFT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turns language into action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creates a new trust boundary — and a new failure mode.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2331720" cy="2240280"/>
          </a:xfrm>
          <a:prstGeom prst="roundRect">
            <a:avLst>
              <a:gd name="adj" fmla="val 4898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212848"/>
            <a:ext cx="438912" cy="43891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761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1821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files, web,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72384" y="3108960"/>
            <a:ext cx="347472" cy="0"/>
          </a:xfrm>
          <a:prstGeom prst="line">
            <a:avLst/>
          </a:prstGeom>
          <a:noFill/>
          <a:ln w="1778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02152" y="1993392"/>
            <a:ext cx="2331720" cy="2240280"/>
          </a:xfrm>
          <a:prstGeom prst="roundRect">
            <a:avLst>
              <a:gd name="adj" fmla="val 4898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2212848"/>
            <a:ext cx="438912" cy="43891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0332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761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1821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select, sequence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88736" y="3108960"/>
            <a:ext cx="347472" cy="0"/>
          </a:xfrm>
          <a:prstGeom prst="line">
            <a:avLst/>
          </a:prstGeom>
          <a:noFill/>
          <a:ln w="1778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18504" y="1993392"/>
            <a:ext cx="2331720" cy="2240280"/>
          </a:xfrm>
          <a:prstGeom prst="roundRect">
            <a:avLst>
              <a:gd name="adj" fmla="val 4898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2212848"/>
            <a:ext cx="438912" cy="438912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761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1821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code, transactions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05088" y="3108960"/>
            <a:ext cx="347472" cy="0"/>
          </a:xfrm>
          <a:prstGeom prst="line">
            <a:avLst/>
          </a:prstGeom>
          <a:noFill/>
          <a:ln w="1778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34856" y="1993392"/>
            <a:ext cx="2331720" cy="2240280"/>
          </a:xfrm>
          <a:prstGeom prst="roundRect">
            <a:avLst>
              <a:gd name="adj" fmla="val 4898"/>
            </a:avLst>
          </a:prstGeom>
          <a:solidFill>
            <a:srgbClr val="E8E4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36024" y="2212848"/>
            <a:ext cx="438912" cy="438912"/>
          </a:xfrm>
          <a:prstGeom prst="ellipse">
            <a:avLst/>
          </a:prstGeom>
          <a:solidFill>
            <a:srgbClr val="7467C5"/>
          </a:solidFill>
          <a:ln w="12700">
            <a:solidFill>
              <a:srgbClr val="7467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36024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761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31821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profiles, long-term memory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0120" y="4617720"/>
            <a:ext cx="10149840" cy="1051560"/>
          </a:xfrm>
          <a:prstGeom prst="roundRect">
            <a:avLst>
              <a:gd name="adj" fmla="val 10435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261872" y="4791456"/>
            <a:ext cx="9555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= autonomy × privilege × exposure × persistence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2423160" y="527608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1E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any factor and the blast radius drops.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NIST AI RMF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ATTACK SURFACE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only one component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orchestration layer where untrusted content meets privileged tools.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04088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50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• web • email • files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2395728"/>
            <a:ext cx="256032" cy="0"/>
          </a:xfrm>
          <a:prstGeom prst="line">
            <a:avLst/>
          </a:prstGeom>
          <a:noFill/>
          <a:ln w="1524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20116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90088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BUILDER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450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• RAG • policies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0" y="2395728"/>
            <a:ext cx="256032" cy="0"/>
          </a:xfrm>
          <a:prstGeom prst="line">
            <a:avLst/>
          </a:prstGeom>
          <a:noFill/>
          <a:ln w="1524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2011680"/>
            <a:ext cx="1874520" cy="777240"/>
          </a:xfrm>
          <a:prstGeom prst="roundRect">
            <a:avLst>
              <a:gd name="adj" fmla="val 14118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76088" y="2139696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PLANNER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4505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• decide • route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86600" y="2395728"/>
            <a:ext cx="256032" cy="0"/>
          </a:xfrm>
          <a:prstGeom prst="line">
            <a:avLst/>
          </a:prstGeom>
          <a:noFill/>
          <a:ln w="1524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201168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E8E4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24928" y="213969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6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GATEWAY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4505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• validate • approve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2395728"/>
            <a:ext cx="256032" cy="0"/>
          </a:xfrm>
          <a:prstGeom prst="line">
            <a:avLst/>
          </a:prstGeom>
          <a:noFill/>
          <a:ln w="1524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18320" y="201168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528048" y="2139696"/>
            <a:ext cx="1929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SYSTEMS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4505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• code • finance • OT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822192"/>
            <a:ext cx="1234440" cy="1234440"/>
          </a:xfrm>
          <a:prstGeom prst="ellipse">
            <a:avLst/>
          </a:prstGeom>
          <a:solidFill>
            <a:srgbClr val="00A6A6">
              <a:alpha val="96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51846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5468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principal is acting?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71800" y="3822192"/>
            <a:ext cx="1234440" cy="1234440"/>
          </a:xfrm>
          <a:prstGeom prst="ellipse">
            <a:avLst/>
          </a:prstGeom>
          <a:solidFill>
            <a:srgbClr val="3F7CAC">
              <a:alpha val="96000"/>
            </a:srgbClr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7180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51846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5468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enter or leave?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0" y="3822192"/>
            <a:ext cx="1234440" cy="1234440"/>
          </a:xfrm>
          <a:prstGeom prst="ellipse">
            <a:avLst/>
          </a:prstGeom>
          <a:solidFill>
            <a:srgbClr val="FFB84D">
              <a:alpha val="96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51846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5468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action is allowed?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52360" y="3822192"/>
            <a:ext cx="1234440" cy="1234440"/>
          </a:xfrm>
          <a:prstGeom prst="ellipse">
            <a:avLst/>
          </a:prstGeom>
          <a:solidFill>
            <a:srgbClr val="7467C5">
              <a:alpha val="96000"/>
            </a:srgbClr>
          </a:solidFill>
          <a:ln w="12700">
            <a:solidFill>
              <a:srgbClr val="7467C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36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51846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5468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persists and for whom?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92640" y="3822192"/>
            <a:ext cx="1234440" cy="1234440"/>
          </a:xfrm>
          <a:prstGeom prst="ellipse">
            <a:avLst/>
          </a:prstGeom>
          <a:solidFill>
            <a:srgbClr val="F45B69">
              <a:alpha val="96000"/>
            </a:srgbClr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92640" y="39684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51846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546811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explain and stop it?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MITRE ATLAS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THREAT LANDSCAPE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failure modes to design against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attacks often chain across context, identity, tools, and memory.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75688"/>
            <a:ext cx="512064" cy="512064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90472" y="250545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instructions override the intended goal.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075688"/>
            <a:ext cx="512064" cy="512064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12664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12664" y="250545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tools are called with unsafe arguments.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207568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7344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abuse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50545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or shared credentials amplify impact.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041648"/>
            <a:ext cx="512064" cy="512064"/>
          </a:xfrm>
          <a:prstGeom prst="ellipse">
            <a:avLst/>
          </a:prstGeom>
          <a:solidFill>
            <a:srgbClr val="7467C5"/>
          </a:solidFill>
          <a:ln w="12700">
            <a:solidFill>
              <a:srgbClr val="746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90472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poisoning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90472" y="447141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state persists into later decisions.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38404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4041648"/>
            <a:ext cx="512064" cy="512064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45152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12664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Supply-chain compromise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12664" y="447141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skills, MCP servers, or packages are poisoned.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38404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67344" y="4041648"/>
            <a:ext cx="512064" cy="512064"/>
          </a:xfrm>
          <a:prstGeom prst="ellipse">
            <a:avLst/>
          </a:prstGeom>
          <a:solidFill>
            <a:srgbClr val="A14A76"/>
          </a:solidFill>
          <a:ln w="12700">
            <a:solidFill>
              <a:srgbClr val="A14A7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67344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34856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spoofing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4471416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trust unauthenticated messages or claims.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47872" y="5897880"/>
            <a:ext cx="5074920" cy="320040"/>
          </a:xfrm>
          <a:prstGeom prst="roundRect">
            <a:avLst>
              <a:gd name="adj" fmla="val 48571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93592" y="58978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combinations — not isolated threats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Top 10 for Agentic Applications; MITRE ATLAS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ATTACK CHAIN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instruction becomes an external action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indirect prompt injection through retrieved content.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883664"/>
            <a:ext cx="960120" cy="960120"/>
          </a:xfrm>
          <a:prstGeom prst="ellipse">
            <a:avLst/>
          </a:prstGeom>
          <a:solidFill>
            <a:srgbClr val="F45B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836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3814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plants instructions in a page or document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67128" y="2359152"/>
            <a:ext cx="566928" cy="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0712" y="1883664"/>
            <a:ext cx="960120" cy="960120"/>
          </a:xfrm>
          <a:prstGeom prst="ellipse">
            <a:avLst/>
          </a:prstGeom>
          <a:solidFill>
            <a:srgbClr val="FFB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8836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343814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passes the content into the agent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2359152"/>
            <a:ext cx="566928" cy="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24144" y="1883664"/>
            <a:ext cx="960120" cy="960120"/>
          </a:xfrm>
          <a:prstGeom prst="ellipse">
            <a:avLst/>
          </a:prstGeom>
          <a:solidFill>
            <a:srgbClr val="00A6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24144" y="18836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343814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treats data as trusted instructions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93992" y="2359152"/>
            <a:ext cx="566928" cy="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37576" y="1883664"/>
            <a:ext cx="960120" cy="960120"/>
          </a:xfrm>
          <a:prstGeom prst="ellipse">
            <a:avLst/>
          </a:prstGeom>
          <a:solidFill>
            <a:srgbClr val="3F7CA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7576" y="18836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34656" y="343814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requests a privileged 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07424" y="2359152"/>
            <a:ext cx="566928" cy="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51008" y="1883664"/>
            <a:ext cx="960120" cy="960120"/>
          </a:xfrm>
          <a:prstGeom prst="ellipse">
            <a:avLst/>
          </a:prstGeom>
          <a:solidFill>
            <a:srgbClr val="7467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51008" y="188366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500" dirty="0"/>
          </a:p>
        </p:txBody>
      </p:sp>
      <p:sp>
        <p:nvSpPr>
          <p:cNvPr id="27" name="Text 25"/>
          <p:cNvSpPr txBox="1"/>
          <p:nvPr/>
        </p:nvSpPr>
        <p:spPr>
          <a:xfrm>
            <a:off x="9848088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343814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leaves, files change, or transactions occur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5840" y="4709160"/>
            <a:ext cx="10058400" cy="1078992"/>
          </a:xfrm>
          <a:prstGeom prst="roundRect">
            <a:avLst>
              <a:gd name="adj" fmla="val 10169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298448" y="49011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chain at multiple points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315968" y="4800600"/>
            <a:ext cx="2852928" cy="320040"/>
          </a:xfrm>
          <a:prstGeom prst="roundRect">
            <a:avLst>
              <a:gd name="adj" fmla="val 4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61688" y="480060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untrusted content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70648" y="4800600"/>
            <a:ext cx="2852928" cy="320040"/>
          </a:xfrm>
          <a:prstGeom prst="roundRect">
            <a:avLst>
              <a:gd name="adj" fmla="val 4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16368" y="480060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instructions from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15968" y="5212080"/>
            <a:ext cx="2852928" cy="320040"/>
          </a:xfrm>
          <a:prstGeom prst="roundRect">
            <a:avLst>
              <a:gd name="adj" fmla="val 48571"/>
            </a:avLst>
          </a:prstGeom>
          <a:solidFill>
            <a:srgbClr val="C7F464"/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61688" y="521208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every tool call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70648" y="5212080"/>
            <a:ext cx="2852928" cy="320040"/>
          </a:xfrm>
          <a:prstGeom prst="roundRect">
            <a:avLst>
              <a:gd name="adj" fmla="val 48571"/>
            </a:avLst>
          </a:prstGeom>
          <a:solidFill>
            <a:srgbClr val="C7F464"/>
          </a:solidFill>
          <a:ln w="12700">
            <a:solidFill>
              <a:srgbClr val="C7F46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16368" y="5212080"/>
            <a:ext cx="2761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approval for high impact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LLM01:2025 Prompt Injection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SECURE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deterministic controls around probabilistic reasoning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may propose. Policy decides. Execution proves.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09160" y="2084832"/>
            <a:ext cx="2788920" cy="2788920"/>
          </a:xfrm>
          <a:prstGeom prst="ellipse">
            <a:avLst/>
          </a:prstGeom>
          <a:solidFill>
            <a:srgbClr val="102A36"/>
          </a:solidFill>
          <a:ln w="381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10912" y="27889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148840"/>
            <a:ext cx="493776" cy="493776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26464" y="2066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26464" y="2404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• classify • isolate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55264" y="2432304"/>
            <a:ext cx="1417320" cy="0"/>
          </a:xfrm>
          <a:prstGeom prst="line">
            <a:avLst/>
          </a:prstGeom>
          <a:noFill/>
          <a:ln w="17780">
            <a:solidFill>
              <a:srgbClr val="F45B6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4206240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87552" y="4434840"/>
            <a:ext cx="493776" cy="493776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4434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09344" y="4352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609344" y="4690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• short-lived • scoped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38144" y="4718304"/>
            <a:ext cx="141732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06840" y="1920240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432" y="2148840"/>
            <a:ext cx="493776" cy="493776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71432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793224" y="2066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404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• schema • limits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43800" y="2432304"/>
            <a:ext cx="-1234440" cy="0"/>
          </a:xfrm>
          <a:prstGeom prst="line">
            <a:avLst/>
          </a:prstGeom>
          <a:noFill/>
          <a:ln w="1778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23960" y="4206240"/>
            <a:ext cx="25603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88552" y="4434840"/>
            <a:ext cx="493776" cy="493776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88552" y="4434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10344" y="435254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SANDBOX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10344" y="4690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 • timeout • egress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43800" y="4718304"/>
            <a:ext cx="-1234440" cy="0"/>
          </a:xfrm>
          <a:prstGeom prst="line">
            <a:avLst/>
          </a:prstGeom>
          <a:noFill/>
          <a:ln w="17780">
            <a:solidFill>
              <a:srgbClr val="3F7CA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319272" y="5724144"/>
            <a:ext cx="5532120" cy="320040"/>
          </a:xfrm>
          <a:prstGeom prst="roundRect">
            <a:avLst>
              <a:gd name="adj" fmla="val 48571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64992" y="572414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+ HUMAN APPROVAL + KILL SWITCH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NIST AI RMF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TOOLS &amp; IDENTITY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 is the primary blast-radius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the smallest capability, for the shortest time, with the narrowest scope.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19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identity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1031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admin tokens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2578608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5694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allowlist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8529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approved functions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328416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319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arguments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602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strict schemas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078224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069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data access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435254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Row, folder, tenant, or project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828032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818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credentials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51023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just-in-time and revoke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1783080"/>
            <a:ext cx="71780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53712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APPROVAL MATRIX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25237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action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2523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252374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control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53712" y="2852928"/>
            <a:ext cx="6556248" cy="502920"/>
          </a:xfrm>
          <a:prstGeom prst="roundRect">
            <a:avLst>
              <a:gd name="adj" fmla="val 14545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0016" y="2852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public data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28529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2852928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53712" y="3511296"/>
            <a:ext cx="6556248" cy="502920"/>
          </a:xfrm>
          <a:prstGeom prst="roundRect">
            <a:avLst>
              <a:gd name="adj" fmla="val 14545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00016" y="35112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internal data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35112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3511296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+ policy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53712" y="4169664"/>
            <a:ext cx="6556248" cy="502920"/>
          </a:xfrm>
          <a:prstGeom prst="roundRect">
            <a:avLst>
              <a:gd name="adj" fmla="val 14545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0016" y="4169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/ modify data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1696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5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823960" y="4169664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53712" y="4828032"/>
            <a:ext cx="6556248" cy="502920"/>
          </a:xfrm>
          <a:prstGeom prst="roundRect">
            <a:avLst>
              <a:gd name="adj" fmla="val 14545"/>
            </a:avLst>
          </a:prstGeom>
          <a:solidFill>
            <a:srgbClr val="E8E4FF"/>
          </a:solidFill>
          <a:ln w="12700">
            <a:solidFill>
              <a:srgbClr val="E8E4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00016" y="4828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Money, identity, production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35240" y="48280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6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823960" y="48280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check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AI Agent Security Cheat Sheet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MEMORY &amp;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memory as a database — not as truth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context can leak data, cross tenants, or silently alter future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657600" cy="658368"/>
          </a:xfrm>
          <a:prstGeom prst="chevron">
            <a:avLst/>
          </a:prstGeom>
          <a:solidFill>
            <a:srgbClr val="F45B69">
              <a:alpha val="98000"/>
            </a:srgbClr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975104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1284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source • remove secrets • attach provenance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43000" y="2743200"/>
            <a:ext cx="2926080" cy="658368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52728" y="281635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305409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• malware scan • content policy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08760" y="3584448"/>
            <a:ext cx="2194560" cy="658368"/>
          </a:xfrm>
          <a:prstGeom prst="chevron">
            <a:avLst/>
          </a:prstGeom>
          <a:solidFill>
            <a:srgbClr val="00A6A6">
              <a:alpha val="98000"/>
            </a:srgbClr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18488" y="365760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18488" y="3895344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• TTL • encryption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74520" y="4425696"/>
            <a:ext cx="1463040" cy="658368"/>
          </a:xfrm>
          <a:prstGeom prst="chevron">
            <a:avLst/>
          </a:prstGeom>
          <a:solidFill>
            <a:srgbClr val="3F7CAC">
              <a:alpha val="98000"/>
            </a:srgbClr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84248" y="44988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84248" y="473659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Need-to-know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0" y="192024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2103120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3387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5420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this memory, when, and from what source?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75320" y="192024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58200" y="2103120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988552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5420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one user, tenant, or agent influence another?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79476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E8E4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3977640"/>
            <a:ext cx="384048" cy="384048"/>
          </a:xfrm>
          <a:prstGeom prst="ellipse">
            <a:avLst/>
          </a:prstGeom>
          <a:solidFill>
            <a:srgbClr val="7467C5"/>
          </a:solidFill>
          <a:ln w="12700">
            <a:solidFill>
              <a:srgbClr val="7467C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833872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Reversibility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441655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operators inspect, expire, and delete poisoned state?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75320" y="379476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58200" y="3977640"/>
            <a:ext cx="384048" cy="384048"/>
          </a:xfrm>
          <a:prstGeom prst="ellipse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988552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&amp; minimization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03920" y="441655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sensitive fields excluded or tokenized?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22392" y="5596128"/>
            <a:ext cx="5532120" cy="320040"/>
          </a:xfrm>
          <a:prstGeom prst="roundRect">
            <a:avLst>
              <a:gd name="adj" fmla="val 48571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68112" y="559612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untrusted content write durable memory without policy checks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OWASP AI Agent Security Cheat Sheet; OWASP Agentic Applications ASI06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continuous control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behavior, observe decisions, contain incidents, and learn.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1874520" cy="1115568"/>
          </a:xfrm>
          <a:prstGeom prst="ellipse">
            <a:avLst/>
          </a:prstGeom>
          <a:solidFill>
            <a:srgbClr val="F45B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2951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07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assets, actors, tools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1874520" cy="1115568"/>
          </a:xfrm>
          <a:prstGeom prst="ellipse">
            <a:avLst/>
          </a:prstGeom>
          <a:solidFill>
            <a:srgbClr val="FFB8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8379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Injection, abuse, regression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1874520" cy="1115568"/>
          </a:xfrm>
          <a:prstGeom prst="ellipse">
            <a:avLst/>
          </a:prstGeom>
          <a:solidFill>
            <a:srgbClr val="00A6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18379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23500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calls, outcomes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1874520" cy="1115568"/>
          </a:xfrm>
          <a:prstGeom prst="ellipse">
            <a:avLst/>
          </a:prstGeom>
          <a:solidFill>
            <a:srgbClr val="3F7CA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29514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07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Pause, revoke, isolate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4480560"/>
            <a:ext cx="1874520" cy="1115568"/>
          </a:xfrm>
          <a:prstGeom prst="ellipse">
            <a:avLst/>
          </a:prstGeom>
          <a:solidFill>
            <a:srgbClr val="7467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462686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51389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Policies, tests, training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2450592"/>
            <a:ext cx="566928" cy="-210312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48072" y="2258568"/>
            <a:ext cx="640080" cy="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26680" y="2258568"/>
            <a:ext cx="566928" cy="210312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41080" y="3355848"/>
            <a:ext cx="-2057400" cy="141732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54880" y="4983480"/>
            <a:ext cx="-2514600" cy="-1508760"/>
          </a:xfrm>
          <a:prstGeom prst="line">
            <a:avLst/>
          </a:prstGeom>
          <a:noFill/>
          <a:ln w="19050">
            <a:solidFill>
              <a:srgbClr val="6577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" y="461772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0120" y="4818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7F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518464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denied / overridden  •  Unexpected egress  •  Privilege escalation attempt  •  Memory write anomaly  •  Repeated plan loops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830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NIST AI RMF — Govern, Map, Measure, Manage; MITRE ATLAS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77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04088" y="566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1556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your first agent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30 days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50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1E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blast radius. Then earn autonomy.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713232"/>
            <a:ext cx="2697480" cy="1700784"/>
          </a:xfrm>
          <a:prstGeom prst="roundRect">
            <a:avLst>
              <a:gd name="adj" fmla="val 6452"/>
            </a:avLst>
          </a:prstGeom>
          <a:solidFill>
            <a:srgbClr val="DDF6F3"/>
          </a:solidFill>
          <a:ln w="12700">
            <a:solidFill>
              <a:srgbClr val="DDF6F3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0" y="8961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243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64592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data, tools, identities, and high-impact actions.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49640" y="713232"/>
            <a:ext cx="2697480" cy="1700784"/>
          </a:xfrm>
          <a:prstGeom prst="roundRect">
            <a:avLst>
              <a:gd name="adj" fmla="val 6452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32520" y="8961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1243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164592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scoped credentials, tool schemas, approvals, and sandboxing.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2862072"/>
            <a:ext cx="2697480" cy="1700784"/>
          </a:xfrm>
          <a:prstGeom prst="roundRect">
            <a:avLst>
              <a:gd name="adj" fmla="val 6452"/>
            </a:avLst>
          </a:prstGeom>
          <a:solidFill>
            <a:srgbClr val="FFE3E6"/>
          </a:solidFill>
          <a:ln w="12700">
            <a:solidFill>
              <a:srgbClr val="FFE3E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669280" y="3044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5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79476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injection, memory-poisoning, and tool-abuse tests.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49640" y="2862072"/>
            <a:ext cx="2697480" cy="1700784"/>
          </a:xfrm>
          <a:prstGeom prst="roundRect">
            <a:avLst>
              <a:gd name="adj" fmla="val 6452"/>
            </a:avLst>
          </a:prstGeom>
          <a:solidFill>
            <a:srgbClr val="E8E4FF"/>
          </a:solidFill>
          <a:ln w="12700">
            <a:solidFill>
              <a:srgbClr val="E8E4FF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732520" y="3044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46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79476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audit trails, alerts, kill switch, and incident playbook.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090672"/>
            <a:ext cx="4434840" cy="2423160"/>
          </a:xfrm>
          <a:prstGeom prst="roundRect">
            <a:avLst>
              <a:gd name="adj" fmla="val 4528"/>
            </a:avLst>
          </a:prstGeom>
          <a:solidFill>
            <a:srgbClr val="102A36"/>
          </a:solidFill>
          <a:ln w="12700">
            <a:solidFill>
              <a:srgbClr val="102A36"/>
            </a:solidFill>
            <a:prstDash val="solid"/>
          </a:ln>
          <a:effectLst>
            <a:outerShdw sx="100000" sy="100000" kx="0" ky="0" algn="bl" rotWithShape="0" blurRad="19050" dist="50800" dir="2700000">
              <a:srgbClr val="7A8A91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2688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F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NON-NEGOTIABLES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840480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37947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 is data — never authority.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60120" y="4343400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2976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has an identity and a policy decision.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60120" y="4846320"/>
            <a:ext cx="329184" cy="32918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8006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changes remain reversible and observable.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504688" y="51023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1E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set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504688" y="541324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DE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AI Agent Security Cheat Sheet  •  OWASP Top 10 for Agentic Applications  •  NIST AI RMF / GenAI Profile  •  MITRE ATLAS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1630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enables responsible autonomy.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887968" y="6291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 Infotech Academy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Tertiary Infotech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for AI Agents</dc:title>
  <dc:subject>AI Security for AI Agents</dc:subject>
  <dc:creator>Tertiary Infotech Academy</dc:creator>
  <cp:lastModifiedBy>Tertiary Infotech Academy</cp:lastModifiedBy>
  <cp:revision>1</cp:revision>
  <dcterms:created xsi:type="dcterms:W3CDTF">2026-08-25T15:34:08Z</dcterms:created>
  <dcterms:modified xsi:type="dcterms:W3CDTF">2026-08-25T15:34:08Z</dcterms:modified>
</cp:coreProperties>
</file>