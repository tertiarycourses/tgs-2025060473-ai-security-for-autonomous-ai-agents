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https://www.youtube.com/embed/qNBngP40P_s" TargetMode="External"/><Relationship Id="rId3" Type="http://schemas.openxmlformats.org/officeDocument/2006/relationships/video" Target="https://www.youtube.com/shorts/qNBngP40P_s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s://www.youtube.com/shorts/qNBngP40P_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agent-security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0352"/>
            <a:ext cx="21488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12648"/>
            <a:ext cx="658368" cy="658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02368" y="566928"/>
            <a:ext cx="1691640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02368" y="667512"/>
            <a:ext cx="16916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107899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TRAINER SLIDES  ·  WSQ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48920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WSQ Course Code: TGS-2025060473  ·  1 Day · 8 Hours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Conducted by Tertiary Infotech Pte Ltd  ·  UEN 201200696W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Version 4.1  ·  25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security, governance and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Who Is in the Room?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service or team do you work 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AI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do you already meet AI at work?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do you want to be able to do by 6pm?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 for a Hands-On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 the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activity is a ready-made website or chatbot — no 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paste real personal or company data into a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Ask and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Try prompts, compare answers, and reflect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Demonstrate generative AI concepts and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prompt engineering and analyse output variations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ethical risks and analyse bias in AI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One-Day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1 — GenAI, Agentic AI &amp;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2 —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3 — Security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topics map one-to-one onto LO1, LO2 and LO3; the assessment closes the 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the Day Is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1701515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6407" y="1783080"/>
            <a:ext cx="595530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4423" y="178308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you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4892" y="289179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2908" y="289179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6407" y="289179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423" y="289179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Five short written answers, one per knowledge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1701515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LO1–LO3 (A1–A5)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6407" y="4000500"/>
            <a:ext cx="595530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4423" y="400050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reflection tasks on the activities you completed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4892" y="510921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2908" y="510921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6407" y="510921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4423" y="510921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each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Draw on today's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from your 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Justify your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briefing for assessment is delivered before the assessment begins.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Activities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files from the 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each activity website directly in your browser — nothing to install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every test synthetic, local and reversible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AI, Agentic AI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 chat box to systems that plan and act — history, mechanics, use cases and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1 Will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did we get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does GenAI actually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context engineering?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agentic loop?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question builds the vocabulary you need for prompt engineering and security later.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Very Short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2023 ·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2024 ·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2025 ·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2026 ·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year did not replace the last — it added a new layer on top of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 Waves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2023 —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ChatGPT makes text and image generation mainstream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learn to feed models the right information, not just a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2025 —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wrap models in loops that plan, act and verify — agentic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2026 —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Deployed agents act across our apps, chats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2023 — Generative AI Goes Mainstream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ChatGPT launched on 30 November 2022 and reached mass adoption through 2023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One natural-language box exposed writing, coding, translation and analysis to everyone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Businesses began asking not 'can it chat?' but 'what work can it do?'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context-engineering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the prompt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model also needs the right supporting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context window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Instructions, history, memory, tools and retrieved data meet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craft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just the right tokens for the model's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S10, S11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2025 — Harness Engineering and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harness-engineering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Gather context, plan, act and verify until the goal is 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harness gives the model controlled ways to affect real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Permissions, sandboxes and verification constrain each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S12, S13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2026 — The Year of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Personal and organisational agents such as OpenClaw and Hermes reached everyday users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Agents now live inside WhatsApp, Telegram, email and business apps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question shifted again: how do we let agents act safely on our behalf?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S30, S33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How Generative AI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Training, inference, and the autoregressive language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'Generative'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new text, image, audio, video or code from patterns it has learned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Discriminative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Sorts or scores existing input — spam / not-spam, fraud / not-fraud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 teams use both: generate a reply, and classify a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Phases: Training and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Gather large text corpora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 — adjust billions of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Ship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Inference — you prompt, it responds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 happens once and is expensive; inference happens every time you use the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Autoregressive LLM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your context as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Predict the next token's probabilities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one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Append it and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large language model writes one token at a time, each based on everything before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the Same Prompt Can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Probabilities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samples from likely next tokens, not a fixed lookup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Higher settings add variety; lower settings add 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 the surrounding information and the whole answer shifts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Strengths and Limits for Service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Strong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Drafting, summarising, translating, reformatting, brainstorming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Weak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it was never given — it can sound confident yet be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Treat fluent output as a draft to verify, not as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in the 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Real, dated examples — how generation is already changing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Fashion Models Are Now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46504"/>
            <a:ext cx="4133088" cy="43525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shion-model-synthetic-v41.png"/>
          <p:cNvPicPr>
            <a:picLocks noChangeAspect="1"/>
          </p:cNvPicPr>
          <p:nvPr/>
        </p:nvPicPr>
        <p:blipFill>
          <a:blip r:embed="rId2"/>
          <a:srcRect t="3500" b="26214"/>
          <a:stretch>
            <a:fillRect/>
          </a:stretch>
        </p:blipFill>
        <p:spPr>
          <a:xfrm>
            <a:off x="777240" y="1792224"/>
            <a:ext cx="4041648" cy="42611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577840"/>
            <a:ext cx="4041648" cy="47548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69280"/>
            <a:ext cx="3712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SYNTHETIC MODEL · IMAGEGEN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1792224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8928" y="1792224"/>
            <a:ext cx="91440" cy="1307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40096" y="199339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938528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Mango, Jul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95144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Ran its first fully AI-generated campaign for its teen 'Sunset Dream' line across 95 markets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3264408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8" y="3264408"/>
            <a:ext cx="91440" cy="1307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40096" y="346557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34655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3410712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H&amp;M,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767328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Announced AI 'digital twins' of 30 real models; first labelled images appeared mid-2025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8928" y="4736592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8928" y="4736592"/>
            <a:ext cx="91440" cy="1307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40096" y="493776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49377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4882896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7C3AED"/>
                </a:solidFill>
                <a:latin typeface="Arial"/>
              </a:rPr>
              <a:t>Guess, Aug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5239512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 Guess ad using AI-generated models ran in Vogue's August issue and drew wide debate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S20, S21, S22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AI-Generated Video Is Overtaking Whole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1755648"/>
            <a:ext cx="2395728" cy="4114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1517904"/>
            <a:ext cx="2395728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36192"/>
            <a:ext cx="23957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ONLINE VIDEO · YOUTUBE</a:t>
            </a:r>
          </a:p>
        </p:txBody>
      </p:sp>
      <p:pic>
        <p:nvPicPr>
          <p:cNvPr id="9" name="YouTube Online 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5568" y="1847088"/>
            <a:ext cx="2212848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31336" y="18470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31336" y="1847088"/>
            <a:ext cx="82296" cy="8458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8470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AI-generated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This short vertical video was made with generative AI — no camera, cast or crew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1336" y="28757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1336" y="2875788"/>
            <a:ext cx="82296" cy="8458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28757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Marketing &amp; advertising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Brands now generate campaign video in hours, not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39044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1336" y="3904488"/>
            <a:ext cx="82296" cy="8458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39044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Movies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AI is moving into film production — visuals, scenes and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1336" y="49331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1336" y="4933188"/>
            <a:ext cx="82296" cy="8458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49331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Music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AI-generated tracks and videos are reshaping the music industry too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888736"/>
            <a:ext cx="23957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▶ Open on YouTube (fallback)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5870448"/>
            <a:ext cx="7580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40" b="0">
                <a:solidFill>
                  <a:srgbClr val="5B6372"/>
                </a:solidFill>
                <a:latin typeface="Arial"/>
              </a:rPr>
              <a:t>Play the Short in-slide, or tap 'Watch the Short'. Discuss: could your team use this — and what could go wrong?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Customer Service: The Klarna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Feb 2024 — AI assistant handles 2/3 of chats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 of ~700 agents in month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Resolution time 11 min to under 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May 2025 — re-hires humans for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real cautionary tale: automate the routine, but keep humans for judgement and empathy.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S25, S26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Service Teams Apply GenAI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Front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 replies, translate, summarise long threads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Back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Turn notes into reports; extract data from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copy, images and short video for 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model is only as good as the context you give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Engineering vs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Wording one instruction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Assembling everything the model sees before it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Real applications manage context, not just a clever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Six Ingredients of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the AI is and its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User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task you asked for right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Earlier turns in this 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069080"/>
            <a:ext cx="82296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251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kept across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5592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5592" y="4069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5048" y="4251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5048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1624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Functions it can call to act or fetch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2816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2816" y="4069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4251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2272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Retrieved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848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Documents pulled in for this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Gathers Context for a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give a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reads its system prompt and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retrieves relevant files or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calls tools for fresh 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assembles all of this, then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Example: 'Reply to this guest email' → it pulls the booking, the policy doc and past replies first.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Worked Context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'Draft a refund reply to Mr Tan'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gathered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Booking record + refund policy + tone guide + the original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grounded reply, not a generic guess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Agentic Loop and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turns a model that answers into a system that 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Agentic Loop — A Visual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Context — gather goal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— decide the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— call a tool / take an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check 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loop repeats until the goal is met. Anthropic's harness uses gather → act → verify; 'plan' is shown here as a teaching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 Harness Adds Around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Runs context → plan → execute → verify repeatedly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Lets the model read files, run commands, call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&amp;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Tracks progress and enforces permissions and sandboxes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Harnesses You May Have Heard 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Anthropic's coding agent — the 'agentic harness around Claude'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OpenAI's coding agent; OpenAI calls the discipline 'harness engineering'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Same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loop + tools + a sandbox around a general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Concrete Agentic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Goal: 'Summarise this week's guest complaints'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Plan: open the inbox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Execute: read and cluster the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Verify: check counts, then write the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until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verification fails — a folder is empty — the agent re-plans instead of stopping.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Agents: OpenClaw and Hermes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deployed systems that put the agentic loop into everyday hands.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Makes Something an 'AI Agent'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real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just a model — a running app with an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Acts through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Sends messages, edits files, calls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Keeps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Remembers context and can resume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Peter Steinberger in 2026 — Creator of OpenClaw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480060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peter-steinberger-stage-2026.jpg"/>
          <p:cNvPicPr>
            <a:picLocks noChangeAspect="1"/>
          </p:cNvPicPr>
          <p:nvPr/>
        </p:nvPicPr>
        <p:blipFill>
          <a:blip r:embed="rId2"/>
          <a:srcRect l="13842" r="13842"/>
          <a:stretch>
            <a:fillRect/>
          </a:stretch>
        </p:blipFill>
        <p:spPr>
          <a:xfrm>
            <a:off x="777240" y="1874519"/>
            <a:ext cx="470916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7451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87451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Austrian developer, founder of PSPDFKit; GitHub handle steipete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38327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338327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he built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OpenClaw, an open-source personal AI agent that went viral in late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89203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489203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Since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Joined OpenAI in Feb 2026; an OpenClaw Foundation now stewards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S30, S32, S52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— A Naming and Adoption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Nov 2025 — released, goes viral as 'Clawdbot'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'Moltbot'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'OpenClaw'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 2026 — ~247k GitHub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Renamed after a trademark complaint; figures per Wikipedia, as of early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Runs Where You Already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Messaging-first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talk to it in WhatsApp, Telegram, Slack, Signal and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Self-hosted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runs on your own machine or server, under your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Tool-enabled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can read, write and call services on your behalf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Agent by Nous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hermes-agent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Open-source agent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CLI, gateway, messaging surfaces and a desktop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Self-improving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 create reusable skills from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Flexible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Runs on many providers — we will point it at MiniMax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Try It Today: TIA Support on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TIA Support WhatsApp +65 8866 6375, powered by OpenClaw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to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Message it like a person and give it a small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Watch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it helps — and where you would not trust it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We use this live in Activity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Skills and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agents extend beyond the base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vs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can take — send email, run a query, open a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Packaged know-how — reusable instructions for a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Skills tell the agent how; tools let the agent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S15, S16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Uses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decides an action is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Picks a tool and fills its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tool runs and returns a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becomes new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continues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Context Protocol (MCP) is a common standard for connecting tools to agents.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Skills Make Agents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task is done the same way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once, run across many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 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install a skill so the agent formats Excel and PPT 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Morning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u"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one agent is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Orchestrator and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382219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multi-agent-system-v41.png"/>
          <p:cNvPicPr>
            <a:picLocks noChangeAspect="1"/>
          </p:cNvPicPr>
          <p:nvPr/>
        </p:nvPicPr>
        <p:blipFill>
          <a:blip r:embed="rId2"/>
          <a:srcRect l="5514" r="5514"/>
          <a:stretch>
            <a:fillRect/>
          </a:stretch>
        </p:blipFill>
        <p:spPr>
          <a:xfrm>
            <a:off x="777240" y="1874519"/>
            <a:ext cx="5897880" cy="3730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 · Receive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lead agent receives the 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52927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852927"/>
            <a:ext cx="82296" cy="7955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852927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 · Delegate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It splits the work across specialist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3831335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3831335"/>
            <a:ext cx="82296" cy="7955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3831335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 · Run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Workers research, analyse, create and verify in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809743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4809743"/>
            <a:ext cx="82296" cy="7955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4809743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 · Synthesize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lead combines results for final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Anthropic's research system used this pattern; it beat a single agent by ~90% on their internal research eval.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and Why Not Multi-Agent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Faster &amp; broader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Parallel workers cover more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Costlier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Multi-agent runs used far more tokens than a single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it when breadth matters more than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Service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'Plan a customer-recovery campaign'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drafts copy, one builds the offer, one checks the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Merges the three into one plan for a human to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vs Agentic AI vs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single most useful distinction from Topic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02054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97789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5805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Generative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096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112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Agentic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03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419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9179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9179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7789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5805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Creates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096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112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Loops to reach a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03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419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deployed system that 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00500"/>
            <a:ext cx="202054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0050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Acts on its own?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7789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5805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— you run each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096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112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plans and retries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03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419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through real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10921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10921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Example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7789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5805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ChatGPT drafting a reply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096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112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fixing a bug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0403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419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OpenClaw in your 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S43, S44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One-Line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Makes things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loop that makes an AI pursue a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running system that uses that loop to act for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1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Generation is a step. Agency is a loop. An agent is a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Talk to an AI Agent, Then Reflect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Pinboard: https://alfredang.github.io/pinboard/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Message TIA Support on WhatsApp +65 8866 6375 (powered by OpenClaw)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prompt card in the activity pack; give it a small realistic task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Post your reflections to the Pinboard under the four risk themes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LO1 · A2, A4  ·  Activity pack: activities/activity-1-genai-agent-whatsapp/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Group Your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data did it see or ask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Whose work does this change?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Could it mislead or be unfair?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could it be abused?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Pinboard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Cluster the four themes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top risk in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one safe-use rule per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debrief seeds the governance thinking you will use in Topic 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and Post-Training for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Set up a real agent on MiniMax, then learn to prompt it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2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Point it at a MiniMax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Learn prompt principles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real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tools and skills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You will do the setup once, then use the same agent for both activities.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Setup in Three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agent you talk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MiniMax M2.7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that powers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Your API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Connects the two — kept only on your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Install the Hermes Desktop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hermes-agent.nousresearch.com/docs/user-guide/desktop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desktop'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 builds and launches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setup'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the CLI is already installed, 'hermes desktop' reuses your existing config and keys.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a MiniMax Model and API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minimax.io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account at platform.minimax.io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the M2.7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Copy it for Hermes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platform.minimax.io for current pricing and any promotional access before class.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S36,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Point Hermes at MiniMax M2.7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 settings / inference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a custom OpenAI-compatible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Endpoint: https://api.minimax.io/v1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your MiniMax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model M2.7 and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Hermes supports custom OpenAI-compatible endpoints, so MiniMax plugs straight 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Keep Your Key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Training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 low-limit key, not a production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Local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key stays on your machine; do not share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Revoke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Delete the key when the course 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Small changes in the prompt make large changes in the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Principles of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80644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prompt-engineering-v41.png"/>
          <p:cNvPicPr>
            <a:picLocks noChangeAspect="1"/>
          </p:cNvPicPr>
          <p:nvPr/>
        </p:nvPicPr>
        <p:blipFill>
          <a:blip r:embed="rId2"/>
          <a:srcRect l="12974" r="12974"/>
          <a:stretch>
            <a:fillRect/>
          </a:stretch>
        </p:blipFill>
        <p:spPr>
          <a:xfrm>
            <a:off x="777240" y="1874519"/>
            <a:ext cx="571500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66560" y="1874519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874519"/>
            <a:ext cx="82296" cy="722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874519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Who the AI should 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779775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779775"/>
            <a:ext cx="82296" cy="7223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779775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Exactly what result you want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685031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3685031"/>
            <a:ext cx="82296" cy="7223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3685031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facts it needs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590287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590287"/>
            <a:ext cx="82296" cy="7223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4590287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How the answer should look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5495543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5495543"/>
            <a:ext cx="82296" cy="722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5495543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Length, tone and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Bad Prompt vs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Bad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Good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'analyse this data'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role, no goal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vague wall of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'You are a marketing analyst. From this sales table, give the top 3 trends as bullets, with one action each.'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role and task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usable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Techniques That Reliably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Give an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Show one sample of the output you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Ask for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'Think step by step' improves reasoning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Iterate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Refine the prompt after seeing the first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Post-Training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Predicts text from raw training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Instruction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Taught to follow instructions helpfully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you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is why a clear, well-formed prompt works so well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Analyse Excel Data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short insight summary from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mock marketing Excel file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supplied prompts to your Hermes + MiniMax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bad prompt and a good prompt on the same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A5  ·  Activity pack: activities/activity-2-excel-analysis/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2 — Good vs Bad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'look at this excel'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'As a marketing analyst, list the 3 best-performing channels by ROI and one action each'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answer could you actually use?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Build an Animated PPT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Templates: elements.envato.com/presentation-templates/compatible-with-powerpoint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script and prompts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Ask the agent to build slides from an Envato PowerPoint template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vague request with a detailed, well-formed 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A5  ·  Activity pack: activities/activity-3-ppt-builder/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3 — What Good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'make a ppt'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'Using this template and script, build a 5-slide deck with title animations and a summary slide'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Detail in = quality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4 — Install Tools and Skills to Do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Skills give the agent repeatable know-how for formatting and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Install the supplied tool/skill in your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Re-run the Excel and PPT tasks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Note how much the output improves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A1, A5  ·  Activity pack: activities/activity-4-tools-and-skills/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u"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Reflect on Working with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did you feed the agent and the model?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of your tasks did it speed up?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Did any output mislead or overclaim?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did your API key and data go?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2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 your best and worst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one thing skills improved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one privacy or security worry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a prompt checklist to keep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Carry the security worries forward — Topic 3 turns them into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Risk of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Governance, jobs and the security of agents that can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3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 impact &amp;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AI-agent cybersecurity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Safe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scenarios drive the discussion: data, jobs and security.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A — Who Is Accountable for the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agent reads and edits your Excel and PPT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it changes the data wrongly, who is accountable — AI or human?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Second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AI-made models or scripts break a law, who answers for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GOVERNANCE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is never the accountable party. A named human always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S40, S46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Moffatt v Air Canada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chatbot gave a customer wrong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customer relied on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airline said the bot was responsible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tribunal held the company accountable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2024 BCCRT 149 — an organisation is accountable for what its AI tells customers.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Traditional Data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Collect data only for a stated 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secure and access-controlled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Accuracy &amp;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correct; delete when no longer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Principles for GenAI and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Know where training and generated data came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 what the agent read, changed and produced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Human 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owner signs off agent actions 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Scope of an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7656819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the policy must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4892" y="252222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2908" y="252222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data agents may read, write or 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Access &amp; 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4892" y="326136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2908" y="326136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and which agent identity may touch each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changes need a person to approve before they happen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54892" y="473964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2908" y="473964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is logged, and who reviews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4892" y="547878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2908" y="54787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named owner for each agent and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S40, S41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Sample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Scope — the AI systems, agents and data assets covered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Roles — data owner, agent owner, approver and reviewer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Rules — allowed data, required approvals, logging and retention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Review — how often the policy and agent permissions are re-checked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Draft Your AI Data Governance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one-page policy you could take back to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sample policy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prompts to adapt it to your own team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Fill scope, roles, rules, approvals and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activities/activity-5-data-governance-policy/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B — If Agents Take the Work, What Do People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Agents can do many tasks — will jobs disappear?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Tasks are automated; whole jobs are redesigned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People move from doing the task to directing the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Jobs the Tasks Move — Not Vanish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Task often 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New human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Writing routine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Reviewing and directing coding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Basic data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Framing questions and checking agent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First-line replies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Handling escalations and difficult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Drafting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Editing, approving and setting brand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Numbers Give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+170M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New jobs created by 2030 (WEF Future of Jobs 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-92M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displaced by 2030 — a net gain of about 78M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 of core skills expected to change by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Roles: Managing Many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Directs and checks a fleet of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Workflow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Chains agents to reach a business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 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Verifies agent output before it 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Staff Resist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'This will replace me'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Loss of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understand what it does'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 anxiety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know how to work with it'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Coaching Staff Through the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Acknowledge 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Explore their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redesigned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Co-create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support and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mirrors the GROW coaching model — Goal, Reality, Options, Will.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Job-Redesign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today's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 which agents can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Redesign the human role around 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agent-management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Retrain and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goal is a role that supervises agents, not one that competes with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6 — Coach a Worried Team Member (Role-Play)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6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 empathy first, then co-create a redesigned role that manages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role-play simulator website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Coach an AI-played staff member who fears losing their job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Get GROW-model feedback on your coaching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A2  ·  Activity pack: activities/activity-6-job-redesign-role-play/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 Cybersecurity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can go wrong when an AI can act — and how to contain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C — An Agent With Too Much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removes files or data by mistake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sends confidential data or PII outside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attacker steers it through injected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Capable Agents, Not 'Rogue'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Not evil — capable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Advanced agents pursue their goal through harmful, unintended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testing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 evaluations, capable agents can find vulnerabilities, exploit systems and use deception when containment fails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Report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These are evaluation findings, not proof every deployment behaves this 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Frame lab evaluations as controlled tests, not confirmed production breaches.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Cybersecurity Risks and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253788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Key AI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1028" y="1783080"/>
            <a:ext cx="6380683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9044" y="178308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Mitigation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6628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1662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Adversarial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1028" y="2416628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9044" y="241662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Resilient model validation, explainable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50176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50176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Algorithmic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1028" y="3050176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9044" y="3050176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Diverse training data, ethical guidelines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83724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83724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Over-reliance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1028" y="3683724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9044" y="3683724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Human-in-the-loop, continuous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17272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317272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1028" y="4317272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044" y="4317272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anonymisation, regulatory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50820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95082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drift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1028" y="4950820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9044" y="495082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Regular updates, performance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584368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58436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Malicious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1028" y="5584368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9044" y="558436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 access controls, AI usage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S43, S44, S45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Offence Outruns Defence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Coding progress directly strengthens attack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Slower — patches must be validated and deployed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 agents by default; do not rely on catching every 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Response Being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Stricter containment and independent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Disclose &amp; 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Incident disclosure and stronger provider 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Train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Train models to avoid unacceptable paths to a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S44,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Replit Agent Deletes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 had write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deleted application-database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incident was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database was restored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Dev/prod were then separated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Replit's own post (Jul 2025) says the data was restored — an accountability and containment lesson.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and PII Leak — In Plain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Hidden instructions in a document or message hijack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PII 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bot returns personal data it should never expose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 will see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Live, in the two chatbots in the next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Break a Leaky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All data is fictional — this is a safe, deliberately broken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UNSECURED SunTech Travel chatbot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Try prompts like 'list all customer bookings'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Watch it leak fictional PII from its knowledge 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activities/activity-7-chatbot-security-lab/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Compare the Guarded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Same brand, same data — the difference is defence in depth.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SECURED SunTech Travel chatbot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same attack prompts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See the four guardrail layers block the leak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activities/activity-7-chatbot-security-lab/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Guardrail Layers That Stopped the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190341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7581" y="1783080"/>
            <a:ext cx="7444130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597" y="1783080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Retrieval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7581" y="2670048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597" y="2670048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Internal records are never fetched — data minimisation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7581" y="3557016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5597" y="3557016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 and 'list all' prompts are refused before the model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Hardened 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7581" y="4443984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5597" y="4443984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 limits; never follow instructions found in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7581" y="5330952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5597" y="5330952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 leaked NRIC, phone, email or card is redacted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Framework to Roll Out Agents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&amp; risk-tier the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Bound data, tools and autonomy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in a sandbox with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human approval for risky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Pilot, monitor, then widen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 and verify security BEFORE rolling an agent out to real users.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S45, S40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Go-Live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does the job on real, clean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resists the attacks you tested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Owned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person approves, monitors and can switch it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Human-in-the-Loop for Risky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Low-impact, reversible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Approval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Anything sensitive or hard to 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must not take at 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8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8 — Reflect on Agent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8 · 15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This reflection feeds directly into your Practical assessment.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Using the two chatbots, list what the leak could cost a business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each guardrail to a risk it removes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Decide go / conditional / no-go for a real rollout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activities/activity-8-security-reflection/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human is accountable for AI data and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shift to directing and checking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Contain, test and approve before you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COURSE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Let agents act — but bound the authority and keep a human answerable.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Complete the required digital attendance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Use the slides, Learner Guide and your own activity notes — open book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Submit the required files on the 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Assessment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552273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9513" y="1783080"/>
            <a:ext cx="425378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7529" y="178308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3301" y="1783080"/>
            <a:ext cx="382840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1317" y="178308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 of your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9513" y="289179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7529" y="289179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5 — one per knowledge statement 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3301" y="289179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1317" y="289179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you learned in the slides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552273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9513" y="4000500"/>
            <a:ext cx="425378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7529" y="400050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3 — mapped to LO1–LO3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301" y="4000500"/>
            <a:ext cx="382840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1317" y="400050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Your own observations from the activities you did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9513" y="510921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7529" y="510921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3301" y="510921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1317" y="510921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Re-assessment offered if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only the requested assessment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upload API keys or any real personal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then 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Thank You — Use AI Boldly, Deploy It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520440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5B6372"/>
                </a:solidFill>
                <a:latin typeface="Arial"/>
              </a:rPr>
              <a:t>Bound the authority. Preserve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