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chatgpt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anthropic.com/engineering/effective-context-engineering-for-ai-agents" TargetMode="External"/><Relationship Id="rId4" Type="http://schemas.openxmlformats.org/officeDocument/2006/relationships/hyperlink" Target="https://x.com/karpathy/status/1937902205765607626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code.claude.com/docs/en/how-claude-code-works" TargetMode="External"/><Relationship Id="rId4" Type="http://schemas.openxmlformats.org/officeDocument/2006/relationships/hyperlink" Target="https://openai.com/index/harness-engineering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OpenClaw" TargetMode="External"/><Relationship Id="rId3" Type="http://schemas.openxmlformats.org/officeDocument/2006/relationships/hyperlink" Target="https://hermes-agent.nousresearch.com/docs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petapixel.com/2024/07/16/fashion-brand-mango-launches-photorealistic-ai-generated-campaign/" TargetMode="External"/><Relationship Id="rId4" Type="http://schemas.openxmlformats.org/officeDocument/2006/relationships/hyperlink" Target="https://www.cnn.com/2025/03/28/style/h-and-m-ai-models-intl-scli" TargetMode="External"/><Relationship Id="rId5" Type="http://schemas.openxmlformats.org/officeDocument/2006/relationships/hyperlink" Target="https://www.cnn.com/2025/07/31/style/vogue-ai-models-guess-campaign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larna.com/international/press/klarna-ai-assistant-handles-two-thirds-of-customer-service-chats-in-its-first-month/" TargetMode="External"/><Relationship Id="rId3" Type="http://schemas.openxmlformats.org/officeDocument/2006/relationships/hyperlink" Target="https://www.forbes.com/sites/quickerbettertech/2025/05/18/business-tech-news-klarna-reverses-on-ai-says-customers-like-talking-to-people/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www.anthropic.com/engineering/built-multi-agent-research-system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anlii.org/en/bc/bccrt/doc/2024/2024bccrt149/2024bccrt149.html" TargetMode="Externa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hannelnewsasia.com/singapore/gen-ai-ads-singapore-marketing-backfire-6323236" TargetMode="Externa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https://www.weforum.org/press/2025/01/future-of-jobs-report-2025-78-million-new-job-opportunities-by-2030-but-urgent-upskilling-needed-to-prepare-workforces/" TargetMode="Externa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www.straitstimes.com/paid-press-releases/singapore-businesses-lead-in-ai-and-data-adoption-but-face-cybersecurity-challenges-20251201" TargetMode="Externa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plit.com/blog/doubling-down-on-our-commitment-to-secure-vibe-coding" TargetMode="Externa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ricentis.com/blog/qa-trends-ai-agentic-testing" TargetMode="Externa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traitstimes.com/tech/new-platform-to-create-ai-agents-available-to-all-public-healthcare-professionals" TargetMode="Externa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traitstimes.com/paid-press-releases/singapore-businesses-lead-in-ai-and-data-adoption-but-face-cybersecurity-challenges-20251201" TargetMode="External"/><Relationship Id="rId3" Type="http://schemas.openxmlformats.org/officeDocument/2006/relationships/hyperlink" Target="https://www.channelnewsasia.com/singapore/gen-ai-ads-singapore-marketing-backfire-6323236" TargetMode="External"/><Relationship Id="rId4" Type="http://schemas.openxmlformats.org/officeDocument/2006/relationships/hyperlink" Target="https://www.canlii.org/en/bc/bccrt/doc/2024/2024bccrt149/2024bccrt149.html" TargetMode="Externa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i-agent-security-v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713232" cy="7132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802368" y="566928"/>
            <a:ext cx="1691640" cy="8595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02368" y="667512"/>
            <a:ext cx="16916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02368" y="1078992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TRAINER SLIDES  ·  WSQ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489204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AI Security for Autonomous AI 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77639"/>
            <a:ext cx="201168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24528"/>
            <a:ext cx="4892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WSQ Course Code: TGS-2025060473  ·  1 Day · 8 Hours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Skills Framework TSC: Generative AI Principles and Applications (ICT-INT-0052-1.1)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Conducted by Tertiary Infotech Pte Ltd  ·  UEN 201200696W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4892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Version 4.3  ·  25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08192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2026 Tertiary Infotech Pte Ltd. All Rights Reserved.  ·  www.tertiarycourses.com.sg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this profile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TRAINING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4023360"/>
            <a:ext cx="6949440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402336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4023360"/>
            <a:ext cx="64008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security, governance and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Who Is in the Room?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service or team do you work in?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AI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do you already meet AI at work?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do you want to be able to do by 6pm?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 for a Hands-On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 the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Every activity is a ready-made website or chatbot — no coding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Never paste real personal or company data into a demo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Ask and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Try prompts, compare answers, and reflect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Demonstrate generative AI concepts and applications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prompt engineering and analyse output variations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ethical risks and analyse bias in AI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One-Day Learning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1 — GenAI, Agentic AI &amp;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2 — Prompt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3 — Security &amp;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Three topics map one-to-one onto LO1, LO2 and LO3; the assessment closes the day.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the Day Is Assessed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977652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4892" y="1783080"/>
            <a:ext cx="1701515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908" y="178308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6407" y="1783080"/>
            <a:ext cx="595530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84423" y="178308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you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2977652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4892" y="2891790"/>
            <a:ext cx="1701515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2908" y="289179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K1–K5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6407" y="2891790"/>
            <a:ext cx="595530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4423" y="289179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Five short written answers, one per knowledge statement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977652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4892" y="4000500"/>
            <a:ext cx="1701515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2908" y="400050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LO1–LO3 (A1–A5)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56407" y="4000500"/>
            <a:ext cx="595530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4423" y="400050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reflection tasks on the activities you completed today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2977652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4892" y="5109210"/>
            <a:ext cx="1701515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2908" y="510921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56407" y="5109210"/>
            <a:ext cx="595530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4423" y="510921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book · Competent / Not Yet Competent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each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Draw on today's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from your 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Justify your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briefing for assessment is delivered before the assessment begins.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Activities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1264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2326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326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the current learner-facing files from the LMS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766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76600"/>
            <a:ext cx="82296" cy="1264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6804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6804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766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each activity website directly in your browser — nothing to install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244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724400"/>
            <a:ext cx="82296" cy="1264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51282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282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244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Step 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every test synthetic, local and reversible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the current learner-facing files. Keep evidence synthetic, local and reversible; never upload secrets or answer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 · LO1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AI, Agentic AI and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a chat box to systems that plan and act — history, mechanics, use cases and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1 Will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did we get 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does GenAI actually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context engineering?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an agentic loop?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an AI agent?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Each question builds the vocabulary you need for prompt engineering and security later.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Very Short History of AI, 2023–2026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2023 ·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2024 · 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2025 · Harness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2026 ·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Each year did not replace the last — it added a new layer on top of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Four Waves in Plain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2023 —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ChatGPT makes text and image generation mainstream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2024 — 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learn to feed models the right information, not just a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2025 — Harness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wrap models in loops that plan, act and verify — agentic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2026 —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Deployed agents act across our apps, chats and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2023 — Generative AI Goes Mainstream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ChatGPT launched on 30 November 2022 and reached mass adoption through 2023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One natural-language box exposed writing, coding, translation and analysis to everyone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Businesses began asking not 'can it chat?' but 'what work can it do?'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2"/>
              </a:rPr>
              <a:t>OpenAI (openai.com)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2024 — Context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context-engineering-v41.png"/>
          <p:cNvPicPr>
            <a:picLocks noChangeAspect="1"/>
          </p:cNvPicPr>
          <p:nvPr/>
        </p:nvPicPr>
        <p:blipFill>
          <a:blip r:embed="rId2"/>
          <a:srcRect l="11789" r="11789"/>
          <a:stretch>
            <a:fillRect/>
          </a:stretch>
        </p:blipFill>
        <p:spPr>
          <a:xfrm>
            <a:off x="777240" y="1874519"/>
            <a:ext cx="589788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Beyond the prompt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model also needs the right supporting information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38327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38327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context window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Instructions, history, memory, tools and retrieved data meet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89203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89203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craft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just the right tokens for the model's next 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3"/>
              </a:rPr>
              <a:t>Anthropic (anthropic.com)</a:t>
            </a:r>
            <a:r>
              <a:rPr sz="900">
                <a:solidFill>
                  <a:srgbClr val="5B6372"/>
                </a:solidFill>
                <a:latin typeface="Arial"/>
              </a:rPr>
              <a:t>   ·   </a:t>
            </a:r>
            <a:r>
              <a:rPr sz="900">
                <a:solidFill>
                  <a:srgbClr val="1F6FEB"/>
                </a:solidFill>
                <a:latin typeface="Arial"/>
                <a:hlinkClick r:id="rId4"/>
              </a:rPr>
              <a:t>Karpathy on 'context engineering' (X, 25 Ju... (x.com)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2025 — Harness Engineering and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harness-engineering-v41.png"/>
          <p:cNvPicPr>
            <a:picLocks noChangeAspect="1"/>
          </p:cNvPicPr>
          <p:nvPr/>
        </p:nvPicPr>
        <p:blipFill>
          <a:blip r:embed="rId2"/>
          <a:srcRect l="11789" r="11789"/>
          <a:stretch>
            <a:fillRect/>
          </a:stretch>
        </p:blipFill>
        <p:spPr>
          <a:xfrm>
            <a:off x="777240" y="1874519"/>
            <a:ext cx="589788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Gather context, plan, act and verify until the goal is met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38327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38327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harness gives the model controlled ways to affect real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89203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89203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Safety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Permissions, sandboxes and verification constrain each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3"/>
              </a:rPr>
              <a:t>Anthropic (code.claude.com)</a:t>
            </a:r>
            <a:r>
              <a:rPr sz="900">
                <a:solidFill>
                  <a:srgbClr val="5B6372"/>
                </a:solidFill>
                <a:latin typeface="Arial"/>
              </a:rPr>
              <a:t>   ·   </a:t>
            </a:r>
            <a:r>
              <a:rPr sz="900">
                <a:solidFill>
                  <a:srgbClr val="1F6FEB"/>
                </a:solidFill>
                <a:latin typeface="Arial"/>
                <a:hlinkClick r:id="rId4"/>
              </a:rPr>
              <a:t>OpenAI (openai.com)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2026 — The Year of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Personal and organisational agents such as OpenClaw and Hermes reached everyday users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Agents now live inside WhatsApp, Telegram, email and business apps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question shifted again: how do we let agents act safely on our behalf?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2"/>
              </a:rPr>
              <a:t>OpenClaw (en.wikipedia.org)</a:t>
            </a:r>
            <a:r>
              <a:rPr sz="900">
                <a:solidFill>
                  <a:srgbClr val="5B6372"/>
                </a:solidFill>
                <a:latin typeface="Arial"/>
              </a:rPr>
              <a:t>   ·   </a:t>
            </a:r>
            <a:r>
              <a:rPr sz="900">
                <a:solidFill>
                  <a:srgbClr val="1F6FEB"/>
                </a:solidFill>
                <a:latin typeface="Arial"/>
                <a:hlinkClick r:id="rId3"/>
              </a:rPr>
              <a:t>Hermes Agent (Nous Research) (hermes-agent.nousresearch.com)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How Generative AI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Training, inference, and the autoregressive language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'Generative'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Produces new text, image, audio, video or code from patterns it has learned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Discriminative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Sorts or scores existing input — spam / not-spam, fraud / not-fraud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Service teams use both: generate a reply, and classify a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 Phases: Training and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Gather large text corpora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 — adjust billions of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Ship the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Inference — you prompt, it responds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Training happens once and is expensive; inference happens every time you use the 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Autoregressive LLM Writes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your context as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Predict the next token's probabilities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 one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Append it and 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large language model writes one token at a time, each based on everything before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the Same Prompt Can Differ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Probabilities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model samples from likely next tokens, not a fixed lookup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Temperature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Higher settings add variety; lower settings add consistency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Change the surrounding information and the whole answer shifts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Strengths and Limits for Service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Strong 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Drafting, summarising, translating, reformatting, brainstorming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Weak 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Facts it was never given — it can sound confident yet be wrong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Treat fluent output as a draft to verify, not as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in the Real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Real, dated examples — how generation is already changing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Fashion Models Are Now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46504"/>
            <a:ext cx="4133088" cy="435254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shion-model-synthetic-v41.png"/>
          <p:cNvPicPr>
            <a:picLocks noChangeAspect="1"/>
          </p:cNvPicPr>
          <p:nvPr/>
        </p:nvPicPr>
        <p:blipFill>
          <a:blip r:embed="rId2"/>
          <a:srcRect t="3500" b="26214"/>
          <a:stretch>
            <a:fillRect/>
          </a:stretch>
        </p:blipFill>
        <p:spPr>
          <a:xfrm>
            <a:off x="777240" y="1792224"/>
            <a:ext cx="4041648" cy="42611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577840"/>
            <a:ext cx="4041648" cy="47548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669280"/>
            <a:ext cx="3712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SYNTHETIC MODEL · IMAGEGEN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8928" y="1792224"/>
            <a:ext cx="6272784" cy="13075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8928" y="1792224"/>
            <a:ext cx="91440" cy="1307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40096" y="199339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0096" y="19933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1938528"/>
            <a:ext cx="5266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6FEB"/>
                </a:solidFill>
                <a:latin typeface="Arial"/>
              </a:rPr>
              <a:t>Mango, Jul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95144"/>
            <a:ext cx="52669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Ran its first fully AI-generated campaign for its teen 'Sunset Dream' line across 95 markets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3264408"/>
            <a:ext cx="6272784" cy="13075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8928" y="3264408"/>
            <a:ext cx="91440" cy="1307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40096" y="3465576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346557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3410712"/>
            <a:ext cx="5266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0B981"/>
                </a:solidFill>
                <a:latin typeface="Arial"/>
              </a:rPr>
              <a:t>H&amp;M,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3767328"/>
            <a:ext cx="52669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Announced AI 'digital twins' of 30 real models; first labelled images appeared mid-2025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8928" y="4736592"/>
            <a:ext cx="6272784" cy="13075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38928" y="4736592"/>
            <a:ext cx="91440" cy="1307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40096" y="493776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0096" y="49377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5312" y="4882896"/>
            <a:ext cx="5266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7C3AED"/>
                </a:solidFill>
                <a:latin typeface="Arial"/>
              </a:rPr>
              <a:t>Guess, Aug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5239512"/>
            <a:ext cx="52669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A Guess ad using AI-generated models ran in Vogue's August issue and drew wide debate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3"/>
              </a:rPr>
              <a:t>PetaPixel (petapixel.com)</a:t>
            </a:r>
            <a:r>
              <a:rPr sz="900">
                <a:solidFill>
                  <a:srgbClr val="5B6372"/>
                </a:solidFill>
                <a:latin typeface="Arial"/>
              </a:rPr>
              <a:t>   ·   </a:t>
            </a:r>
            <a:r>
              <a:rPr sz="900">
                <a:solidFill>
                  <a:srgbClr val="1F6FEB"/>
                </a:solidFill>
                <a:latin typeface="Arial"/>
                <a:hlinkClick r:id="rId4"/>
              </a:rPr>
              <a:t>CNN (cnn.com)</a:t>
            </a:r>
            <a:r>
              <a:rPr sz="900">
                <a:solidFill>
                  <a:srgbClr val="5B6372"/>
                </a:solidFill>
                <a:latin typeface="Arial"/>
              </a:rPr>
              <a:t>   ·   </a:t>
            </a:r>
            <a:r>
              <a:rPr sz="900">
                <a:solidFill>
                  <a:srgbClr val="1F6FEB"/>
                </a:solidFill>
                <a:latin typeface="Arial"/>
                <a:hlinkClick r:id="rId5"/>
              </a:rPr>
              <a:t>CNN (cnn.com)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AI-Generated Video Is Overtaking Whole Industries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1755648"/>
            <a:ext cx="2394584" cy="4114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1517904"/>
            <a:ext cx="2394584" cy="274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536192"/>
            <a:ext cx="2394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EMBEDDED VIDEO · PLAYS IN SLIDESHOW</a:t>
            </a:r>
          </a:p>
        </p:txBody>
      </p:sp>
      <p:pic>
        <p:nvPicPr>
          <p:cNvPr id="9" name="ai_singe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5568" y="1847088"/>
            <a:ext cx="2211704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30192" y="1783080"/>
            <a:ext cx="758152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30192" y="1783080"/>
            <a:ext cx="82296" cy="90297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6224" y="1783080"/>
            <a:ext cx="712432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Music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This AI-generated singer — no camera, cast or crew — shows how AI is reshaping the music industry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0192" y="2868930"/>
            <a:ext cx="758152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30192" y="2868930"/>
            <a:ext cx="82296" cy="90297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6224" y="2868930"/>
            <a:ext cx="712432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Three industries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next three demos show marketing, film and how fast this is moving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0192" y="3954780"/>
            <a:ext cx="758152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30192" y="3954780"/>
            <a:ext cx="82296" cy="90297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6224" y="3954780"/>
            <a:ext cx="712432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Made for feeds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Vertical clips like this are built for TikTok, Reels and YouTube Shorts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0192" y="5040630"/>
            <a:ext cx="758152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30192" y="5040630"/>
            <a:ext cx="82296" cy="90297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6224" y="5040630"/>
            <a:ext cx="712432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For your team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Ask: where could you use this, and where would you not?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888736"/>
            <a:ext cx="23945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Click the video, then Play, in slideshow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0192" y="5870448"/>
            <a:ext cx="758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40" b="0">
                <a:solidFill>
                  <a:srgbClr val="5B6372"/>
                </a:solidFill>
                <a:latin typeface="Arial"/>
              </a:rPr>
              <a:t>The clip is embedded — click it and press Play in slideshow.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in Marketing and Advertising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1755648"/>
            <a:ext cx="2394584" cy="4114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1517904"/>
            <a:ext cx="2394584" cy="274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536192"/>
            <a:ext cx="2394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EMBEDDED VIDEO · PLAYS IN SLIDESHOW</a:t>
            </a:r>
          </a:p>
        </p:txBody>
      </p:sp>
      <p:pic>
        <p:nvPicPr>
          <p:cNvPr id="9" name="ai_market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5568" y="1847088"/>
            <a:ext cx="2211704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30192" y="1783080"/>
            <a:ext cx="758152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30192" y="1783080"/>
            <a:ext cx="82296" cy="90297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6224" y="1783080"/>
            <a:ext cx="712432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Campaign in hours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Brands now generate ad and campaign video in hours, not weeks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0192" y="2868930"/>
            <a:ext cx="758152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30192" y="2868930"/>
            <a:ext cx="82296" cy="90297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6224" y="2868930"/>
            <a:ext cx="712432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No production crew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 shoot, studio, cast or location — just a prompt and a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0192" y="3954780"/>
            <a:ext cx="758152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30192" y="3954780"/>
            <a:ext cx="82296" cy="90297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6224" y="3954780"/>
            <a:ext cx="712432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Coca-Cola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Aired an AI-generated 'Holidays Are Coming' ad in 2024 and again in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0192" y="5040630"/>
            <a:ext cx="758152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30192" y="5040630"/>
            <a:ext cx="82296" cy="90297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6224" y="5040630"/>
            <a:ext cx="712432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Watch for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Brand risk, authenticity and disclosure when the whole ad is synthetic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888736"/>
            <a:ext cx="23945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Click the video, then Play, in slideshow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0192" y="5870448"/>
            <a:ext cx="758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40" b="0">
                <a:solidFill>
                  <a:srgbClr val="5B6372"/>
                </a:solidFill>
                <a:latin typeface="Arial"/>
              </a:rPr>
              <a:t>Embedded clip — click and press Play. Discuss: would you trust an all-AI ad for your brand?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in Film and Movies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057400"/>
            <a:ext cx="4434840" cy="257460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19656"/>
            <a:ext cx="4434840" cy="274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37944"/>
            <a:ext cx="4434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EMBEDDED VIDEO · PLAYS IN SLIDESHOW</a:t>
            </a:r>
          </a:p>
        </p:txBody>
      </p:sp>
      <p:pic>
        <p:nvPicPr>
          <p:cNvPr id="9" name="ai_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0120" y="2148840"/>
            <a:ext cx="4251960" cy="239172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15000" y="1783080"/>
            <a:ext cx="5696712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0" y="1783080"/>
            <a:ext cx="82296" cy="90297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2" y="1783080"/>
            <a:ext cx="5239512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Into film production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AI now generates visuals, scenes and effects for film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2868930"/>
            <a:ext cx="5696712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2868930"/>
            <a:ext cx="82296" cy="90297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2868930"/>
            <a:ext cx="5239512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Faster and cheaper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Shots that needed a crew and budget can be generated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3954780"/>
            <a:ext cx="5696712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3954780"/>
            <a:ext cx="82296" cy="90297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3954780"/>
            <a:ext cx="5239512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Still maturing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Consistency, control and rights are the open questions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5040630"/>
            <a:ext cx="5696712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5040630"/>
            <a:ext cx="82296" cy="90297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5040630"/>
            <a:ext cx="5239512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The takeaway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Whole creative industries are being reshaped — 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50295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Click the video, then Play, in slideshow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5870448"/>
            <a:ext cx="5696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40" b="0">
                <a:solidFill>
                  <a:srgbClr val="5B6372"/>
                </a:solidFill>
                <a:latin typeface="Arial"/>
              </a:rPr>
              <a:t>Embedded clip — click and press Play. Discuss: what does this mean for creative jobs?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Customer Service: The Klarna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Feb 2024 — AI assistant handles 2/3 of chats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 of ~700 agents in month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Resolution time 11 min to under 2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May 2025 — re-hires humans for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real cautionary tale: automate the routine, but keep humans for judgement and empathy.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2"/>
              </a:rPr>
              <a:t>Klarna (klarna.com)</a:t>
            </a:r>
            <a:r>
              <a:rPr sz="900">
                <a:solidFill>
                  <a:srgbClr val="5B6372"/>
                </a:solidFill>
                <a:latin typeface="Arial"/>
              </a:rPr>
              <a:t>   ·   </a:t>
            </a:r>
            <a:r>
              <a:rPr sz="900">
                <a:solidFill>
                  <a:srgbClr val="1F6FEB"/>
                </a:solidFill>
                <a:latin typeface="Arial"/>
                <a:hlinkClick r:id="rId3"/>
              </a:rPr>
              <a:t>Forbes (forbes.com)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Service Teams Apply GenAI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Front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Draft replies, translate, summarise long threads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Back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Turn notes into reports; extract data from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Generate copy, images and short video for campaigns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model is only as good as the context you give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Engineering vs Context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Wording one instruction well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Assembling everything the model sees before it answers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Real applications manage context, not just a clever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S10, S11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Six Ingredients of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the AI is and its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User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task you asked for right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Earlier turns in this conversation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069080"/>
            <a:ext cx="82296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4251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Facts kept across sessions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5592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5592" y="4069080"/>
            <a:ext cx="82296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5048" y="4251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5048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1624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Functions it can call to act or fetch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2816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2816" y="4069080"/>
            <a:ext cx="8229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2272" y="4251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2272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2624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Retrieved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8848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Documents pulled in for this task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Agent Gathers Context for a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give a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reads its system prompt and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retrieves relevant files or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calls tools for fresh 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assembles all of this, then answers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Example: 'Reply to this guest email' → it pulls the booking, the policy doc and past replies first.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Worked Context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'Draft a refund reply to Mr Tan'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gathered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Booking record + refund policy + tone guide + the original 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grounded reply, not a generic guess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Agentic Loop and Harness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turns a model that answers into a system that 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Agentic Loop — A Visual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Context — gather goal &amp;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— decide the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 — call a tool / take an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— check the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loop repeats until the goal is met. Anthropic's harness uses gather → act → verify; 'plan' is shown here as a teaching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a Harness Adds Around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Runs context → plan → execute → verify repeatedly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Lets the model read files, run commands, call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State &amp;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Tracks progress and enforces permissions and sandboxes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 Harnesses You May Have Heard 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Anthropic's coding agent — the 'agentic harness around Claude'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OpenAI's coding agent; OpenAI calls the discipline 'harness engineering'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Same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loop + tools + a sandbox around a general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S12,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Coding Harnesses — Claude Code, Codex, DeepSeek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339583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12012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Harness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16823" y="1783080"/>
            <a:ext cx="5317236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4839" y="1783080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34059" y="1783080"/>
            <a:ext cx="2977652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2075" y="1783080"/>
            <a:ext cx="27581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Where to find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15768"/>
            <a:ext cx="2339583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715768"/>
            <a:ext cx="212012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Claude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6823" y="2715768"/>
            <a:ext cx="5317236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4839" y="2715768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Anthropic's terminal coding agent — reads your codebase, edits files, runs tests and git by natural language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4059" y="2715768"/>
            <a:ext cx="2977652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2075" y="2715768"/>
            <a:ext cx="27581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github.com/anthropics/claude-code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48456"/>
            <a:ext cx="2339583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48456"/>
            <a:ext cx="212012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6823" y="3648456"/>
            <a:ext cx="53172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4839" y="3648456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OpenAI's coding agent; its execution engine (the 'harness') was open-sourced in Aug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4059" y="3648456"/>
            <a:ext cx="29776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2075" y="3648456"/>
            <a:ext cx="27581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github.com/openai/codex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581144"/>
            <a:ext cx="2339583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581144"/>
            <a:ext cx="2120127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DeepSeek Harness (dsh)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6823" y="4581144"/>
            <a:ext cx="5317236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4839" y="4581144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DeepSeek's plugin-based, model-agnostic harness — a v0.1 developer preview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4059" y="4581144"/>
            <a:ext cx="2977652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2075" y="4581144"/>
            <a:ext cx="27581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github.com/deepseek-ai/deepseek-harness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All three wrap a model in the same gather-context → act → verify loop; they differ in tools, sandbox and host authority.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S53, S54, S55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DeepSeek Harness — 'Everything Is a Plugin'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Every capability — tools, models, UI, even core behaviour — is a swappable plugin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Model-agnostic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Plug in any model; the harness is not tied to DeepSeek's 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Flexible and extensible — but every plugin is also new code and a new trust boundary to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A v0.1 developer preview. Its openness is powerful; in Topic 3 we treat each plugin as untrusted until reviewed.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S55, S65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Concrete Agentic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Goal: 'Summarise this week's guest complaints'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Plan: open the inbox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Execute: read and cluster the 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Verify: check counts, then write the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until 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 verification fails — a folder is empty — the agent re-plans instead of stopping.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Agents: OpenClaw, Hermes and the Latest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deployed systems that put the agentic loop into everyday hands.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Makes Something an 'AI Agent'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 real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just a model — a running app with an identity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Acts through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Sends messages, edits files, calls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Keeps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Remembers context and can resume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Peter Steinberger in 2026 — Creator of OpenClaw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480060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to-peter-steinberger-stage-2026.jpg"/>
          <p:cNvPicPr>
            <a:picLocks noChangeAspect="1"/>
          </p:cNvPicPr>
          <p:nvPr/>
        </p:nvPicPr>
        <p:blipFill>
          <a:blip r:embed="rId2"/>
          <a:srcRect l="13842" r="13842"/>
          <a:stretch>
            <a:fillRect/>
          </a:stretch>
        </p:blipFill>
        <p:spPr>
          <a:xfrm>
            <a:off x="777240" y="1874519"/>
            <a:ext cx="470916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874519"/>
            <a:ext cx="565099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1874519"/>
            <a:ext cx="519379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Austrian developer, founder of PSPDFKit; GitHub handle steipete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383279"/>
            <a:ext cx="565099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3383279"/>
            <a:ext cx="519379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he built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OpenClaw, an open-source personal AI agent that went viral in late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892039"/>
            <a:ext cx="565099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4892039"/>
            <a:ext cx="519379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Since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Joined OpenAI in Feb 2026; an OpenClaw Foundation now stewards the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S30, S32, S52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— A Naming and Adoption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Nov 2025 — released, goes viral as 'Clawdbot'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Jan 2026 — renamed 'Moltbot'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Jan 2026 — renamed 'OpenClaw'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 2026 — ~247k GitHub stars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Renamed after a trademark complaint; figures per Wikipedia, as of early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Runs Where You Already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Messaging-first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talk to it in WhatsApp, Telegram, Slack, Signal and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Self-hosted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runs on your own machine or server, under your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Tool-enabled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can read, write and call services on your behalf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Hermes Agent by Nous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98932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hermes-agent-v41.png"/>
          <p:cNvPicPr>
            <a:picLocks noChangeAspect="1"/>
          </p:cNvPicPr>
          <p:nvPr/>
        </p:nvPicPr>
        <p:blipFill>
          <a:blip r:embed="rId2"/>
          <a:srcRect l="11789" r="11789"/>
          <a:stretch>
            <a:fillRect/>
          </a:stretch>
        </p:blipFill>
        <p:spPr>
          <a:xfrm>
            <a:off x="777240" y="1874519"/>
            <a:ext cx="589788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9440" y="187451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187451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Open-source agent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CLI, gateway, messaging surfaces and a desktop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38327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38327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Self-improving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Can create reusable skills from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892039"/>
            <a:ext cx="446227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892039"/>
            <a:ext cx="400507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Flexible models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Runs on many providers — we will point it at MiniMax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Latest AI Agents (2025–2026)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126894" cy="6217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4134" y="1783080"/>
            <a:ext cx="5529925" cy="6217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2150" y="1783080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34059" y="1783080"/>
            <a:ext cx="2977652" cy="6217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2075" y="1783080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Where to find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404872"/>
            <a:ext cx="2126894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404872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OpenClaw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4134" y="2404872"/>
            <a:ext cx="5529925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2150" y="2404872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Peter Steinberger's open-source personal agent; runs on your own devices, reached via your messaging apps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4059" y="2404872"/>
            <a:ext cx="2977652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2075" y="2404872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github.com/openclaw/openclaw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026664"/>
            <a:ext cx="212689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026664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Hermes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4134" y="3026664"/>
            <a:ext cx="552992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2150" y="3026664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Nous Research's self-improving personal agent; learns skills, model-agnostic (we use MiniMax)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4059" y="3026664"/>
            <a:ext cx="29776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2075" y="3026664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github.com/NousResearch/hermes-agent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48456"/>
            <a:ext cx="2126894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648456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Prime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4134" y="3648456"/>
            <a:ext cx="5529925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32150" y="3648456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Prime Intellect's self-improving agent for coding and long-running autonomous tasks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4059" y="3648456"/>
            <a:ext cx="2977652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2075" y="3648456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github.com/PrimeIntellect-ai/prime-agent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270248"/>
            <a:ext cx="212689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270248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OpenWorker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4134" y="4270248"/>
            <a:ext cx="552992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32150" y="4270248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An open standard to hire, govern and trust AI 'workers' inside an organisation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4059" y="4270248"/>
            <a:ext cx="29776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2075" y="4270248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github.com/openworker-io/openworker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892040"/>
            <a:ext cx="2126894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4892040"/>
            <a:ext cx="190743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QM (Quartermaster)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4134" y="4892040"/>
            <a:ext cx="5529925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32150" y="4892040"/>
            <a:ext cx="53104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Y Combinator's multiplayer agent harness for teams in Slack / web, with scoped memory and sandboxes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4059" y="4892040"/>
            <a:ext cx="2977652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2075" y="4892040"/>
            <a:ext cx="2758196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github.com/yc-software/qm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All open-source and self-hosted. Capability is not a safety rating — verify each one's permissions, sandbox and data access before use.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S56, S57, S58, S59, S60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Try It Today: TIA Support on WhatsApp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TIA Support WhatsApp +65 8866 6375, powered by OpenClaw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to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Message it like a person and give it a small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Watch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it helps — and where you would not trust it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We use this live in Activity 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Skills and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How agents extend beyond the base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Tools vs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Actions the agent can take — send email, run a query, open a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Packaged know-how — reusable instructions for a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Together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Skills tell the agent how; tools let the agent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S15, S16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Agent Uses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decides an action is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Picks a tool and fills its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tool runs and returns a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Result becomes new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continues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Model Context Protocol (MCP) is a common standard for connecting tools to agents.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Skills Make Agents Practical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same task is done the same way every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Build once, run across many jobs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 Topic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install a skill so the agent formats Excel and PPT better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Morning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u"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Multi-Agent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When one agent is not enough.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 Multi-Agent System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-multi-agent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380" y="1783080"/>
            <a:ext cx="7506191" cy="39776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5632704"/>
            <a:ext cx="10634472" cy="4389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32704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A lead agent takes your goal, delegates to specialist workers that run in parallel, then combines their results. Anthropic's research system used this pattern and beat a single agent by ~90% on its internal eval.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3"/>
              </a:rPr>
              <a:t>Anthropic (anthropic.com)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and Why Not Multi-Agent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Faster &amp; broader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Parallel workers cover more 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Costlier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Multi-agent runs used far more tokens than a single 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it when breadth matters more than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Service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'Plan a customer-recovery campaign'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One drafts copy, one builds the offer, one checks the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Merges the three into one plan for a human to 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vs Agentic AI vs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single most useful distinction from Topic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Three,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020549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797789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5805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Generative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096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112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Agentic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0403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419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AI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91790"/>
            <a:ext cx="202054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9179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7789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5805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Creates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096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112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Loops to reach a 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0403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419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deployed system that 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00500"/>
            <a:ext cx="2020549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00050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Acts on its own?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97789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5805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— you run each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096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112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Yes — plans and retries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0403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419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Yes — through real 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109210"/>
            <a:ext cx="202054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10921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Example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97789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5805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ChatGPT drafting a reply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096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112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Code fixing a bug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0403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8419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OpenClaw in your WhatsApp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S43, S44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One-Line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Makes things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Agentic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loop that makes an AI pursue a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AI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running system that uses that loop to act for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1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Generation is a step. Agency is a loop. An agent is a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1 — Talk to an AI Agent, Then Reflect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Pinboard: https://alfredang.github.io/pinboard/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Message TIA Support on WhatsApp +65 8866 6375 (powered by OpenClaw)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prompt card in the activity pack; give it a small realistic task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Post your reflections to the Pinboard under the four risk themes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LO1 · A2, A4  ·  Activity pack: activities/activity-1-genai-agent-whatsapp/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1 — Group Your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data did it see or ask for?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Job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Whose work does this change?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Ethical Concerns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Could it mislead or be unfair?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Cyber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could it be abused?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1 — Debrief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the Pinboard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Cluster the four themes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the top risk in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one safe-use rule per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This debrief seeds the governance thinking you will use in Topic 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 · 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Prompt Engineering and Post-Training for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Set up a real agent on MiniMax, then learn to prompt it well.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2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 Hermes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Point it at a MiniMax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Learn prompt principles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real 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tools and skills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You will do the setup once, then use the same agent for both activities.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Setup in Three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Hermes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agent you talk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MiniMax M2.7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model that powers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Your API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Connects the two — kept only on your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S33, S36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Install the Hermes Desktop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hermes-agent.nousresearch.com/docs/user-guide/desktop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 Hermes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'hermes desktop'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app builds and launches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'hermes setup'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 the CLI is already installed, 'hermes desktop' reuses your existing config and keys.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Get a MiniMax Model and API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 to minimax.io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account at platform.minimax.io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the M2.7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Copy it for Hermes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platform.minimax.io for current pricing and any promotional access before class.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S36, S37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Point Hermes at MiniMax M2.7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Hermes settings / inference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a custom OpenAI-compatible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Endpoint: https://api.minimax.io/v1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Paste your MiniMax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 model M2.7 and save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Hermes supports custom OpenAI-compatible endpoints, so MiniMax plugs straight 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S33, S37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Keep Your Key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Training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a low-limit key, not a production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Local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key stays on your machine; do not share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Revoke 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Delete the key when the course 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Prompt Engineering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Small changes in the prompt make large changes in the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Principles of a Good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799"/>
            <a:ext cx="5806440" cy="44348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sual-prompt-engineering-v41.png"/>
          <p:cNvPicPr>
            <a:picLocks noChangeAspect="1"/>
          </p:cNvPicPr>
          <p:nvPr/>
        </p:nvPicPr>
        <p:blipFill>
          <a:blip r:embed="rId2"/>
          <a:srcRect l="12974" r="12974"/>
          <a:stretch>
            <a:fillRect/>
          </a:stretch>
        </p:blipFill>
        <p:spPr>
          <a:xfrm>
            <a:off x="777240" y="1874519"/>
            <a:ext cx="571500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66560" y="1874519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874519"/>
            <a:ext cx="82296" cy="722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1874519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Who the AI should 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779775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779775"/>
            <a:ext cx="82296" cy="7223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2779775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Exactly what result you want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685031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3685031"/>
            <a:ext cx="82296" cy="7223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3685031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facts it needs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590287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4590287"/>
            <a:ext cx="82296" cy="7223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4590287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Format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How the answer should look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5495543"/>
            <a:ext cx="4645152" cy="7223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5495543"/>
            <a:ext cx="82296" cy="722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5495543"/>
            <a:ext cx="4187952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Length, tone and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Bad Prompt vs a Good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Bad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Good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'analyse this data'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role, no goal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format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 get a vague wall of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'You are a marketing analyst. From this sales table, give the top 3 trends as bullets, with one action each.'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Clear role and task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Clear format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 get a usable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Techniques That Reliably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Give an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Show one sample of the output you want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Ask for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'Think step by step' improves reasoning tasks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Iterate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Refine the prompt after seeing the first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'Post-Training' for Agents — Memory and Skills, Not Fine-Tuning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Not 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are not retraining the model's weights — that is expensive and out of reach for most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It's 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624328"/>
            <a:ext cx="2023110" cy="2642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agent stores what it learns in memory files and reusable skills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Improves over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624328"/>
            <a:ext cx="2023110" cy="2642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Next time, it loads those memories and skills — so it gets better without retraining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3611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Stays consistent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same saved skill makes the agent do a task the same way every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This is how the Hermes agent 'self-improves': it writes learnings to memory and skills, then reuses them.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S10, S15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Reflect — Does Prompt Engineering Still Matter With Agents?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agentic loop can plan, retry and self-correct — so is a good prompt still worth the effort?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Still 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clear prompt points the loop at the right goal from the start, instead of it guessing and looping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Saves time &amp;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624328"/>
            <a:ext cx="2023110" cy="2642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vague prompt makes the agent take extra steps — more turns, more tokens, more cost and delay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3611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The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Prompt engineering matters MORE with agents: a clear brief up front saves a whole loop of rework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Discuss: think back to your bad-vs-good prompts — how many extra agent steps did the vague one cause?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2 — Analyse Excel Data with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You will produce a short insight summary from the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mock marketing Excel file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Send the supplied prompts to your Hermes + MiniMax agent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Compare a bad prompt and a good prompt on the same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LO2 · A5  ·  Activity pack: activities/activity-2-excel-analysis/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2 — Good vs Bad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'look at this excel'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'As a marketing analyst, list the 3 best-performing channels by ROI and one action each'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answer could you actually use?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3 — Build an Animated PPT with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3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Templates: elements.envato.com/presentation-templates/compatible-with-powerpoint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supplied script and prompts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Ask the agent to build slides from an Envato PowerPoint template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Compare a vague request with a detailed, well-formed 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LO2 · A5  ·  Activity pack: activities/activity-3-ppt-builder/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3 — What Good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'make a ppt'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'Using this template and script, build a 5-slide deck with title animations and a summary slide'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Detail in = quality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4 — Install Tools and Skills to Do Better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4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Skills give the agent repeatable know-how for formatting and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Install the supplied tool/skill in your agent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Re-run the Excel and PPT tasks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Note how much the output improves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LO2 · A1, A5  ·  Activity pack: activities/activity-4-tools-and-skills/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u"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Reflect on Working with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did you feed the agent and the model?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Job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of your tasks did it speed up?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Ethical Concerns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Did any output mislead or overclaim?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Cyber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did your API key and data go?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2 Debrief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 your best and worst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one thing skills improved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List one privacy or security worry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a prompt checklist to keep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Carry the security worries forward — Topic 3 turns them into governance.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 · LO3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Risk of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Governance, jobs and the security of agents that can 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3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 governance &amp; accountability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Brand damage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Job impact &amp; redesign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Cybersecurity &amp; safe rollout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key challenges to business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Real Singapore cases drive the discussion — building to the key AI challenges every business must manage.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Discussion Point 1 — Who Is Accountable for the Data?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agent reads and edits your Excel and PPT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it changes the data wrongly, who is accountable — AI or human?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Second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AI-made models or scripts break a law, who answers for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GOVERNANCE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is never the accountable party. A named human always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S40, S46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Moffatt v Air Canada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chatbot gave a customer wrong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customer relied on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airline said the bot was responsible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tribunal held the company accountable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2024 BCCRT 149 — an organisation is accountable for what its AI tells customers.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2"/>
              </a:rPr>
              <a:t>Moffatt v Air Canada, 2024 BCCRT 149 (canlii.org)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Traditional Data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Collect data only for a stated reason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it secure and access-controlled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Accuracy &amp;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it correct; delete when no longer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New Principles for GenAI and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Provenance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Know where training and generated data came from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Log what the agent read, changed and produced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Human accountability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owner signs off agent actions on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Scope of an AI Data Governance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977652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4892" y="1783080"/>
            <a:ext cx="7656819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908" y="178308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the policy must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222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222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Data assets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54892" y="252222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2908" y="252222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data agents may read, write or generate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61360"/>
            <a:ext cx="2977652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6136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Access &amp; identity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4892" y="3261360"/>
            <a:ext cx="7656819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2908" y="326136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and which agent identity may touch each asset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4892" y="400050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2908" y="400050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changes need a person to approve before they happen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9640"/>
            <a:ext cx="2977652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3964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54892" y="4739640"/>
            <a:ext cx="7656819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2908" y="473964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is logged, and who reviews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7878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47878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54892" y="547878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2908" y="547878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named owner for each agent and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S40, S41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Sample AI Data Governance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Scope — the AI systems, agents and data assets covered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Roles — data owner, agent owner, approver and reviewer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Rules — allowed data, required approvals, logging and retention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Review — how often the policy and agent permissions are re-checked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5 — Draft Your AI Data Governance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5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You will produce a one-page policy you could take back to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sample policy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supplied prompts to adapt it to your own team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Fill scope, roles, rules, approvals and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activities/activity-5-data-governance-policy/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Discussion Point 2 — Brand Damage from Generative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temptation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AI can make an ad or a campaign in 24–48 hours, from about S$1,000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cheap or misleading AI ad can read as low-effort and hurt the brand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Who feels it most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Big and luxury brands — the backlash is sharpest for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Gen-AI Ads Flood Singapore, and Could Backfire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4679167" cy="746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4459711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What is happening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6407" y="1783080"/>
            <a:ext cx="5955304" cy="746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4423" y="1783080"/>
            <a:ext cx="573584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The warning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9230"/>
            <a:ext cx="4679167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9230"/>
            <a:ext cx="4459711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AI ad demand in Singapore is up 4–5x; half of advertisers already use gen-AI for video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6407" y="2529230"/>
            <a:ext cx="5955304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4423" y="2529230"/>
            <a:ext cx="573584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'Using AI will not necessarily damage a brand. Using it poorly can.' (SMU Prof Sabine Benoit)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75380"/>
            <a:ext cx="4679167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75380"/>
            <a:ext cx="4459711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Virtual influencers and AI livestream avatars are replacing human hosts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6407" y="3275380"/>
            <a:ext cx="5955304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4423" y="3275380"/>
            <a:ext cx="573584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Virtual influencers can 'give people the creeps' and breed mistrust (NUS Assoc Prof Ang Swee Hoon)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21530"/>
            <a:ext cx="4679167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21530"/>
            <a:ext cx="4459711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Luxury and global brands are adopting AI ads to cut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56407" y="4021530"/>
            <a:ext cx="5955304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4423" y="4021530"/>
            <a:ext cx="573584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Seen as 'lacking effort' and 'less authentic'; 'not all publicity is good publicity'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67680"/>
            <a:ext cx="4679167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67680"/>
            <a:ext cx="4459711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Regulators are watching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56407" y="4767680"/>
            <a:ext cx="5955304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84423" y="4767680"/>
            <a:ext cx="573584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ASAS: 'Disclosure of the use of AI alone does not whitewash this issue'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CNA, 24 Aug 2026. An industry-wide risk, not one named failure — the harm is to trust, authenticity and brand equity.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2"/>
              </a:rPr>
              <a:t>CNA (channelnewsasia.com)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AI Content Can Damage a 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Signals low 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'The company hasn't put much effort into the product'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Feels inauthentic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Synthetic faces and voices erode trust and connection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Ethical shadow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Models trained on creators' work 'without their consent' — a visible symbol of unfairness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Backlash is costly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Negative buzz can force an ad down — the campaign fails its objective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Discuss &amp; Debrief — Protecting the 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When is AI content fine — and when is it a risk?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Should you disclose that an ad is AI-made?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review would catch a brand-damaging ad first?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one brand-safe-AI rule for your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Debrief: authenticity, disclosure, human sign-off and knowing which content should never be fully synthetic.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Discussion Point 3 — If Agents Take the Work, What Do People 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Agents can do many tasks — will jobs disappear?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Tasks are automated; whole jobs are redesigned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People move from doing the task to directing the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Jobs the Tasks Move — Not Vanish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Task often automated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New human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Writing routine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Reviewing and directing coding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Basic data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Framing questions and checking agent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First-line replies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Handling escalations and difficult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Drafting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Editing, approving and setting brand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Numbers Give Perspective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wef-jobs-2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726" y="1783080"/>
            <a:ext cx="7921499" cy="39776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5632704"/>
            <a:ext cx="10634472" cy="4389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32704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WEF Future of Jobs 2025: +170M new and −92M displaced by 2030 — a net gain of ~78M, with 39% of core skills changing.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3"/>
              </a:rPr>
              <a:t>WEF (weforum.org)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New Roles: Managing Many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 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Directs and checks a fleet of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Workflow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Chains agents to reach a business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Quality reviewer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Verifies agent output before it 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Staff Resist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'This will replace me'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Loss of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'I don't understand what it does'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 anxiety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'I don't know how to work with it'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Coaching Staff Through the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Acknowledge the 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Explore their 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redesigned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Co-create 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support and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This mirrors the GROW coaching model — Goal, Reality, Options, Will.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Job-Redesign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List today's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Mark which agents can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Redesign the human role around judgement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agent-management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Retrain and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goal is a role that supervises agents, not one that competes with them.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ACTIVITY 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6 — Coach a Worried Team Member (Role-Play)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6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Use empathy first, then co-create a redesigned role that manages agents.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role-play simulator website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Coach an AI-played staff member who fears losing their job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Get GROW-model feedback on your coaching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A2  ·  Activity pack: activities/activity-6-job-redesign-role-play/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 Cybersecurity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can go wrong when an AI can act — and how to contain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xmlns:p14="http://schemas.microsoft.com/office/powerpoint/2010/main" p14:dur="520" spd="med">
    <p:push dir="l"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Singapore Reality — Fast on AI, Slower on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sg-ai-a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337" y="1783080"/>
            <a:ext cx="7972278" cy="39776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5632704"/>
            <a:ext cx="10634472" cy="4389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32704"/>
            <a:ext cx="10149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161B26"/>
                </a:solidFill>
                <a:latin typeface="Arial"/>
              </a:rPr>
              <a:t>CPA Australia Business Technology Survey, 1,117 respondents, Jul–Sep 2025. Adoption races ahead of security — and AI-enabled threats (phishing, deepfakes) make the gap worse.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3"/>
              </a:rPr>
              <a:t>The Straits Times / CPA Australia (straitstimes.com)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Discussion Point 4 — An Agent With Too Much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removes files or data by mistake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sends confidential data or PII outside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attacker steers it through injected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Capable Agents, Not 'Rogue' 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Not evil — capable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Advanced agents pursue their goal through harmful, unintended methods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testing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 evaluations, capable agents can find vulnerabilities, exploit systems and use deception when containment fails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Report carefully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These are evaluation findings, not proof every deployment behaves this 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Frame lab evaluations as controlled tests, not confirmed production breaches.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Cybersecurity Risks and Mitigation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4253788" cy="6335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Key AI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1028" y="1783080"/>
            <a:ext cx="6380683" cy="6335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59044" y="1783080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Mitigation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16628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16628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Adversarial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1028" y="2416628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9044" y="2416628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Resilient model validation, explainable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50176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050176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Algorithmic bias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1028" y="3050176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9044" y="3050176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Diverse training data, ethical guidelines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83724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83724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Over-reliance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1028" y="3683724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9044" y="3683724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Human-in-the-loop, continuous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17272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317272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Data 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1028" y="4317272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9044" y="4317272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Data anonymisation, regulatory compliance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950820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950820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 drift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1028" y="4950820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9044" y="4950820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Regular updates, performance monitoring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584368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584368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Malicious 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1028" y="5584368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59044" y="5584368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Strict access controls, AI usage policies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S43, S44, S45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Offence Outruns Defence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Coding progress directly strengthens attack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Defence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Slower — patches must be validated and deployed everywhere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Contain agents by default; do not rely on catching every attack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Response Being Proposed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 &amp;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Stricter containment and independent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Disclose &amp; 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Incident disclosure and stronger provider liability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Train safely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Train models to avoid unacceptable paths to a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S44, S45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Replit Agent Deletes a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agent had write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deleted application-database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incident was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database was restored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Dev/prod were then separated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Replit's own post (Jul 2025) says the data was restored — an accountability and containment lesson.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2"/>
              </a:rPr>
              <a:t>Replit (replit.com)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Injection and PII Leak — In Plain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Hidden instructions in a document or message hijack the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PII leak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bot returns personal data it should never expose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You will see both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Live, in the two chatbots in the next 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7 — Break a Leaky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7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All data is fictional — this is a safe, deliberately broken demo.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UNSECURED SunTech Travel chatbot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Try prompts like 'list all customer bookings'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Watch it leak fictional PII from its knowledge 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activities/activity-7-chatbot-security-lab/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7 — Compare the Guarded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7 · 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Same brand, same data — the difference is defence in depth.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SECURED SunTech Travel chatbot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Send the same attack prompts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See the four guardrail layers block the leak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activities/activity-7-chatbot-security-lab/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 Guardrail Layers That Stopped the Leak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190341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7581" y="1783080"/>
            <a:ext cx="7444130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597" y="1783080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3190341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Retrieval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7581" y="2670048"/>
            <a:ext cx="7444130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597" y="2670048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Internal records are never fetched — data minimisation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57016"/>
            <a:ext cx="3190341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57016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 guard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7581" y="3557016"/>
            <a:ext cx="744413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5597" y="3557016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Injection and 'list all' prompts are refused before the model runs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43984"/>
            <a:ext cx="3190341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43984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Hardened 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7581" y="4443984"/>
            <a:ext cx="7444130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5597" y="4443984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Role limits; never follow instructions found in documents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30952"/>
            <a:ext cx="3190341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330952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Output guard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7581" y="5330952"/>
            <a:ext cx="744413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5597" y="5330952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Any leaked NRIC, phone, email or card is redacted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Framework to Roll Out Agents Safely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&amp; risk-tier the 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Bound data, tools and autonomy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in a sandbox with attacks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human approval for risky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Pilot, monitor, then widen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Test and verify security BEFORE rolling an agent out to real users.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S45, S40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Go-Live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does the job on real, clean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resists the attacks you tested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Owned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person approves, monitors and can switch it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Human-in-the-Loop for Risky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Low-impact, reversible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Approval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Anything sensitive or hard to 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Never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Actions the agent must not take at 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Testing AI Before You Trust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88% of developers are not confident deploying AI-generated code (Tricentis, 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95% of AI pilots fail for lack of guardrails; 60% of those are preventable compliance issues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Make quality the 'accountability layer' — test for risk, keep a human in the 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Tricentis QA trends, Jan 2026. AI is probabilistic, not deterministic — verify before you rely on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2"/>
              </a:rPr>
              <a:t>Tricentis (tricentis.com)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Positive Case — Singapore Healthcare Does It Right (AgentSea)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932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What was 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9326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Why it is responsible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15768"/>
            <a:ext cx="5317236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715768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Synapxe + AWS gave 80,000+ staff a no-code way to build AI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715768"/>
            <a:ext cx="5317236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715768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Governed rollout: 12,000+ agents built, 300+ shared for reuse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648456"/>
            <a:ext cx="53172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648456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 pre-clerking agent halved a doctor's review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648456"/>
            <a:ext cx="531723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648456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'This has not replaced the need for verification or my own clinical assessment'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581144"/>
            <a:ext cx="5317236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581144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The platform refuses sensitive data (NRIC, card numbers)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581144"/>
            <a:ext cx="5317236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581144"/>
            <a:ext cx="50977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Guardrails built in; tied to MOH's updated AI-in-Healthcare Guidelines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ST, 24 Aug 2026. 'Technological capability cannot be allowed to outpace our capability to govern it.'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2"/>
              </a:rPr>
              <a:t>The Straits Times (straitstimes.com)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8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8 — Reflect on Agent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8 · 15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Hands-on, no-code — ready-made website or AI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This reflection feeds directly into your Practical assessment.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Using the two chatbots, list what the leak could cost a business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Map each guardrail to a risk it removes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Decide go / conditional / no-go for a real rollout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LO3 · A1, A2  ·  Activity pack: activities/activity-8-security-reflection/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Key Challenges of AI to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552273" cy="6217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332817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Challenge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9513" y="1783080"/>
            <a:ext cx="4466478" cy="6217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7529" y="1783080"/>
            <a:ext cx="424702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What it looks like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5991" y="1783080"/>
            <a:ext cx="3615720" cy="6217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007" y="1783080"/>
            <a:ext cx="339626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What business must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404872"/>
            <a:ext cx="2552273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404872"/>
            <a:ext cx="2332817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Data privacy &amp; PDPA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9513" y="2404872"/>
            <a:ext cx="4466478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7529" y="2404872"/>
            <a:ext cx="424702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Agents read and move personal data; a leak may be notifiable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95991" y="2404872"/>
            <a:ext cx="361572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007" y="2404872"/>
            <a:ext cx="339626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Minimise data, map it, meet PDPA duties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026664"/>
            <a:ext cx="2552273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026664"/>
            <a:ext cx="2332817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Brand damage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9513" y="3026664"/>
            <a:ext cx="446647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7529" y="3026664"/>
            <a:ext cx="424702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 poor or misleading AI ad erodes trust and authenticity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5991" y="3026664"/>
            <a:ext cx="3615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007" y="3026664"/>
            <a:ext cx="339626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Human sign-off; disclose; know what not to synthesise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48456"/>
            <a:ext cx="2552273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648456"/>
            <a:ext cx="2332817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Cybersecurity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9513" y="3648456"/>
            <a:ext cx="4466478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7529" y="3648456"/>
            <a:ext cx="424702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Injection, data leaks, deepfakes — adoption outruns security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5991" y="3648456"/>
            <a:ext cx="361572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007" y="3648456"/>
            <a:ext cx="339626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Contain, test and monitor before rollout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270248"/>
            <a:ext cx="2552273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270248"/>
            <a:ext cx="2332817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29513" y="4270248"/>
            <a:ext cx="446647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7529" y="4270248"/>
            <a:ext cx="424702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When AI is wrong, who answers?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95991" y="4270248"/>
            <a:ext cx="3615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4007" y="4270248"/>
            <a:ext cx="339626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 named human is always accountable, never the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892040"/>
            <a:ext cx="2552273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4892040"/>
            <a:ext cx="2332817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Job impact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29513" y="4892040"/>
            <a:ext cx="4466478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57529" y="4892040"/>
            <a:ext cx="424702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Tasks are automated; roles must be redesigned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95991" y="4892040"/>
            <a:ext cx="3615720" cy="6217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4007" y="4892040"/>
            <a:ext cx="339626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Redesign jobs around directing and checking agents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This is the heart of LO3: the ethical, legal and business risks a Singapore organisation must manage to use AI responsibly.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6217920"/>
            <a:ext cx="10634472" cy="2011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6217920"/>
            <a:ext cx="73152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" y="6217920"/>
            <a:ext cx="102687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1">
                <a:solidFill>
                  <a:srgbClr val="DC2626"/>
                </a:solidFill>
                <a:latin typeface="Arial"/>
              </a:rPr>
              <a:t>Sources:  </a:t>
            </a:r>
            <a:r>
              <a:rPr sz="900">
                <a:solidFill>
                  <a:srgbClr val="1F6FEB"/>
                </a:solidFill>
                <a:latin typeface="Arial"/>
                <a:hlinkClick r:id="rId2"/>
              </a:rPr>
              <a:t>The Straits Times / CPA Australia (straitstimes.com)</a:t>
            </a:r>
            <a:r>
              <a:rPr sz="900">
                <a:solidFill>
                  <a:srgbClr val="5B6372"/>
                </a:solidFill>
                <a:latin typeface="Arial"/>
              </a:rPr>
              <a:t>   ·   </a:t>
            </a:r>
            <a:r>
              <a:rPr sz="900">
                <a:solidFill>
                  <a:srgbClr val="1F6FEB"/>
                </a:solidFill>
                <a:latin typeface="Arial"/>
                <a:hlinkClick r:id="rId3"/>
              </a:rPr>
              <a:t>CNA (channelnewsasia.com)</a:t>
            </a:r>
            <a:r>
              <a:rPr sz="900">
                <a:solidFill>
                  <a:srgbClr val="5B6372"/>
                </a:solidFill>
                <a:latin typeface="Arial"/>
              </a:rPr>
              <a:t>   ·   </a:t>
            </a:r>
            <a:r>
              <a:rPr sz="900">
                <a:solidFill>
                  <a:srgbClr val="1F6FEB"/>
                </a:solidFill>
                <a:latin typeface="Arial"/>
                <a:hlinkClick r:id="rId4"/>
              </a:rPr>
              <a:t>Moffatt v Air Canada, 2024 BCCRT 149 (canlii.org)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3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human is accountable for AI data and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Jobs shift to directing and checking agents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Secure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Contain, test and approve before you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THE BUSINESS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Adopt AI boldly — but govern the data, guard the brand, and keep a human accountable.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Complete the required digital attendance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Open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the slides, Learner Guide and your own activity notes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Upload the required files on the LMS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Each Assessment 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552273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9513" y="1783080"/>
            <a:ext cx="4253788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7529" y="178308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3301" y="1783080"/>
            <a:ext cx="3828409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1317" y="178308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 of your answers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Written (SAQ)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9513" y="2891790"/>
            <a:ext cx="425378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7529" y="289179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5 — one per knowledge statement K1–K5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3301" y="2891790"/>
            <a:ext cx="382840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1317" y="289179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you learned in the slides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552273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Practical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9513" y="4000500"/>
            <a:ext cx="4253788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7529" y="400050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3 — mapped to LO1–LO3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3301" y="4000500"/>
            <a:ext cx="3828409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1317" y="400050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Your own observations from the activities you did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Grading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9513" y="5109210"/>
            <a:ext cx="425378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7529" y="510921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book · Competent / Not Yet Competent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3301" y="5109210"/>
            <a:ext cx="382840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1317" y="510921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Re-assessment offered if Not Yet Competent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1264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2326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326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the current learner-facing materials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766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76600"/>
            <a:ext cx="82296" cy="1264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6804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6804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766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Upload only the requested assessment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244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724400"/>
            <a:ext cx="82296" cy="1264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51282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282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244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Step 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 not upload API keys or any real personal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the current learner-facing files. Keep evidence synthetic, local and reversible; never upload secrets or answer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then 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161B26"/>
                </a:solidFill>
                <a:latin typeface="Arial"/>
              </a:rPr>
              <a:t>Thank You — Use AI Boldly, Deploy It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520440"/>
            <a:ext cx="2313432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10058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0">
                <a:solidFill>
                  <a:srgbClr val="5B6372"/>
                </a:solidFill>
                <a:latin typeface="Arial"/>
              </a:rPr>
              <a:t>Bound the authority. Preserve the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749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TGS-2025060473  · 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xmlns:p14="http://schemas.microsoft.com/office/powerpoint/2010/main" p14:dur="320"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