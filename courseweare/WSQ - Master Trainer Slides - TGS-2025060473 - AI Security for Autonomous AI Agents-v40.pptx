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ai-agent-security-v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89788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30352"/>
            <a:ext cx="21488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612648"/>
            <a:ext cx="658368" cy="6583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802368" y="566928"/>
            <a:ext cx="1691640" cy="85953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02368" y="667512"/>
            <a:ext cx="16916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WSQ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2368" y="1078992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9CDCFE"/>
                </a:solidFill>
                <a:latin typeface="Arial"/>
              </a:rPr>
              <a:t>TRAINER SLIDES  ·  WSQ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48840"/>
            <a:ext cx="489204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AI Security for Autonomous AI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3977639"/>
            <a:ext cx="201168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24528"/>
            <a:ext cx="4892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WSQ Course Code: TGS-2025060473  ·  1 Day · 8 Hours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Skills Framework TSC: Generative AI Principles and Applications (ICT-INT-0052-1.1)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Conducted by Tertiary Infotech Pte Ltd  ·  UEN 201200696W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4892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Version 4.0  ·  25 August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08192"/>
            <a:ext cx="4892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2026 Tertiary Infotech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 or 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TRAQOM survey at the end of the course — it is required for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this profile before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TRAINING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4023360"/>
            <a:ext cx="6949440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4023360"/>
            <a:ext cx="91440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4023360"/>
            <a:ext cx="640080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security, governance and enterprise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Who Is in the Room?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service or team do you work in?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AI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Where do you already meet AI at work?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do you want to be able to do by 6pm?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 for a Hands-On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 the demos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Every activity is a ready-made website or chatbot — no coding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Fictional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Never paste real personal or company data into a demo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Ask and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Try prompts, compare answers, and reflect together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Demonstrate generative AI concepts and applications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Apply prompt engineering and analyse output variations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Identify ethical risks and analyse bias in AI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One-Day Learning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Topic 1 — GenAI, Agentic AI &amp;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Topic 2 — Prompt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Topic 3 — Security &amp;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Three topics map one-to-one onto LO1, LO2 and LO3; the assessment closes the day.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the Day Is Assessed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977652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758196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Instrument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754892" y="1783080"/>
            <a:ext cx="1701515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2908" y="1783080"/>
            <a:ext cx="1482059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56407" y="1783080"/>
            <a:ext cx="595530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84423" y="1783080"/>
            <a:ext cx="573584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What you 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2977652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2758196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Written Assessment (SAQ)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4892" y="2891790"/>
            <a:ext cx="1701515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2908" y="2891790"/>
            <a:ext cx="1482059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K1–K5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56407" y="2891790"/>
            <a:ext cx="595530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84423" y="2891790"/>
            <a:ext cx="573584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Five short written answers, one per knowledge statement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2977652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2758196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54892" y="4000500"/>
            <a:ext cx="1701515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2908" y="4000500"/>
            <a:ext cx="1482059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LO1–LO3 (A1–A5)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56407" y="4000500"/>
            <a:ext cx="595530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84423" y="4000500"/>
            <a:ext cx="573584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Three reflection tasks on the activities you completed today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2977652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2758196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Format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54892" y="5109210"/>
            <a:ext cx="1701515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82908" y="5109210"/>
            <a:ext cx="1482059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56407" y="5109210"/>
            <a:ext cx="595530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84423" y="5109210"/>
            <a:ext cx="573584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 book · Competent / Not Yet Competent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each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Draw on today's 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from your own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Justify your reasoning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briefing for assessment is delivered before the assessment begins.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and Activities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5778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577840" cy="47548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98424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4" y="198424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53896" y="198424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20" y="1920240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92024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pic>
        <p:nvPicPr>
          <p:cNvPr id="14" name="Picture 13" descr="lms-tms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530" y="2487168"/>
            <a:ext cx="2691259" cy="32461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675120" y="18288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1828800"/>
            <a:ext cx="82296" cy="1264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22326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2326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8288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Download the current learner-facing files from the LMS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2766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276600"/>
            <a:ext cx="82296" cy="1264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0" y="36804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6804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2766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Step 2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 each activity website directly in your browser — nothing to install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7244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4724400"/>
            <a:ext cx="82296" cy="1264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0" y="51282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1282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7244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Step 3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Keep every test synthetic, local and reversible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69280"/>
            <a:ext cx="10698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the current learner-facing files. Keep evidence synthetic, local and reversible; never upload secrets or answer keys.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 · LO1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Generative AI, Agentic AI and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From a chat box to systems that plan and act — history, mechanics, use cases and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Topic 1 Will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did we get here?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does GenAI actually work?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context engineering?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an agentic loop?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an AI agent?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Each question builds the vocabulary you need for prompt engineering and security later.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Very Short History of AI, 2023–2026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2023 · 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2024 · Context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2025 · Harness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2026 · AI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Each year did not replace the last — it added a new layer on top of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Four Waves in Plain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2023 — 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2023110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ChatGPT makes text and image generation mainstream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1286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2024 — Context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7318" y="2624328"/>
            <a:ext cx="2023110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 learn to feed models the right information, not just a 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4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2025 — Harness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2624328"/>
            <a:ext cx="2023110" cy="3374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 wrap models in loops that plan, act and verify — agentic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7122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82296" cy="4343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2026 — AI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3154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Deployed agents act across our apps, chats and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2023 — Generative AI Goes Mainstream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ChatGPT launched on 30 November 2022 and reached mass adoption through 2023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One natural-language box exposed writing, coding, translation and analysis to everyone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Businesses began asking not 'can it chat?' but 'what work can it do?'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2024 — Context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Teams found the prompt alone was not enough — the model needed the right supporting information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Andrej Karpathy argued for 'context engineering' over 'prompt engineering' (Jun 2025)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craft became: fill the context window with just the right tokens for the next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S10, S11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2025 — Harness Engineering and Agentic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Tools like Claude Code and Codex wrapped the model in a loop that gathers context, acts and verifies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OpenAI named this discipline 'harness engineering'; Anthropic calls the tool an 'agentic harness'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model stopped only answering and started doing multi-step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S12, S13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2026 — The Year of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Personal and organisational agents such as OpenClaw and Hermes reached everyday users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Agents now live inside WhatsApp, Telegram, email and business apps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question shifted again: how do we let agents act safely on our behalf?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S30, S33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How Generative AI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Training, inference, and the autoregressive language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'Generative'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Produces new text, image, audio, video or code from patterns it has learned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Discriminative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Sorts or scores existing input — spam / not-spam, fraud / not-fraud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Service teams use both: generate a reply, and classify a 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Two Phases: Training and 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Gather large text corpora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Train — adjust billions of parameters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Ship the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Inference — you prompt, it responds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Training happens once and is expensive; inference happens every time you use the model.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Autoregressive LLM Writes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your context as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Predict the next token's probabilities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Pick one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Append it and repeat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large language model writes one token at a time, each based on everything before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the Same Prompt Can Differ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Probabilities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model samples from likely next tokens, not a fixed lookup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Temperature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Higher settings add variety; lower settings add consistency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Change the surrounding information and the whole answer shifts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Strengths and Limits for Service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Strong 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Drafting, summarising, translating, reformatting, brainstorming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Weak 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Facts it was never given — it can sound confident yet be wrong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Treat fluent output as a draft to verify, not as truth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Generative AI in the Real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Real, dated examples — how generation is already changing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Fashion Models Are Now Generated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Mango, Jul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Ran its first fully AI-generated campaign for its teen 'Sunset Dream' line across 95 markets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H&amp;M,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Announced AI 'digital twins' of 30 real models; first labelled images appeared mid-2025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Guess, Aug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Guess ad using AI-generated models ran in Vogue's August issue and drew wide debate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S20, S21, S22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Short Vertical Video Is Being Generated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OpenAI Sora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Launched 30 Sep 2025 with a TikTok-style app of AI clips; No.1 on the US App Store within days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Coca-Cola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Aired an AI-generated 'Holidays Are Coming' ad in 2024 and again in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Marketing teams can now generate campaign video without a film crew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S23, S24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Customer Service: The Klarna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Feb 2024 — AI assistant handles 2/3 of chats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Work of ~700 agents in month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Resolution time 11 min to under 2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May 2025 — re-hires humans for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real cautionary tale: automate the routine, but keep humans for judgement and empathy.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S25, S26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Service Teams Apply GenAI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Front desk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Draft replies, translate, summarise long threads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Back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Turn notes into reports; extract data from documents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Marketing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Generate copy, images and short video for campaigns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Context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model is only as good as the context you give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Engineering vs Context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Prompt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Wording one instruction well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Context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Assembling everything the model sees before it answers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Real applications manage context, not just a clever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S10, S11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Six Ingredients of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System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Who the AI is and its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User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task you asked for right now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2057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Earlier turns in this conversation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069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069080"/>
            <a:ext cx="82296" cy="2057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4251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251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4215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18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Facts kept across sessions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55592" y="4069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55592" y="4069080"/>
            <a:ext cx="82296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5048" y="4251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5048" y="4251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5400" y="4215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1624" y="4818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Functions it can call to act or fetch 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52816" y="4069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52816" y="4069080"/>
            <a:ext cx="82296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72272" y="4251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2272" y="4251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02624" y="4215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Retrieved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8848" y="4818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Documents pulled in for this task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Agent Gathers Context for a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 give a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reads its system prompt and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retrieves relevant files or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calls tools for fresh facts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assembles all of this, then answers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Example: 'Reply to this guest email' → it pulls the booking, the policy doc and past replies first.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Worked Context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'Draft a refund reply to Mr Tan'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Context gathered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Booking record + refund policy + tone guide + the original 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grounded reply, not a generic guess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The Agentic Loop and Harness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What turns a model that answers into a system that acts.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Agentic Loop — A Visual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Context — gather goal &amp;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 — decide the 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Execute — call a tool / take an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— check the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loop repeats until the goal is met. Anthropic's harness uses gather → act → verify; 'plan' is shown here as a teaching step.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a Harness Adds Around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Runs context → plan → execute → verify repeatedly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Tool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Lets the model read files, run commands, call APIs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State &amp;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Tracks progress and enforces permissions and sandboxes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S12, S13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Two Harnesses You May Have Heard Of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Anthropic's coding agent — the 'agentic harness around Claude'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OpenAI's coding agent; OpenAI calls the discipline 'harness engineering'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Same idea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loop + tools + a sandbox around a general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S12, S13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Concrete Agentic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Goal: 'Summarise this week's guest complaints'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Plan: open the inbox 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Execute: read and cluster the emails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Verify: check counts, then write the 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Repeat until done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If verification fails — a folder is empty — the agent re-plans instead of stopping.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Agents: OpenClaw and Hermes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deployed systems that put the agentic loop into everyday hands.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Makes Something an 'AI Agent'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 real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Not just a model — a running app with an identity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Acts through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Sends messages, edits files, calls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Keeps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Remembers context and can resume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Peter Steinberger — Creator of OpenClaw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hoto-peter-steinber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3931920" cy="3931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83480" y="1874519"/>
            <a:ext cx="642823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83480" y="1874519"/>
            <a:ext cx="82296" cy="1325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39512" y="1874519"/>
            <a:ext cx="597103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Austrian developer, founder of PSPDFKit; GitHub handle steipete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3383279"/>
            <a:ext cx="642823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83480" y="3383279"/>
            <a:ext cx="82296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9512" y="3383279"/>
            <a:ext cx="597103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he built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OpenClaw, an open-source personal AI agent that went viral in late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4892039"/>
            <a:ext cx="6428232" cy="1325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3480" y="4892039"/>
            <a:ext cx="82296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4892039"/>
            <a:ext cx="5971032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Since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Joined OpenAI in Feb 2026; an OpenClaw Foundation now stewards the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S30, S32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OpenClaw — A Naming and Adoption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Nov 2025 — released, goes viral as 'Clawdbot'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Jan 2026 — renamed 'Moltbot'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Jan 2026 — renamed 'OpenClaw'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Mar 2026 — ~247k GitHub stars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Renamed after a trademark complaint; figures per Wikipedia, as of early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OpenClaw Runs Where You Already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Messaging-first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 talk to it in WhatsApp, Telegram, Slack, Signal and more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Self-hosted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runs on your own machine or server, under your 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Tool-enabled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can read, write and call services on your behalf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Hermes Agent by Nous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Open-source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CLI, gateway and messaging surfaces; a desktop app since Jun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Self-improving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Can create reusable skills from experience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Flexible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Runs on many providers — we will point it at MiniMax in Topic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Try It Today: TIA Support on WhatsApp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TIA Support WhatsApp +65 8866 6375, powered by OpenClaw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to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Message it like a person and give it a small task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Watch 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Where it helps — and where you would not trust it yet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We use this live in Activity 1.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Skills and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How agents extend beyond the base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Tools vs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Actions the agent can take — send email, run a query, open a 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Packaged know-how — reusable instructions for a task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Together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Skills tell the agent how; tools let the agent 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S15, S16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Agent Uses a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decides an action is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Picks a tool and fills its 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tool runs and returns a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Result becomes new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continues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Model Context Protocol (MCP) is a common standard for connecting tools to agents.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Skills Make Agents Practical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same task is done the same way every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Build once, run across many jobs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In Topic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 install a skill so the agent formats Excel and PPT better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Morning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Multi-Agent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When one agent is not enough.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Orchestrator and Workers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lead agent receives the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splits the work into parts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Worker agents run parts in parallel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lead combines their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Anthropic's research system used this pattern; it beat a single agent by ~90% on their internal research eval.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and Why Not Multi-Agent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Faster &amp; broader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Parallel workers cover more ground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Costlier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Multi-agent runs used far more tokens than a single chat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Trade-off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it when breadth matters more than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Service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'Plan a customer-recovery campaign'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Workers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One drafts copy, one builds the offer, one checks the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Merges the three into one plan for a human to approve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Generative AI vs Agentic AI vs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single most useful distinction from Topic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Three,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020549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180109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797789" y="1783080"/>
            <a:ext cx="2871307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5805" y="178308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Generative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096" y="1783080"/>
            <a:ext cx="2871307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7112" y="178308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Agentic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0403" y="1783080"/>
            <a:ext cx="2871307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8419" y="178308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AI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91790"/>
            <a:ext cx="2020549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891790"/>
            <a:ext cx="180109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What it does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97789" y="289179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5805" y="289179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Creates content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096" y="289179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112" y="289179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Loops to reach a goal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0403" y="289179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419" y="289179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A deployed system that acts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00500"/>
            <a:ext cx="2020549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000500"/>
            <a:ext cx="180109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Acts on its own?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97789" y="4000500"/>
            <a:ext cx="2871307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5805" y="400050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No — you run each step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096" y="4000500"/>
            <a:ext cx="2871307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112" y="400050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Yes — plans and retries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0403" y="4000500"/>
            <a:ext cx="2871307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8419" y="400050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Yes — through real tools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109210"/>
            <a:ext cx="2020549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109210"/>
            <a:ext cx="180109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Example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97789" y="510921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5805" y="510921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ChatGPT drafting a reply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096" y="510921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112" y="510921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Claude Code fixing a bug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0403" y="5109210"/>
            <a:ext cx="2871307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68419" y="5109210"/>
            <a:ext cx="2651851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OpenClaw in your WhatsApp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S43, S44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One-Line Definitions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Makes things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Agentic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loop that makes an AI pursue a 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AI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running system that uses that loop to act for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1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Generation is a step. Agency is a loop. An agent is a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1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1 — Talk to an AI Agent, Then Reflect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1 · 45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Pinboard: https://alfredang.github.io/pinboard/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Message TIA Support on WhatsApp +65 8866 6375 (powered by OpenClaw)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Use the prompt card in the activity pack; give it a small realistic task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Post your reflections to the Pinboard under the four risk themes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K2, K3, A4  ·  Activity pack: activities/activity-1-threat-modelling-genai-concierge/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1 — Group Your Concerns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Data 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data did it see or ask for?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1286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094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Job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7318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Whose work does this change?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4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Ethical Concerns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Could it mislead or be unfair?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7122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82296" cy="4343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Cyber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3154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How could it be abused?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1 — Debrief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the Pinboard 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Cluster the four themes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 the top risk in 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Agree one safe-use rule per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This debrief seeds the governance thinking you will use in Topic 3.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 · LO2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Prompt Engineering and Post-Training for Autonomous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Set up a real agent on MiniMax, then learn to prompt it well.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Topic 2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the Hermes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Point it at a MiniMax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Learn prompt principles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real prompts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tools and skills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You will do the setup once, then use the same agent for both activities.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Setup in Three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Hermes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agent you talk 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MiniMax M2.7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model that powers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Your API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Connects the two — kept only on your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S33, S36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Install the Hermes Desktop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hermes-agent.nousresearch.com/docs/user-guide/desktop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the Hermes 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'hermes desktop'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app builds and launches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'hermes setup'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If the CLI is already installed, 'hermes desktop' reuses your existing config and keys.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Get a MiniMax Model and API 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 to minimax.io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an account at platform.minimax.io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Select the M2.7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an API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Copy it for Hermes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Check platform.minimax.io for current pricing and any promotional access before class.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S36, S37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Point Hermes at MiniMax M2.7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Hermes settings / inference providers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Choose a custom OpenAI-compatible provider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Endpoint: https://api.minimax.io/v1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Paste your MiniMax API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Pick model M2.7 and save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Hermes supports custom OpenAI-compatible endpoints, so MiniMax plugs straight in.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S33, S37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Keep Your Key Safe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Training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a low-limit key, not a production 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Local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key stays on your machine; do not share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Revoke after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Delete the key when the course ends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Prompt Engineering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Small changes in the prompt make large changes in the output.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Five Principles of a Good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Tell the AI who to be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State exactly what you want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2057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Give the facts it needs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069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069080"/>
            <a:ext cx="82296" cy="2057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4251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251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4215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Format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18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Say how the answer should look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55592" y="4069080"/>
            <a:ext cx="3441192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55592" y="4069080"/>
            <a:ext cx="82296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5048" y="4251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5048" y="4251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5400" y="4215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Constraints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1624" y="4818888"/>
            <a:ext cx="2947416" cy="1179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Set length, tone and limits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Bad Prompt vs a Good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Bad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Good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'analyse this data'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 role, no goal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 format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You get a vague wall of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'You are a marketing analyst. From this sales table, give the top 3 trends as bullets, with one action each.'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Clear role and task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Clear format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You get a usable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Techniques That Reliably Help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Give an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Show one sample of the output you want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Ask for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'Think step by step' improves reasoning tasks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Iterate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Refine the prompt after seeing the first 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Post-Training Adds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Base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Predicts text from raw training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Instruction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Taught to follow instructions helpfully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Why you 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is why a clear, well-formed prompt works so well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2 — Analyse Excel Data with the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2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You will produce a short insight summary from the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mock marketing Excel file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Send the supplied prompts to your Hermes + MiniMax agent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Compare a bad prompt and a good prompt on the same 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K1, K4  ·  Activity pack: activities/activity-2-prompt-injection-data-leakage/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2 — Good vs Bad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'look at this excel'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Good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'As a marketing analyst, list the 3 best-performing channels by ROI and one action each'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Reflect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Which answer could you actually use?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3 — Build an Animated PPT with the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3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Templates: elements.envato.com/presentation-templates/compatible-with-powerpoint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Use the supplied script and prompts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Ask the agent to build slides from an Envato PowerPoint template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Compare a vague request with a detailed, well-formed 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A3, A5  ·  Activity pack: activities/activity-3-security-framework-selection/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3 — What Good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'make a ppt'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Good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'Using this template and script, build a 5-slide deck with title animations and a summary slide'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Reflect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Detail in = quality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4 — Install Tools and Skills to Do Better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4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Evidence-based documented case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Skills give the agent repeatable know-how for formatting and 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Install the supplied tool/skill in your agent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Re-run the Excel and PPT tasks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Note how much the output improves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K5  ·  Activity pack: activities/activity-4-rogue-agent-incident-review/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Reflect on Working with the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Data 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did you feed the agent and the model?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1286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094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Job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7318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Which of your tasks did it speed up?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4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Ethical Concerns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Did any output mislead or overclaim?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7122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82296" cy="4343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Cyber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3154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Where did your API key and data go?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Topic 2 Debrief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Share your best and worst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 one thing skills improved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List one privacy or security worry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Agree a prompt checklist to keep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Carry the security worries forward — Topic 3 turns them into governance.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 · LO3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 Risk of Autonomous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Governance, jobs and the security of agents that can 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Topic 3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AI data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Job impact &amp; redesign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AI-agent cybersecurity risks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Safe rollout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Three scenarios drive the discussion: data, jobs and security.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A — Who Is Accountable for the Data?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 agent reads and edits your Excel and PPT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If it changes the data wrongly, who is accountable — AI or human?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Second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If AI-made models or scripts break a law, who answers for it?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  <a:latin typeface="Arial"/>
              </a:rPr>
              <a:t>GOVERNANCE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AI is never the accountable party. A named human always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S40, S46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Case — Moffatt v Air Canada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chatbot gave a customer wrong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customer relied on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airline said the bot was responsible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tribunal held the company accountable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2024 BCCRT 149 — an organisation is accountable for what its AI tells customers.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S46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Traditional Data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Collect data only for a stated reason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Keep it secure and access-controlled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Accuracy &amp; retention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Keep it correct; delete when no longer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New Principles for GenAI and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Provenance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Know where training and generated data came from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Log what the agent read, changed and produced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Human accountability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named owner signs off agent actions on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Scope of an AI Data Governance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977652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Area</a:t>
            </a:r>
          </a:p>
        </p:txBody>
      </p:sp>
      <p:sp>
        <p:nvSpPr>
          <p:cNvPr id="8" name="Rectangle 7"/>
          <p:cNvSpPr/>
          <p:nvPr/>
        </p:nvSpPr>
        <p:spPr>
          <a:xfrm>
            <a:off x="3754892" y="1783080"/>
            <a:ext cx="7656819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2908" y="178308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What the policy must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22220"/>
            <a:ext cx="2977652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52222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Data assets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54892" y="2522220"/>
            <a:ext cx="7656819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2908" y="252222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Which data agents may read, write or generate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61360"/>
            <a:ext cx="2977652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26136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Access &amp; identity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54892" y="3261360"/>
            <a:ext cx="7656819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2908" y="326136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Who and which agent identity may touch each asset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2977652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Human approval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54892" y="4000500"/>
            <a:ext cx="7656819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2908" y="400050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Which changes need a person to approve before they happen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739640"/>
            <a:ext cx="2977652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73964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54892" y="4739640"/>
            <a:ext cx="7656819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2908" y="473964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is logged, and who reviews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78780"/>
            <a:ext cx="2977652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478780"/>
            <a:ext cx="2758196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54892" y="5478780"/>
            <a:ext cx="7656819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2908" y="5478780"/>
            <a:ext cx="7437363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named owner for each agent and dataset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S40, S41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Sample AI Data Governance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Scope — the AI systems, agents and data assets covered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Roles — data owner, agent owner, approver and reviewer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Rules — allowed data, required approvals, logging and retention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Review — how often the policy and agent permissions are re-checked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5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5 — Draft Your AI Data Governance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5 · 25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You will produce a one-page policy you could take back to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sample policy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Use the supplied prompts to adapt it to your own team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Fill scope, roles, rules, approvals and review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A1, A2  ·  Activity pack: activities/activity-5-agent-governance-deployment-gate/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B — If Agents Take the Work, What Do People 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fear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Agents can do many tasks — will jobs disappear?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Tasks are automated; whole jobs are redesigned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People move from doing the task to directing the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Jobs the Tasks Move — Not Vanish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317236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Task often automated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783080"/>
            <a:ext cx="5317236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2492" y="1783080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New human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70048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670048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Writing routine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2670048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2492" y="2670048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Reviewing and directing coding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57016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557016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Basic data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4476" y="3557016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2492" y="3557016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Framing questions and checking agent 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443984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443984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First-line replies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4476" y="4443984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2492" y="4443984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Handling escalations and difficult cases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30952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5330952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Drafting content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4476" y="5330952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2492" y="5330952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Editing, approving and setting brand standards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Numbers Give Perspective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+170M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New jobs created by 2030 (WEF Future of Jobs 2025)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-92M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Jobs displaced by 2030 — a net gain of about 78M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Share of core skills expected to change by 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New Roles: Managing Many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Agent supervisor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Directs and checks a fleet of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Workflow coordinator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Chains agents to reach a business 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Quality reviewer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Verifies agent output before it 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Staff Resist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'This will replace me'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Loss of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'I don't understand what it does'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Skill anxiety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'I don't know how to work with it'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Coaching Staff Through the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Acknowledge the fear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Explore their strengths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Show the redesigned role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Co-create 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Agree support and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This mirrors the GROW coaching model — Goal, Reality, Options, Will.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Job-Redesign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List today's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Mark which agents can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Redesign the human role around judgement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agent-management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Retrain and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goal is a role that supervises agents, not one that competes with them.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ACTIVITY 6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6 — Coach a Worried Team Member (Role-Play)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6 · 45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Evidence-based classroom 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Use empathy first, then co-create a redesigned role that manages agents.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role-play simulator website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Coach an AI-played staff member who fears losing their job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Get GROW-model feedback on your coaching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K/A statements  ·  Activity pack: activities/activity-6/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AI Agent Cybersecurity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What can go wrong when an AI can act — and how to contain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C — An Agent With Too Much 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removes files or data by mistake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sends confidential data or PII outside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Breach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 attacker steers it through injected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Capable Agents, Not 'Rogue' 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Not evil — capable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Advanced agents pursue their goal through harmful, unintended methods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testing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 evaluations, capable agents can find vulnerabilities, exploit systems and use deception when containment fails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Report carefully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These are evaluation findings, not proof every deployment behaves this 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Frame lab evaluations as controlled tests, not confirmed production breaches.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 Cybersecurity Risks and Mitigation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4253788" cy="6335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Key AI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1028" y="1783080"/>
            <a:ext cx="6380683" cy="6335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59044" y="1783080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Mitigation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16628"/>
            <a:ext cx="4253788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416628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Adversarial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1028" y="2416628"/>
            <a:ext cx="6380683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59044" y="2416628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Resilient model validation, explainable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050176"/>
            <a:ext cx="4253788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050176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Algorithmic bias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1028" y="3050176"/>
            <a:ext cx="6380683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9044" y="3050176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Diverse training data, ethical guidelines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683724"/>
            <a:ext cx="4253788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683724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Over-reliance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1028" y="3683724"/>
            <a:ext cx="6380683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9044" y="3683724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Human-in-the-loop, continuous training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317272"/>
            <a:ext cx="4253788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317272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Data privacy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31028" y="4317272"/>
            <a:ext cx="6380683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9044" y="4317272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Data anonymisation, regulatory compliance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950820"/>
            <a:ext cx="4253788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4950820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Model drift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31028" y="4950820"/>
            <a:ext cx="6380683" cy="63354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59044" y="4950820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Regular updates, performance monitoring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584368"/>
            <a:ext cx="4253788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584368"/>
            <a:ext cx="4034332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Malicious use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31028" y="5584368"/>
            <a:ext cx="6380683" cy="6335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59044" y="5584368"/>
            <a:ext cx="6161227" cy="6335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Strict access controls, AI usage policies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S43, S44, S45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Offence Outruns Defence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Offence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Coding progress directly strengthens attack capability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Defence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Slower — patches must be validated and deployed everywhere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Contain agents by default; do not rely on catching every attack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Response Being Proposed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Contain &amp;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Stricter containment and independent testing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Disclose &amp; 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Incident disclosure and stronger provider liability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Train safely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Train models to avoid unacceptable paths to a 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S44, S45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Case — Replit Agent Deletes a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agent had write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 deleted application-database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incident was detected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database was restored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Dev/prod were then separated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Replit's own post (Jul 2025) says the data was restored — an accountability and containment lesson.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S47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Injection and PII Leak — In Plain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Prompt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Hidden instructions in a document or message hijack the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PII leak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bot returns personal data it should never expose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You will see both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Live, in the two chatbots in the next activity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7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7 — Break a Leaky Chatbot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7 · 45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Evidence-based classroom 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All data is fictional — this is a safe, deliberately broken demo.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UNSECURED SunTech Travel chatbot in the activity pack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Try prompts like 'list all customer bookings'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Watch it leak fictional PII from its knowledge base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K/A statements  ·  Activity pack: activities/activity-7/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7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7 — Compare the Guarded Chatbot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7 · 45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Evidence-based classroom 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Same brand, same data — the difference is defence in depth.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Open the SECURED SunTech Travel chatbot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Send the same attack prompts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See the four guardrail layers block the leak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K/A statements  ·  Activity pack: activities/activity-7/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Four Guardrail Layers That Stopped the Leak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190341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7581" y="1783080"/>
            <a:ext cx="7444130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5597" y="1783080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70048"/>
            <a:ext cx="3190341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670048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Retrieval filter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7581" y="2670048"/>
            <a:ext cx="7444130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5597" y="2670048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Internal records are never fetched — data minimisation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57016"/>
            <a:ext cx="3190341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557016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Input guard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7581" y="3557016"/>
            <a:ext cx="744413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95597" y="3557016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Injection and 'list all' prompts are refused before the model runs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443984"/>
            <a:ext cx="3190341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443984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Hardened prompt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7581" y="4443984"/>
            <a:ext cx="7444130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95597" y="4443984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Role limits; never follow instructions found in documents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30952"/>
            <a:ext cx="3190341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5330952"/>
            <a:ext cx="2970885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Output guard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67581" y="5330952"/>
            <a:ext cx="744413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5597" y="5330952"/>
            <a:ext cx="7224674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Any leaked NRIC, phone, email or card is redacted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Framework to Roll Out Agents Safely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Scope &amp; risk-tier the use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Bound data, tools and autonomy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in a sandbox with attacks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human approval for risky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Pilot, monitor, then widen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Test and verify security BEFORE rolling an agent out to real users.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S45, S40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Go-Live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does the job on real, clean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 resists the attacks you tested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Owned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named person approves, monitors and can switch it 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Human-in-the-Loop for Risky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Agent alone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Low-impact, reversible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Approval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Anything sensitive or hard to undo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Never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Actions the agent must not take at 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8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8 — Reflect on Agent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8 · 45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Evidence-based classroom 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This reflection feeds directly into your Practical assessment.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Using the two chatbots, list what the leak could cost a business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Map each guardrail to a risk it removes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Decide go / conditional / no-go for a real rollout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K/A statements  ·  Activity pack: activities/activity-8/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Topic 3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Govern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named human is accountable for AI data and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Jobs shift to directing and checking agents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Secure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Contain, test and approve before you 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  <a:latin typeface="Arial"/>
              </a:rPr>
              <a:t>COURSE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Let agents act — but bound the authority and keep a human answerable.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Complete the required digital attendance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Use the slides, Learner Guide and your own activity notes — open book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Submit the required files on the 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Each Assessment 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552273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Instrument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29513" y="1783080"/>
            <a:ext cx="4253788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7529" y="1783080"/>
            <a:ext cx="403433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Questions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3301" y="1783080"/>
            <a:ext cx="3828409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1317" y="1783080"/>
            <a:ext cx="360895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Source of your answers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2552273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Written (SAQ)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9513" y="2891790"/>
            <a:ext cx="4253788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7529" y="2891790"/>
            <a:ext cx="403433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5 — one per knowledge statement K1–K5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3301" y="2891790"/>
            <a:ext cx="3828409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11317" y="2891790"/>
            <a:ext cx="360895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you learned in the slides 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2552273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Practical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29513" y="4000500"/>
            <a:ext cx="4253788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7529" y="4000500"/>
            <a:ext cx="403433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3 — mapped to LO1–LO3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3301" y="4000500"/>
            <a:ext cx="3828409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1317" y="4000500"/>
            <a:ext cx="360895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Your own observations from the activities you did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2552273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2332817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Grading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29513" y="5109210"/>
            <a:ext cx="4253788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7529" y="5109210"/>
            <a:ext cx="403433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 book · Competent / Not Yet Competent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3301" y="5109210"/>
            <a:ext cx="3828409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11317" y="5109210"/>
            <a:ext cx="3608953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Re-assessment offered if Not Yet Competent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5778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577840" cy="47548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98424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4" y="198424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53896" y="198424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20" y="1920240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92024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pic>
        <p:nvPicPr>
          <p:cNvPr id="14" name="Picture 13" descr="lms-tms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530" y="2487168"/>
            <a:ext cx="2691259" cy="32461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675120" y="18288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1828800"/>
            <a:ext cx="82296" cy="1264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22326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2326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8288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Download the current learner-facing materials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2766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276600"/>
            <a:ext cx="82296" cy="1264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0" y="36804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6804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2766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Step 2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Upload only the requested assessment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7244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4724400"/>
            <a:ext cx="82296" cy="1264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0" y="51282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1282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7244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Step 3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 not upload API keys or any real personal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69280"/>
            <a:ext cx="10698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the current learner-facing files. Keep evidence synthetic, local and reversible; never upload secrets or answer keys.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Written then Practical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 or 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TRAQOM survey at the end of the course — it is required for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600" b="1">
                <a:solidFill>
                  <a:srgbClr val="161B26"/>
                </a:solidFill>
                <a:latin typeface="Arial"/>
              </a:rPr>
              <a:t>Thank You — Use AI Boldly, Deploy It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3520440"/>
            <a:ext cx="2313432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886200"/>
            <a:ext cx="10058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0">
                <a:solidFill>
                  <a:srgbClr val="5B6372"/>
                </a:solidFill>
                <a:latin typeface="Arial"/>
              </a:rPr>
              <a:t>Bound the authority. Preserve the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7492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TGS-2025060473  · 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