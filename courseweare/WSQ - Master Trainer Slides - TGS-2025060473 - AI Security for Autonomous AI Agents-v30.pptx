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ai-agent-security-v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30352"/>
            <a:ext cx="21488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612648"/>
            <a:ext cx="658368" cy="65836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02368" y="566928"/>
            <a:ext cx="1691640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02368" y="667512"/>
            <a:ext cx="16916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2368" y="1078992"/>
            <a:ext cx="1691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AI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CDCFE"/>
                </a:solidFill>
                <a:latin typeface="Arial"/>
              </a:rPr>
              <a:t>TRAINER SLIDES  ·  WSQ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489204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AI Security for Autonomous AI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977639"/>
            <a:ext cx="2011680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24528"/>
            <a:ext cx="4892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WSQ Course Code: TGS-2025060473  ·  2 Days · 16 Hours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Skills Framework TSC: Generative AI Principles and Applications (ICT-INT-0052-1.1)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Conducted by Tertiary Infotech Pte Ltd  ·  UEN 20120096W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4892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CDCFE"/>
                </a:solidFill>
                <a:latin typeface="Arial"/>
              </a:rPr>
              <a:t>Version 3.0  ·  20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4892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2026 Tertiary Infotech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TRAINING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2057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4023360"/>
            <a:ext cx="6949440" cy="2057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4023360"/>
            <a:ext cx="91440" cy="2057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640080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security, governance and enterprise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Who Is in the Room?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systems do you own or use?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data and tools can they reach?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Concern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outcome would be hardest to reverse?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Working Agreements for Security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Synthetic data only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Local dummy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Share evidence, not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live credentials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real recipients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production probing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This Course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generates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Workflow iterates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receives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Authority creates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Security changes when probabilistic output can trigger actions in real systems.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Two-Day Learning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9002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9002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3996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1468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1468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8323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323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7772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System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5696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25696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7458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7458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Attack surfaces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9924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9924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3168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168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4152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74152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5591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591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0908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98380" y="224028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98380" y="224028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280142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0142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4684" y="365760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GenAI concepts and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prompt variations and controls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Analyse ethical, bias and security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K1–K5 and A1–A5 Evidence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 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Statements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Where demonstrated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Models and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K1–K3, K5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History, taxonomy, poisoning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Prompts and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K4, A5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activity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Use, limits, ethics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A1–A4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Cases and deployment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course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State assumptions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Justify control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Components and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Written Assessment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Knowledge statements K1–K5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Case Study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Learning outcomes and abilities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Evidence-based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Courseware, Activities, and Safe Lab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current learner-facing files from the LMS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the five activity folders as the evidence workspace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only synthetic, local and reversible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Day 1 — From AI Models to Acting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Origins → generation → agency → product anatomy → threat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Dependency Map: What Must Be Understood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system?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components does it add?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authority does it receive?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can fail?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controls it?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Before ‘Generative’: What Did AI Mean?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AI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Engineered system producing predictions, recommendations, decisions or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Outputs influence virtual or physical environments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Systems operate with varying levels of autonomy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1950 — The Machine-Intelligence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Turing reframed the question through observable conversational behaviour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paper discussed learning machines as well as fixed programs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It predates the term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1955–1956 — ‘Artificial Intelligence’ Is Named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Dartmouth proposal used the term artificial intelligence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summer project took place in 1956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proposal treated learning and intelligence as problems that could be described precisely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S02, S03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Symbolic AI and Early Learning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Symbolic systems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Represent knowledge as rules and symbols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Reason through explicit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Learning systems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Adjust behaviour from examples or feedback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Depend on data and objective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Cycles of AI Expectation and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expectations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Technical and funding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Reduced investment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Narrow commercial revival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history is cyclical; avoid a single-cause story for either progress or slowdown.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Statistical Machine Learning — Course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Represent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Fit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on held-out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decision boundary is learned from data rather than authored as a complete rule set.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2012 — Deep Learning’s Visibility Breakthrough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AlexNet used a deep convolutional network for ImageNet classification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The published system used GPUs to train the model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Its result helped demonstrate the practical impact of deep learned representations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Sequence Models and the Attention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Many earlier neural sequence models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Recurrence processes tokens in order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Long dependencies are difficult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Attention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Weights relationships between positions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Creates shorter paths between relevant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2017 — The 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Token representations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Self-attention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Feed-forward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Parallel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original architecture dispensed with recurrence and convolution for its sequence-transduction tasks.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Large Models to Foundation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Pre-train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Learn broad patterns from large, diverse corpora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Prompt, fine-tune or retrieve for a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model supports many downstream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2020 — Few-Shot Behaviour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GPT-3 was evaluated on tasks described through text prompts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Few-shot examples were provided in context rather than through task-specific gradient updates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Performance varied substantially by task and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 Following and Human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demonstrations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 a reward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Optimise against preferences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Evaluate helpfulness and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Human feedback changes behaviour; it does not create a deterministic policy boundary.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November 2022 — ChatGPT Broadens the Conversational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ChatGPT's public release in November 2022 made multi-turn language-model interaction widely visible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Natural-language prompts exposed many tasks through one interface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A conversational interface did not remove limitations, variability or data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HIST  ·  Sources: S08, S09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Retrieval and Tool Use Move Beyond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from model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Retrieve external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 structured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Iterate toward a 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Each step adds utility and a new trust boundary.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Evolution in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Reason with symbols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Retrieve and use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and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This is an instructional synthesis, not a claim that one paradigm replaced every earlier 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S01, S02, S05,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Taxonomy Warning: The Terms Are Not Standardised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Sources use overlapping labels · The course declares operational definitions · Classify the architecture, not the marketing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S12, S14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— Course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Primary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synthetic text, image, audio, video or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Respond to supplied context and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model response alone does not imply autonomous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an Autoregressive Language Model Produces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Tokenise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Compute contextual representations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Estimate next-token probabilities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Decode the next-token sequence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Sampling and context make output probabilistic rather than a fixed database lookup.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S05, S09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vs Discriminative Models — Course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Generative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Learns patterns used to produce new content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be exposed to injection, leakage, poisoning and unsafe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Discriminative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Learns to predict a class or score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May be exposed to poisoning, evasion, leakage and false positives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Combine patterns into a new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Rewrite, translate or structure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Express many tasks in natural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Weaknesses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Confabulation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Fluent output can be unsupported or wrong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Variability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 and sampling changes alter results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Provenance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Output may not reveal which source supported a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Generative AI Security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Prompt/context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Instruction hijack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Wrong or disclosed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Training/RAG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Poisoning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Biased or attacker-shaped answers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Unsafe downstream handling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Code, data or browser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— Course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Goal-directed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Works toward an objective across 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Iterative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Observes results and adjusts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System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Agency comes from the model plus orchestration and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Plan–Act–Observe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tool or 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Continue or 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compromised objective can influence every later turn of the loop.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Autonomy Is a Spectrum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Suggest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for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 within hard bounds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 broadly with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Risk assessment should set autonomy by impact, reversibility, data sensitivity and tool reach.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Multi-step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Decompose a goal into linked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observations to change the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Coordinate models, tools and specialised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Weaknesses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Compounding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mistake shapes later observations and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Runaway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Loops consume time, tokens and tool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Opaque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plausible final answer can hide a harmful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Agentic AI Security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Agentic 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Goal pursuit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Goal hijack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Bind goal and stop 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 choice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 misuse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Allowlist and validate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Delegation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Cascade/inter-agent spoofing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Authenticate and limit fan-out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 Agent — Course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Concrete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deployed software entity, not just a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State and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Receives environment feedback and may retain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Acts through tools, identities and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Agent as a Whole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Model, instructions and planning loop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Context, retrieval and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Tools, identity, runtime and network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Owners, approvers, users and operators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Instructions and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Trusted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System policy and authorised user objective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Untrusted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Files, mail, web, tool output and context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Core weakness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Selected or retrieved sources can become model-readable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Retrieval and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Security concern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Prompt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Current turn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 and 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RAG corpus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External knowledge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Poisoning and access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Persistent memory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Cross-session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Durable manipulation and privacy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Recommended Tool-Execution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proposes intent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checks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Schema constrains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 executes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Result is logged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identity and policy layer—not model confidence—defines authority.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S12,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Runtime, Network, and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Local host, container, VM or managed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Inbound channels and outbound destinations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 results and environment state become new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AI-Agent Strengths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Carry a task across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Optional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configured, resume or schedule work over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Specialisation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Delegate subtasks to tools or other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AI-Agent Weaknesses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Blast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Compromise inherits delegated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Hidden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Memory and intermediate actions complicate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Multiple providers and operators can obscure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AI-Agent Security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Axis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Potential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Injection/jailbreak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Changed goal or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Authority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Token/tool misuse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Unauthorised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Code/network/supply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impact or exfiltration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Memory poisoning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behaviour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Overlapping Operating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65861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5858" y="1783080"/>
            <a:ext cx="265861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3874" y="1783080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Generative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1783080"/>
            <a:ext cx="265861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2492" y="1783080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Agentic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3094" y="1783080"/>
            <a:ext cx="2658618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1110" y="1783080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Deployed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15768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715768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Primary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5858" y="2715768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3874" y="2715768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2715768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2715768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Pursue goals iteratively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3094" y="2715768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1110" y="2715768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Operate as a concrete actor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48456"/>
            <a:ext cx="265861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648456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5858" y="3648456"/>
            <a:ext cx="265861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3874" y="3648456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Context-dependent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3648456"/>
            <a:ext cx="265861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2492" y="3648456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Loop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3094" y="3648456"/>
            <a:ext cx="2658618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1110" y="3648456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May persist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581144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581144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Authority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35858" y="4581144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3874" y="4581144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None inherent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4581144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492" y="4581144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Configuration-dependent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3094" y="4581144"/>
            <a:ext cx="2658618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1110" y="4581144"/>
            <a:ext cx="2439162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Defined by tools and identity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These layers can coexist in one product; they are not mutually exclusive species.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Same Model, Different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Chat configuration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Reads one prompt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Returns text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Human executes any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Agent configuration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Reads external sources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Loops and calls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System executes within delegated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Operating Layers Are Present?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it mainly generate?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it iterate toward a goal?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it maintain state?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Can it call tools?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authority is delegated?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Classify observable architecture and permissions, not the product label.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Products Are Configurations, Not Risk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Compare capability, deployment and authority—not brand reputation.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Examples Across Three Overlapping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Operating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Decisive 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Generative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Draft or summarise on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Returns 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Plan, retry and route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Iterates toward a goal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Deployed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OpenClaw or Hermes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Concrete runtime with tools and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Model vs Application vs Harness vs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generates or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Application supplies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Harness orchestrates state/tools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acts in an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 choice alone does not reveal filesystem, network or credential exposure.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 Common Deployment Patterns (May Overlap)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Primary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Hosted SaaS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 plus tenant controls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 terms and workspace 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Local CLI/desktop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 account and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Filesystem, shell and secrets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Self-hosted gateway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Organisation runtime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Network, identity and isolation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Embedded enterprise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Application and service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scopes and transaction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Documented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Connects channels, sessions and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Host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Configuration and credentials live under the runtime state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Trust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Documentation assumes one trusted operator boundary per 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As-of 20 Aug 2026; re-check before publication.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— Documented Security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Documented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Residual concern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Senders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Allowlists and pairing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Within one trusted-operator boundary, allowed users share delegated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Gateway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and scoped configuration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Operator credentials are sensitive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Deny high-risk tools for untrusted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Node execution can affect a paired 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 of 20 Aug 2026; controls depend on the gateway, channel, tools and host configuration.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— Documented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Entry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CLI, gateway, API and library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memory, skills and project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Built-in tools, MCP and multiple execution backends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As-of 20 Aug 2026; re-check before publication.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Agent — Documented Security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Authorisation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Control who can interact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Allowlist and DM pairing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Constrain dangerous operations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Approval and container isolation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Reduce malicious project instructions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Context-file scanning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 of 20 Aug 2026; permanent approvals, permissive modes and execution backend alter exposure.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Claude Code — Capability and Authority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Local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Reads project files within configured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Terminal and MCP expand 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Permissions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Allowed/disallowed tools and permission modes affect authority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 of 20 Aug 2026; sandbox and permission mode are configuration-specific. A bypass flag is not a recommended default.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S20, S29, S43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Codex — Capability Depends on Surface and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Supported local configurations can bound writes to an authorised workspace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Access outside the boundary or consequential actions can require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Cloud internet access is separately configurable and changes injection and exfiltration exposure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As-of 20 Aug 2026; cite the exact deployed Codex surface and settings.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S21, S22, S30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ChatGPT Chat and ChatGPT Work — Current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Conversational exploration and generation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Authority depends on enabled tools and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Supports multi-step work with authorised files, apps and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Local/cloud surface, member permissions and admin policy define the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14416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As of 20 Aug 2026; feature availability and authority depend on plan, workspace and enabled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S22, S28, S32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DeepSeek Model vs DeepSeek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DeepSeek-V3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 card describes weights and inference; it does not define host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DeepSeek 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Official repository labels dsh a developer preview with plugin-oriented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Security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Treat production controls as unknown until the exact version and configuration are verified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 of 20 Aug 2026; model and harness are different layers. Do not import permissions or sandbox claims from one to the other.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S23, S36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Prime Agent and QM — Documented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Prime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coding/research harness; its documentation says the kernel is not a security sandbox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QM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Early organisational-agent harness with durable sandboxes, memory, skills and documented security limitations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Deployment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Verify exact version, host, command posture, egress, credentials and external containment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 of 20 Aug 2026; first-party documentation describes capabilities and limitations, not independent assurance or a safety ranking.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S34, S35, S45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Eight Products — Runtime and Review Focus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414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414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Documented runtime emphasis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414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Primary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97608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19760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OpenClaw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197608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19760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Self-hosted gateway, channels and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197608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19760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Trusted operator, host and tool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12136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61213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Hermes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2612136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261213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CLI/gateway/API with selectable execution backends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2612136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261213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Approvals, backend, memory and 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026664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02666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Prime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3026664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302666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Python, skills, subagents and schedules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3026664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302666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External isolation and user OS permissions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441192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3441192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3441192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3441192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Organisational harness with durable scoped sandboxes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3441192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3441192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mode, keys and egress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855720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385572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DeepSeek Harness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2064" y="3855720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0080" y="385572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Developer-preview plugin harness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6888" y="3855720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4904" y="3855720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Exact commit, plugins, listener and host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270248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427024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Claude 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2064" y="4270248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080" y="427024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Repository-aware coding 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6888" y="4270248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4904" y="4270248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Sandbox, terminal/MCP and permission mode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4684776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" y="468477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Codex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22064" y="4684776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0080" y="468477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Local and cloud surfaces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6888" y="4684776"/>
            <a:ext cx="3544824" cy="4145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4904" y="4684776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Workspace, approval and network mode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099304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" y="509930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ChatGPT / 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22064" y="5099304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0080" y="509930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Chat plus authorised files/apps/tools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6888" y="5099304"/>
            <a:ext cx="3544824" cy="41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94904" y="5099304"/>
            <a:ext cx="3325368" cy="414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Local/cloud surface and admin policy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 of 20 Aug 2026; documented capability is not a safety score.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S17, S18, S20, S21, S22, S32, S34, S35, S36, S45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vs Hermes — Gateway and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OpenClaw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trusted-operator gateway boundary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Channels, tools, nodes and runtime state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Sandboxing and exposure depend on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Hermes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CLI, gateway, API and library entry points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Memory, skills, MCP and multiple execution backends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Approvals and backend choice change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14416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As of 20 Aug 2026; compare deployments, not brand names.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S17, S18, S19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Prime Agent vs QM — Persistence and Permission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Prime Agent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Persistent Python, subagents and schedules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Model-generated Python and commands execute with the launching user's OS permissions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Kernel is not a security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QM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Durable per-scope sandbox, memory and files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Strict, Auto and Dangerous permission modes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Early software with documented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14416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As of 20 Aug 2026; external containment and selected mode are part of the risk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S34, S35, S45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DeepSeek Harness vs Claude Code — Plugin and Repository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DeepSeek Harness (dsh)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Official developer preview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Plugin-oriented harness and local UI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Production control baseline not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Claude Code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Repository-aware coding workflow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Terminal and MCP capability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Sandbox and permission mode affect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14416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As of 20 Aug 2026; assess the exact version and enabled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S20, S29, S36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Codex vs ChatGPT Work — Workspace and Tool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37033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Codex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Local/cloud coding surfaces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Workspace sandbox and approvals vary by mode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Internet access is separately configurable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ChatGPT 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Multi-step local/cloud 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Uses authorised files, apps and tools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Member permissions and admin policy shape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14416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30" b="0">
                <a:solidFill>
                  <a:srgbClr val="5B6372"/>
                </a:solidFill>
                <a:latin typeface="Arial"/>
              </a:rPr>
              <a:t>As of 20 Aug 2026; state the product surface and mode before comparing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S21, S22, S30, S32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Extension and Persistence Questions Across All Eight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7461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Axis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7461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What to 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7461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292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5292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Skills/plugins/MCP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5292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5292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Publisher, code, instructions, scopes and update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5292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5292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Extensions can add data and action paths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53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2753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Memory/schedules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2753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2753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supported, provenance, retention and revocation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2753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2753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can outlive the initiating 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215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0215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Credentials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0215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0215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Identity, scope, lifetime and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021530"/>
            <a:ext cx="3544824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02153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Compromise inherits delegated authority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676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7676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47676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47676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Inbound triggers and outbound destinations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4767680"/>
            <a:ext cx="3544824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4767680"/>
            <a:ext cx="3325368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Reach defines trigger and exfiltration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Not documented means unknown—not absent.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S17, S18, S28, S29, S34, S35, S36, S45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 Evidence Gate Before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Pin product/version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runtime and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 data/tools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approval/logging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unknowns and re-test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Re-check documentation at change or publication; no product receives a universal green/red score.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by Use Case and Risk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Classify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Classify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reversibility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bounded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 higher-capability product is acceptable only when its authority and evidence fit the risk.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Threat Modelling AI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Follow content to authority, effect and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Classical Security Still Applies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Authenticate users, services and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Patch, segment and harden hosts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Log, detect, respond and 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AI Adds or Amplifies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Conventional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Software vulnerabilities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Credential theft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Supply-chain compromise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AI-specific/amplified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Instruction/data confusion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Poisoned context and memory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Probabilistic plans driving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S11, S12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Threat Actors and Their Access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Users, senders and web publishers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Staff, admins and data curators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Supply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Model, plugin, skill, MCP and package publishers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Assets Worth Protecting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Personal data, prompts, files, memory and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Tokens, permissions, tools and approvals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Outputs, actions, provenance and audit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S14,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Trust Boundaries in a GenAI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User/channel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Output consumer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Annotate who controls each boundary and which data crosses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Trust Boundaries in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Untrusted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Planner and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Policy/identity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Tool/runtime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Network/environment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agent adds persistent state and action paths to the model boundary.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Treat Every Content Source as Untrusted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Human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Prompts, email, chat and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Machine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Web, APIs and tool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Project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Memory, context files, skills, plugins and MCP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S11, S12, S17, S19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Follow the Authority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Attacker controls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interprets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Planner selects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permits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 creates effect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Break the path with deterministic controls as close to the effect as possible.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S12, S14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Threat-Modelling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 data and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Mark trust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abuse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and test controls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S13,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Attack Surface by Operating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265861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5858" y="1783080"/>
            <a:ext cx="265861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3874" y="178308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Generative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1783080"/>
            <a:ext cx="265861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2492" y="178308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Agentic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3094" y="1783080"/>
            <a:ext cx="2658618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1110" y="178308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9179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89179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5858" y="289179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3874" y="289179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Prompt/context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289179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289179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Goal and observations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3094" y="289179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1110" y="289179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Channels, files, web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00500"/>
            <a:ext cx="265861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0050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35858" y="4000500"/>
            <a:ext cx="265861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3874" y="400050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Context 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4000500"/>
            <a:ext cx="265861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2492" y="400050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Loop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3094" y="4000500"/>
            <a:ext cx="2658618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1110" y="400050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RAG and persistent memory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0921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10921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Effect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35858" y="510921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3874" y="510921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510921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492" y="510921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Plan/tool selection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53094" y="5109210"/>
            <a:ext cx="2658618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1110" y="5109210"/>
            <a:ext cx="2439162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Real system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S11, S12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Complete Attack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864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23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23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04488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55948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5948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68112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4416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31736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31736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319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319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4682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4682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58984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8984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1044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044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5288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Record evidence and a feasible control at every stage.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S12, S13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Concierge Threat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Map three input channels, four retrieval sources and four tools · Mark attacker-writable content and personal-data paths · Recommend proceed, conditional proceed or halt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three input channels, four retrieval sources and four tools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Mark attacker-writable content and personal-data paths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Recommend proceed, conditional proceed or halt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Build the Data-Flow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Place channels and data owners on the left · Put model, retrieval and memory in the centre · Put tool actions and affected people on the right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Place channels and data owners on the left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Put model, retrieval and memory in the centre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Put tool actions and affected people on the right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Rank Trust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Who can write the source? · What authority can follow from it? · How reversible is the effect?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Who can write the source?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What authority can follow from it?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How reversible is the effect?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Design Abuse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One GenAI content failure · One agentic loop or goal failure · One tool/identity action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One GenAI content failure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One agentic loop or goal failure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One tool/identity action failure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1 — Decide the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1 · 45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Rank controls by earliest break point · State latency, cost and user-friction trade-offs · Name evidence proving each control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Rank controls by earliest break point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State latency, cost and user-friction trade-offs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Name evidence proving each control works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K2, K3, A4  ·  Activity pack: activities/activity-1-threat-modelling-genai-concierge/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Integrated Risk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Primary 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Generative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Content and disclosure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Constrain data access and downstream effect; validate before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Goal and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 conditions and budgets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Tools, identity, runtime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Least privilege, sandbox and approval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S11, S12,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Recap — What Changed as AI Gained Agency?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Probability creates useful but fallible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Loops compound decisions and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Tools and identity turn output into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2 Preview — From Attack to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Study attack mechanisms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case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Engineer hard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 and operate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Day 2 — Attack, Defend, Govern, Operate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Cases make the mechanisms concrete; controls then become testable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2 Dependency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authority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Place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Prove and govern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S12,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Prompt Injection and Jailbreaks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Distinguish changing application intent from bypassing model behaviour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Engineering vs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Prompt engineering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Authorised user shapes the requested output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Success serves the declared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Prompt injection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Untrusted text changes instructions or data flow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Success serves an attacker or unintended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Direct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Attacker writes into the user-facing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Text asks the model to ignore or reinterpret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attempts and constrain downstream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Payload sits in email, file, page or other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legitimate user asks the system to process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 may treat data as instructions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Cross-Modal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Carrier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Image, audio or mixed-media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OCR, vision or transcription exposes instruction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text-only filter may never inspect the carrier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Retrieval-Augmented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Attacker writes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Indexer stores 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Retriever selects chunk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reads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Output/action is altered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Secure both who may write the corpus and what authority follows retrieval.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Email and Document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Legitimate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Summarise a supplier email or invoice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Hostile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Quoted text requests data or a changed instruction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Reader remains tool-free; sensitive actions use independent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  ·  Sources: S11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 and Browser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opens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Page supplies adversarial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interprets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Browser/app action is proposed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blocks or confirms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Browsing expands the untrusted context continuously.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Context-File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configured, an agent discovers and loads project instruction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cloned repository may author instructions that influence tool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Inspect, scope and sandbox untrusted projects before tool 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As of 20 Aug 2026; loading rules are product- and configuration-specific.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S18, S19, S31, S44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Tool-Output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calls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 returns attacker-controlled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enters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Planner changes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Tool output is data, not trusted policy.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Memory-Based Instruction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Injection succeeds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Summary or fact is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Session 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Memory reloads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Future behaviour 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Memory write policy and provenance are security controls.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Jailbreak — Operational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Bypass model or application behavioural restrictions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Adversarial prompts, obfuscation or multi-turn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Distinction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May not require changing a business task or calling a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Jailbreak vs Prompt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Jailbreak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Prompt injection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Safety/behaviour restriction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Application instruction hierarchy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Typical carrier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 prompt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User or external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Primary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Disallowed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Changed task, disclosure or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Jailbreak Families — Course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Framing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Roleplay or fictional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Obfuscation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Encoding, spacing or substitution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Split intent across turns or modalities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Model Guardrails Are Necessary but Insufficient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Block known patterns and create alert signals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Fallible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Novel phrasing and modalities can evade classifiers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Hard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Policy, schema, least privilege and approval limit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S11, S22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 — EchoLeak: Verified Vulnerability, Not a Confirmed Breach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Attacker-controlled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Indirect prompt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Copilot context/data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Exfiltration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Vendor 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Aim/Microsoft sources accessed 20 Aug 2026; verified vulnerability, not confirmed exploitation or a breach.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S25, S40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Published GitHub MCP Prompt-Injection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Malicious repository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Coding agent reads issue/context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MCP tools expose connected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Unintended action/exfiltration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Researcher demonstration; source accessed 20 Aug 2026. Production exploitation is not established.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CASE-R  ·  Sources: S26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Simulation — Employee Data Entered into Public GenAI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Employee pastes confidential data into an external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Disclosure, retention and purpose may exceed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Approved service, minimisation, DLP and user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  ·  Sources: S09,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Governance Case — Moffatt v Air Canada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Chatbot supplied incorrect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relied on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Organisation disputed 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Tribunal held organisation responsible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Tribunal decision 2024 BCCRT 149; accessed 20 Aug 2026. Reliability/accountability case, not prompt injection or cyberattack.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Incident, Demonstration, Evaluation, or Hypothetical?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How to speak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Incident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Observed production event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confirmed scope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Demonstration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Reproduced attack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tested environment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Controlled model/system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call it a breach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Simulation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Fictional teaching case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Label every number synthetic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Prompt-Injection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Trace an indirect payload through a synthetic claims workflow · Measure task success and attack success separately · Select the earliest deterministic control that breaks the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DC2626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Trace an indirect payload through a synthetic claims workflow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Measure task success and attack success separately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Select the earliest deterministic control that breaks the chain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Safe Harness and Test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only invented records · Write to a local dummy log · Block live email, shell, payment and production database tools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only invented records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Write to a local dummy log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Block live email, shell, payment and production database tools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Establish a Clean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Run legitimate tasks without hostile content · Record expected output and permitted action · Measure false blocks before adversarial changes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Run legitimate tasks without hostile content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Record expected output and permitted action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Measure false blocks before adversarial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Test Controlled Variants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Direct wording · Indirect document or email wording · Split and cross-modal variants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Direct wording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Indirect document or email wording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Split and cross-modal variants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2 — Add Hard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2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Restrict retrieval to the current case · Validate recipients and tool parameters · Require approval for sensitive disclosure or write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Restrict retrieval to the current case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Validate recipients and tool parameters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Require approval for sensitive disclosure or write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K1, K4  ·  Activity pack: activities/activity-2-prompt-injection-data-leakage/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2 — Read ASR and False Positives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Decision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Attack success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Successful attacks / attempts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Residual adversarial exposure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False-positive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Blocked benign / benign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Business cost of guardrail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Clean-task success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Correct benign / benign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Utility under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Morning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Personal Data Across the AI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Map personal data wherever the system collects, derives, stores, transmits or logs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GenAI Data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Place in prompt/context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Process in selected model environment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Log/retain/delete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Purpose and protection duties apply across the lifecycle, not only at initial collection.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 Agent Can Add New Data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Screenshots, browser state and external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 arguments, recipients and transaction details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Memory, traces and scheduled-job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Tokens Are Authorities, Not Just Strings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Authorises service use and spend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OAuth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Carries user-approved scopes to an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Session credential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Represents an authenticated browser or gateway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S17, S19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Token-Leak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Context/log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Secret pasted or returned by tool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Redact and block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Environment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Process inherits broad variables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Minimal environment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Cookie-bearing session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Dedicated profile and logout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Repository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Credential file in workspace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Secret scanning and 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S17, S19, S20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 and Token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 narrow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short lifetime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Isolate from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Rotate or revoke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Never give the model authority that the containing process does not need.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S17, S19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Obligations Relevant to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Obligation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AI-system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Notification / applicable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 the legal basis or exception and notify purposes as required; consent is not universal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Purpose limitation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data only for appropriate notified purposes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Secure prompts, outputs, memory, tools and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Retention/transfer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Delete when no longer needed and protect overseas transfers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Assign responsibility and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Data-Breach Notification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Significant harm likely?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500 or more affected?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Determine notifiability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PDPC within 3 calendar days after determination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Notify the PDPC if significant harm is likely OR the breach is of significant scale; notify affected individuals as soon as practicable where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Purpose Limitation and Data Minimisation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Over-collection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Whole mailbox or drive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Full identifiers in prompts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Indefinite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Bounded design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Task-specific folders/fields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Tokenise or remove identifiers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Purpose-linked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Vendors, Subprocessors, and Overseas Transfers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prompts, files, outputs and logs travel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Use, retention, deletion, subprocessors and incident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Comparable protection for overseas transfers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Logs, Retention, and Deletion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Need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Keep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Identity, policy result, tool call and outcome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Raw personal content where unnecessary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and approval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Unlimited conversational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Failure traces for defined period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Orphaned memories after decommission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Privacy by Design for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Dedicated identities, stores and runtime boundaries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Minimise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Only required fields enter model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recipients and require review for sensitive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S14,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Fictional Case — Singapore Claims Assistant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Injected claim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Assistant retrieves unrelated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 prepares external transmission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Egress/approval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PDPA 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All names, counts, systems and outcomes are fictional.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Data-Leakage Mitigation Playbook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864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0864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923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23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8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04488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55948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5948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68112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19572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9572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4416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31736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31736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8319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319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4682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4682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1151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58984" y="2240280"/>
            <a:ext cx="1252728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58984" y="2240280"/>
            <a:ext cx="1252728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1044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044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5288" y="3657600"/>
            <a:ext cx="9601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Remediate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S15, 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Exercise — Build the Agent Data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List each field and whether it is personal data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Name collection source, purpose, recipient and storage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Set access, retention, deletion and breach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Frameworks Before Incident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each framework for the question it was designed to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Framework Stack — Different Instruments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Instrument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Primary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2222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52222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NIST AI RMF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52222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52222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we manage risk?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52222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52222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Lifecycle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6136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26136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OWASP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26136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26136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can go wrong?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26136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26136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Risk / vulnerability taxonomy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0050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00050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MITRE ATLAS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00050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00050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adversaries operate?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00050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00050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Techniques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3964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73964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473964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473964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do we bound and govern agents?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4739640"/>
            <a:ext cx="3544824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473964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7878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" y="54787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PDPA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2064" y="547878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0080" y="54787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What duties apply to personal data?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6888" y="5478780"/>
            <a:ext cx="3544824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4904" y="5478780"/>
            <a:ext cx="3325368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Legal obligation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S10, S11, S12, S13, S14, S15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NIST AI RMF — Govern, Map, Measure, Manage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Govern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functions are iterative; governance is cross-cutting rather than a final sign-off.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LLM and Agentic Top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LLM application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Prompt, data, model and output risks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Useful for GenAI/RAG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Agentic application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Goals, tools, identity, memory and coordination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Useful when systems plan and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S11, S12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MITRE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Tactics and techniques against AI-enabled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Maps tactics, techniques, mitigations and documented case studies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Threat assessment, red teaming and detection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IMDA Agentic AI Governance Framework — Four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 and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Choose suitable use cases; limit action space, data, tools and autonomy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Human 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significant checkpoints and meaningful 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Technical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controls and processes across the lifecycle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3611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End-user responsibility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624328"/>
            <a:ext cx="2023110" cy="2642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Enable informed use through transparency and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Action space and autonomy are distinct; some use cases may be unsuitable for agents.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PDPA and PDPC Guidance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461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Duty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4615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Security implication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9230"/>
            <a:ext cx="5317236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923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Purpose/notification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9230"/>
            <a:ext cx="5317236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923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 why data enters the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75380"/>
            <a:ext cx="5317236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753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75380"/>
            <a:ext cx="5317236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753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Secure every prompt, memory, output and tool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21530"/>
            <a:ext cx="5317236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2153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Retention/transfer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21530"/>
            <a:ext cx="5317236" cy="74615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2153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Control duration and overseas handling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67680"/>
            <a:ext cx="5317236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676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Breach notification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67680"/>
            <a:ext cx="5317236" cy="746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67680"/>
            <a:ext cx="5097780" cy="7461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 and notify when statutory tests are met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Use enacted PDPA obligations and published PDPC guidance. The 2 Jun 2026 GenAI document is a public-consultation proposal, not final guidance.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S15, S16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Positive Governance Case — Dayos Tiered IT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Documented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 lesson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Tier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Low severity and reversible; propose-confirm with requesting user; no human engineer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Record reasoning/confidence; audit a cross-section biweekly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Tier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diagnoses and proposes; human approval is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Place approval before the effect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Tier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 severity and limited reversibility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Agent cannot perform the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IMDA-contributed case study, not an independent security endorsement; accessed 20 Aug 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OpenClaw Threat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Documented 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Security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One trusted operator per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Separate mixed-trust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High-impact control-plane/node tools exist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Deny by default for untrusted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directory contains sensitive material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Protect host and file permissions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 of 20 Aug 2026; this is a configuration walkthrough, not a universal risk rating.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Hermes Threat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Documented fact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Security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Local and isolated backends are 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715768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715768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Choose backend by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Project files and skills can shape behaviour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648456"/>
            <a:ext cx="354482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648456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Scan and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Approvals and filters provide layers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581144"/>
            <a:ext cx="3544824" cy="93268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581144"/>
            <a:ext cx="33253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 high-risk tools disabled unless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32704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80" b="0">
                <a:solidFill>
                  <a:srgbClr val="5B6372"/>
                </a:solidFill>
                <a:latin typeface="Arial"/>
              </a:rPr>
              <a:t>As of 20 Aug 2026; selected backend, approvals and tool configuration determine exposure.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PROD  ·  Sources: S18, S19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When AI Can Act: Agentic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Map each threat to a component, authority path and earliest control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OWASP Agentic Top 10 — System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Representative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Goal/planner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Goal hijack, rogue behaviour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Tools/identity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 misuse, privilege abuse, code execution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State/comms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Memory poisoning, insecure inter-agent communication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System/human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Supply chain, cascades, trust exploitation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ASI01 — Agent Goal Hijack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Hostile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Objective shifts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Planner selects attacker-serving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Tools execute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Bind goals and validate actions independently of the model's stated rationale.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ASI02 — Tool Misuse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Legitimate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Tool itself may work as designed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Harmful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Parameters, sequence or context creates harm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Allowlist, schema, policy and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ASI03 — Identity and Privilege Abuse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receives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exceeds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Compromised plan invokes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Action is attributed poorly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Use a distinct agent identity with task-specific, short-lived permissions.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ASI04 — Agentic Supply-Chain Vulnerabilities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Models, skills, plugins, MCP, packages and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discovery and updates can alter reviewed behaviour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Provenance, pinning, integrity, isolation and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ASI05 — Unexpected Code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Exposure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Generated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Unsafe program is proposed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 and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Interpreter/shell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Code is executed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Sandbox and allowlist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Host escape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boundary fails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Hardened isolation and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ASI06 — Memory and Context Poisoning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Attacker supplies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writes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Provenance is lost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Later session retrieves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Behaviour persists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Gate memory writes and retain source, author, timestamp and review status.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ASI07 — Insecure Inter-Agent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Can the receiver authenticate the sender?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Is task intent and data integrity protected?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Delegation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Does authority narrow across handoffs?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ASI08 — Cascading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Wrong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Automated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Downstream transformation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Repeated propagation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System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Validate at handoff boundaries and set fan-out, retry and budget limits.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ASI09 — Human-Agent Trust Exploitation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Confident explanation appears authoritative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Human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Time pressure and automation bias weaken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Show evidence and exact effect; audit approval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ASI10 — Rogue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Supported statement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OWASP identifies rogue-agent risk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Evaluations may test concealment or misalignment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Unsupported leap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evaluation is a production breach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model finding proves every deployment behaves alike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Malicious or Untrusted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skill can steer tool selection and 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Bundled scripts can execute with host authority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Review source, content, version, capabilities and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S18, S19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CASE-R — ClawHavoc Reported Malicious-Skill Campaign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 skill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Skill content or setup 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User/agent installs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Credential theft or malware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Researcher reports snapshot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Koi, 1 Feb 2026; accessed 20 Aug 2026: 341 of 2,857 skills in its audited snapshot, including 335 linked to one campaign; not a current ecosystem rate or affected-user count.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CASE-R  ·  Sources: S37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CASE-V — Amazon Q Developer Extension 1.84.0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Inappropriately scoped GitHub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Malicious code committed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Release automatically included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Code distributed but syntax error prevented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1.84.0 withdrawn; 1.85.0 released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AWS bulletin published 23 Jul 2025, updated 25 Jul 2025; distribution is not proof of execution or customer compromise.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CASE-V — Replit Agent and an Application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Agent had write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Application database data was deleted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Incident was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Database was fully restored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Default dev/prod separation was added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Replit first-party post published 29 Jul 2025; it says no data was lost. Do not describe a permanent loss, customer breach or primary company database.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CASE-V  ·  Sources: S39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Network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110871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Listener/gateway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can reach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89179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89179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Bind, authenticate, segment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Messaging channel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Who can trigger tools?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4000500"/>
            <a:ext cx="3544824" cy="11087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400050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Pair and allowlist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Outbound web/API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Where can data go?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5109210"/>
            <a:ext cx="3544824" cy="11087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5109210"/>
            <a:ext cx="3325368" cy="11087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Proxy and destination allowlist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S17, S19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Egress, Code Execution, and Host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Compromise without hard boundaries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Broad network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User-level shell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Long-lived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Contained design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Destination allowlist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Non-root sandbox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Short-lived scoped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S17, S19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Scheduling Is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15059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15059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Authorised user or scheduling tool creates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611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13582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51401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1401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9886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Task persists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2452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9924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77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77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6228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Credentials remain usable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879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6266" y="224028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4085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4085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570" y="365760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Future action executes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Inventory schedules, require approval, cap lifetime and provide revocation.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S17, S18, S34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Framework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Use a fictional clinic assistant plus billing agent · Match each decision question to a framework · Avoid claiming that any one framework is 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7C3AED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a fictional clinic assistant plus billing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Match each decision question to a framework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Avoid claiming that any one framework is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A3, A5  ·  Activity pack: activities/activity-3-security-framework-selection/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Threat and Metric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Map an OWASP risk to an ATLAS technique only where direct evidence supports it; otherwise record no direct mapping · Map controls to NIST/IMDA lifecycle evidence · Attach PDPA duties where personal data is involved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an OWASP risk to an ATLAS technique only where direct evidence supports it; otherwise record no direct mapping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controls to NIST/IMDA lifecycle evidence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Attach PDPA duties where personal data is involved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A3, A5  ·  Activity pack: activities/activity-3-security-framework-selection/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3 — Go-Live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3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Define clean-task and adversarial tests · Name the accountable risk owner · Set conditions for go, conditional go or no-go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Define clean-task and adversarial tests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Name the accountable risk owner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Set conditions for go, conditional go or no-go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A3, A5  ·  Activity pack: activities/activity-3-security-framework-selection/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ACTIVITY 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Case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Evidence-based documented case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EchoLeak: CASE-V verified vulnerability, not confirmed breach · Amazon Q extension and Replit database event: CASE-V first-party accounts · ClawHavoc: CASE-R research snapshot with denominator and limitations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59E0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EchoLeak: CASE-V verified vulnerability, not confirmed breach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Amazon Q extension and Replit database event: CASE-V first-party accounts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ClawHavoc: CASE-R research snapshot with denominator and limitations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K5  ·  Activity pack: activities/activity-4-rogue-agent-incident-review/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S25, S40, S38, S39, S37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4 — Kill Chain and Supply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4 · 60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Evidence-based documented case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Reconstruct delivery through impact · Find the earliest effective break point · Apply provenance, integrity, capability, isolation, approval and operations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Reconstruct delivery through impact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Find the earliest effective break point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Apply provenance, integrity, capability, isolation, approval and operations gates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K5  ·  Activity pack: activities/activity-4-rogue-agent-incident-review/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Afternoon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Threats to an Operating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Controls must prevent, detect, respond and leave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Defence in Depth for GenAI and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 inputs, identities, tools and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1286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1286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0742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074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1094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7318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Observe sequences, policy results and anomalies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4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204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3660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Stop, revoke, preserve, recover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77122" y="1783080"/>
            <a:ext cx="2516886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122" y="1783080"/>
            <a:ext cx="82296" cy="4343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96578" y="196596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657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6930" y="1929384"/>
            <a:ext cx="160248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Govern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3154" y="2532888"/>
            <a:ext cx="2023110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Own risk, test change and review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S12,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1 — Inventory and Risk-Tier the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State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List data/components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Classify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2 — Bound Data, Tools, and Autonomy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Allowed sources, fields and retention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Allowed operations and parameter ranges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Autonomy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 conditions, budgets and approval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3 — Give Every Agent a Scoped Identity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distinct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Grant minimum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short lifetime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Log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 on stop/change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S12,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4 — Guardrails and Schema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Screen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Generate/plan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structured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Screen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Model-based filters add friction; deterministic checks bound actions.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5 — Sandbox Code and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For containerised workloads, prefer non-root and no-new-privileges where supported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Filesystem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Workspace-only or read-only mounts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CPU, memory, time and process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S17, S19, S20, S21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6 — Control Network Egress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Default deny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Allow named destinations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Bind destination secrets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payload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Alert exceptions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S12, S30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7 — Deterministic Human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detects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exact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effect and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Approve once or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or 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Make Human Approval Meaningful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Weak approval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Vague ‘continue?’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Standing permission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 outcome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Meaningful approval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Exact recipient/data/value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action with expiry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Rejection and override audited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8 — Log the Decision and the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Why keep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Trace and identity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670048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670048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Attribute one end-to-end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Inputs/source provenance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557016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557016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Explain what influenced the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Policy and approval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443984"/>
            <a:ext cx="5317236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443984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Prove control outcome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 arguments/result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5330952"/>
            <a:ext cx="5317236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5330952"/>
            <a:ext cx="5097780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Reconstruct actual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9 — Monitor Sequences, Not Only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Unexpected tool order or fan-out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Repeated denials, scope errors or new destinations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Consumption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Runaway turns, time, tokens or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S12, S13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Step 10 — Red-Team Before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Test 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Clean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Utility and false blocks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Injection/jailbreak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Attack success by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Tools/identity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Unsafe or denied action attempts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Memory/supply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Persistence and provenance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Kill switch, revoke and restore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DEF  ·  Sources: S09, S12, S14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Measurable Go-Live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3611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Task success on representative clean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3611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Attack and unsafe-action results by threat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3611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3611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2734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Approval quality, detection and recovery tests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77840"/>
            <a:ext cx="10835640" cy="4937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32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70" b="0">
                <a:solidFill>
                  <a:srgbClr val="161B26"/>
                </a:solidFill>
                <a:latin typeface="Arial"/>
              </a:rPr>
              <a:t>Thresholds are organisation-defined; do not invent universal percentages.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Response for an AI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2064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Immediate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6888" y="1783080"/>
            <a:ext cx="3544824" cy="886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4904" y="1783080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 or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Identify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0080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Stop work and isolate the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6888" y="2670048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2670048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Affected goal, session, tools and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2064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Revoke credentials and block egress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6888" y="3557016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4904" y="3557016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Identity, scopes, destinations and timestamps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2064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0080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Preserve logs and determine impact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6888" y="4443984"/>
            <a:ext cx="3544824" cy="88696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4904" y="4443984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Personal data, actions, reversibility and notification test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Recover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2064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0080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Restore clean state and re-test controls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6888" y="5330952"/>
            <a:ext cx="3544824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4904" y="5330952"/>
            <a:ext cx="3325368" cy="886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Root cause, corrective action, owner and 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S13,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Safe Change, Rollback, and Decommissioning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Re-test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Stage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Rollback if gate fails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Revoke/delete/archive at retirement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S14, S15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Across the Agent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 owned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Limits, safety data, terms and change notice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Architecture, tools, provenance and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Deployer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Purpose, access, autonomy and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Monitoring, incident response and re-test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User/approver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Verification and 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S14, S15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Responsible AI Principles Become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Principle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Observable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Named owner and residual-risk sign-off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Capability, data and appeal notice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Fairness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Segment testing and remediation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Privacy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Minimisation, purpose and retention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Human agency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Meaningful review and remedy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S14, S15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Governance Deployment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Review a fictional bank collections agent · Use only synthetic segment and test data · Decide go, conditional go or no-go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Review a fictional bank collections agent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Use only synthetic segment and test data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Decide go, conditional go or no-go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A1, A2  ·  Activity pack: activities/activity-5-agent-governance-deployment-gate/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Bias, Privacy, and Autonomy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Compare performance by affected group · Map personal-data purpose and disclosure · Set read, recommend, prepare and execute boundaries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Compare performance by affected group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Map personal-data purpose and disclosure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Set read, recommend, prepare and execute 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A1, A2  ·  Activity pack: activities/activity-5-agent-governance-deployment-gate/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83667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Activity 5 — Go, Conditional Go, or No-Go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457200"/>
            <a:ext cx="19476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ACTIVITY 5 · 25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10634472" cy="120700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82296" cy="12070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83664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Realistic synthetic classroom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1136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61B26"/>
                </a:solidFill>
                <a:latin typeface="Arial"/>
              </a:rPr>
              <a:t>State evidence and uncertainty · Name conditions, accountable owner and review date · Define kill switch, rollback and escalation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4188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4188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71316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1316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1496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8444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8444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78624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5572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5572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4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3570732"/>
            <a:ext cx="2011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5752" y="32004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72700" y="332841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72700" y="332841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3895344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26280"/>
            <a:ext cx="69494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590288"/>
            <a:ext cx="6583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DISCUSSION QUESTIONS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864608"/>
            <a:ext cx="6537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State evidence and uncertainty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Name conditions, accountable owner and review date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•  Define kill switch, rollback and escalation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526280"/>
            <a:ext cx="350215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4526280"/>
            <a:ext cx="82296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4590288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4864608"/>
            <a:ext cx="3154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documented risk decision with evidence.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Assesses A1, A2  ·  Activity pack: activities/activity-5-agent-governance-deployment-gate/  ·  Full step-by-step facilitation detail: Learner Guide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Production Security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783080"/>
            <a:ext cx="5317236" cy="7391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2492" y="17830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Minimum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252222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252222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Purpose, tier and accountable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26136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2492" y="326136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Data, identity, tools, network and autonomy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00050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2492" y="400050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Clean/adversarial tests and approval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4739640"/>
            <a:ext cx="5317236" cy="7391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473964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Logs, alerts, response and rollback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Sustain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4476" y="5478780"/>
            <a:ext cx="5317236" cy="7391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2492" y="5478780"/>
            <a:ext cx="5097780" cy="7391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Change control and decommissioning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S12, S14, S15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Synthesis — Bound the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Know the operating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Assume content can be hostile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identity and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Gate irreversible effects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S09, S12, S14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2 Recap — From Attack to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82296" cy="4343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659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Trace content through authority to effect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5592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2" y="1783080"/>
            <a:ext cx="82296" cy="4343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659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Defend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Use layered, deterministic boundaries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2816" y="1783080"/>
            <a:ext cx="3441192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83080"/>
            <a:ext cx="82296" cy="4343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659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65960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929384"/>
            <a:ext cx="2526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532888"/>
            <a:ext cx="2947416" cy="3465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Measure, own and improve residual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SYN  ·  Sources: S10, S12, S14, S15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Complete required digital attendance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Use slides, Learner Guide and activity evidence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Submit the required assessment files on the 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1424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424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8841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66313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0497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0497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2617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914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5386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9570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9570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1690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 then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6987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44459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8643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8643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0763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6060" y="340614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33532" y="224028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97716" y="262432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97716" y="262432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9836" y="365760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 or 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Complete the TRAQOM survey at the end of the course — it is required for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881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577840" cy="47548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1832" y="19842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4" y="198424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53896" y="198424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92024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920240"/>
            <a:ext cx="3931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pic>
        <p:nvPicPr>
          <p:cNvPr id="14" name="Picture 13" descr="lms-t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30" y="2487168"/>
            <a:ext cx="2691259" cy="32461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18288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0" y="1828800"/>
            <a:ext cx="82296" cy="1264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22326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2326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Download the current learner-facing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766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76600"/>
            <a:ext cx="82296" cy="1264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0" y="36804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6804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766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Upload only requested assessment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724400"/>
            <a:ext cx="4754880" cy="12649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4724400"/>
            <a:ext cx="82296" cy="1264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0" y="51282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51282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24400"/>
            <a:ext cx="3749040" cy="1264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Step 3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 not upload answer keys or production 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69280"/>
            <a:ext cx="106984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Use only the current learner-facing files. Keep evidence synthetic, local and reversible; never upload secrets or answer keys.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161B26"/>
                </a:solidFill>
                <a:latin typeface="Arial"/>
              </a:rPr>
              <a:t>Thank You — Bound the Authority, Preserve the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520440"/>
            <a:ext cx="2313432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5B6372"/>
                </a:solidFill>
                <a:latin typeface="Arial"/>
              </a:rPr>
              <a:t>Bound the authority. Preserve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TGS-2025060473  ·  Tertiary Infotech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36208"/>
            <a:ext cx="10515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80" b="0">
                <a:solidFill>
                  <a:srgbClr val="5B6372"/>
                </a:solidFill>
                <a:latin typeface="Arial"/>
              </a:rPr>
              <a:t>Evidence: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AI Security for Autonomous AI Agents  ·  TGS-2025060473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