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ai-agent-security-v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89788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30352"/>
            <a:ext cx="21488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612648"/>
            <a:ext cx="658368" cy="6583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802368" y="566928"/>
            <a:ext cx="1691640" cy="85953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02368" y="667512"/>
            <a:ext cx="16916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WSQ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02368" y="1078992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9CDCFE"/>
                </a:solidFill>
                <a:latin typeface="Arial"/>
              </a:rPr>
              <a:t>TRAINER SLIDES  ·  WSQ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48840"/>
            <a:ext cx="489204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AI Security for Autonomous AI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3977639"/>
            <a:ext cx="201168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24528"/>
            <a:ext cx="4892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WSQ Course Code: TGS-2025060473  ·  2 Days · 16 Hours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Skills Framework TSC: Generative AI Principles and Applications (ICT-INT-0052-1.1)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Conducted by Tertiary Infotech Pte Ltd  ·  UEN 20120096W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4892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Version 2.1  ·  20 August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08192"/>
            <a:ext cx="4892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2026 Tertiary Infotech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 or 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TRAQOM survey at the end of the course — it is required for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BACKGROUND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— 20+ years across AI, cybersecurity, data science and enterprise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generative AI, AI security, AI governance and data analytics.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name, organisation and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Any generative AI or AI agent systems already live in your organisation.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One AI security question you want answered by the end of Day 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0293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700016" cy="1322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1783080"/>
            <a:ext cx="520293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783080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783080"/>
            <a:ext cx="4700016" cy="1322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307080"/>
            <a:ext cx="520293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307080"/>
            <a:ext cx="4700016" cy="1322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307080"/>
            <a:ext cx="520293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3307080"/>
            <a:ext cx="4700016" cy="1322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831080"/>
            <a:ext cx="520293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831080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831080"/>
            <a:ext cx="4700016" cy="1322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4831080"/>
            <a:ext cx="520293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8776" y="4831080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4831080"/>
            <a:ext cx="4700016" cy="1322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 for funding.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5778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5577840" cy="47548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984248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7864" y="198424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53896" y="198424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20" y="1920240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920240"/>
            <a:ext cx="3931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https://lms-tms.tertiaryinfotech.com</a:t>
            </a:r>
          </a:p>
        </p:txBody>
      </p:sp>
      <p:pic>
        <p:nvPicPr>
          <p:cNvPr id="14" name="Picture 13" descr="lms-tms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530" y="2487168"/>
            <a:ext cx="2691259" cy="32461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675120" y="1828800"/>
            <a:ext cx="4754880" cy="90297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1828800"/>
            <a:ext cx="82296" cy="90297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2051685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051685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1828800"/>
            <a:ext cx="3749040" cy="902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Sign in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lms-tms.tertiaryinfotech.com — log in with your registered email (OTP or password).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914650"/>
            <a:ext cx="4754880" cy="90297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2914650"/>
            <a:ext cx="82296" cy="90297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0" y="3137535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137535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2914650"/>
            <a:ext cx="3749040" cy="902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Open your course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Select 'AI Security for Autonomous AI Agents' under My Courses.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000500"/>
            <a:ext cx="4754880" cy="90297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4000500"/>
            <a:ext cx="82296" cy="90297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0" y="4223385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223385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4000500"/>
            <a:ext cx="3749040" cy="902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Download materials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Trainer slides and the Learner Guide — your open-book references.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5086350"/>
            <a:ext cx="4754880" cy="90297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75120" y="5086350"/>
            <a:ext cx="82296" cy="90297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0" y="5309235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5309235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5086350"/>
            <a:ext cx="3749040" cy="902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Submit &amp; survey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Upload your assessment answers and complete the TRAQOM survey.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0350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All course material is downloaded from the LMS/TMS portal — keep it handy: the final assessment is open book.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977652" cy="7086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TSC element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4892" y="1783080"/>
            <a:ext cx="7656819" cy="7086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2908" y="1783080"/>
            <a:ext cx="743736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Detail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491740"/>
            <a:ext cx="297765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49174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TSC Title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54892" y="2491740"/>
            <a:ext cx="765681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2908" y="2491740"/>
            <a:ext cx="743736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Generative AI Principles and Applications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200400"/>
            <a:ext cx="2977652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20040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TSC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54892" y="3200400"/>
            <a:ext cx="7656819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2908" y="3200400"/>
            <a:ext cx="743736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ICT-INT-0052-1.1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09060"/>
            <a:ext cx="297765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90906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Proficiency Level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54892" y="3909060"/>
            <a:ext cx="765681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2908" y="3909060"/>
            <a:ext cx="743736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Level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617720"/>
            <a:ext cx="2977652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61772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Knowledge statements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54892" y="4617720"/>
            <a:ext cx="7656819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2908" y="4617720"/>
            <a:ext cx="743736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K1–K5 — assessed by the Written Assessment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26380"/>
            <a:ext cx="297765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32638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Ability statements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54892" y="5326380"/>
            <a:ext cx="765681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2908" y="5326380"/>
            <a:ext cx="743736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A1–A5 — assessed by the Case Study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This course delivers the accredited TSC through an AI security lens.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850757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63130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LO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7997" y="1783080"/>
            <a:ext cx="7231440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56013" y="1783080"/>
            <a:ext cx="7011984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Learning Outcome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59437" y="1783080"/>
            <a:ext cx="2552273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7453" y="178308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Assessed by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891790"/>
            <a:ext cx="85075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891790"/>
            <a:ext cx="63130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27997" y="2891790"/>
            <a:ext cx="7231440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56013" y="2891790"/>
            <a:ext cx="7011984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Demonstrate generative AI concepts and applications relevant to customer service and hospitality management.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59437" y="2891790"/>
            <a:ext cx="2552273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7453" y="289179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 · Case Study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00500"/>
            <a:ext cx="850757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000500"/>
            <a:ext cx="63130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27997" y="4000500"/>
            <a:ext cx="7231440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56013" y="4000500"/>
            <a:ext cx="7011984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Apply prompt engineering techniques and analyse output variations to improve generative AI performance in service settings.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59437" y="4000500"/>
            <a:ext cx="2552273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7453" y="400050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 · Case Study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109210"/>
            <a:ext cx="85075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5109210"/>
            <a:ext cx="63130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27997" y="5109210"/>
            <a:ext cx="7231440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56013" y="5109210"/>
            <a:ext cx="7011984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ethical risks and analyse bias in AI-generated content used in customer engagement.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59437" y="5109210"/>
            <a:ext cx="2552273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87453" y="510921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 · Case Study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ASSESSED BY THE WRITTEN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Knowledge Statements (K)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57102" cy="7086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4342" y="1783080"/>
            <a:ext cx="9677369" cy="7086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62358" y="178308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Knowledge statement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491740"/>
            <a:ext cx="95710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49174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4342" y="2491740"/>
            <a:ext cx="967736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2358" y="249174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Importance of data quality, preprocessing, model pipeline and model training (e.g., impact of data bias from training data)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200400"/>
            <a:ext cx="957102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20040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4342" y="3200400"/>
            <a:ext cx="9677369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62358" y="320040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Underlying principles, core concepts and theories governing generative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09060"/>
            <a:ext cx="95710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90906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34342" y="3909060"/>
            <a:ext cx="967736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62358" y="390906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Difference between generative and discriminative models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617720"/>
            <a:ext cx="957102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61772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4342" y="4617720"/>
            <a:ext cx="9677369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62358" y="461772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Impact of prompt engineering on the model outputs of generative 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26380"/>
            <a:ext cx="95710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32638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4342" y="5326380"/>
            <a:ext cx="967736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62358" y="532638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Generative AI model workings, including training data, algorithms, and outputs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One written assessment question per knowledge statement.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ASSESSED BY THE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Ability Statements (A)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57102" cy="7086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4342" y="1783080"/>
            <a:ext cx="9677369" cy="7086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62358" y="178308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Ability statement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491740"/>
            <a:ext cx="95710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49174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4342" y="2491740"/>
            <a:ext cx="967736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2358" y="249174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Analyse limitations and potential biases in AI-generated content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200400"/>
            <a:ext cx="957102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20040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4342" y="3200400"/>
            <a:ext cx="9677369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62358" y="320040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the ethical implications and societal impact of AI-generated content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09060"/>
            <a:ext cx="95710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90906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34342" y="3909060"/>
            <a:ext cx="967736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62358" y="390906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Apply understanding of generative AI principles to use cases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617720"/>
            <a:ext cx="957102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61772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4342" y="4617720"/>
            <a:ext cx="9677369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62358" y="461772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Demonstrate the use of generation AI in diverse applications (e.g., summarisation, inference, reasoning, transformation of content, augmentation of content)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26380"/>
            <a:ext cx="95710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32638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4342" y="5326380"/>
            <a:ext cx="967736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62358" y="532638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Analyse generative AI models' performance metrics and evaluate the influence of prompt variations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case study covers every ability statement across three questions.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 · 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—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 — foundations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 — the prompt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68880"/>
            <a:ext cx="47548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Morning (AM attendance)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Welcome, introductions, learning outcomes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LU1 T1: The AI security threat landscape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LU1 T2: Generative vs discriminative — the guardrail pattern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Tea break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LU1 T3: Application modes as attack surfaces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Activity 1: Threat Modelling a GenAI Concierge (45 min)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Lunch break 12:30–1:30pm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46177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Afternoon (PM attendance)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LU2 T1: Data quality, poisoning and supply chain integrity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LU2 T2: Prompt injection — direct, indirect, cross-modal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Tea break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Activity 2: Prompt Injection &amp; the PDPA Leak (60 min)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Day 1 recap and Q&amp;A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8 instructional hours · 9:30am–6:30pm · 1-hour lunch · tea breaks counted within.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 · 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— Day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 — frameworks &amp; 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 — agents, governance,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68880"/>
            <a:ext cx="47548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Morning (AM attendance)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LU2 T3: Security frameworks for GenAI and agents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LU2 T4: Measuring guardrails — adversarial testing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Tea break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Activity 3: Selecting a Security Framework (60 min)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Lunch break 12:45–1:45pm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46177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Afternoon (PM attendance)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LU3 T1: Agent anatomy, excessive agency, destructive execution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Activity 4: Rogue Agent Post-Incident Review (60 min)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LU3 T2: PDPA, PDPC and IMDA agentic governance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LU3 T3: Misinformation, bias and limitations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Activity 5: Agent Governance &amp; Deployment Gate (25 min)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Briefing for Assessment · WA + Case Study · TRAQOM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8 instructional hours · 9:30am–6:30pm · assessment held at the end of Day 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1 · LEARNING UNIT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Foundations of AI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Why generative AI breaks the security assumptions you already rely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LU1 · T1 · 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governance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incident-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6309360" cy="24347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60920" y="1874519"/>
            <a:ext cx="4050792" cy="94869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874519"/>
            <a:ext cx="82296" cy="94869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874519"/>
            <a:ext cx="3593592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Deployed faster than governed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57% of organisations run self-hosted agents; most have no inventory of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3006089"/>
            <a:ext cx="4050792" cy="94869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3006089"/>
            <a:ext cx="82296" cy="94869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3006089"/>
            <a:ext cx="3593592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Prompt injection dominates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single largest source of reported GenAI and agent incidents.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4137659"/>
            <a:ext cx="4050792" cy="94869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4137659"/>
            <a:ext cx="82296" cy="94869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6952" y="4137659"/>
            <a:ext cx="3593592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Excessive agency is rising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Mainstream agent deployment moved LLM03 up three places in 2026.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5269229"/>
            <a:ext cx="4050792" cy="94869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5269229"/>
            <a:ext cx="82296" cy="94869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6952" y="5269229"/>
            <a:ext cx="3593592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Monitoring is the biggest gap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71% have no runtime monitoring of what their agents actually 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LU1 · T1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GenAI breaks classical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Input is executable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Text the model reads can change what the model does. Classical apps separate code from data; LLMs do not.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1286" y="1783080"/>
            <a:ext cx="82296" cy="4023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boundary is learned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318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Instruction/data separation is a training convention, not an enforced boundary. It degrades under pressure.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4204" y="1783080"/>
            <a:ext cx="82296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Output drives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When output feeds a tool, a browser or a shell, a wrong answer becomes a wrong action.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7122" y="1783080"/>
            <a:ext cx="82296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Non-determinism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3154" y="2532888"/>
            <a:ext cx="2023110" cy="3145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same input can yield different behaviour. Signature-based detection has nothing stable to match.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Classical AppSec assumes code and data are separable. A language model is the counter-example: its data IS its instructions.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C2626"/>
                </a:solidFill>
                <a:latin typeface="Arial"/>
              </a:rPr>
              <a:t>THE CENTRAL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Anything your model reads,
your model can be told by.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This is a property of the architecture, not a bug awaiting a patch.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LU1 · T1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context window has no trust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trust-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745" y="1783080"/>
            <a:ext cx="7967462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10634472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06440"/>
            <a:ext cx="10149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Every source becomes one flat token sequence. The model cannot tell an instruction from data — which is why LLM01 has no complete fix.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T2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Generative vs discriminative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C2626"/>
                </a:solidFill>
                <a:latin typeface="Arial"/>
              </a:rPr>
              <a:t>Generative — what we secure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Discriminative — what does the policing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68880"/>
            <a:ext cx="47548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Generative model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Learns P(x) — how the data is distributed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Produces new content: text, code, images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The thing being secured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Attack surface: injection, poisoning, leakage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Cannot reliably police itself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46177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Discriminative model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Learns P(y|x) — a decision boundary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Classifies: safe / unsafe, PII / not PII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The thing doing the policing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Used for guardrails, filters, DLP, anomaly detection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Fails on paraphrase, encoding and cross-modal payloads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Guardrails are worth having and must never be the only thing between an attacker and an irreversible 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LU1 · T3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Application modes are attack surfaces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807860" cy="7086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Application mode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2585100" y="1783080"/>
            <a:ext cx="2977652" cy="7086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3116" y="178308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2752" y="1783080"/>
            <a:ext cx="4041099" cy="7086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90768" y="1783080"/>
            <a:ext cx="382164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How it is abused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3851" y="1783080"/>
            <a:ext cx="1807860" cy="7086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1867" y="178308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OWASP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491740"/>
            <a:ext cx="1807860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49174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Summarisation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85100" y="2491740"/>
            <a:ext cx="297765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3116" y="249174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Condenses a document or thread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62752" y="2491740"/>
            <a:ext cx="404109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0768" y="2491740"/>
            <a:ext cx="382164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Hidden instructions in the source are obeyed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3851" y="2491740"/>
            <a:ext cx="1807860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1867" y="249174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LLM01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200400"/>
            <a:ext cx="180786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320040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Inference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85100" y="3200400"/>
            <a:ext cx="2977652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13116" y="320040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Draws conclusions about a user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62752" y="3200400"/>
            <a:ext cx="4041099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90768" y="3200400"/>
            <a:ext cx="382164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Probing extracts another person's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3851" y="3200400"/>
            <a:ext cx="180786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1867" y="320040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LLM02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09060"/>
            <a:ext cx="1807860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0906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Reasoning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85100" y="3909060"/>
            <a:ext cx="297765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13116" y="390906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Multi-step problem solving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62752" y="3909060"/>
            <a:ext cx="404109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90768" y="3909060"/>
            <a:ext cx="382164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Runaway loops burn the inference budget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3851" y="3909060"/>
            <a:ext cx="1807860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1867" y="390906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LLM06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17720"/>
            <a:ext cx="180786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61772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Transformation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85100" y="4617720"/>
            <a:ext cx="2977652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13116" y="461772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Reformats content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2752" y="4617720"/>
            <a:ext cx="4041099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90768" y="4617720"/>
            <a:ext cx="382164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Output rendered downstream carries a payload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3851" y="4617720"/>
            <a:ext cx="180786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31867" y="461772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LLM10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26380"/>
            <a:ext cx="1807860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532638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Augmentation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85100" y="5326380"/>
            <a:ext cx="297765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13116" y="532638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Enriches answers from retrieval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62752" y="5326380"/>
            <a:ext cx="404109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90768" y="5326380"/>
            <a:ext cx="382164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Poisoned chunk retrieved with high confidence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03851" y="5326380"/>
            <a:ext cx="1807860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31867" y="532638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LLM09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60533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 capability you add is a capability an attacker can aim at.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T3 · THE REFERENCE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OWASP Top 10 for LLM Applications —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owasp-llm-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286" y="1783080"/>
            <a:ext cx="7696380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10634472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06440"/>
            <a:ext cx="10149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Released August 2026. Ranking now weights 7,714 real incidents — evidence, not only practitioner opinion.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Threat Modelling a Generative AI Concierge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1 · 45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Marina Crescent Hotel — 340-room business hotel, Singapore waterfront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 GenAI concierge went live six weeks ago on three channels with no security review. Three incidents have already occurred and nobody has connected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 the trust boundaries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Rank the retrieval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Capabilities → attack surfaces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Explain the three signals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Recommend: proceed, conditions or halt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Where does untrusted content enter the context — and who controls it?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Which retrieval sources are attacker-writable in practice?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Is signal 1 already a PDPA-reportable breach? What makes it reportable?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threat model and a costed rollout recommendation for the executive committee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943600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K2 · K3 · A4  ·  Activity pack: activities/activity-1/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12:30pm – 1:30pm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1 · LEARNING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Attacking and Defending the Prompt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Injection, poisoning and the limits of prompt-based defence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LU2 · T2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Three kinds of prompt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41192" cy="3017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3017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32888"/>
            <a:ext cx="2947416" cy="2139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user types the attack. "Ignore your instructions and…"
→ Easiest to filter; least interesting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3441192" cy="3017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5592" y="1783080"/>
            <a:ext cx="82296" cy="3017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Indirect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1624" y="2532888"/>
            <a:ext cx="2947416" cy="2139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payload arrives inside content the model reads — a document, an email, a web page, a review.
→ The dominant real-world vector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3441192" cy="3017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2816" y="1783080"/>
            <a:ext cx="82296" cy="30175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Cross-modal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8848" y="2532888"/>
            <a:ext cx="2947416" cy="2139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Instructions hidden in an image or audio track, recovered by the model's own OCR or transcription.
→ Added to OWASP in the 2026 revision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Indirect injection is the one that matters in production: the attacker never touches your interface, only the content your system chooses to read.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LU2 · T2 · K4 · REALISTIC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injection in everyday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oto-indirect-prompt-injection-v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6583680" cy="37052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35240" y="1874519"/>
            <a:ext cx="3776472" cy="120395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874519"/>
            <a:ext cx="82296" cy="1203959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91272" y="1874519"/>
            <a:ext cx="3319272" cy="1203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attacker controls content, not the chat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supplier PDF, email, web page, image, ticket or context file carries the instruction. The employee's request can be completely legitimate.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3261358"/>
            <a:ext cx="3776472" cy="120395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3261358"/>
            <a:ext cx="82296" cy="120395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2" y="3261358"/>
            <a:ext cx="3319272" cy="1203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model sees what the human does not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HTML comments, white-on-white text, metadata, OCR layers and tool descriptions can be invisible in the rendered view but present in model context.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4648197"/>
            <a:ext cx="3776472" cy="120395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4648197"/>
            <a:ext cx="82296" cy="1203959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91272" y="4648197"/>
            <a:ext cx="3319272" cy="1203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harmful step is usually a tool call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injection matters when it crosses into email, file, browser, payment or database authority. Constrain the action path, not only the words.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989320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safe design assumes the content can win and prevents it from turning into authority.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LU2 · T2 · K4 · SAFE SIMULATIONS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Practice: find the hostile instruction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Supplier invoice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32888"/>
            <a:ext cx="2023110" cy="3145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PDF footer tells the accounts agent to replace the approved bank account. Treat the document as data; verify payment details out of band.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1286" y="1783080"/>
            <a:ext cx="82296" cy="4023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Customer-support 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318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Quoted text asks the assistant to search prior tickets and paste customer details. Keep the reader agent tool-free and scope retrieval to the current case.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4204" y="1783080"/>
            <a:ext cx="82296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Web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2532888"/>
            <a:ext cx="2023110" cy="3145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page instructs the browsing agent to upload its session history for verification. Block arbitrary egress and require confirmation for data transmission.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7122" y="1783080"/>
            <a:ext cx="82296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6930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Project context 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3154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cloned AGENTS.md asks the coding agent to read credentials and run an installer. Scan context files before loading and isolate untrusted repositories.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Ask four questions: who controls the content, what can the agent reach, what action follows, and what hard control stops it?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LU2 · T2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prompt-based defences fail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160248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Instructions compete on plausibility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98648"/>
            <a:ext cx="2023110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retrieved document saying "the previous policy was a test" is just more text. There is no precedence rule to appeal 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1286" y="1783080"/>
            <a:ext cx="82296" cy="4023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Defences are enumerable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318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Every defensive phrase you add is a fixed string an attacker can read, test against and paraphrase around.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4204" y="1783080"/>
            <a:ext cx="82296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attacker iterates for free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Automated jailbreaks fire dozens of obfuscated variants per second. You get one system prompt.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7122" y="1783080"/>
            <a:ext cx="82296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NIST's finding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3154" y="2532888"/>
            <a:ext cx="2023110" cy="3145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"There will always be a way to prompt an AI system to disregard its rules — it's just a matter of finding it."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Defensive prompting raises the attacker's cost. It never closes the hole. Treat it as friction, never as a boundary.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LU2 · T1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Poisoning — five vectors, one idea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914204" cy="7086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Vector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1444" y="1783080"/>
            <a:ext cx="2977652" cy="7086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9460" y="178308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is poisoned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096" y="1783080"/>
            <a:ext cx="3828409" cy="7086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7112" y="1783080"/>
            <a:ext cx="360895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When it bites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97505" y="1783080"/>
            <a:ext cx="1914204" cy="7086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25521" y="178308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OWASP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491740"/>
            <a:ext cx="1914204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49174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Training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1444" y="2491740"/>
            <a:ext cx="297765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9460" y="249174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Pre-training or fine-tuning corpus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096" y="2491740"/>
            <a:ext cx="382840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112" y="2491740"/>
            <a:ext cx="360895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Backdoor fires on a trigger phrase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97505" y="2491740"/>
            <a:ext cx="1914204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25521" y="249174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LLM05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200400"/>
            <a:ext cx="1914204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320040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RAG corpus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1444" y="3200400"/>
            <a:ext cx="2977652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19460" y="320040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retrieval knowledge base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096" y="3200400"/>
            <a:ext cx="3828409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97112" y="3200400"/>
            <a:ext cx="360895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single doc biases thousands of answers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97505" y="3200400"/>
            <a:ext cx="1914204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25521" y="320040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LLM05 · LLM09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09060"/>
            <a:ext cx="1914204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0906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Agent memory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1444" y="3909060"/>
            <a:ext cx="297765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19460" y="390906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Persisted state across sessions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096" y="3909060"/>
            <a:ext cx="382840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97112" y="3909060"/>
            <a:ext cx="360895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Behavioural backdoor survives restarts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97505" y="3909060"/>
            <a:ext cx="1914204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25521" y="390906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17720"/>
            <a:ext cx="1914204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61772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Model artifact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91444" y="4617720"/>
            <a:ext cx="2977652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19460" y="461772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weights you downloaded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096" y="4617720"/>
            <a:ext cx="3828409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97112" y="4617720"/>
            <a:ext cx="360895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artifact is not what it claims to be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97505" y="4617720"/>
            <a:ext cx="1914204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25521" y="461772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LLM04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26380"/>
            <a:ext cx="1914204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532638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Package name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91444" y="5326380"/>
            <a:ext cx="297765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19460" y="532638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hallucinated dependency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096" y="5326380"/>
            <a:ext cx="382840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97112" y="5326380"/>
            <a:ext cx="360895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Slopsquatting — attacker registers the name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97505" y="5326380"/>
            <a:ext cx="1914204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25521" y="532638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60533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Data quality is a security property. Whoever can write to your corpus can write to your model's behaviour.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2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Injection and the PDPA-Reportable Leak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2 · 60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Meridian Assurance (Singapore) — general insurer, 310,000 policyholders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An indirect prompt injection hidden in an uploaded claim document caused the claims assistant to exfiltrate 118 individuals' names, NRICs and settlement amounts to an attacker-controlled address.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Trace the payload through the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Identify why the guardrail missed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Assess the poisoned corpus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Decide the PDPA notification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Price the remediation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Why did a system prompt saying 'never reveal personal data' fail to stop this?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Which limb of the PDPA notification test is met — harm, scale, or both?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Which single control would have broken the chain earliest?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 incident reconstruction, a notification decision and a prioritised control set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943600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K4 · K1  ·  Activity pack: activities/activity-2/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·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Day 1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Prompt injection is architectural — the context window has no trust boundary.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Guardrail classifiers are discriminative models policing a generative one: useful, fallible.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Every application mode — summarise, infer, transform, augment — is an attack surface.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Data quality is a security property: poisoning reaches training, RAG, memory and artifacts.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Tomorrow: the system stops answering and starts acting.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2 · LEARNING UNIT 2 (cont.)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Frameworks and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Choosing the right instrument, and proving the control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T3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No single framework is sufficient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framework-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488" y="1783080"/>
            <a:ext cx="8103976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10634472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06440"/>
            <a:ext cx="10149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Each framework answers a different question. Combine them deliberately — a threat taxonomy is not a process, and a process is not a legal obligation.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T3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each framework is — and is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190341" cy="6335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97088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7581" y="1783080"/>
            <a:ext cx="4679167" cy="6335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5597" y="1783080"/>
            <a:ext cx="4459711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The question it answers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6748" y="1783080"/>
            <a:ext cx="2764962" cy="6335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4764" y="1783080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What it is not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416628"/>
            <a:ext cx="3190341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416628"/>
            <a:ext cx="297088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OWASP LLM Top 10 (2026)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7581" y="2416628"/>
            <a:ext cx="4679167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5597" y="2416628"/>
            <a:ext cx="4459711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can go wrong in a GenAI application?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6748" y="2416628"/>
            <a:ext cx="2764962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4764" y="2416628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Not a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050176"/>
            <a:ext cx="3190341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050176"/>
            <a:ext cx="297088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OWASP ASI Top 10 (2026)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7581" y="3050176"/>
            <a:ext cx="4679167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95597" y="3050176"/>
            <a:ext cx="4459711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can go wrong with an autonomous agent?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6748" y="3050176"/>
            <a:ext cx="2764962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4764" y="3050176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Not a process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3724"/>
            <a:ext cx="3190341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3724"/>
            <a:ext cx="297088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NIST AI RMF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67581" y="3683724"/>
            <a:ext cx="4679167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95597" y="3683724"/>
            <a:ext cx="4459711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How do we run this as a repeatable lifecycle?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6748" y="3683724"/>
            <a:ext cx="2764962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4764" y="3683724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Not a threat list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17272"/>
            <a:ext cx="3190341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17272"/>
            <a:ext cx="297088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MITRE ATLAS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67581" y="4317272"/>
            <a:ext cx="4679167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95597" y="4317272"/>
            <a:ext cx="4459711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How do real adversaries actually operate?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6748" y="4317272"/>
            <a:ext cx="2764962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4764" y="4317272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Not a control set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950820"/>
            <a:ext cx="3190341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950820"/>
            <a:ext cx="297088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IMDA Model AI Governance (Agentic)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67581" y="4950820"/>
            <a:ext cx="4679167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95597" y="4950820"/>
            <a:ext cx="4459711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Who is accountable, and what may the agent do alone?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46748" y="4950820"/>
            <a:ext cx="2764962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4764" y="4950820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Not technical detail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584368"/>
            <a:ext cx="3190341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584368"/>
            <a:ext cx="297088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PDPA + PDPC GenAI Guidelines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67581" y="5584368"/>
            <a:ext cx="4679167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95597" y="5584368"/>
            <a:ext cx="4459711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does Singapore law require of us?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46748" y="5584368"/>
            <a:ext cx="2764962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74764" y="5584368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Not optional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LU2 · T3 · THE AGENT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OWASP Top 10 for Agentic Applications —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owasp-asi-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286" y="1783080"/>
            <a:ext cx="7696380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10634472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06440"/>
            <a:ext cx="10149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agent-specific companion to the LLM list. Where the LLM list asks what the model says, the ASI list asks what the agent does.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Measuring whether a guardrail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61944" cy="3566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336194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176272"/>
            <a:ext cx="29596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Attack success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8408" y="2788920"/>
            <a:ext cx="2959608" cy="12344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788920"/>
            <a:ext cx="2776728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CDCFE"/>
                </a:solidFill>
                <a:latin typeface="Arial"/>
              </a:rPr>
              <a:t>ASR  =  successful attacks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9CDCFE"/>
                </a:solidFill>
                <a:latin typeface="Arial"/>
              </a:rPr>
              <a:t>            ÷  attempts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206240"/>
            <a:ext cx="295960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headline number. Measure per attack family, not in aggregate — an average hides the one family that works every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3504" y="1920240"/>
            <a:ext cx="3361944" cy="3566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3504" y="1920240"/>
            <a:ext cx="336194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4672" y="2176272"/>
            <a:ext cx="29596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Refusal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4672" y="2788920"/>
            <a:ext cx="2959608" cy="12344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6112" y="2788920"/>
            <a:ext cx="2776728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CDCFE"/>
                </a:solidFill>
                <a:latin typeface="Arial"/>
              </a:rPr>
              <a:t>RR  =  refusals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9CDCFE"/>
                </a:solidFill>
                <a:latin typeface="Arial"/>
              </a:rPr>
              <a:t>           ÷  adversarial prompts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4672" y="4206240"/>
            <a:ext cx="295960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high refusal rate is not automatically good. Read it together with the false-positive rate, or you are just measuring how often the system says no.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9768" y="1920240"/>
            <a:ext cx="3361944" cy="3566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9768" y="1920240"/>
            <a:ext cx="336194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0936" y="2176272"/>
            <a:ext cx="29596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False-positive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50936" y="2788920"/>
            <a:ext cx="2959608" cy="12344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2376" y="2788920"/>
            <a:ext cx="2776728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CDCFE"/>
                </a:solidFill>
                <a:latin typeface="Arial"/>
              </a:rPr>
              <a:t>FPR  =  blocked benign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9CDCFE"/>
                </a:solidFill>
                <a:latin typeface="Arial"/>
              </a:rPr>
              <a:t>              ÷  benign prompts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0936" y="4206240"/>
            <a:ext cx="295960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business cost of the guardrail. This is the number that gets a control quietly loosened in production six weeks after launch.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7150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Report all three together. Any one of them alone can be gamed.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Reading red-team results honestly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Never read the average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 aggregate attack-success rate hides the one attack family that succeeds every single time. Report per family.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1286" y="1783080"/>
            <a:ext cx="82296" cy="4023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Refusal rate needs a 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318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falling refusal rate is not progress if the false-positive rate fell with it. You may have simply loosened the guardrail.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4204" y="1783080"/>
            <a:ext cx="82296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Vary the phrasing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Test the same attack across prompt variants. A defence that holds against one phrasing is not a defence — it is a coincidence.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7122" y="1783080"/>
            <a:ext cx="82296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6930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Re-test after every 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3154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vendor can change model behaviour overnight. Your last red-team result expires when the model does.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Publish the residual risk. A go-live gate with no stated risk tolerance is not a gate.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3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Selecting a Security Framework for GenAI and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3 · 60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Straits Meridian Health — 22 clinics, 480,000 patient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 deployment with both a GenAI patient assistant and an autonomous billing agent. The board wants one framework. There isn't 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Match framework to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 threats to ASI/LLM entries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Define red-team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Interpret the variant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Recommend the go-live gate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Which framework answers 'who is accountable' — and which answers 'what goes wrong'?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What does a 71.6% attack-success rate on the agent component actually tell you?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Does a lower refusal rate mean a safer system, or a weaker guardrail?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combined framework stack and a measurable go-live gate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943600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A3 · A5  ·  Activity pack: activities/activity-3/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12:45pm – 1:45pm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2 · LEARNING 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Agent Autonomy, Governance and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When the system stops answering and starts acting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FROM MODELS TO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An agent is a model
plus a loop plus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model was the risk. The loop is the multiplier. The tools are the blast radius.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LU3 · T1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 agent is a model plus a loop plus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agent-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445" y="1783080"/>
            <a:ext cx="7196062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10634472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06440"/>
            <a:ext cx="10149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Each component adds a distinct attack surface. Autonomy is not a feature of the model — it is a property of the architecture around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LU3 · T1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Agent capabilities and their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914204" cy="6335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1694748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1444" y="1783080"/>
            <a:ext cx="2977652" cy="6335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9460" y="1783080"/>
            <a:ext cx="275819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adds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096" y="1783080"/>
            <a:ext cx="3403031" cy="6335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7112" y="1783080"/>
            <a:ext cx="318357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Primary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72127" y="1783080"/>
            <a:ext cx="2339583" cy="6335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143" y="1783080"/>
            <a:ext cx="21201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OWASP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416628"/>
            <a:ext cx="1914204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416628"/>
            <a:ext cx="1694748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Planning loop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1444" y="2416628"/>
            <a:ext cx="2977652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9460" y="2416628"/>
            <a:ext cx="275819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Decomposes a goal into steps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096" y="2416628"/>
            <a:ext cx="3403031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112" y="2416628"/>
            <a:ext cx="318357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Goal hijack; runaway iteration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2127" y="2416628"/>
            <a:ext cx="2339583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0143" y="2416628"/>
            <a:ext cx="21201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ASI01 · LLM06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050176"/>
            <a:ext cx="1914204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3050176"/>
            <a:ext cx="1694748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Tool calling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1444" y="3050176"/>
            <a:ext cx="2977652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19460" y="3050176"/>
            <a:ext cx="275819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Acts on real systems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096" y="3050176"/>
            <a:ext cx="3403031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97112" y="3050176"/>
            <a:ext cx="318357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Tool misuse within authorised privilege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72127" y="3050176"/>
            <a:ext cx="2339583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00143" y="3050176"/>
            <a:ext cx="21201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3724"/>
            <a:ext cx="1914204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3724"/>
            <a:ext cx="1694748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Code execution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1444" y="3683724"/>
            <a:ext cx="2977652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19460" y="3683724"/>
            <a:ext cx="275819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Writes and runs code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096" y="3683724"/>
            <a:ext cx="3403031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97112" y="3683724"/>
            <a:ext cx="318357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RCE; sandbox escape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72127" y="3683724"/>
            <a:ext cx="2339583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0143" y="3683724"/>
            <a:ext cx="21201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17272"/>
            <a:ext cx="1914204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317272"/>
            <a:ext cx="1694748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Memory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91444" y="4317272"/>
            <a:ext cx="2977652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19460" y="4317272"/>
            <a:ext cx="275819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State across sessions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096" y="4317272"/>
            <a:ext cx="3403031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97112" y="4317272"/>
            <a:ext cx="318357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Persistent behavioural backdoor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72127" y="4317272"/>
            <a:ext cx="2339583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00143" y="4317272"/>
            <a:ext cx="21201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950820"/>
            <a:ext cx="1914204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950820"/>
            <a:ext cx="1694748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91444" y="4950820"/>
            <a:ext cx="2977652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19460" y="4950820"/>
            <a:ext cx="275819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Credentials and scope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096" y="4950820"/>
            <a:ext cx="3403031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97112" y="4950820"/>
            <a:ext cx="318357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Confused deputy; privilege abuse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72127" y="4950820"/>
            <a:ext cx="2339583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00143" y="4950820"/>
            <a:ext cx="21201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ASI03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584368"/>
            <a:ext cx="1914204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" y="5584368"/>
            <a:ext cx="1694748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Multi-agent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91444" y="5584368"/>
            <a:ext cx="2977652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19460" y="5584368"/>
            <a:ext cx="275819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Delegates to other agents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096" y="5584368"/>
            <a:ext cx="3403031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97112" y="5584368"/>
            <a:ext cx="318357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Cascading failure; agent-in-the-middle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72127" y="5584368"/>
            <a:ext cx="2339583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00143" y="5584368"/>
            <a:ext cx="21201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ASI07 · ASI08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LU3 · T1 · K5 · OWASP ASI04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Skills and plugins are executable supply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are executable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SKILL.md can steer tool choice, request credentials and invoke scripts. Treat the folder as trusted code, not as documentation.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1286" y="1783080"/>
            <a:ext cx="82296" cy="4023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Plugins run with host authority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318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In-process plugins and MCP servers may see filesystem, network and credential surfaces. An attractive feature can be a privileged dependency.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4204" y="1783080"/>
            <a:ext cx="82296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Dynamic discovery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Runtime-loaded tools, agent cards and prompt templates can change after review. Pin the source and version; disable automatic installation.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7122" y="1783080"/>
            <a:ext cx="82296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Typosquatting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3154" y="2532888"/>
            <a:ext cx="2023110" cy="3145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hallucinated package or near-match skill name can route installation to an attacker. Resolve provenance independently before download.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 not let an autonomous agent discover and install capabilities on its own. Installation is a privileged change event.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LU3 · T1 · K5 · SUPPLY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Trusted skill and plugin install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126894" cy="60742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1907438" cy="6074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904134" y="1783080"/>
            <a:ext cx="8507577" cy="60742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2150" y="1783080"/>
            <a:ext cx="8288121" cy="6074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Minimum evidence before enablement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90502"/>
            <a:ext cx="2126894" cy="60742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390502"/>
            <a:ext cx="1907438" cy="6074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Provenance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04134" y="2390502"/>
            <a:ext cx="8507577" cy="60742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150" y="2390502"/>
            <a:ext cx="8288121" cy="6074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Named owner, trusted registry or repository, verified publisher and licence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97924"/>
            <a:ext cx="2126894" cy="60742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97924"/>
            <a:ext cx="1907438" cy="6074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Integrity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04134" y="2997924"/>
            <a:ext cx="8507577" cy="60742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2150" y="2997924"/>
            <a:ext cx="8288121" cy="6074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Pinned version or commit, checksum/signature, reviewed unpacked contents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05346"/>
            <a:ext cx="2126894" cy="60742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05346"/>
            <a:ext cx="1907438" cy="6074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Capabilities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04134" y="3605346"/>
            <a:ext cx="8507577" cy="60742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32150" y="3605346"/>
            <a:ext cx="8288121" cy="6074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Declared tools, file paths, network destinations, subprocesses and credentials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212768"/>
            <a:ext cx="2126894" cy="60742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212768"/>
            <a:ext cx="1907438" cy="6074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Isolation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04134" y="4212768"/>
            <a:ext cx="8507577" cy="60742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32150" y="4212768"/>
            <a:ext cx="8288121" cy="6074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Non-root sandbox, read-only mounts, workspace-only file access, bounded egress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20190"/>
            <a:ext cx="2126894" cy="60742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4820190"/>
            <a:ext cx="1907438" cy="6074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Approval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04134" y="4820190"/>
            <a:ext cx="8507577" cy="60742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32150" y="4820190"/>
            <a:ext cx="8288121" cy="6074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Human confirmation for install/update and for consequential tool 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427612"/>
            <a:ext cx="2126894" cy="60742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5427612"/>
            <a:ext cx="1907438" cy="6074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Operations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04134" y="5427612"/>
            <a:ext cx="8507577" cy="60742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32150" y="5427612"/>
            <a:ext cx="8288121" cy="6074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Inventory, audit logs, vulnerability monitoring, rollback and offboarding 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0533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Approve provenance, integrity and permissions before enablement - then monitor the component at runtime.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LU3 · T1 · K5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Agent kill chain — a real 2026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kill-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822" y="1783080"/>
            <a:ext cx="9817308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10634472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06440"/>
            <a:ext cx="10149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OpenAI → Hugging Face, July 2026. No malware, no known CVE. The chain was assembled entirely from individually legitimate 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LU3 · T1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the 2026 incidents actually proved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Agents pursue goals across obstacles: a permission denial is read as a failed method, not a stop sign.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Agents target other AI systems — prompt injection hidden in an HTML comment for a coding assistant.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Anthropic's evaluations: a model published malicious code to PyPI that ran on 15 real systems.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model scanned ~9,000 targets and stopped only when it recognised the target was real.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Replit: an agent deleted the production customer database — ASI10, in one irreversible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T1 · MICROSOFT'S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Defence in depth — four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defence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989" y="1783080"/>
            <a:ext cx="7818974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10634472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06440"/>
            <a:ext cx="10149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Each layer fails differently — that is precisely why you need all four. The application layer is the one you fully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T1 ·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Four design patterns for safe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Agents as microservices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Narrow responsibility, isolated permissions, a clear interface. Never an 'everything agent' with broad access.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1286" y="1783080"/>
            <a:ext cx="82296" cy="4023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Least permissions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318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Start from zero access. Enable each action explicitly, scoped by data source and by operation.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4204" y="1783080"/>
            <a:ext cx="82296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Deterministic human-in-the-loop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Escalation triggers defined in CODE, never delegated to the model's own judgement about when to ask.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7122" y="1783080"/>
            <a:ext cx="82296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Agent identity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3154" y="2532888"/>
            <a:ext cx="2023110" cy="3145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unique, verifiable identity per agent — so permissions can be scoped, revoked and audited, and actions attributed.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Notice what none of these are: a better prompt. Every one is an architectural decision.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T1 ·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four-layer control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Identity &amp;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Distinct traceable identity per agent · short-lived tokens · delegated authority inherits only what is needed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1286" y="1783080"/>
            <a:ext cx="82296" cy="4023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Least-privilege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318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Scoped by data source and action type · read separated from write · deletes and transactions isolated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4204" y="1783080"/>
            <a:ext cx="82296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Tool &amp; API 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Approved tool registry · input and output validation · rate limits, parameter constraints, audit trails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7122" y="1783080"/>
            <a:ext cx="82296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6930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Runtime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3154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Log prompts, tool calls, permission checks · flag unusual tool sequences and repeated denials · human approval for consequential operations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Identity first. You cannot apply least privilege to an agent that has no distinct identity.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ACTIVITY 4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Rogue Agent Post-Incident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4 · 60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Real 2026 incidents — OpenAI → Hugging Face · Anthropic evaluations · Replit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An agent escaped its evaluation sandbox and compromised production infrastructure using no malware and no known CVE. Every individual action it took was legitimate.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Reconstruct the kill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Attribute each phase to a capability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 to LLM03 / ASI01 / ASI02 / ASI05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Find the earliest break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Classify your own agents' autonomy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Which agent capability — planning, tools, memory or identity — enabled each phase?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Why did signature-based detection fail completely here?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At which phase was the cheapest effective intervention available?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kill-chain reconstruction and a control that breaks it at phase 1 or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943600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K5  ·  Activity pack: activities/activity-4/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THE GOVERNANCE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prompt is not a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Asking a probabilistic system to police itself is a request, not a guarantee.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T2 · A2 · HUMAN IN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 approval that actually controls the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oto-human-approval-gate-v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6492240" cy="365382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43800" y="1874519"/>
            <a:ext cx="3867912" cy="85724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874519"/>
            <a:ext cx="82296" cy="857249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2" y="1874519"/>
            <a:ext cx="3410712" cy="857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Trigger in code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model must not decide whether it needs approval. The policy engine evaluates action type, data sensitivity, value and reversibility.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2914648"/>
            <a:ext cx="3867912" cy="85724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800" y="2914648"/>
            <a:ext cx="82296" cy="85724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2" y="2914648"/>
            <a:ext cx="3410712" cy="857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Show the exact effect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reviewer sees recipient, data fields, amount, target system and reason - not a vague 'approve?' prompt.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3954777"/>
            <a:ext cx="3867912" cy="85724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3954777"/>
            <a:ext cx="82296" cy="857249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9832" y="3954777"/>
            <a:ext cx="3410712" cy="857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Make approval narrow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Approval covers one prepared action and expires. It must not become a standing permission for later model-generated variants.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4994906"/>
            <a:ext cx="3867912" cy="85724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43800" y="4994906"/>
            <a:ext cx="82296" cy="85724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2" y="4994906"/>
            <a:ext cx="3410712" cy="857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Audit effectiveness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Track approval, rejection, override and response time. Sample approved actions to detect automation bias and rubber-stamping.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89320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Human-in-the-loop fails when the reviewer cannot see the exact action or is asked too often to think.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T2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Calibrating autonomy — the deterministic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autonomy-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415" y="1783080"/>
            <a:ext cx="8744122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10634472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06440"/>
            <a:ext cx="10149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IMDA: structural safeguards are preferred over prompt-based controls, and approval checkpoints are required for irreversible 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T2 · A2 · SINGAPORE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IMDA Model AI Governance for Agentic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Risk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32888"/>
            <a:ext cx="2023110" cy="3145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Identify harmful outcomes: erroneous actions, scope violations, biased decisions, data breaches, disruption.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1286" y="1783080"/>
            <a:ext cx="82296" cy="4023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Human accountability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318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Define approval checkpoints for higher-risk or irreversible actions. Audit override rates and response times.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4204" y="1783080"/>
            <a:ext cx="82296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Technical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Structural, system-level safeguards are preferred over prompt-based controls. Test accuracy, policy adherence and tool use.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7122" y="1783080"/>
            <a:ext cx="82296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6930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End-user responsibility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3154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Be transparent about capabilities, data access and escalation. Train users on the failure modes.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Published January 2026 — the world's first governance framework written specifically for agentic AI. Some use cases are unsuitable for agents entirely.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T2 · A2 · FROM PILOT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Six-stage organisational implementation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41192" cy="18973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18973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 Govern and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32888"/>
            <a:ext cx="2947416" cy="10195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Name the owner, business purpose, users, data, model, tools, skills/plugins and third parties. Set the risk tolerance.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3441192" cy="18973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5592" y="1783080"/>
            <a:ext cx="82296" cy="18973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2. Map and bound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1624" y="2532888"/>
            <a:ext cx="2947416" cy="10195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Classify data and actions; define trust boundaries; cap autonomy, cost, time, recipients and reachable systems.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3441192" cy="18973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2816" y="1783080"/>
            <a:ext cx="82296" cy="18973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3. Engineer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8848" y="2532888"/>
            <a:ext cx="2947416" cy="10195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distinct identity, least privilege, allowlisted tools, validated parameters, sandboxing, egress control and protected secrets.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909060"/>
            <a:ext cx="3441192" cy="18973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909060"/>
            <a:ext cx="82296" cy="18973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409194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09194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405536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4. Assure before release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658868"/>
            <a:ext cx="2947416" cy="10195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Threat-model direct, indirect, cross-modal, memory and supply-chain attacks. Measure ASR, false positives and unsafe tool calls.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55592" y="3909060"/>
            <a:ext cx="3441192" cy="18973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55592" y="3909060"/>
            <a:ext cx="82296" cy="18973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75048" y="40919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5048" y="409194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5400" y="405536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5. Deploy progressively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1624" y="4658868"/>
            <a:ext cx="2947416" cy="10195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Start read-only with limited users and data. Add write authority only after evidence meets the defined gate.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52816" y="3909060"/>
            <a:ext cx="3441192" cy="18973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52816" y="3909060"/>
            <a:ext cx="82296" cy="18973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72272" y="409194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2272" y="409194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02624" y="405536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6. Operate and improve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8848" y="4658868"/>
            <a:ext cx="2947416" cy="10195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Monitor sequences, preserve audit evidence, rehearse containment, re-test changes, revoke access and decommission safely.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NIST supplies the continuous risk cycle; IMDA sharpens the autonomy and human-accountability decisions for agents.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T2 · A1–A2 · RESPONSIBLE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Responsible AI principles become security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41192" cy="18973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18973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Accountability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32888"/>
            <a:ext cx="2947416" cy="10195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Assign the model provider, agent builder, deployer, operator and approver. A named human owns every consequential outcome and residual-risk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3441192" cy="18973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5592" y="1783080"/>
            <a:ext cx="82296" cy="18973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Transparency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1624" y="2532888"/>
            <a:ext cx="2947416" cy="10195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Tell users when an agent is acting, what data and tools it can reach, its limits, and how to challenge, correct or escalate an outcome.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3441192" cy="18973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2816" y="1783080"/>
            <a:ext cx="82296" cy="18973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Fairness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8848" y="2532888"/>
            <a:ext cx="2947416" cy="10195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Test security controls and agent outcomes by affected group. A control that protects one segment while blocking another is not production-ready.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909060"/>
            <a:ext cx="3441192" cy="18973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909060"/>
            <a:ext cx="82296" cy="18973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409194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09194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4055364"/>
            <a:ext cx="2526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Privacy and data 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750308"/>
            <a:ext cx="2947416" cy="9281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Minimise data, define purpose and retention, protect every prompt/memory/log surface, and verify providers, transfers and deletion behaviour.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55592" y="3909060"/>
            <a:ext cx="3441192" cy="18973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55592" y="3909060"/>
            <a:ext cx="82296" cy="18973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75048" y="40919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5048" y="409194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5400" y="405536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Robustness and safety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1624" y="4658868"/>
            <a:ext cx="2947416" cy="10195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Test clean tasks and adversarial tasks, constrain tools and autonomy, fail safely, and preserve evidence for incident response.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52816" y="3909060"/>
            <a:ext cx="3441192" cy="18973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52816" y="3909060"/>
            <a:ext cx="82296" cy="18973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72272" y="409194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2272" y="409194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02624" y="4055364"/>
            <a:ext cx="2526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Human agency and contestability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8848" y="4750308"/>
            <a:ext cx="2947416" cy="9281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informed approval for consequential actions and give affected people a practical route to human review and remedy.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Singapore Model AI Governance Framework and AI Verify convert principles into named owners, process checks and measurable evidence.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T2 · A2 ·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Shared responsibility across the GenAI agent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658618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439162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35858" y="1783080"/>
            <a:ext cx="7975854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3874" y="1783080"/>
            <a:ext cx="775639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Security and Responsible AI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491740"/>
            <a:ext cx="2658618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491740"/>
            <a:ext cx="2439162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Model or service provider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5858" y="2491740"/>
            <a:ext cx="7975854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3874" y="2491740"/>
            <a:ext cx="775639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Model limits, safety evaluation, data-use terms, change notices and incident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200400"/>
            <a:ext cx="2658618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200400"/>
            <a:ext cx="2439162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Agent builder or integrator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35858" y="3200400"/>
            <a:ext cx="7975854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3874" y="3200400"/>
            <a:ext cx="775639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Tool schemas, prompt/RAG boundaries, component provenance, sandbox and test results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09060"/>
            <a:ext cx="2658618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909060"/>
            <a:ext cx="2439162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Deploying organisation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35858" y="3909060"/>
            <a:ext cx="7975854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3874" y="3909060"/>
            <a:ext cx="775639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Lawful purpose, autonomy boundary, access control, human accountability and go-live approval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617720"/>
            <a:ext cx="2658618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617720"/>
            <a:ext cx="2439162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Operator and control owners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35858" y="4617720"/>
            <a:ext cx="7975854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3874" y="4617720"/>
            <a:ext cx="775639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Monitoring, approvals, incident handling, re-testing, rollback and retained evidence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26380"/>
            <a:ext cx="2658618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326380"/>
            <a:ext cx="2439162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End user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35858" y="5326380"/>
            <a:ext cx="7975854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3874" y="5326380"/>
            <a:ext cx="775639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within declared purpose, verify high-impact outputs, protect data and report anomalies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Responsibility is distributed, but the deploying organisation still owns the go-live decision and its real-world consequences.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LU3 · T2 · A2 · SINGAPORE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PDPA risk begins before a breach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oto-pdpa-incident-response-v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6583680" cy="37052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35240" y="1874519"/>
            <a:ext cx="3776472" cy="120395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874519"/>
            <a:ext cx="82296" cy="1203959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91272" y="1874519"/>
            <a:ext cx="3319272" cy="1203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Know every data surface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Prompts, uploads, retrieval chunks, outputs, memory, tool arguments and logs may contain personal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3261358"/>
            <a:ext cx="3776472" cy="120395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3261358"/>
            <a:ext cx="82296" cy="120395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2" y="3261358"/>
            <a:ext cx="3319272" cy="1203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Limit use and disclosure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Purpose, recipients, retention and overseas processing must be defined before the agent receives access.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4648197"/>
            <a:ext cx="3776472" cy="120395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4648197"/>
            <a:ext cx="82296" cy="1203959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91272" y="4648197"/>
            <a:ext cx="3319272" cy="1203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Prepare the response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DPO and incident team need evidence that distinguishes human decisions, agent actions and third-party processing.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989320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model provider's contract does not remove the deploying organisation's PDPA obligations.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LU3 · T2 · A2 · SINGAPORE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PDPA accountability in the AI value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pdpa-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441" y="1783080"/>
            <a:ext cx="9274069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10634472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06440"/>
            <a:ext cx="10149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PDPC GenAI guidance clarifies responsibilities across the lifecycle. The deploying organisation must evidence its own lawful, protected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LU3 · T2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PDPA obligations for an AI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6335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Obligation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09" cy="6335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50053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What it means for an AI deployment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416628"/>
            <a:ext cx="2764962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416628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Consent &amp; notification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416628"/>
            <a:ext cx="7869509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416628"/>
            <a:ext cx="7650053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Generic 'product development' notice is insufficient — AI-specific notification of the data types used is required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050176"/>
            <a:ext cx="2764962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050176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Purpose limitation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3050176"/>
            <a:ext cx="7869509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3050176"/>
            <a:ext cx="7650053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Data limited to specified, lawful purposes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3724"/>
            <a:ext cx="2764962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3724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Protection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3724"/>
            <a:ext cx="7869509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3724"/>
            <a:ext cx="7650053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Now covers prompts, generated outputs and agent/tool activity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17272"/>
            <a:ext cx="2764962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17272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Access &amp; correction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17272"/>
            <a:ext cx="7869509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17272"/>
            <a:ext cx="7650053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Maintain data provenance and lineage records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950820"/>
            <a:ext cx="2764962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4950820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Breach notification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42202" y="4950820"/>
            <a:ext cx="7869509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0218" y="4950820"/>
            <a:ext cx="7650053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Notify PDPC within 3 calendar days of completing the assessment, where harm is significant OR 500+ individuals are affected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584368"/>
            <a:ext cx="2764962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5584368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Accountability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5584368"/>
            <a:ext cx="7869509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5584368"/>
            <a:ext cx="7650053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system deployer carries primary responsibility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LU3 · T2 · A2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PDPA checklist for GenAI and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339583" cy="55435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120127" cy="554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116823" y="1783080"/>
            <a:ext cx="8294888" cy="55435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4839" y="1783080"/>
            <a:ext cx="8075432" cy="554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Evidence required before deployment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37435"/>
            <a:ext cx="2339583" cy="554355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337435"/>
            <a:ext cx="2120127" cy="554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Purpose and basis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16823" y="2337435"/>
            <a:ext cx="8294888" cy="554355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4839" y="2337435"/>
            <a:ext cx="8075432" cy="554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Document each collection, use and disclosure purpose and the PDPA basis relied 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891790"/>
            <a:ext cx="2339583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891790"/>
            <a:ext cx="2120127" cy="554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Data minimisation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16823" y="2891790"/>
            <a:ext cx="8294888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4839" y="2891790"/>
            <a:ext cx="8075432" cy="554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Exclude unnecessary identifiers; define prompt, output, memory and log retention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446145"/>
            <a:ext cx="2339583" cy="554355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446145"/>
            <a:ext cx="2120127" cy="554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Transparency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6823" y="3446145"/>
            <a:ext cx="8294888" cy="554355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4839" y="3446145"/>
            <a:ext cx="8075432" cy="554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Give clear AI-specific notice where consent is relied on for model development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000500"/>
            <a:ext cx="2339583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000500"/>
            <a:ext cx="2120127" cy="554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Protection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6823" y="4000500"/>
            <a:ext cx="8294888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4839" y="4000500"/>
            <a:ext cx="8075432" cy="554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Encrypt, segregate tenants, restrict exports, validate recipients and control egress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554855"/>
            <a:ext cx="2339583" cy="554355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4554855"/>
            <a:ext cx="2120127" cy="554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Third parties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6823" y="4554855"/>
            <a:ext cx="8294888" cy="554355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4839" y="4554855"/>
            <a:ext cx="8075432" cy="554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Verify providers, locations, transfers, subprocessors, skills/plugins and deletion terms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109210"/>
            <a:ext cx="2339583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5109210"/>
            <a:ext cx="2120127" cy="554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Individual rights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16823" y="5109210"/>
            <a:ext cx="8294888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4839" y="5109210"/>
            <a:ext cx="8075432" cy="554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Maintain provenance to support access/correction and explain material human decisions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663565"/>
            <a:ext cx="2339583" cy="554355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" y="5663565"/>
            <a:ext cx="2120127" cy="554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Breach readiness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16823" y="5663565"/>
            <a:ext cx="8294888" cy="554355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44839" y="5663565"/>
            <a:ext cx="8075432" cy="554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Detect, assess, contain and notify; retain evidence for the DPO and incident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LU3 · T3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Bias, limits and misinformation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Misinformation is a security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LLM07 rose in 2026 because hallucination stopped being a quality problem. When output drives a tool call, a confident wrong answer becomes a wrong action.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1286" y="1783080"/>
            <a:ext cx="82296" cy="4023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Aggregate accuracy hides harm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318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91% overall accuracy can mean 95% for one group and 82% for another. The average is the number that gets presented; the gap is the number that gets you sued.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4204" y="1783080"/>
            <a:ext cx="82296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Bias in security decisioning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If the model decides who is escalated, investigated or refused, its bias becomes an access-control decision about real people.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7122" y="1783080"/>
            <a:ext cx="82296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6930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Limits must be published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3154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Users cannot calibrate trust in a system whose failure modes they have never been told.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LLM07 rose in 2026 because a confident wrong answer that drives a tool call is no longer a quality problem — it is a security failure.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Agent Governance and the Deployment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5 · 25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Meridian Bank Singapore — 1.4 million customers, MAS-regulated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CAPSTONE. You are the AI governance board. An autonomous collections agent is at its go/no-go gate. Accuracy is 91.2% overall — but not for everyone.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Read the segment data for bias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Quantify the hallucination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Apply PDPA and PDPC duties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Apply the IMDA four dimensions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Decide, and set the autonomy limits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94.6% accuracy for one segment, 82.3% for another — what is your duty here?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Which capabilities must NEVER be autonomous, regardless of accuracy?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Who is accountable when the agent is wrong — and can you contract that away?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go/no-go decision, an autonomy matrix and an accountability model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943600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A1 · A2  ·  Activity pack: activities/activity-5/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Synthesis and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Four principles to take back to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Architecture beats prompting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Every control that actually worked in this course was a decision about what the system may read and what it may 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1286" y="1783080"/>
            <a:ext cx="82296" cy="4023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Least privilege is the whole game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318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blast radius of any compromise equals the permissions you granted before it happened.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4204" y="1783080"/>
            <a:ext cx="82296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929384"/>
            <a:ext cx="160248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Deterministic gates for irreversible 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2898648"/>
            <a:ext cx="2023110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If it cannot be undone, a human authorises it — and the trigger lives in code.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7122" y="1783080"/>
            <a:ext cx="82296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6930" y="1929384"/>
            <a:ext cx="160248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Assume compromise, instrument accordingly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3154" y="2898648"/>
            <a:ext cx="2023110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 will not prevent every injection. You can ensure it is visible, bounded and attributable.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If you remember one thing: security for AI systems is an architecture problem wearing a prompt-engineering costume.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SYNTHESIS · ORGANISATIONAL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Production readiness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914204" cy="531495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1694748" cy="531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Area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1444" y="1783080"/>
            <a:ext cx="8720267" cy="531495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9460" y="1783080"/>
            <a:ext cx="8500811" cy="531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Go-live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14575"/>
            <a:ext cx="1914204" cy="531495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314575"/>
            <a:ext cx="1694748" cy="531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Ownership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1444" y="2314575"/>
            <a:ext cx="8720267" cy="531495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9460" y="2314575"/>
            <a:ext cx="8500811" cy="531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Named business owner, technical owner, DPO/security review and accountable approver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846070"/>
            <a:ext cx="1914204" cy="53149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846070"/>
            <a:ext cx="1694748" cy="531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Boundaries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1444" y="2846070"/>
            <a:ext cx="8720267" cy="53149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9460" y="2846070"/>
            <a:ext cx="8500811" cy="531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Documented users, channels, data, tools, skills/plugins, autonomy and prohibited 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377565"/>
            <a:ext cx="1914204" cy="531495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377565"/>
            <a:ext cx="1694748" cy="531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Prevent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1444" y="3377565"/>
            <a:ext cx="8720267" cy="531495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19460" y="3377565"/>
            <a:ext cx="8500811" cy="531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Least privilege, sandbox, tool schemas, egress allowlist, secret isolation and approval gates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909060"/>
            <a:ext cx="1914204" cy="53149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3909060"/>
            <a:ext cx="1694748" cy="531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1444" y="3909060"/>
            <a:ext cx="8720267" cy="53149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19460" y="3909060"/>
            <a:ext cx="8500811" cy="531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Prompt/tool/identity logs, sequence analytics, cost limits and alerts with named responders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440555"/>
            <a:ext cx="1914204" cy="531495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4440555"/>
            <a:ext cx="1694748" cy="531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Assure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1444" y="4440555"/>
            <a:ext cx="8720267" cy="531495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19460" y="4440555"/>
            <a:ext cx="8500811" cy="531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Adversarial tests across prompt variants, clean-task tests, privacy review and residual-risk sign-off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972050"/>
            <a:ext cx="1914204" cy="53149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972050"/>
            <a:ext cx="1694748" cy="531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Respond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1444" y="4972050"/>
            <a:ext cx="8720267" cy="53149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19460" y="4972050"/>
            <a:ext cx="8500811" cy="531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Kill switch, credential revocation, rollback, evidence preservation and PDPA assessment playbook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503545"/>
            <a:ext cx="1914204" cy="531495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" y="5503545"/>
            <a:ext cx="1694748" cy="531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Sustain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91444" y="5503545"/>
            <a:ext cx="8720267" cy="531495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19460" y="5503545"/>
            <a:ext cx="8500811" cy="531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Change control, re-test after model/tool updates, component inventory and safe decommissioning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0533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No evidence means no go-live. Record exceptions as accepted residual risk with an owner and expiry date.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WE 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Summary &amp;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LU1: Generative AI breaks classical assumptions — input is executable, output drives action.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LU2: Prompt injection and poisoning are architectural; defensive prompting is friction, not a boundary.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LU2: Frameworks are instruments — OWASP, NIST, ATLAS, IMDA and the PDPA each answer a different question.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LU3: An agent is a model plus a loop plus tools; autonomy multiplies every earlier risk.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LU3: Accountability is Singapore law — the system deployer answers for what the agent does.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BEFORE YOU BEGIN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Two instruments: a Written Assessment (SAQ) and a Case Study.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Written Assessment: 5 short-answer questions — one for each knowledge statement K1–K5.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Case Study: 3 questions — one per Learning Outcome, covering ability statements A1–A5.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Format: open book. You may use the slides, the Learner Guide and your activity notes.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Grading: Competent / Not Yet Competent. Re-assessment is available if you are NYC.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Answer in your own words — reproducing slide text verbatim does not evidence competence.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552273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332817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Instrument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9513" y="1783080"/>
            <a:ext cx="2126894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7529" y="1783080"/>
            <a:ext cx="190743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Covers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56407" y="1783080"/>
            <a:ext cx="5955304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4423" y="1783080"/>
            <a:ext cx="573584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Detail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670048"/>
            <a:ext cx="2552273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670048"/>
            <a:ext cx="2332817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Written Assessment (SAQ)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29513" y="2670048"/>
            <a:ext cx="212689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7529" y="2670048"/>
            <a:ext cx="190743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K1 – K5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56407" y="2670048"/>
            <a:ext cx="595530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84423" y="2670048"/>
            <a:ext cx="573584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Written Assessment (SAQ) — 5 short-answer questions, one per K statement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557016"/>
            <a:ext cx="2552273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57016"/>
            <a:ext cx="2332817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Case Study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29513" y="3557016"/>
            <a:ext cx="212689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7529" y="3557016"/>
            <a:ext cx="190743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A1 – A5 via LO1–LO3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56407" y="3557016"/>
            <a:ext cx="595530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4423" y="3557016"/>
            <a:ext cx="573584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Case Study — 3 questions, one per Learning Outcome, mapped to the A statements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443984"/>
            <a:ext cx="2552273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443984"/>
            <a:ext cx="2332817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Format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29513" y="4443984"/>
            <a:ext cx="212689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7529" y="4443984"/>
            <a:ext cx="190743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56407" y="4443984"/>
            <a:ext cx="595530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4423" y="4443984"/>
            <a:ext cx="573584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330952"/>
            <a:ext cx="2552273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5330952"/>
            <a:ext cx="2332817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Grading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29513" y="5330952"/>
            <a:ext cx="212689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57529" y="5330952"/>
            <a:ext cx="190743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56407" y="5330952"/>
            <a:ext cx="595530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84423" y="5330952"/>
            <a:ext cx="573584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Competent / Not Yet Competent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YOU WILL BE ASSESSED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assessmen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783080"/>
            <a:ext cx="10607040" cy="299642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10634472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06440"/>
            <a:ext cx="10149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Both instruments must be completed. Your assessor confirms the outcome with you and both parties sign 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AFTER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Tel: +65 6318 4588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LMS/TMS: https://lms-tms.tertiaryinfotech.com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DIGITAL ATTENDANCE · END OF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 or 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TRAQOM survey at the end of the course — it is required for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651760"/>
            <a:ext cx="121916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3977639"/>
            <a:ext cx="2313432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29768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AI Security for Autonomous AI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8006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TGS-2025060473  ·  Tertiary Infotech Pte Ltd  ·  UEN 20120096W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