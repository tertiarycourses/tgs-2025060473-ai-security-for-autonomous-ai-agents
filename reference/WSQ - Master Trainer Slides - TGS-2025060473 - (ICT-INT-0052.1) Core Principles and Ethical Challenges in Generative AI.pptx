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5" Type="http://schemas.openxmlformats.org/officeDocument/2006/relationships/slide" Target="slides/slide100.xml"/><Relationship Id="rId104" Type="http://schemas.openxmlformats.org/officeDocument/2006/relationships/slide" Target="slides/slide99.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cac50a5d9_0_0:notes"/>
          <p:cNvSpPr txBox="1"/>
          <p:nvPr>
            <p:ph idx="1" type="body"/>
          </p:nvPr>
        </p:nvSpPr>
        <p:spPr>
          <a:xfrm>
            <a:off x="685795" y="4343383"/>
            <a:ext cx="5486400" cy="4114800"/>
          </a:xfrm>
          <a:prstGeom prst="rect">
            <a:avLst/>
          </a:prstGeom>
          <a:noFill/>
          <a:ln>
            <a:noFill/>
          </a:ln>
        </p:spPr>
        <p:txBody>
          <a:bodyPr anchorCtr="0" anchor="ctr" bIns="88575" lIns="88575" spcFirstLastPara="1" rIns="88575" wrap="square" tIns="88575">
            <a:noAutofit/>
          </a:bodyPr>
          <a:lstStyle/>
          <a:p>
            <a:pPr indent="0" lvl="0" marL="0" rtl="0" algn="l">
              <a:spcBef>
                <a:spcPts val="0"/>
              </a:spcBef>
              <a:spcAft>
                <a:spcPts val="0"/>
              </a:spcAft>
              <a:buNone/>
            </a:pPr>
            <a:r>
              <a:t/>
            </a:r>
            <a:endParaRPr sz="1400"/>
          </a:p>
        </p:txBody>
      </p:sp>
      <p:sp>
        <p:nvSpPr>
          <p:cNvPr id="129" name="Google Shape;129;g3ecac50a5d9_0_0:notes"/>
          <p:cNvSpPr/>
          <p:nvPr>
            <p:ph idx="2" type="sldImg"/>
          </p:nvPr>
        </p:nvSpPr>
        <p:spPr>
          <a:xfrm>
            <a:off x="381175" y="685778"/>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7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8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8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8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8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8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8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8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9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9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9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9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9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ecac50a5d9_0_40:notes"/>
          <p:cNvSpPr/>
          <p:nvPr>
            <p:ph idx="2" type="sldImg"/>
          </p:nvPr>
        </p:nvSpPr>
        <p:spPr>
          <a:xfrm>
            <a:off x="381161" y="685778"/>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ecac50a5d9_0_40:notes"/>
          <p:cNvSpPr txBox="1"/>
          <p:nvPr>
            <p:ph idx="1" type="body"/>
          </p:nvPr>
        </p:nvSpPr>
        <p:spPr>
          <a:xfrm>
            <a:off x="685795" y="4343383"/>
            <a:ext cx="5486400" cy="4114800"/>
          </a:xfrm>
          <a:prstGeom prst="rect">
            <a:avLst/>
          </a:prstGeom>
        </p:spPr>
        <p:txBody>
          <a:bodyPr anchorCtr="0" anchor="t" bIns="91450" lIns="91450" spcFirstLastPara="1" rIns="91450" wrap="square" tIns="91450">
            <a:noAutofit/>
          </a:bodyPr>
          <a:lstStyle/>
          <a:p>
            <a:pPr indent="0" lvl="0" marL="0" rtl="0" algn="l">
              <a:spcBef>
                <a:spcPts val="0"/>
              </a:spcBef>
              <a:spcAft>
                <a:spcPts val="0"/>
              </a:spcAft>
              <a:buNone/>
            </a:pPr>
            <a:r>
              <a:t/>
            </a:r>
            <a:endParaRPr sz="1500"/>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9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9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9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0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7.png"/><Relationship Id="rId4" Type="http://schemas.openxmlformats.org/officeDocument/2006/relationships/image" Target="../media/image2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4 points"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Clr>
                <a:schemeClr val="dk1"/>
              </a:buClr>
              <a:buSzPts val="2400"/>
              <a:buChar char="●"/>
              <a:defRPr sz="2400">
                <a:solidFill>
                  <a:schemeClr val="dk1"/>
                </a:solidFill>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2">
    <p:spTree>
      <p:nvGrpSpPr>
        <p:cNvPr id="12" name="Shape 12"/>
        <p:cNvGrpSpPr/>
        <p:nvPr/>
      </p:nvGrpSpPr>
      <p:grpSpPr>
        <a:xfrm>
          <a:off x="0" y="0"/>
          <a:ext cx="0" cy="0"/>
          <a:chOff x="0" y="0"/>
          <a:chExt cx="0" cy="0"/>
        </a:xfrm>
      </p:grpSpPr>
      <p:sp>
        <p:nvSpPr>
          <p:cNvPr id="13" name="Google Shape;13;p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4"/>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1">
    <p:spTree>
      <p:nvGrpSpPr>
        <p:cNvPr id="15" name="Shape 15"/>
        <p:cNvGrpSpPr/>
        <p:nvPr/>
      </p:nvGrpSpPr>
      <p:grpSpPr>
        <a:xfrm>
          <a:off x="0" y="0"/>
          <a:ext cx="0" cy="0"/>
          <a:chOff x="0" y="0"/>
          <a:chExt cx="0" cy="0"/>
        </a:xfrm>
      </p:grpSpPr>
      <p:sp>
        <p:nvSpPr>
          <p:cNvPr id="16" name="Google Shape;16;p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TITLE_AND_BODY_1_1">
    <p:spTree>
      <p:nvGrpSpPr>
        <p:cNvPr id="18" name="Shape 18"/>
        <p:cNvGrpSpPr/>
        <p:nvPr/>
      </p:nvGrpSpPr>
      <p:grpSpPr>
        <a:xfrm>
          <a:off x="0" y="0"/>
          <a:ext cx="0" cy="0"/>
          <a:chOff x="0" y="0"/>
          <a:chExt cx="0" cy="0"/>
        </a:xfrm>
      </p:grpSpPr>
      <p:sp>
        <p:nvSpPr>
          <p:cNvPr id="19" name="Google Shape;19;p6"/>
          <p:cNvSpPr txBox="1"/>
          <p:nvPr>
            <p:ph type="title"/>
          </p:nvPr>
        </p:nvSpPr>
        <p:spPr>
          <a:xfrm>
            <a:off x="0" y="0"/>
            <a:ext cx="9144000" cy="10149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200"/>
              <a:buNone/>
              <a:defRPr b="1" sz="4200"/>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sp>
        <p:nvSpPr>
          <p:cNvPr id="20" name="Google Shape;20;p6"/>
          <p:cNvSpPr txBox="1"/>
          <p:nvPr>
            <p:ph idx="1" type="body"/>
          </p:nvPr>
        </p:nvSpPr>
        <p:spPr>
          <a:xfrm>
            <a:off x="5565600" y="3113125"/>
            <a:ext cx="3578400" cy="1775700"/>
          </a:xfrm>
          <a:prstGeom prst="rect">
            <a:avLst/>
          </a:prstGeom>
          <a:noFill/>
          <a:ln>
            <a:noFill/>
          </a:ln>
        </p:spPr>
        <p:txBody>
          <a:bodyPr anchorCtr="0" anchor="b" bIns="91425" lIns="91425" spcFirstLastPara="1" rIns="91425" wrap="square" tIns="91425">
            <a:noAutofit/>
          </a:bodyPr>
          <a:lstStyle>
            <a:lvl1pPr indent="-330200" lvl="0" marL="457200" algn="r">
              <a:lnSpc>
                <a:spcPct val="100000"/>
              </a:lnSpc>
              <a:spcBef>
                <a:spcPts val="0"/>
              </a:spcBef>
              <a:spcAft>
                <a:spcPts val="0"/>
              </a:spcAft>
              <a:buClr>
                <a:schemeClr val="dk1"/>
              </a:buClr>
              <a:buSzPts val="1600"/>
              <a:buChar char="●"/>
              <a:defRPr sz="1600">
                <a:solidFill>
                  <a:schemeClr val="dk1"/>
                </a:solidFill>
              </a:defRPr>
            </a:lvl1pPr>
            <a:lvl2pPr indent="-330200" lvl="1" marL="914400" algn="r">
              <a:lnSpc>
                <a:spcPct val="100000"/>
              </a:lnSpc>
              <a:spcBef>
                <a:spcPts val="0"/>
              </a:spcBef>
              <a:spcAft>
                <a:spcPts val="0"/>
              </a:spcAft>
              <a:buSzPts val="1600"/>
              <a:buChar char="○"/>
              <a:defRPr sz="1600"/>
            </a:lvl2pPr>
            <a:lvl3pPr indent="-330200" lvl="2" marL="1371600" algn="r">
              <a:lnSpc>
                <a:spcPct val="100000"/>
              </a:lnSpc>
              <a:spcBef>
                <a:spcPts val="0"/>
              </a:spcBef>
              <a:spcAft>
                <a:spcPts val="0"/>
              </a:spcAft>
              <a:buSzPts val="1600"/>
              <a:buChar char="■"/>
              <a:defRPr sz="1600"/>
            </a:lvl3pPr>
            <a:lvl4pPr indent="-330200" lvl="3" marL="1828800" algn="r">
              <a:lnSpc>
                <a:spcPct val="100000"/>
              </a:lnSpc>
              <a:spcBef>
                <a:spcPts val="0"/>
              </a:spcBef>
              <a:spcAft>
                <a:spcPts val="0"/>
              </a:spcAft>
              <a:buSzPts val="1600"/>
              <a:buChar char="●"/>
              <a:defRPr sz="1600"/>
            </a:lvl4pPr>
            <a:lvl5pPr indent="-330200" lvl="4" marL="2286000" algn="r">
              <a:lnSpc>
                <a:spcPct val="100000"/>
              </a:lnSpc>
              <a:spcBef>
                <a:spcPts val="0"/>
              </a:spcBef>
              <a:spcAft>
                <a:spcPts val="0"/>
              </a:spcAft>
              <a:buSzPts val="1600"/>
              <a:buChar char="○"/>
              <a:defRPr sz="1600"/>
            </a:lvl5pPr>
            <a:lvl6pPr indent="-330200" lvl="5" marL="2743200" algn="r">
              <a:lnSpc>
                <a:spcPct val="100000"/>
              </a:lnSpc>
              <a:spcBef>
                <a:spcPts val="0"/>
              </a:spcBef>
              <a:spcAft>
                <a:spcPts val="0"/>
              </a:spcAft>
              <a:buSzPts val="1600"/>
              <a:buChar char="■"/>
              <a:defRPr sz="1600"/>
            </a:lvl6pPr>
            <a:lvl7pPr indent="-330200" lvl="6" marL="3200400" algn="r">
              <a:lnSpc>
                <a:spcPct val="100000"/>
              </a:lnSpc>
              <a:spcBef>
                <a:spcPts val="0"/>
              </a:spcBef>
              <a:spcAft>
                <a:spcPts val="0"/>
              </a:spcAft>
              <a:buSzPts val="1600"/>
              <a:buChar char="●"/>
              <a:defRPr sz="1600"/>
            </a:lvl7pPr>
            <a:lvl8pPr indent="-330200" lvl="7" marL="3657600" algn="r">
              <a:lnSpc>
                <a:spcPct val="100000"/>
              </a:lnSpc>
              <a:spcBef>
                <a:spcPts val="0"/>
              </a:spcBef>
              <a:spcAft>
                <a:spcPts val="0"/>
              </a:spcAft>
              <a:buSzPts val="1600"/>
              <a:buChar char="○"/>
              <a:defRPr sz="1600"/>
            </a:lvl8pPr>
            <a:lvl9pPr indent="-330200" lvl="8" marL="4114800" algn="r">
              <a:lnSpc>
                <a:spcPct val="100000"/>
              </a:lnSpc>
              <a:spcBef>
                <a:spcPts val="0"/>
              </a:spcBef>
              <a:spcAft>
                <a:spcPts val="0"/>
              </a:spcAft>
              <a:buSzPts val="1600"/>
              <a:buChar char="■"/>
              <a:defRPr sz="1600"/>
            </a:lvl9pPr>
          </a:lstStyle>
          <a:p/>
        </p:txBody>
      </p:sp>
      <p:grpSp>
        <p:nvGrpSpPr>
          <p:cNvPr id="21" name="Google Shape;21;p6"/>
          <p:cNvGrpSpPr/>
          <p:nvPr/>
        </p:nvGrpSpPr>
        <p:grpSpPr>
          <a:xfrm>
            <a:off x="152400" y="2782900"/>
            <a:ext cx="4030969" cy="2010403"/>
            <a:chOff x="152400" y="2782900"/>
            <a:chExt cx="4030969" cy="2010403"/>
          </a:xfrm>
        </p:grpSpPr>
        <p:pic>
          <p:nvPicPr>
            <p:cNvPr id="22" name="Google Shape;22;p6"/>
            <p:cNvPicPr preferRelativeResize="0"/>
            <p:nvPr/>
          </p:nvPicPr>
          <p:blipFill rotWithShape="1">
            <a:blip r:embed="rId2">
              <a:alphaModFix/>
            </a:blip>
            <a:srcRect b="0" l="0" r="0" t="0"/>
            <a:stretch/>
          </p:blipFill>
          <p:spPr>
            <a:xfrm>
              <a:off x="194925" y="2782900"/>
              <a:ext cx="2441400" cy="1114900"/>
            </a:xfrm>
            <a:prstGeom prst="rect">
              <a:avLst/>
            </a:prstGeom>
            <a:noFill/>
            <a:ln>
              <a:noFill/>
            </a:ln>
          </p:spPr>
        </p:pic>
        <p:pic>
          <p:nvPicPr>
            <p:cNvPr id="23" name="Google Shape;23;p6"/>
            <p:cNvPicPr preferRelativeResize="0"/>
            <p:nvPr/>
          </p:nvPicPr>
          <p:blipFill rotWithShape="1">
            <a:blip r:embed="rId3">
              <a:alphaModFix/>
            </a:blip>
            <a:srcRect b="0" l="0" r="0" t="0"/>
            <a:stretch/>
          </p:blipFill>
          <p:spPr>
            <a:xfrm>
              <a:off x="1047900" y="3955174"/>
              <a:ext cx="3135469" cy="716675"/>
            </a:xfrm>
            <a:prstGeom prst="rect">
              <a:avLst/>
            </a:prstGeom>
            <a:noFill/>
            <a:ln>
              <a:noFill/>
            </a:ln>
          </p:spPr>
        </p:pic>
        <p:pic>
          <p:nvPicPr>
            <p:cNvPr descr="tertiarylogo.png" id="24" name="Google Shape;24;p6"/>
            <p:cNvPicPr preferRelativeResize="0"/>
            <p:nvPr/>
          </p:nvPicPr>
          <p:blipFill rotWithShape="1">
            <a:blip r:embed="rId4">
              <a:alphaModFix/>
            </a:blip>
            <a:srcRect b="0" l="0" r="0" t="0"/>
            <a:stretch/>
          </p:blipFill>
          <p:spPr>
            <a:xfrm>
              <a:off x="152400" y="3897803"/>
              <a:ext cx="895500" cy="89550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s Title" type="secHead">
  <p:cSld name="SECTION_HEADER">
    <p:spTree>
      <p:nvGrpSpPr>
        <p:cNvPr id="25" name="Shape 25"/>
        <p:cNvGrpSpPr/>
        <p:nvPr/>
      </p:nvGrpSpPr>
      <p:grpSpPr>
        <a:xfrm>
          <a:off x="0" y="0"/>
          <a:ext cx="0" cy="0"/>
          <a:chOff x="0" y="0"/>
          <a:chExt cx="0" cy="0"/>
        </a:xfrm>
      </p:grpSpPr>
      <p:sp>
        <p:nvSpPr>
          <p:cNvPr id="26" name="Google Shape;26;p7"/>
          <p:cNvSpPr txBox="1"/>
          <p:nvPr>
            <p:ph type="ctrTitle"/>
          </p:nvPr>
        </p:nvSpPr>
        <p:spPr>
          <a:xfrm>
            <a:off x="0" y="439775"/>
            <a:ext cx="9144000" cy="321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8"/>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8"/>
          <p:cNvSpPr txBox="1"/>
          <p:nvPr>
            <p:ph idx="1" type="body"/>
          </p:nvPr>
        </p:nvSpPr>
        <p:spPr>
          <a:xfrm>
            <a:off x="24965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30" name="Google Shape;30;p8"/>
          <p:cNvSpPr txBox="1"/>
          <p:nvPr>
            <p:ph idx="2" type="body"/>
          </p:nvPr>
        </p:nvSpPr>
        <p:spPr>
          <a:xfrm>
            <a:off x="482570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column">
  <p:cSld name="TITLE_AND_TWO_COLUMNS_1">
    <p:spTree>
      <p:nvGrpSpPr>
        <p:cNvPr id="31" name="Shape 31"/>
        <p:cNvGrpSpPr/>
        <p:nvPr/>
      </p:nvGrpSpPr>
      <p:grpSpPr>
        <a:xfrm>
          <a:off x="0" y="0"/>
          <a:ext cx="0" cy="0"/>
          <a:chOff x="0" y="0"/>
          <a:chExt cx="0" cy="0"/>
        </a:xfrm>
      </p:grpSpPr>
      <p:sp>
        <p:nvSpPr>
          <p:cNvPr id="32" name="Google Shape;32;p9"/>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9"/>
          <p:cNvSpPr txBox="1"/>
          <p:nvPr>
            <p:ph idx="1" type="body"/>
          </p:nvPr>
        </p:nvSpPr>
        <p:spPr>
          <a:xfrm>
            <a:off x="249650" y="775625"/>
            <a:ext cx="49755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column">
  <p:cSld name="TITLE_AND_TWO_COLUMNS_1_1">
    <p:spTree>
      <p:nvGrpSpPr>
        <p:cNvPr id="34" name="Shape 34"/>
        <p:cNvGrpSpPr/>
        <p:nvPr/>
      </p:nvGrpSpPr>
      <p:grpSpPr>
        <a:xfrm>
          <a:off x="0" y="0"/>
          <a:ext cx="0" cy="0"/>
          <a:chOff x="0" y="0"/>
          <a:chExt cx="0" cy="0"/>
        </a:xfrm>
      </p:grpSpPr>
      <p:sp>
        <p:nvSpPr>
          <p:cNvPr id="35" name="Google Shape;35;p10"/>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10"/>
          <p:cNvSpPr txBox="1"/>
          <p:nvPr>
            <p:ph idx="1" type="body"/>
          </p:nvPr>
        </p:nvSpPr>
        <p:spPr>
          <a:xfrm>
            <a:off x="4051250" y="775625"/>
            <a:ext cx="48804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11"/>
          <p:cNvSpPr txBox="1"/>
          <p:nvPr>
            <p:ph type="title"/>
          </p:nvPr>
        </p:nvSpPr>
        <p:spPr>
          <a:xfrm>
            <a:off x="75"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097800" cy="745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129350" y="688375"/>
            <a:ext cx="8891700" cy="42561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81000" lvl="1" marL="9144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2pPr>
            <a:lvl3pPr indent="-381000" lvl="2" marL="13716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3pPr>
            <a:lvl4pPr indent="-381000" lvl="3" marL="18288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4pPr>
            <a:lvl5pPr indent="-381000" lvl="4" marL="22860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5pPr>
            <a:lvl6pPr indent="-381000" lvl="5" marL="27432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6pPr>
            <a:lvl7pPr indent="-381000" lvl="6" marL="32004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7pPr>
            <a:lvl8pPr indent="-381000" lvl="7" marL="36576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8pPr>
            <a:lvl9pPr indent="-381000" lvl="8" marL="411480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lms-tms.tertiaryinfotech.com" TargetMode="Externa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6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6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4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5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7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6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4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4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4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5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4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5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5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6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6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6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6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5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5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6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7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2"/>
          <p:cNvSpPr txBox="1"/>
          <p:nvPr/>
        </p:nvSpPr>
        <p:spPr>
          <a:xfrm>
            <a:off x="400000" y="1771750"/>
            <a:ext cx="8344000" cy="16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1B2A4A"/>
                </a:solidFill>
                <a:latin typeface="Arial"/>
                <a:ea typeface="Arial"/>
                <a:cs typeface="Arial"/>
                <a:sym typeface="Arial"/>
              </a:rPr>
              <a:t>Core Principles and Ethical Challenges in Generative AI</a:t>
            </a:r>
            <a:endParaRPr/>
          </a:p>
        </p:txBody>
      </p:sp>
      <p:pic>
        <p:nvPicPr>
          <p:cNvPr descr="image.png" id="44" name="Google Shape;44;p12"/>
          <p:cNvPicPr preferRelativeResize="0"/>
          <p:nvPr/>
        </p:nvPicPr>
        <p:blipFill rotWithShape="1">
          <a:blip r:embed="rId3">
            <a:alphaModFix/>
          </a:blip>
          <a:srcRect b="0" l="0" r="0" t="0"/>
          <a:stretch/>
        </p:blipFill>
        <p:spPr>
          <a:xfrm>
            <a:off x="300000" y="3450000"/>
            <a:ext cx="1751825" cy="800000"/>
          </a:xfrm>
          <a:prstGeom prst="rect">
            <a:avLst/>
          </a:prstGeom>
          <a:noFill/>
          <a:ln>
            <a:noFill/>
          </a:ln>
        </p:spPr>
      </p:pic>
      <p:pic>
        <p:nvPicPr>
          <p:cNvPr descr="image.png" id="45" name="Google Shape;45;p12"/>
          <p:cNvPicPr preferRelativeResize="0"/>
          <p:nvPr/>
        </p:nvPicPr>
        <p:blipFill rotWithShape="1">
          <a:blip r:embed="rId4">
            <a:alphaModFix/>
          </a:blip>
          <a:srcRect b="0" l="0" r="0" t="0"/>
          <a:stretch/>
        </p:blipFill>
        <p:spPr>
          <a:xfrm>
            <a:off x="300000" y="4300000"/>
            <a:ext cx="2688000" cy="700000"/>
          </a:xfrm>
          <a:prstGeom prst="rect">
            <a:avLst/>
          </a:prstGeom>
          <a:noFill/>
          <a:ln>
            <a:noFill/>
          </a:ln>
        </p:spPr>
      </p:pic>
      <p:sp>
        <p:nvSpPr>
          <p:cNvPr id="46" name="Google Shape;46;p12"/>
          <p:cNvSpPr txBox="1"/>
          <p:nvPr/>
        </p:nvSpPr>
        <p:spPr>
          <a:xfrm>
            <a:off x="5500000" y="4100000"/>
            <a:ext cx="3500000" cy="7000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Version: 1.0</a:t>
            </a:r>
            <a:endParaRPr/>
          </a:p>
          <a:p>
            <a:pPr indent="0" lvl="0" marL="0" marR="0" rtl="0" algn="r">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Course Code: TGS-2025060473</a:t>
            </a:r>
            <a:endParaRPr/>
          </a:p>
          <a:p>
            <a:pPr indent="0" lvl="0" marL="0" marR="0" rtl="0" algn="r">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Website: www.tertiarycourses.com.sg</a:t>
            </a:r>
            <a:endParaRPr/>
          </a:p>
        </p:txBody>
      </p:sp>
      <p:sp>
        <p:nvSpPr>
          <p:cNvPr id="47" name="Google Shape;47;p1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1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Digital Attendance (Mandatory)</a:t>
            </a:r>
            <a:endParaRPr/>
          </a:p>
        </p:txBody>
      </p:sp>
      <p:sp>
        <p:nvSpPr>
          <p:cNvPr id="54" name="Google Shape;54;p13"/>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It is mandatory for you to take both AM, PM and Assessment digital attendance for WSQ funded courses.</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The trainer or administrator will show you the digital attendance QR code generated from SSG portal.</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Please scan the QR code from your mobile phone camera and submit your attendance.</a:t>
            </a:r>
            <a:endParaRPr/>
          </a:p>
        </p:txBody>
      </p:sp>
      <p:sp>
        <p:nvSpPr>
          <p:cNvPr id="55" name="Google Shape;55;p13"/>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1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 name="Google Shape;57;p1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151275" y="100000"/>
            <a:ext cx="8800000" cy="6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1B2A4A"/>
                </a:solidFill>
                <a:latin typeface="Arial"/>
                <a:ea typeface="Arial"/>
                <a:cs typeface="Arial"/>
                <a:sym typeface="Arial"/>
              </a:rPr>
              <a:t>About the Trainer</a:t>
            </a:r>
            <a:endParaRPr/>
          </a:p>
        </p:txBody>
      </p:sp>
      <p:sp>
        <p:nvSpPr>
          <p:cNvPr id="63" name="Google Shape;63;p1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1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151275" y="100000"/>
            <a:ext cx="8800000" cy="6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1B2A4A"/>
                </a:solidFill>
                <a:latin typeface="Arial"/>
                <a:ea typeface="Arial"/>
                <a:cs typeface="Arial"/>
                <a:sym typeface="Arial"/>
              </a:rPr>
              <a:t>Let's Know Each Other...</a:t>
            </a:r>
            <a:endParaRPr/>
          </a:p>
        </p:txBody>
      </p:sp>
      <p:pic>
        <p:nvPicPr>
          <p:cNvPr descr="lets_know_each_other.png" id="70" name="Google Shape;70;p15"/>
          <p:cNvPicPr preferRelativeResize="0"/>
          <p:nvPr/>
        </p:nvPicPr>
        <p:blipFill rotWithShape="1">
          <a:blip r:embed="rId3">
            <a:alphaModFix/>
          </a:blip>
          <a:srcRect b="0" l="0" r="0" t="0"/>
          <a:stretch/>
        </p:blipFill>
        <p:spPr>
          <a:xfrm>
            <a:off x="300000" y="700000"/>
            <a:ext cx="8500000" cy="4100000"/>
          </a:xfrm>
          <a:prstGeom prst="rect">
            <a:avLst/>
          </a:prstGeom>
          <a:noFill/>
          <a:ln>
            <a:noFill/>
          </a:ln>
        </p:spPr>
      </p:pic>
      <p:sp>
        <p:nvSpPr>
          <p:cNvPr id="71" name="Google Shape;71;p1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1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Ground Rules</a:t>
            </a:r>
            <a:endParaRPr/>
          </a:p>
        </p:txBody>
      </p:sp>
      <p:sp>
        <p:nvSpPr>
          <p:cNvPr id="78" name="Google Shape;78;p16"/>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Set your mobile phone to silent mode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Actively participate in the class. No question is stupid.</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Respect each other views. Agree to disagree.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Each person should only speak one at a time.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Be punctual. Back from breaks on time.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Exit the class silently if you need to step out for phone call, toilet break etc.</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75% attendance is required for WSQ funding eligibility.</a:t>
            </a:r>
            <a:endParaRPr/>
          </a:p>
        </p:txBody>
      </p:sp>
      <p:sp>
        <p:nvSpPr>
          <p:cNvPr id="79" name="Google Shape;79;p16"/>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1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1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Skills Framework</a:t>
            </a:r>
            <a:endParaRPr/>
          </a:p>
        </p:txBody>
      </p:sp>
      <p:sp>
        <p:nvSpPr>
          <p:cNvPr id="87" name="Google Shape;87;p17"/>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000">
                <a:solidFill>
                  <a:srgbClr val="333333"/>
                </a:solidFill>
                <a:latin typeface="Arial"/>
                <a:ea typeface="Arial"/>
                <a:cs typeface="Arial"/>
                <a:sym typeface="Arial"/>
              </a:rPr>
              <a:t>TSC Title: Generative AI Principles and Applications</a:t>
            </a:r>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TSC Code: ICT-INT-0052-1.1</a:t>
            </a:r>
            <a:endParaRPr/>
          </a:p>
          <a:p>
            <a:pPr indent="-228600" lvl="0" marL="457200" rtl="0" algn="l">
              <a:lnSpc>
                <a:spcPct val="100000"/>
              </a:lnSpc>
              <a:spcBef>
                <a:spcPts val="800"/>
              </a:spcBef>
              <a:spcAft>
                <a:spcPts val="0"/>
              </a:spcAft>
              <a:buSzPts val="2400"/>
              <a:buNone/>
            </a:pPr>
            <a:r>
              <a:t/>
            </a:r>
            <a:endParaRPr sz="10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TSC Description: Generative AI Principles and Applications</a:t>
            </a:r>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Proficiency Level: Level 1</a:t>
            </a:r>
            <a:endParaRPr/>
          </a:p>
          <a:p>
            <a:pPr indent="-228600" lvl="0" marL="457200" rtl="0" algn="l">
              <a:lnSpc>
                <a:spcPct val="100000"/>
              </a:lnSpc>
              <a:spcBef>
                <a:spcPts val="800"/>
              </a:spcBef>
              <a:spcAft>
                <a:spcPts val="0"/>
              </a:spcAft>
              <a:buSzPts val="2400"/>
              <a:buNone/>
            </a:pPr>
            <a:r>
              <a:t/>
            </a:r>
            <a:endParaRPr sz="10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Learning Outcomes: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LU1 (Generative AI Fundamentals)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LO1: Upon completion of this learning unit, participants will be able to demonstrate comprehensive understanding of genera...</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LU2 (Prompt Engineering)</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LO2: Upon completion of this learning unit, participants will be able to apply advanced prompt engineering techniques and ...</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LU3 (Ethical Considerations)</a:t>
            </a:r>
            <a:endParaRPr/>
          </a:p>
          <a:p>
            <a:pPr indent="-317500" lvl="1" marL="914400" rtl="0" algn="l">
              <a:lnSpc>
                <a:spcPct val="100000"/>
              </a:lnSpc>
              <a:spcBef>
                <a:spcPts val="800"/>
              </a:spcBef>
              <a:spcAft>
                <a:spcPts val="600"/>
              </a:spcAft>
              <a:buSzPts val="1400"/>
              <a:buChar char="○"/>
            </a:pPr>
            <a:r>
              <a:rPr lang="en-US" sz="1200">
                <a:solidFill>
                  <a:srgbClr val="333333"/>
                </a:solidFill>
                <a:latin typeface="Arial"/>
                <a:ea typeface="Arial"/>
                <a:cs typeface="Arial"/>
                <a:sym typeface="Arial"/>
              </a:rPr>
              <a:t>LO3: Upon completion of this learning unit, participants will be able to identify and analyze ethical risks and biases in ...</a:t>
            </a:r>
            <a:endParaRPr/>
          </a:p>
        </p:txBody>
      </p:sp>
      <p:sp>
        <p:nvSpPr>
          <p:cNvPr id="88" name="Google Shape;88;p17"/>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 name="Google Shape;89;p1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1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Knowledge &amp; Ability Statements</a:t>
            </a:r>
            <a:endParaRPr/>
          </a:p>
        </p:txBody>
      </p:sp>
      <p:sp>
        <p:nvSpPr>
          <p:cNvPr id="96" name="Google Shape;96;p18"/>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000">
                <a:solidFill>
                  <a:srgbClr val="333333"/>
                </a:solidFill>
                <a:latin typeface="Arial"/>
                <a:ea typeface="Arial"/>
                <a:cs typeface="Arial"/>
                <a:sym typeface="Arial"/>
              </a:rPr>
              <a:t>LU1: Generative AI Fundamentals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K2: Underlying principles, core concepts and theories governing generative AI</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K3: Difference between generative and discriminative models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A4: Demonstrate the use of generation AI in diverse applications (e.g., summarisation, inference, reasoning, transformation of content, augmentation of...</a:t>
            </a:r>
            <a:endParaRPr/>
          </a:p>
          <a:p>
            <a:pPr indent="-228600" lvl="0" marL="457200" rtl="0" algn="l">
              <a:lnSpc>
                <a:spcPct val="100000"/>
              </a:lnSpc>
              <a:spcBef>
                <a:spcPts val="800"/>
              </a:spcBef>
              <a:spcAft>
                <a:spcPts val="0"/>
              </a:spcAft>
              <a:buSzPts val="2400"/>
              <a:buNone/>
            </a:pPr>
            <a:r>
              <a:t/>
            </a:r>
            <a:endParaRPr sz="12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LU2: Prompt Engineering</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K1: Importance of data quality, preprocessing, model pipeline and model training (e.g., impact of data bias from training data)</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K4: Impact of prompt engineering on the model outputs of generative AI</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A3: Apply understanding of generative AI principles to use cases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A5: Analyse generative AI models' performance metrics and evaluate the influence of prompt variations</a:t>
            </a:r>
            <a:endParaRPr/>
          </a:p>
          <a:p>
            <a:pPr indent="-228600" lvl="0" marL="457200" rtl="0" algn="l">
              <a:lnSpc>
                <a:spcPct val="100000"/>
              </a:lnSpc>
              <a:spcBef>
                <a:spcPts val="800"/>
              </a:spcBef>
              <a:spcAft>
                <a:spcPts val="0"/>
              </a:spcAft>
              <a:buSzPts val="2400"/>
              <a:buNone/>
            </a:pPr>
            <a:r>
              <a:t/>
            </a:r>
            <a:endParaRPr sz="12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000">
                <a:solidFill>
                  <a:srgbClr val="333333"/>
                </a:solidFill>
                <a:latin typeface="Arial"/>
                <a:ea typeface="Arial"/>
                <a:cs typeface="Arial"/>
                <a:sym typeface="Arial"/>
              </a:rPr>
              <a:t>LU3: Ethical Considerations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K5: Generative AI model workings, including training data, algorithms, and outputs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A1: Analyse limitations and potential biases in AI-generated content</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A2: Identify the ethical implications and societal impact of AI-generated content</a:t>
            </a:r>
            <a:endParaRPr/>
          </a:p>
          <a:p>
            <a:pPr indent="-228600" lvl="0" marL="457200" rtl="0" algn="l">
              <a:lnSpc>
                <a:spcPct val="100000"/>
              </a:lnSpc>
              <a:spcBef>
                <a:spcPts val="800"/>
              </a:spcBef>
              <a:spcAft>
                <a:spcPts val="600"/>
              </a:spcAft>
              <a:buSzPts val="2400"/>
              <a:buNone/>
            </a:pPr>
            <a:r>
              <a:t/>
            </a:r>
            <a:endParaRPr sz="1200">
              <a:solidFill>
                <a:srgbClr val="333333"/>
              </a:solidFill>
              <a:latin typeface="Arial"/>
              <a:ea typeface="Arial"/>
              <a:cs typeface="Arial"/>
              <a:sym typeface="Arial"/>
            </a:endParaRPr>
          </a:p>
        </p:txBody>
      </p:sp>
      <p:sp>
        <p:nvSpPr>
          <p:cNvPr id="97" name="Google Shape;97;p18"/>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1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Course Outline</a:t>
            </a:r>
            <a:endParaRPr/>
          </a:p>
        </p:txBody>
      </p:sp>
      <p:sp>
        <p:nvSpPr>
          <p:cNvPr id="105" name="Google Shape;105;p19"/>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800">
                <a:solidFill>
                  <a:srgbClr val="333333"/>
                </a:solidFill>
                <a:latin typeface="Arial"/>
                <a:ea typeface="Arial"/>
                <a:cs typeface="Arial"/>
                <a:sym typeface="Arial"/>
              </a:rPr>
              <a:t>LU1: Generative AI Fundamentals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T1: Underlying principles, core concepts and theories governing generative AI</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T2: Difference between generative and discriminative models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T3: Demonstrate the use of generation AI in diverse applications</a:t>
            </a:r>
            <a:endParaRPr/>
          </a:p>
          <a:p>
            <a:pPr indent="-228600" lvl="0" marL="457200" rtl="0" algn="l">
              <a:lnSpc>
                <a:spcPct val="100000"/>
              </a:lnSpc>
              <a:spcBef>
                <a:spcPts val="800"/>
              </a:spcBef>
              <a:spcAft>
                <a:spcPts val="0"/>
              </a:spcAft>
              <a:buSzPts val="2400"/>
              <a:buNone/>
            </a:pPr>
            <a:r>
              <a:t/>
            </a:r>
            <a:endParaRPr sz="12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800">
                <a:solidFill>
                  <a:srgbClr val="333333"/>
                </a:solidFill>
                <a:latin typeface="Arial"/>
                <a:ea typeface="Arial"/>
                <a:cs typeface="Arial"/>
                <a:sym typeface="Arial"/>
              </a:rPr>
              <a:t>LU2: Prompt Engineering</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T1: Importance of data quality, preprocessing, model pipeline and model training</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T2: Impact of prompt engineering on the model outputs of generative AI</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T3: Apply understanding of generative AI principles to use cases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T4: Analyse generative AI models' performance metrics and evaluate the influence of prompt variations</a:t>
            </a:r>
            <a:endParaRPr/>
          </a:p>
          <a:p>
            <a:pPr indent="-228600" lvl="0" marL="457200" rtl="0" algn="l">
              <a:lnSpc>
                <a:spcPct val="100000"/>
              </a:lnSpc>
              <a:spcBef>
                <a:spcPts val="800"/>
              </a:spcBef>
              <a:spcAft>
                <a:spcPts val="0"/>
              </a:spcAft>
              <a:buSzPts val="2400"/>
              <a:buNone/>
            </a:pPr>
            <a:r>
              <a:t/>
            </a:r>
            <a:endParaRPr sz="12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800">
                <a:solidFill>
                  <a:srgbClr val="333333"/>
                </a:solidFill>
                <a:latin typeface="Arial"/>
                <a:ea typeface="Arial"/>
                <a:cs typeface="Arial"/>
                <a:sym typeface="Arial"/>
              </a:rPr>
              <a:t>LU3: Ethical Considerations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T1: Generative AI model workings, including training data, algorithms, and outputs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T2: Identify the ethical implications and societal impact of AI-generated content</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T3: Analyse limitations and potential biases in AI-generated content</a:t>
            </a:r>
            <a:endParaRPr/>
          </a:p>
          <a:p>
            <a:pPr indent="-228600" lvl="0" marL="457200" rtl="0" algn="l">
              <a:lnSpc>
                <a:spcPct val="100000"/>
              </a:lnSpc>
              <a:spcBef>
                <a:spcPts val="800"/>
              </a:spcBef>
              <a:spcAft>
                <a:spcPts val="600"/>
              </a:spcAft>
              <a:buSzPts val="2400"/>
              <a:buNone/>
            </a:pPr>
            <a:r>
              <a:t/>
            </a:r>
            <a:endParaRPr sz="1200">
              <a:solidFill>
                <a:srgbClr val="333333"/>
              </a:solidFill>
              <a:latin typeface="Arial"/>
              <a:ea typeface="Arial"/>
              <a:cs typeface="Arial"/>
              <a:sym typeface="Arial"/>
            </a:endParaRPr>
          </a:p>
        </p:txBody>
      </p:sp>
      <p:sp>
        <p:nvSpPr>
          <p:cNvPr id="106" name="Google Shape;106;p19"/>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1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1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Assessment Methods &amp; Briefing</a:t>
            </a:r>
            <a:endParaRPr/>
          </a:p>
        </p:txBody>
      </p:sp>
      <p:sp>
        <p:nvSpPr>
          <p:cNvPr id="114" name="Google Shape;114;p20"/>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Assessment: Written Assessment</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Assessment format: Open Book</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Open book assessment allows you to reference your learning materials.</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Duration: As per course schedule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Grading: Competent / Not Yet Competent</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Assessment Rules: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Place phones &amp; other materials under the table</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No photos or recording of assessment scripts</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No discussion with other learners during assessment</a:t>
            </a:r>
            <a:endParaRPr/>
          </a:p>
          <a:p>
            <a:pPr indent="-317500" lvl="1" marL="914400" rtl="0" algn="l">
              <a:lnSpc>
                <a:spcPct val="100000"/>
              </a:lnSpc>
              <a:spcBef>
                <a:spcPts val="800"/>
              </a:spcBef>
              <a:spcAft>
                <a:spcPts val="600"/>
              </a:spcAft>
              <a:buSzPts val="1400"/>
              <a:buChar char="○"/>
            </a:pPr>
            <a:r>
              <a:rPr lang="en-US" sz="1200">
                <a:solidFill>
                  <a:srgbClr val="333333"/>
                </a:solidFill>
                <a:latin typeface="Arial"/>
                <a:ea typeface="Arial"/>
                <a:cs typeface="Arial"/>
                <a:sym typeface="Arial"/>
              </a:rPr>
              <a:t>Raise your hand if you have any questions</a:t>
            </a:r>
            <a:endParaRPr/>
          </a:p>
        </p:txBody>
      </p:sp>
      <p:sp>
        <p:nvSpPr>
          <p:cNvPr id="115" name="Google Shape;115;p20"/>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2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2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Criteria for Funding</a:t>
            </a:r>
            <a:endParaRPr/>
          </a:p>
        </p:txBody>
      </p:sp>
      <p:sp>
        <p:nvSpPr>
          <p:cNvPr id="123" name="Google Shape;123;p21"/>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Minimum attendance rate of 75% based on SSG Digital Attendance record.</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Complete the assessment and be assessed as 'Competent'.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Complete the TRAQOM survey.</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For more information on WSQ funding:</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Visit SkillsFuture portal: www.skillsfuture.gov.sg</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Eligible individuals may use SkillsFuture Credit to offset course fees.</a:t>
            </a:r>
            <a:endParaRPr/>
          </a:p>
        </p:txBody>
      </p:sp>
      <p:sp>
        <p:nvSpPr>
          <p:cNvPr id="124" name="Google Shape;124;p21"/>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2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22"/>
          <p:cNvSpPr txBox="1"/>
          <p:nvPr>
            <p:ph type="title"/>
          </p:nvPr>
        </p:nvSpPr>
        <p:spPr>
          <a:xfrm>
            <a:off x="11750" y="674050"/>
            <a:ext cx="4746600" cy="2806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LMS/TMS</a:t>
            </a:r>
            <a:endParaRPr/>
          </a:p>
          <a:p>
            <a:pPr indent="0" lvl="0" marL="0" rtl="0" algn="ctr">
              <a:spcBef>
                <a:spcPts val="0"/>
              </a:spcBef>
              <a:spcAft>
                <a:spcPts val="0"/>
              </a:spcAft>
              <a:buClr>
                <a:schemeClr val="dk1"/>
              </a:buClr>
              <a:buFont typeface="Arial"/>
              <a:buNone/>
            </a:pPr>
            <a:r>
              <a:t/>
            </a:r>
            <a:endParaRPr/>
          </a:p>
          <a:p>
            <a:pPr indent="0" lvl="0" marL="0" rtl="0" algn="ctr">
              <a:spcBef>
                <a:spcPts val="0"/>
              </a:spcBef>
              <a:spcAft>
                <a:spcPts val="0"/>
              </a:spcAft>
              <a:buClr>
                <a:schemeClr val="dk1"/>
              </a:buClr>
              <a:buFont typeface="Arial"/>
              <a:buNone/>
            </a:pPr>
            <a:r>
              <a:rPr lang="en-US" u="sng">
                <a:solidFill>
                  <a:schemeClr val="hlink"/>
                </a:solidFill>
                <a:hlinkClick r:id="rId3"/>
              </a:rPr>
              <a:t>https://lms-tms.tertiaryinfotech.com</a:t>
            </a:r>
            <a:endParaRPr/>
          </a:p>
        </p:txBody>
      </p:sp>
      <p:sp>
        <p:nvSpPr>
          <p:cNvPr id="132" name="Google Shape;13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US"/>
              <a:t>‹#›</a:t>
            </a:fld>
            <a:endParaRPr/>
          </a:p>
        </p:txBody>
      </p:sp>
      <p:pic>
        <p:nvPicPr>
          <p:cNvPr id="133" name="Google Shape;133;p22"/>
          <p:cNvPicPr preferRelativeResize="0"/>
          <p:nvPr/>
        </p:nvPicPr>
        <p:blipFill>
          <a:blip r:embed="rId4">
            <a:alphaModFix/>
          </a:blip>
          <a:stretch>
            <a:fillRect/>
          </a:stretch>
        </p:blipFill>
        <p:spPr>
          <a:xfrm>
            <a:off x="4851749" y="114475"/>
            <a:ext cx="4169399" cy="50290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37" name="Shape 137"/>
        <p:cNvGrpSpPr/>
        <p:nvPr/>
      </p:nvGrpSpPr>
      <p:grpSpPr>
        <a:xfrm>
          <a:off x="0" y="0"/>
          <a:ext cx="0" cy="0"/>
          <a:chOff x="0" y="0"/>
          <a:chExt cx="0" cy="0"/>
        </a:xfrm>
      </p:grpSpPr>
      <p:sp>
        <p:nvSpPr>
          <p:cNvPr id="138" name="Google Shape;138;p23"/>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23"/>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LO1 | LU1 | T1: Underlying principles, core concepts and theories governing generative AI</a:t>
            </a:r>
            <a:endParaRPr/>
          </a:p>
        </p:txBody>
      </p:sp>
      <p:sp>
        <p:nvSpPr>
          <p:cNvPr id="140" name="Google Shape;140;p23"/>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Underlying principles, core concepts and theories governing generative AI?</a:t>
            </a:r>
            <a:endParaRPr/>
          </a:p>
        </p:txBody>
      </p:sp>
      <p:sp>
        <p:nvSpPr>
          <p:cNvPr id="146" name="Google Shape;146;p2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0.png" id="147" name="Google Shape;147;p2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48" name="Google Shape;148;p2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IBM, WIPO 2024</a:t>
            </a:r>
            <a:endParaRPr/>
          </a:p>
        </p:txBody>
      </p:sp>
      <p:sp>
        <p:nvSpPr>
          <p:cNvPr id="149" name="Google Shape;149;p2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2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Model Architecture Types</a:t>
            </a:r>
            <a:endParaRPr/>
          </a:p>
        </p:txBody>
      </p:sp>
      <p:sp>
        <p:nvSpPr>
          <p:cNvPr id="156" name="Google Shape;156;p2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1.png" id="157" name="Google Shape;157;p2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58" name="Google Shape;158;p2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WIPO Patent Landscape 2024</a:t>
            </a:r>
            <a:endParaRPr/>
          </a:p>
        </p:txBody>
      </p:sp>
      <p:sp>
        <p:nvSpPr>
          <p:cNvPr id="159" name="Google Shape;159;p2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2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Generation Process</a:t>
            </a:r>
            <a:endParaRPr/>
          </a:p>
        </p:txBody>
      </p:sp>
      <p:sp>
        <p:nvSpPr>
          <p:cNvPr id="166" name="Google Shape;166;p2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2.png" id="167" name="Google Shape;167;p2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68" name="Google Shape;168;p2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IBM, Carnegie Mellon 2024</a:t>
            </a:r>
            <a:endParaRPr/>
          </a:p>
        </p:txBody>
      </p:sp>
      <p:sp>
        <p:nvSpPr>
          <p:cNvPr id="169" name="Google Shape;169;p2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2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Theoretical Foundations</a:t>
            </a:r>
            <a:endParaRPr/>
          </a:p>
        </p:txBody>
      </p:sp>
      <p:sp>
        <p:nvSpPr>
          <p:cNvPr id="176" name="Google Shape;176;p2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3.png" id="177" name="Google Shape;177;p2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78" name="Google Shape;178;p2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Wikipedia, Carnegie Mellon 2024</a:t>
            </a:r>
            <a:endParaRPr/>
          </a:p>
        </p:txBody>
      </p:sp>
      <p:sp>
        <p:nvSpPr>
          <p:cNvPr id="179" name="Google Shape;179;p2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2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Traditional vs Generative AI</a:t>
            </a:r>
            <a:endParaRPr/>
          </a:p>
        </p:txBody>
      </p:sp>
      <p:sp>
        <p:nvSpPr>
          <p:cNvPr id="186" name="Google Shape;186;p2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4.png" id="187" name="Google Shape;187;p2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88" name="Google Shape;188;p2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Research Summary Analysis 2024</a:t>
            </a:r>
            <a:endParaRPr/>
          </a:p>
        </p:txBody>
      </p:sp>
      <p:sp>
        <p:nvSpPr>
          <p:cNvPr id="189" name="Google Shape;189;p2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2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Responsible AI Framework</a:t>
            </a:r>
            <a:endParaRPr/>
          </a:p>
        </p:txBody>
      </p:sp>
      <p:sp>
        <p:nvSpPr>
          <p:cNvPr id="196" name="Google Shape;196;p2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5.png" id="197" name="Google Shape;197;p2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198" name="Google Shape;198;p2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PMC Responsible AI Framework 2024</a:t>
            </a:r>
            <a:endParaRPr/>
          </a:p>
        </p:txBody>
      </p:sp>
      <p:sp>
        <p:nvSpPr>
          <p:cNvPr id="199" name="Google Shape;199;p2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2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206" name="Google Shape;206;p30"/>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Underlying_principles_core_con_pos6.png" id="207" name="Google Shape;207;p30"/>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08" name="Google Shape;208;p30"/>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Comprehensive Research Analysis 2024</a:t>
            </a:r>
            <a:endParaRPr/>
          </a:p>
        </p:txBody>
      </p:sp>
      <p:sp>
        <p:nvSpPr>
          <p:cNvPr id="209" name="Google Shape;209;p3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3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Underlying principles, core concepts and theories governing generative AI</a:t>
            </a:r>
            <a:endParaRPr/>
          </a:p>
        </p:txBody>
      </p:sp>
      <p:sp>
        <p:nvSpPr>
          <p:cNvPr id="216" name="Google Shape;216;p31"/>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AI Model Classification Exercise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organization is evaluating different generative AI solutions for content creation. You need to assess which model type best fits specific use cases.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Review four use cases (text generation, image creation, data synthesis, creative writing)</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Match each use case to appropriate model type (Transformer, GAN, VAE, Diffusion)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Justify selection based on model capabilities and theoretical foundations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Identify ethical considerations for each implementation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Completed classification matrix with justifications and ethical assessment</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20 minutes</a:t>
            </a:r>
            <a:endParaRPr/>
          </a:p>
        </p:txBody>
      </p:sp>
      <p:sp>
        <p:nvSpPr>
          <p:cNvPr id="217" name="Google Shape;217;p31"/>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3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3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23" name="Shape 223"/>
        <p:cNvGrpSpPr/>
        <p:nvPr/>
      </p:nvGrpSpPr>
      <p:grpSpPr>
        <a:xfrm>
          <a:off x="0" y="0"/>
          <a:ext cx="0" cy="0"/>
          <a:chOff x="0" y="0"/>
          <a:chExt cx="0" cy="0"/>
        </a:xfrm>
      </p:grpSpPr>
      <p:sp>
        <p:nvSpPr>
          <p:cNvPr id="224" name="Google Shape;224;p32"/>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32"/>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LO1 | LU1 | T2: Difference between generative and discriminative models</a:t>
            </a:r>
            <a:endParaRPr/>
          </a:p>
        </p:txBody>
      </p:sp>
      <p:sp>
        <p:nvSpPr>
          <p:cNvPr id="226" name="Google Shape;226;p32"/>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Difference between generative and discriminative models?</a:t>
            </a:r>
            <a:endParaRPr/>
          </a:p>
        </p:txBody>
      </p:sp>
      <p:sp>
        <p:nvSpPr>
          <p:cNvPr id="232" name="Google Shape;232;p3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0.png" id="233" name="Google Shape;233;p3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34" name="Google Shape;234;p3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DataCamp, 2024</a:t>
            </a:r>
            <a:endParaRPr/>
          </a:p>
        </p:txBody>
      </p:sp>
      <p:sp>
        <p:nvSpPr>
          <p:cNvPr id="235" name="Google Shape;235;p3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3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Mathematical Foundation</a:t>
            </a:r>
            <a:endParaRPr/>
          </a:p>
        </p:txBody>
      </p:sp>
      <p:sp>
        <p:nvSpPr>
          <p:cNvPr id="242" name="Google Shape;242;p3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1.png" id="243" name="Google Shape;243;p3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44" name="Google Shape;244;p3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GeeksforGeeks, 2024</a:t>
            </a:r>
            <a:endParaRPr/>
          </a:p>
        </p:txBody>
      </p:sp>
      <p:sp>
        <p:nvSpPr>
          <p:cNvPr id="245" name="Google Shape;245;p3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3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Model Characteristics</a:t>
            </a:r>
            <a:endParaRPr/>
          </a:p>
        </p:txBody>
      </p:sp>
      <p:sp>
        <p:nvSpPr>
          <p:cNvPr id="252" name="Google Shape;252;p3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2.png" id="253" name="Google Shape;253;p3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54" name="Google Shape;254;p3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Coursera, 2024</a:t>
            </a:r>
            <a:endParaRPr/>
          </a:p>
        </p:txBody>
      </p:sp>
      <p:sp>
        <p:nvSpPr>
          <p:cNvPr id="255" name="Google Shape;255;p3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3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Performance Statistics</a:t>
            </a:r>
            <a:endParaRPr/>
          </a:p>
        </p:txBody>
      </p:sp>
      <p:sp>
        <p:nvSpPr>
          <p:cNvPr id="262" name="Google Shape;262;p3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3.png" id="263" name="Google Shape;263;p3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64" name="Google Shape;264;p3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DataCamp &amp; GeeksforGeeks, 2024</a:t>
            </a:r>
            <a:endParaRPr/>
          </a:p>
        </p:txBody>
      </p:sp>
      <p:sp>
        <p:nvSpPr>
          <p:cNvPr id="265" name="Google Shape;265;p3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3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Training Requirements</a:t>
            </a:r>
            <a:endParaRPr/>
          </a:p>
        </p:txBody>
      </p:sp>
      <p:sp>
        <p:nvSpPr>
          <p:cNvPr id="272" name="Google Shape;272;p3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4.png" id="273" name="Google Shape;273;p3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74" name="Google Shape;274;p3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TutorialsPoint, 2024</a:t>
            </a:r>
            <a:endParaRPr/>
          </a:p>
        </p:txBody>
      </p:sp>
      <p:sp>
        <p:nvSpPr>
          <p:cNvPr id="275" name="Google Shape;275;p3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Application Examples</a:t>
            </a:r>
            <a:endParaRPr/>
          </a:p>
        </p:txBody>
      </p:sp>
      <p:sp>
        <p:nvSpPr>
          <p:cNvPr id="282" name="Google Shape;282;p3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5.png" id="283" name="Google Shape;283;p3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84" name="Google Shape;284;p3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GeeksforGeeks &amp; Wikipedia, 2024</a:t>
            </a:r>
            <a:endParaRPr/>
          </a:p>
        </p:txBody>
      </p:sp>
      <p:sp>
        <p:nvSpPr>
          <p:cNvPr id="285" name="Google Shape;285;p3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3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292" name="Google Shape;292;p3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ifference_between_generative__pos6.png" id="293" name="Google Shape;293;p3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294" name="Google Shape;294;p3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DataCamp &amp; Coursera, 2024</a:t>
            </a:r>
            <a:endParaRPr/>
          </a:p>
        </p:txBody>
      </p:sp>
      <p:sp>
        <p:nvSpPr>
          <p:cNvPr id="295" name="Google Shape;295;p3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3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Difference between generative and discriminative models</a:t>
            </a:r>
            <a:endParaRPr/>
          </a:p>
        </p:txBody>
      </p:sp>
      <p:sp>
        <p:nvSpPr>
          <p:cNvPr id="302" name="Google Shape;302;p40"/>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Model Type Selection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team needs to choose between generative and discriminative models for a customer recommendation system that must both classify user preferences and generate personalized content suggestions.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Analyze business requirements for classification vs generation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Evaluate available training data size and quality</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Compare computational resources and accuracy needs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Recommend appropriate model type with justification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Written recommendation with model choice rationale</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20 minutes</a:t>
            </a:r>
            <a:endParaRPr/>
          </a:p>
        </p:txBody>
      </p:sp>
      <p:sp>
        <p:nvSpPr>
          <p:cNvPr id="303" name="Google Shape;303;p40"/>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4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4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09" name="Shape 309"/>
        <p:cNvGrpSpPr/>
        <p:nvPr/>
      </p:nvGrpSpPr>
      <p:grpSpPr>
        <a:xfrm>
          <a:off x="0" y="0"/>
          <a:ext cx="0" cy="0"/>
          <a:chOff x="0" y="0"/>
          <a:chExt cx="0" cy="0"/>
        </a:xfrm>
      </p:grpSpPr>
      <p:sp>
        <p:nvSpPr>
          <p:cNvPr id="310" name="Google Shape;310;p41"/>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41"/>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LO1 | LU1 | T3: Demonstrate the use of generation AI in diverse applications</a:t>
            </a:r>
            <a:endParaRPr/>
          </a:p>
        </p:txBody>
      </p:sp>
      <p:sp>
        <p:nvSpPr>
          <p:cNvPr id="312" name="Google Shape;312;p41"/>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Demonstrate the use of generation AI in diverse applications?</a:t>
            </a:r>
            <a:endParaRPr/>
          </a:p>
        </p:txBody>
      </p:sp>
      <p:sp>
        <p:nvSpPr>
          <p:cNvPr id="318" name="Google Shape;318;p4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0.png" id="319" name="Google Shape;319;p4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20" name="Google Shape;320;p4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Complete Guide to Generative AI Applications, 2026</a:t>
            </a:r>
            <a:endParaRPr/>
          </a:p>
        </p:txBody>
      </p:sp>
      <p:sp>
        <p:nvSpPr>
          <p:cNvPr id="321" name="Google Shape;321;p4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GenAI Implementation Process</a:t>
            </a:r>
            <a:endParaRPr/>
          </a:p>
        </p:txBody>
      </p:sp>
      <p:sp>
        <p:nvSpPr>
          <p:cNvPr id="328" name="Google Shape;328;p4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1.png" id="329" name="Google Shape;329;p4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30" name="Google Shape;330;p4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Best practices to build generative AI applications on AWS, 2024</a:t>
            </a:r>
            <a:endParaRPr/>
          </a:p>
        </p:txBody>
      </p:sp>
      <p:sp>
        <p:nvSpPr>
          <p:cNvPr id="331" name="Google Shape;331;p4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4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Adoption Drivers and Statistics</a:t>
            </a:r>
            <a:endParaRPr/>
          </a:p>
        </p:txBody>
      </p:sp>
      <p:sp>
        <p:nvSpPr>
          <p:cNvPr id="338" name="Google Shape;338;p4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2.png" id="339" name="Google Shape;339;p4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40" name="Google Shape;340;p4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Top 125 Generative AI Applications, 2025</a:t>
            </a:r>
            <a:endParaRPr/>
          </a:p>
        </p:txBody>
      </p:sp>
      <p:sp>
        <p:nvSpPr>
          <p:cNvPr id="341" name="Google Shape;341;p4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Traditional vs GenAI Enhanced Approaches</a:t>
            </a:r>
            <a:endParaRPr/>
          </a:p>
        </p:txBody>
      </p:sp>
      <p:sp>
        <p:nvSpPr>
          <p:cNvPr id="348" name="Google Shape;348;p4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3.png" id="349" name="Google Shape;349;p4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50" name="Google Shape;350;p4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Generative AI | Microsoft Learn, 2025</a:t>
            </a:r>
            <a:endParaRPr/>
          </a:p>
        </p:txBody>
      </p:sp>
      <p:sp>
        <p:nvSpPr>
          <p:cNvPr id="351" name="Google Shape;351;p4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4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Content Applications Hierarchy</a:t>
            </a:r>
            <a:endParaRPr/>
          </a:p>
        </p:txBody>
      </p:sp>
      <p:sp>
        <p:nvSpPr>
          <p:cNvPr id="358" name="Google Shape;358;p4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4.png" id="359" name="Google Shape;359;p4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60" name="Google Shape;360;p4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Complete Guide to Generative AI Applications, 2026</a:t>
            </a:r>
            <a:endParaRPr/>
          </a:p>
        </p:txBody>
      </p:sp>
      <p:sp>
        <p:nvSpPr>
          <p:cNvPr id="361" name="Google Shape;361;p4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Real-World Success Stories</a:t>
            </a:r>
            <a:endParaRPr/>
          </a:p>
        </p:txBody>
      </p:sp>
      <p:sp>
        <p:nvSpPr>
          <p:cNvPr id="368" name="Google Shape;368;p4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5.png" id="369" name="Google Shape;369;p4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70" name="Google Shape;370;p4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Top 125 Generative AI Applications, 2025</a:t>
            </a:r>
            <a:endParaRPr/>
          </a:p>
        </p:txBody>
      </p:sp>
      <p:sp>
        <p:nvSpPr>
          <p:cNvPr id="371" name="Google Shape;371;p4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Implementation Takeaways</a:t>
            </a:r>
            <a:endParaRPr/>
          </a:p>
        </p:txBody>
      </p:sp>
      <p:sp>
        <p:nvSpPr>
          <p:cNvPr id="378" name="Google Shape;378;p4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Demonstrate_the_use_of_generat_pos6.png" id="379" name="Google Shape;379;p4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380" name="Google Shape;380;p4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Best practices to build generative AI applications on AWS, 2024</a:t>
            </a:r>
            <a:endParaRPr/>
          </a:p>
        </p:txBody>
      </p:sp>
      <p:sp>
        <p:nvSpPr>
          <p:cNvPr id="381" name="Google Shape;381;p4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Demonstrate the use of generation AI in diverse applications</a:t>
            </a:r>
            <a:endParaRPr/>
          </a:p>
        </p:txBody>
      </p:sp>
      <p:sp>
        <p:nvSpPr>
          <p:cNvPr id="388" name="Google Shape;388;p49"/>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GenAI Application Analysis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organization wants to implement GenAI for customer service. Evaluate three potential applications: chatbot automation, content summarization, and personalized responses. Assess implementation requirements and expected outcomes.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Identify specific use cases for each application type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Evaluate data quality requirements and security considerations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Design implementation timeline with customization needs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Present recommendations with expected ROI metrics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Comprehensive implementation plan with justified application selection</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389" name="Google Shape;389;p49"/>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95" name="Shape 395"/>
        <p:cNvGrpSpPr/>
        <p:nvPr/>
      </p:nvGrpSpPr>
      <p:grpSpPr>
        <a:xfrm>
          <a:off x="0" y="0"/>
          <a:ext cx="0" cy="0"/>
          <a:chOff x="0" y="0"/>
          <a:chExt cx="0" cy="0"/>
        </a:xfrm>
      </p:grpSpPr>
      <p:sp>
        <p:nvSpPr>
          <p:cNvPr id="396" name="Google Shape;396;p50"/>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50"/>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LO2 | LU2 | T1: Importance of data quality, preprocessing, model pipeline and model training</a:t>
            </a:r>
            <a:endParaRPr/>
          </a:p>
        </p:txBody>
      </p:sp>
      <p:sp>
        <p:nvSpPr>
          <p:cNvPr id="398" name="Google Shape;398;p50"/>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1"/>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Importance of data quality, preprocessing, model pipeline and model training?</a:t>
            </a:r>
            <a:endParaRPr/>
          </a:p>
        </p:txBody>
      </p:sp>
      <p:sp>
        <p:nvSpPr>
          <p:cNvPr id="404" name="Google Shape;404;p51"/>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0.png" id="405" name="Google Shape;405;p51"/>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06" name="Google Shape;406;p51"/>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DataCamp, 2024</a:t>
            </a:r>
            <a:endParaRPr/>
          </a:p>
        </p:txBody>
      </p:sp>
      <p:sp>
        <p:nvSpPr>
          <p:cNvPr id="407" name="Google Shape;407;p5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5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Data practitioner time allocation</a:t>
            </a:r>
            <a:endParaRPr/>
          </a:p>
        </p:txBody>
      </p:sp>
      <p:sp>
        <p:nvSpPr>
          <p:cNvPr id="414" name="Google Shape;414;p5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1.png" id="415" name="Google Shape;415;p5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16" name="Google Shape;416;p5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LakeFS, 2024</a:t>
            </a:r>
            <a:endParaRPr/>
          </a:p>
        </p:txBody>
      </p:sp>
      <p:sp>
        <p:nvSpPr>
          <p:cNvPr id="417" name="Google Shape;417;p5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5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ML pipeline workflow stages</a:t>
            </a:r>
            <a:endParaRPr/>
          </a:p>
        </p:txBody>
      </p:sp>
      <p:sp>
        <p:nvSpPr>
          <p:cNvPr id="424" name="Google Shape;424;p5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2.png" id="425" name="Google Shape;425;p5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26" name="Google Shape;426;p5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Dagster, 2024</a:t>
            </a:r>
            <a:endParaRPr/>
          </a:p>
        </p:txBody>
      </p:sp>
      <p:sp>
        <p:nvSpPr>
          <p:cNvPr id="427" name="Google Shape;427;p5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5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Raw vs processed data comparison</a:t>
            </a:r>
            <a:endParaRPr/>
          </a:p>
        </p:txBody>
      </p:sp>
      <p:sp>
        <p:nvSpPr>
          <p:cNvPr id="434" name="Google Shape;434;p5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3.png" id="435" name="Google Shape;435;p5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36" name="Google Shape;436;p5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Couchbase Blog, 2024</a:t>
            </a:r>
            <a:endParaRPr/>
          </a:p>
        </p:txBody>
      </p:sp>
      <p:sp>
        <p:nvSpPr>
          <p:cNvPr id="437" name="Google Shape;437;p5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5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Data preprocessing techniques hierarchy</a:t>
            </a:r>
            <a:endParaRPr/>
          </a:p>
        </p:txBody>
      </p:sp>
      <p:sp>
        <p:nvSpPr>
          <p:cNvPr id="444" name="Google Shape;444;p5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4.png" id="445" name="Google Shape;445;p5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46" name="Google Shape;446;p5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TensorFlow, 2024</a:t>
            </a:r>
            <a:endParaRPr/>
          </a:p>
        </p:txBody>
      </p:sp>
      <p:sp>
        <p:nvSpPr>
          <p:cNvPr id="447" name="Google Shape;447;p5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5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 for ML success</a:t>
            </a:r>
            <a:endParaRPr/>
          </a:p>
        </p:txBody>
      </p:sp>
      <p:sp>
        <p:nvSpPr>
          <p:cNvPr id="454" name="Google Shape;454;p5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ortance_of_data_quality_pre_pos5.png" id="455" name="Google Shape;455;p5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56" name="Google Shape;456;p5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Multiple sources, 2024</a:t>
            </a:r>
            <a:endParaRPr/>
          </a:p>
        </p:txBody>
      </p:sp>
      <p:sp>
        <p:nvSpPr>
          <p:cNvPr id="457" name="Google Shape;457;p5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5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Importance of data quality, preprocessing, model pipeline and model training</a:t>
            </a:r>
            <a:endParaRPr/>
          </a:p>
        </p:txBody>
      </p:sp>
      <p:sp>
        <p:nvSpPr>
          <p:cNvPr id="464" name="Google Shape;464;p57"/>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Data Pipeline Quality Assessment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team receives a customer churn dataset with missing values, inconsistent formats, and potential outliers. Design a preprocessing pipeline.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Identify data quality issues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Select appropriate cleaning techniques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Design preprocessing pipeline stages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Validate transformation results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Complete preprocessing pipeline documentation with quality metrics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465" name="Google Shape;465;p57"/>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71" name="Shape 471"/>
        <p:cNvGrpSpPr/>
        <p:nvPr/>
      </p:nvGrpSpPr>
      <p:grpSpPr>
        <a:xfrm>
          <a:off x="0" y="0"/>
          <a:ext cx="0" cy="0"/>
          <a:chOff x="0" y="0"/>
          <a:chExt cx="0" cy="0"/>
        </a:xfrm>
      </p:grpSpPr>
      <p:sp>
        <p:nvSpPr>
          <p:cNvPr id="472" name="Google Shape;472;p58"/>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8"/>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LO2 | LU2 | T2: Impact of prompt engineering on the model outputs of generative AI</a:t>
            </a:r>
            <a:endParaRPr/>
          </a:p>
        </p:txBody>
      </p:sp>
      <p:sp>
        <p:nvSpPr>
          <p:cNvPr id="474" name="Google Shape;474;p58"/>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Impact of prompt engineering on the model outputs of generative AI?</a:t>
            </a:r>
            <a:endParaRPr/>
          </a:p>
        </p:txBody>
      </p:sp>
      <p:sp>
        <p:nvSpPr>
          <p:cNvPr id="480" name="Google Shape;480;p5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0.png" id="481" name="Google Shape;481;p5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82" name="Google Shape;482;p5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2024</a:t>
            </a:r>
            <a:endParaRPr/>
          </a:p>
        </p:txBody>
      </p:sp>
      <p:sp>
        <p:nvSpPr>
          <p:cNvPr id="483" name="Google Shape;483;p5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0"/>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Performance Impact Statistics</a:t>
            </a:r>
            <a:endParaRPr/>
          </a:p>
        </p:txBody>
      </p:sp>
      <p:sp>
        <p:nvSpPr>
          <p:cNvPr id="490" name="Google Shape;490;p60"/>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1.png" id="491" name="Google Shape;491;p60"/>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492" name="Google Shape;492;p60"/>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&amp; ArXiv, 2024</a:t>
            </a:r>
            <a:endParaRPr/>
          </a:p>
        </p:txBody>
      </p:sp>
      <p:sp>
        <p:nvSpPr>
          <p:cNvPr id="493" name="Google Shape;493;p6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6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1"/>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Prompt Engineering Process</a:t>
            </a:r>
            <a:endParaRPr/>
          </a:p>
        </p:txBody>
      </p:sp>
      <p:sp>
        <p:nvSpPr>
          <p:cNvPr id="500" name="Google Shape;500;p61"/>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2.png" id="501" name="Google Shape;501;p61"/>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02" name="Google Shape;502;p61"/>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OpenAI Best Practices, 2024</a:t>
            </a:r>
            <a:endParaRPr/>
          </a:p>
        </p:txBody>
      </p:sp>
      <p:sp>
        <p:nvSpPr>
          <p:cNvPr id="503" name="Google Shape;503;p6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6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Prompting Strategy Comparison</a:t>
            </a:r>
            <a:endParaRPr/>
          </a:p>
        </p:txBody>
      </p:sp>
      <p:sp>
        <p:nvSpPr>
          <p:cNvPr id="510" name="Google Shape;510;p6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3.png" id="511" name="Google Shape;511;p6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12" name="Google Shape;512;p6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Medical Research Study, 2025</a:t>
            </a:r>
            <a:endParaRPr/>
          </a:p>
        </p:txBody>
      </p:sp>
      <p:sp>
        <p:nvSpPr>
          <p:cNvPr id="513" name="Google Shape;513;p6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6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Quality Optimization Factors</a:t>
            </a:r>
            <a:endParaRPr/>
          </a:p>
        </p:txBody>
      </p:sp>
      <p:sp>
        <p:nvSpPr>
          <p:cNvPr id="520" name="Google Shape;520;p6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4.png" id="521" name="Google Shape;521;p6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22" name="Google Shape;522;p6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IBM Prompt Engineering Guide, 2024</a:t>
            </a:r>
            <a:endParaRPr/>
          </a:p>
        </p:txBody>
      </p:sp>
      <p:sp>
        <p:nvSpPr>
          <p:cNvPr id="523" name="Google Shape;523;p6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6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530" name="Google Shape;530;p6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mpact_of_prompt_engineering_o_pos5.png" id="531" name="Google Shape;531;p6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32" name="Google Shape;532;p6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Comprehensive Research Review, 2024</a:t>
            </a:r>
            <a:endParaRPr/>
          </a:p>
        </p:txBody>
      </p:sp>
      <p:sp>
        <p:nvSpPr>
          <p:cNvPr id="533" name="Google Shape;533;p6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6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Impact of prompt engineering on the model outputs of generative AI</a:t>
            </a:r>
            <a:endParaRPr/>
          </a:p>
        </p:txBody>
      </p:sp>
      <p:sp>
        <p:nvSpPr>
          <p:cNvPr id="540" name="Google Shape;540;p65"/>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Prompt Engineering Workshop</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 are a data analyst tasked with generating a market research report using AI. Your manager needs accurate insights about consumer trends in sustainable technology adoption.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Create a zero-shot prompt asking for consumer trends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Design a few-shot prompt with specific examples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Test both prompts and compare output quality</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Refine the better prompt with additional context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5: Document the differences in accuracy and relevance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Two prompt versions with quality comparison analysis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541" name="Google Shape;541;p65"/>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6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6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47" name="Shape 547"/>
        <p:cNvGrpSpPr/>
        <p:nvPr/>
      </p:nvGrpSpPr>
      <p:grpSpPr>
        <a:xfrm>
          <a:off x="0" y="0"/>
          <a:ext cx="0" cy="0"/>
          <a:chOff x="0" y="0"/>
          <a:chExt cx="0" cy="0"/>
        </a:xfrm>
      </p:grpSpPr>
      <p:sp>
        <p:nvSpPr>
          <p:cNvPr id="548" name="Google Shape;548;p66"/>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66"/>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LO2 | LU2 | T3: Apply understanding of generative AI principles to use cases</a:t>
            </a:r>
            <a:endParaRPr/>
          </a:p>
        </p:txBody>
      </p:sp>
      <p:sp>
        <p:nvSpPr>
          <p:cNvPr id="550" name="Google Shape;550;p66"/>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Apply understanding of generative AI principles to use cases?</a:t>
            </a:r>
            <a:endParaRPr/>
          </a:p>
        </p:txBody>
      </p:sp>
      <p:sp>
        <p:nvSpPr>
          <p:cNvPr id="556" name="Google Shape;556;p6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0.png" id="557" name="Google Shape;557;p6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58" name="Google Shape;558;p6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Enterprise Guide to Generative AI, 2024</a:t>
            </a:r>
            <a:endParaRPr/>
          </a:p>
        </p:txBody>
      </p:sp>
      <p:sp>
        <p:nvSpPr>
          <p:cNvPr id="559" name="Google Shape;559;p6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6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Implementation Process Steps</a:t>
            </a:r>
            <a:endParaRPr/>
          </a:p>
        </p:txBody>
      </p:sp>
      <p:sp>
        <p:nvSpPr>
          <p:cNvPr id="566" name="Google Shape;566;p6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1.png" id="567" name="Google Shape;567;p6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68" name="Google Shape;568;p6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101 real-world gen AI use cases, 2024</a:t>
            </a:r>
            <a:endParaRPr/>
          </a:p>
        </p:txBody>
      </p:sp>
      <p:sp>
        <p:nvSpPr>
          <p:cNvPr id="569" name="Google Shape;569;p6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0" name="Google Shape;570;p6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Traditional vs Generative AI</a:t>
            </a:r>
            <a:endParaRPr/>
          </a:p>
        </p:txBody>
      </p:sp>
      <p:sp>
        <p:nvSpPr>
          <p:cNvPr id="576" name="Google Shape;576;p6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2.png" id="577" name="Google Shape;577;p6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78" name="Google Shape;578;p6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Generative AI Use cases and implementation, 2024</a:t>
            </a:r>
            <a:endParaRPr/>
          </a:p>
        </p:txBody>
      </p:sp>
      <p:sp>
        <p:nvSpPr>
          <p:cNvPr id="579" name="Google Shape;579;p6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0" name="Google Shape;580;p6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0"/>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Industry Impact Statistics</a:t>
            </a:r>
            <a:endParaRPr/>
          </a:p>
        </p:txBody>
      </p:sp>
      <p:sp>
        <p:nvSpPr>
          <p:cNvPr id="586" name="Google Shape;586;p70"/>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3.png" id="587" name="Google Shape;587;p70"/>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88" name="Google Shape;588;p70"/>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Gartner, Analytics8, Google Cloud, Deloitte 2024</a:t>
            </a:r>
            <a:endParaRPr/>
          </a:p>
        </p:txBody>
      </p:sp>
      <p:sp>
        <p:nvSpPr>
          <p:cNvPr id="589" name="Google Shape;589;p7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0" name="Google Shape;590;p7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1"/>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Real-World Application Areas</a:t>
            </a:r>
            <a:endParaRPr/>
          </a:p>
        </p:txBody>
      </p:sp>
      <p:sp>
        <p:nvSpPr>
          <p:cNvPr id="596" name="Google Shape;596;p71"/>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4.png" id="597" name="Google Shape;597;p71"/>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598" name="Google Shape;598;p71"/>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AI use cases by industry, Deloitte 2024</a:t>
            </a:r>
            <a:endParaRPr/>
          </a:p>
        </p:txBody>
      </p:sp>
      <p:sp>
        <p:nvSpPr>
          <p:cNvPr id="599" name="Google Shape;599;p7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0" name="Google Shape;600;p7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Implementation Takeaways</a:t>
            </a:r>
            <a:endParaRPr/>
          </a:p>
        </p:txBody>
      </p:sp>
      <p:sp>
        <p:nvSpPr>
          <p:cNvPr id="606" name="Google Shape;606;p7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pply_understanding_of_generat_pos5.png" id="607" name="Google Shape;607;p7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08" name="Google Shape;608;p7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Enterprise Guide to Generative AI, 2024</a:t>
            </a:r>
            <a:endParaRPr/>
          </a:p>
        </p:txBody>
      </p:sp>
      <p:sp>
        <p:nvSpPr>
          <p:cNvPr id="609" name="Google Shape;609;p7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0" name="Google Shape;610;p7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7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Apply understanding of generative AI principles to use cases</a:t>
            </a:r>
            <a:endParaRPr/>
          </a:p>
        </p:txBody>
      </p:sp>
      <p:sp>
        <p:nvSpPr>
          <p:cNvPr id="616" name="Google Shape;616;p73"/>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GenAI Use Case Assessment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hospitality company wants to implement GenAI for guest services. Evaluate a specific use case (chatbot, personalized recommendations, or operational optimization) using the implementation framework.</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Identify specific business problem and success metrics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Select appropriate GenAI model type and capabilities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Design human oversight and quality control mechanisms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Create deployment plan with performance monitoring</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Completed use case evaluation with implementation roadmap and risk mitigation strategies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617" name="Google Shape;617;p73"/>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8" name="Google Shape;618;p7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9" name="Google Shape;619;p7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23" name="Shape 623"/>
        <p:cNvGrpSpPr/>
        <p:nvPr/>
      </p:nvGrpSpPr>
      <p:grpSpPr>
        <a:xfrm>
          <a:off x="0" y="0"/>
          <a:ext cx="0" cy="0"/>
          <a:chOff x="0" y="0"/>
          <a:chExt cx="0" cy="0"/>
        </a:xfrm>
      </p:grpSpPr>
      <p:sp>
        <p:nvSpPr>
          <p:cNvPr id="624" name="Google Shape;624;p74"/>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5" name="Google Shape;625;p74"/>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LO2 | LU2 | T4: Analyse generative AI models' performance metrics and evaluate the influence of prompt variations</a:t>
            </a:r>
            <a:endParaRPr/>
          </a:p>
        </p:txBody>
      </p:sp>
      <p:sp>
        <p:nvSpPr>
          <p:cNvPr id="626" name="Google Shape;626;p74"/>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Analyse generative AI models' performance metrics and evaluate the influence of prompt variations?</a:t>
            </a:r>
            <a:endParaRPr/>
          </a:p>
        </p:txBody>
      </p:sp>
      <p:sp>
        <p:nvSpPr>
          <p:cNvPr id="632" name="Google Shape;632;p7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0.png" id="633" name="Google Shape;633;p7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34" name="Google Shape;634;p7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Google Cloud Documentation, 2024</a:t>
            </a:r>
            <a:endParaRPr/>
          </a:p>
        </p:txBody>
      </p:sp>
      <p:sp>
        <p:nvSpPr>
          <p:cNvPr id="635" name="Google Shape;635;p7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6" name="Google Shape;636;p7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Evaluation Process Steps</a:t>
            </a:r>
            <a:endParaRPr/>
          </a:p>
        </p:txBody>
      </p:sp>
      <p:sp>
        <p:nvSpPr>
          <p:cNvPr id="642" name="Google Shape;642;p7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1.png" id="643" name="Google Shape;643;p7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44" name="Google Shape;644;p7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Evaluating Prompt Effectiveness Guide, 2024</a:t>
            </a:r>
            <a:endParaRPr/>
          </a:p>
        </p:txBody>
      </p:sp>
      <p:sp>
        <p:nvSpPr>
          <p:cNvPr id="645" name="Google Shape;645;p7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6" name="Google Shape;646;p7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Performance Impact Statistics</a:t>
            </a:r>
            <a:endParaRPr/>
          </a:p>
        </p:txBody>
      </p:sp>
      <p:sp>
        <p:nvSpPr>
          <p:cNvPr id="652" name="Google Shape;652;p7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2.png" id="653" name="Google Shape;653;p7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54" name="Google Shape;654;p7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Study, 2024 (1,900 participants)</a:t>
            </a:r>
            <a:endParaRPr/>
          </a:p>
        </p:txBody>
      </p:sp>
      <p:sp>
        <p:nvSpPr>
          <p:cNvPr id="655" name="Google Shape;655;p7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6" name="Google Shape;656;p7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Evaluation Methods Comparison</a:t>
            </a:r>
            <a:endParaRPr/>
          </a:p>
        </p:txBody>
      </p:sp>
      <p:sp>
        <p:nvSpPr>
          <p:cNvPr id="662" name="Google Shape;662;p7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3.png" id="663" name="Google Shape;663;p7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64" name="Google Shape;664;p7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AI Metrics that Matter Guide, 2024</a:t>
            </a:r>
            <a:endParaRPr/>
          </a:p>
        </p:txBody>
      </p:sp>
      <p:sp>
        <p:nvSpPr>
          <p:cNvPr id="665" name="Google Shape;665;p7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7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Quality Dimensions</a:t>
            </a:r>
            <a:endParaRPr/>
          </a:p>
        </p:txBody>
      </p:sp>
      <p:sp>
        <p:nvSpPr>
          <p:cNvPr id="672" name="Google Shape;672;p7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4.png" id="673" name="Google Shape;673;p7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74" name="Google Shape;674;p7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Comprehensive Evaluation Guide, 2024</a:t>
            </a:r>
            <a:endParaRPr/>
          </a:p>
        </p:txBody>
      </p:sp>
      <p:sp>
        <p:nvSpPr>
          <p:cNvPr id="675" name="Google Shape;675;p7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6" name="Google Shape;676;p7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0"/>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682" name="Google Shape;682;p80"/>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generative_AI_models_p_pos5.png" id="683" name="Google Shape;683;p80"/>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684" name="Google Shape;684;p80"/>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Multiple studies synthesis, 2024</a:t>
            </a:r>
            <a:endParaRPr/>
          </a:p>
        </p:txBody>
      </p:sp>
      <p:sp>
        <p:nvSpPr>
          <p:cNvPr id="685" name="Google Shape;685;p8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6" name="Google Shape;686;p8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Analyse generative AI models' performance metrics and evaluate the influence of prompt variations</a:t>
            </a:r>
            <a:endParaRPr/>
          </a:p>
        </p:txBody>
      </p:sp>
      <p:sp>
        <p:nvSpPr>
          <p:cNvPr id="692" name="Google Shape;692;p81"/>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Prompt Performance Lab</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organization is implementing a customer service chatbot. You need to evaluate three different prompt strategies for handling product inquiries and measure their effectiveness using appropriate metrics.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Design three prompt variations (zero-shot, few-shot, chain-of-thought)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Define evaluation criteria (accuracy, response time, customer satisfaction)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Test prompts with 10 sample inquiries and measure consistency</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Calculate performance metrics and identify best-performing approach</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5: Document findings and recommend optimization strategies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Comparative analysis report with metrics, recommendations, and implementation plan</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693" name="Google Shape;693;p81"/>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4" name="Google Shape;694;p8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5" name="Google Shape;695;p8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99" name="Shape 699"/>
        <p:cNvGrpSpPr/>
        <p:nvPr/>
      </p:nvGrpSpPr>
      <p:grpSpPr>
        <a:xfrm>
          <a:off x="0" y="0"/>
          <a:ext cx="0" cy="0"/>
          <a:chOff x="0" y="0"/>
          <a:chExt cx="0" cy="0"/>
        </a:xfrm>
      </p:grpSpPr>
      <p:sp>
        <p:nvSpPr>
          <p:cNvPr id="700" name="Google Shape;700;p82"/>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1" name="Google Shape;701;p82"/>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LO3 | LU3 | T1: Generative AI model workings, including training data, algorithms, and outputs</a:t>
            </a:r>
            <a:endParaRPr/>
          </a:p>
        </p:txBody>
      </p:sp>
      <p:sp>
        <p:nvSpPr>
          <p:cNvPr id="702" name="Google Shape;702;p82"/>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8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Generative AI model workings, including training data, algorithms, and outputs?</a:t>
            </a:r>
            <a:endParaRPr/>
          </a:p>
        </p:txBody>
      </p:sp>
      <p:sp>
        <p:nvSpPr>
          <p:cNvPr id="708" name="Google Shape;708;p8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0.png" id="709" name="Google Shape;709;p8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10" name="Google Shape;710;p8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News, IBM 2024</a:t>
            </a:r>
            <a:endParaRPr/>
          </a:p>
        </p:txBody>
      </p:sp>
      <p:sp>
        <p:nvSpPr>
          <p:cNvPr id="711" name="Google Shape;711;p8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2" name="Google Shape;712;p8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Training Process Workflow</a:t>
            </a:r>
            <a:endParaRPr/>
          </a:p>
        </p:txBody>
      </p:sp>
      <p:sp>
        <p:nvSpPr>
          <p:cNvPr id="718" name="Google Shape;718;p8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1.png" id="719" name="Google Shape;719;p8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20" name="Google Shape;720;p8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News, NVIDIA 2024</a:t>
            </a:r>
            <a:endParaRPr/>
          </a:p>
        </p:txBody>
      </p:sp>
      <p:sp>
        <p:nvSpPr>
          <p:cNvPr id="721" name="Google Shape;721;p8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2" name="Google Shape;722;p8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Algorithm Architecture Comparison</a:t>
            </a:r>
            <a:endParaRPr/>
          </a:p>
        </p:txBody>
      </p:sp>
      <p:sp>
        <p:nvSpPr>
          <p:cNvPr id="728" name="Google Shape;728;p8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2.png" id="729" name="Google Shape;729;p8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30" name="Google Shape;730;p8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Wikipedia, IBM 2024</a:t>
            </a:r>
            <a:endParaRPr/>
          </a:p>
        </p:txBody>
      </p:sp>
      <p:sp>
        <p:nvSpPr>
          <p:cNvPr id="731" name="Google Shape;731;p8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2" name="Google Shape;732;p8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8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Algorithm Usage Statistics</a:t>
            </a:r>
            <a:endParaRPr/>
          </a:p>
        </p:txBody>
      </p:sp>
      <p:sp>
        <p:nvSpPr>
          <p:cNvPr id="738" name="Google Shape;738;p8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3.png" id="739" name="Google Shape;739;p8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40" name="Google Shape;740;p8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Industry Analysis 2024</a:t>
            </a:r>
            <a:endParaRPr/>
          </a:p>
        </p:txBody>
      </p:sp>
      <p:sp>
        <p:nvSpPr>
          <p:cNvPr id="741" name="Google Shape;741;p8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2" name="Google Shape;742;p8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87"/>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Training Scale Requirements</a:t>
            </a:r>
            <a:endParaRPr/>
          </a:p>
        </p:txBody>
      </p:sp>
      <p:sp>
        <p:nvSpPr>
          <p:cNvPr id="748" name="Google Shape;748;p87"/>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4.png" id="749" name="Google Shape;749;p87"/>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50" name="Google Shape;750;p87"/>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IBM, NVIDIA, MIT 2024</a:t>
            </a:r>
            <a:endParaRPr/>
          </a:p>
        </p:txBody>
      </p:sp>
      <p:sp>
        <p:nvSpPr>
          <p:cNvPr id="751" name="Google Shape;751;p8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2" name="Google Shape;752;p8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8"/>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758" name="Google Shape;758;p88"/>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Generative_AI_model_workings_i_pos5.png" id="759" name="Google Shape;759;p88"/>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60" name="Google Shape;760;p88"/>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ICO, MIT, IBM 2024</a:t>
            </a:r>
            <a:endParaRPr/>
          </a:p>
        </p:txBody>
      </p:sp>
      <p:sp>
        <p:nvSpPr>
          <p:cNvPr id="761" name="Google Shape;761;p8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2" name="Google Shape;762;p8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8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Generative AI model workings, including training data, algorithms, and outputs</a:t>
            </a:r>
            <a:endParaRPr/>
          </a:p>
        </p:txBody>
      </p:sp>
      <p:sp>
        <p:nvSpPr>
          <p:cNvPr id="768" name="Google Shape;768;p89"/>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Model Architecture Analysis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organization is selecting a generative AI model for customer service automation. You need to evaluate three different algorithm approaches (Transformers, GANs, Diffusion) based on your specific requirements: handling natural language queries, generating response content, and maintaining accuracy over time.</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Review each algorithm's strengths and limitations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Map your use case requirements to algorithm capabilities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Assess training data needs and availability</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Recommend optimal algorithm with justification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A comparative analysis document with algorithm recommendation and implementation considerations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769" name="Google Shape;769;p89"/>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0" name="Google Shape;770;p8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1" name="Google Shape;771;p8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775" name="Shape 775"/>
        <p:cNvGrpSpPr/>
        <p:nvPr/>
      </p:nvGrpSpPr>
      <p:grpSpPr>
        <a:xfrm>
          <a:off x="0" y="0"/>
          <a:ext cx="0" cy="0"/>
          <a:chOff x="0" y="0"/>
          <a:chExt cx="0" cy="0"/>
        </a:xfrm>
      </p:grpSpPr>
      <p:sp>
        <p:nvSpPr>
          <p:cNvPr id="776" name="Google Shape;776;p90"/>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7" name="Google Shape;777;p90"/>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LO3 | LU3 | T2: Identify the ethical implications and societal impact of AI-generated content</a:t>
            </a:r>
            <a:endParaRPr/>
          </a:p>
        </p:txBody>
      </p:sp>
      <p:sp>
        <p:nvSpPr>
          <p:cNvPr id="778" name="Google Shape;778;p90"/>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1"/>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Identify the ethical implications and societal impact of AI-generated content?</a:t>
            </a:r>
            <a:endParaRPr/>
          </a:p>
        </p:txBody>
      </p:sp>
      <p:sp>
        <p:nvSpPr>
          <p:cNvPr id="784" name="Google Shape;784;p91"/>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0.png" id="785" name="Google Shape;785;p91"/>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86" name="Google Shape;786;p91"/>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UNESCO Ethics of AI, 2024</a:t>
            </a:r>
            <a:endParaRPr/>
          </a:p>
        </p:txBody>
      </p:sp>
      <p:sp>
        <p:nvSpPr>
          <p:cNvPr id="787" name="Google Shape;787;p9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8" name="Google Shape;788;p9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9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Ethical Assessment Process</a:t>
            </a:r>
            <a:endParaRPr/>
          </a:p>
        </p:txBody>
      </p:sp>
      <p:sp>
        <p:nvSpPr>
          <p:cNvPr id="794" name="Google Shape;794;p9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1.png" id="795" name="Google Shape;795;p9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796" name="Google Shape;796;p9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Interdisciplinary Perspective, 2024</a:t>
            </a:r>
            <a:endParaRPr/>
          </a:p>
        </p:txBody>
      </p:sp>
      <p:sp>
        <p:nvSpPr>
          <p:cNvPr id="797" name="Google Shape;797;p9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8" name="Google Shape;798;p9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9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Ethical Concern Distribution</a:t>
            </a:r>
            <a:endParaRPr/>
          </a:p>
        </p:txBody>
      </p:sp>
      <p:sp>
        <p:nvSpPr>
          <p:cNvPr id="804" name="Google Shape;804;p9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2.png" id="805" name="Google Shape;805;p9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06" name="Google Shape;806;p9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Multiple Ethics Studies, 2024</a:t>
            </a:r>
            <a:endParaRPr/>
          </a:p>
        </p:txBody>
      </p:sp>
      <p:sp>
        <p:nvSpPr>
          <p:cNvPr id="807" name="Google Shape;807;p9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8" name="Google Shape;808;p9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9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Pre-AI vs AI Era Comparison</a:t>
            </a:r>
            <a:endParaRPr/>
          </a:p>
        </p:txBody>
      </p:sp>
      <p:sp>
        <p:nvSpPr>
          <p:cNvPr id="814" name="Google Shape;814;p9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3.png" id="815" name="Google Shape;815;p9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16" name="Google Shape;816;p9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AI Content Creation Analysis, 2024</a:t>
            </a:r>
            <a:endParaRPr/>
          </a:p>
        </p:txBody>
      </p:sp>
      <p:sp>
        <p:nvSpPr>
          <p:cNvPr id="817" name="Google Shape;817;p9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8" name="Google Shape;818;p9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95"/>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Global Regulatory Framework</a:t>
            </a:r>
            <a:endParaRPr/>
          </a:p>
        </p:txBody>
      </p:sp>
      <p:sp>
        <p:nvSpPr>
          <p:cNvPr id="824" name="Google Shape;824;p95"/>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4.png" id="825" name="Google Shape;825;p95"/>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26" name="Google Shape;826;p95"/>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2025 AI Regulations, AIMutiple 2024</a:t>
            </a:r>
            <a:endParaRPr/>
          </a:p>
        </p:txBody>
      </p:sp>
      <p:sp>
        <p:nvSpPr>
          <p:cNvPr id="827" name="Google Shape;827;p9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8" name="Google Shape;828;p9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96"/>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a:t>
            </a:r>
            <a:endParaRPr/>
          </a:p>
        </p:txBody>
      </p:sp>
      <p:sp>
        <p:nvSpPr>
          <p:cNvPr id="834" name="Google Shape;834;p96"/>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Identify_the_ethical_implicati_pos5.png" id="835" name="Google Shape;835;p96"/>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36" name="Google Shape;836;p96"/>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AI Ethics Management Guide, 2024</a:t>
            </a:r>
            <a:endParaRPr/>
          </a:p>
        </p:txBody>
      </p:sp>
      <p:sp>
        <p:nvSpPr>
          <p:cNvPr id="837" name="Google Shape;837;p96"/>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p96"/>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Identify the ethical implications and societal impact of AI-generated content</a:t>
            </a:r>
            <a:endParaRPr/>
          </a:p>
        </p:txBody>
      </p:sp>
      <p:sp>
        <p:nvSpPr>
          <p:cNvPr id="844" name="Google Shape;844;p97"/>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AI Ethics Case Analysis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company is implementing an AI content generation tool for marketing. The legal team has flagged potential bias in customer targeting, privacy concerns from training data, and regulatory compliance requirements under the new EU AI Act.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Identify all stakeholders affected by the AI implementation</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Assess bias risks in the training data and targeting algorithms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Design human oversight processes for content review and approval</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Create compliance checklist for EU AI Act disclosure requirements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Comprehensive ethics assessment report with risk mitigation strategies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20 minutes</a:t>
            </a:r>
            <a:endParaRPr/>
          </a:p>
        </p:txBody>
      </p:sp>
      <p:sp>
        <p:nvSpPr>
          <p:cNvPr id="845" name="Google Shape;845;p97"/>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6" name="Google Shape;846;p97"/>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7" name="Google Shape;847;p97"/>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851" name="Shape 851"/>
        <p:cNvGrpSpPr/>
        <p:nvPr/>
      </p:nvGrpSpPr>
      <p:grpSpPr>
        <a:xfrm>
          <a:off x="0" y="0"/>
          <a:ext cx="0" cy="0"/>
          <a:chOff x="0" y="0"/>
          <a:chExt cx="0" cy="0"/>
        </a:xfrm>
      </p:grpSpPr>
      <p:sp>
        <p:nvSpPr>
          <p:cNvPr id="852" name="Google Shape;852;p98"/>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3" name="Google Shape;853;p98"/>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LO3 | LU3 | T3: Analyse limitations and potential biases in AI-generated content</a:t>
            </a:r>
            <a:endParaRPr/>
          </a:p>
        </p:txBody>
      </p:sp>
      <p:sp>
        <p:nvSpPr>
          <p:cNvPr id="854" name="Google Shape;854;p98"/>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99"/>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What is Analyse limitations and potential biases in AI-generated content?</a:t>
            </a:r>
            <a:endParaRPr/>
          </a:p>
        </p:txBody>
      </p:sp>
      <p:sp>
        <p:nvSpPr>
          <p:cNvPr id="860" name="Google Shape;860;p99"/>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0.png" id="861" name="Google Shape;861;p99"/>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62" name="Google Shape;862;p99"/>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2024</a:t>
            </a:r>
            <a:endParaRPr/>
          </a:p>
        </p:txBody>
      </p:sp>
      <p:sp>
        <p:nvSpPr>
          <p:cNvPr id="863" name="Google Shape;863;p99"/>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4" name="Google Shape;864;p99"/>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00"/>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Types of Bias in AI Systems</a:t>
            </a:r>
            <a:endParaRPr/>
          </a:p>
        </p:txBody>
      </p:sp>
      <p:sp>
        <p:nvSpPr>
          <p:cNvPr id="870" name="Google Shape;870;p100"/>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1.png" id="871" name="Google Shape;871;p100"/>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72" name="Google Shape;872;p100"/>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Nature, AIM Multiple 2024</a:t>
            </a:r>
            <a:endParaRPr/>
          </a:p>
        </p:txBody>
      </p:sp>
      <p:sp>
        <p:nvSpPr>
          <p:cNvPr id="873" name="Google Shape;873;p10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4" name="Google Shape;874;p10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01"/>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Bias Mitigation Process</a:t>
            </a:r>
            <a:endParaRPr/>
          </a:p>
        </p:txBody>
      </p:sp>
      <p:sp>
        <p:nvSpPr>
          <p:cNvPr id="880" name="Google Shape;880;p101"/>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2.png" id="881" name="Google Shape;881;p101"/>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82" name="Google Shape;882;p101"/>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NIST Standards, 2024</a:t>
            </a:r>
            <a:endParaRPr/>
          </a:p>
        </p:txBody>
      </p:sp>
      <p:sp>
        <p:nvSpPr>
          <p:cNvPr id="883" name="Google Shape;883;p101"/>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4" name="Google Shape;884;p101"/>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02"/>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Traditional vs AI Content</a:t>
            </a:r>
            <a:endParaRPr/>
          </a:p>
        </p:txBody>
      </p:sp>
      <p:sp>
        <p:nvSpPr>
          <p:cNvPr id="890" name="Google Shape;890;p102"/>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3.png" id="891" name="Google Shape;891;p102"/>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892" name="Google Shape;892;p102"/>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MIT Sloan, Nature 2024</a:t>
            </a:r>
            <a:endParaRPr/>
          </a:p>
        </p:txBody>
      </p:sp>
      <p:sp>
        <p:nvSpPr>
          <p:cNvPr id="893" name="Google Shape;893;p102"/>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4" name="Google Shape;894;p102"/>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03"/>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Validation Framework Hierarchy</a:t>
            </a:r>
            <a:endParaRPr/>
          </a:p>
        </p:txBody>
      </p:sp>
      <p:sp>
        <p:nvSpPr>
          <p:cNvPr id="900" name="Google Shape;900;p103"/>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4.png" id="901" name="Google Shape;901;p103"/>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902" name="Google Shape;902;p103"/>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NIST, MIT Sloan 2024</a:t>
            </a:r>
            <a:endParaRPr/>
          </a:p>
        </p:txBody>
      </p:sp>
      <p:sp>
        <p:nvSpPr>
          <p:cNvPr id="903" name="Google Shape;903;p103"/>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4" name="Google Shape;904;p103"/>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04"/>
          <p:cNvSpPr txBox="1"/>
          <p:nvPr/>
        </p:nvSpPr>
        <p:spPr>
          <a:xfrm>
            <a:off x="155000" y="100000"/>
            <a:ext cx="8796000" cy="4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B2A4A"/>
                </a:solidFill>
                <a:latin typeface="Arial"/>
                <a:ea typeface="Arial"/>
                <a:cs typeface="Arial"/>
                <a:sym typeface="Arial"/>
              </a:rPr>
              <a:t>Key Takeaways for Ethical AI</a:t>
            </a:r>
            <a:endParaRPr/>
          </a:p>
        </p:txBody>
      </p:sp>
      <p:sp>
        <p:nvSpPr>
          <p:cNvPr id="910" name="Google Shape;910;p104"/>
          <p:cNvSpPr/>
          <p:nvPr/>
        </p:nvSpPr>
        <p:spPr>
          <a:xfrm>
            <a:off x="155000" y="520000"/>
            <a:ext cx="8796000" cy="18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nfographic_Analyse_limitations_and_potent_pos5.png" id="911" name="Google Shape;911;p104"/>
          <p:cNvPicPr preferRelativeResize="0"/>
          <p:nvPr/>
        </p:nvPicPr>
        <p:blipFill rotWithShape="1">
          <a:blip r:embed="rId3">
            <a:alphaModFix/>
          </a:blip>
          <a:srcRect b="0" l="0" r="0" t="0"/>
          <a:stretch/>
        </p:blipFill>
        <p:spPr>
          <a:xfrm>
            <a:off x="1070105" y="621000"/>
            <a:ext cx="6965789" cy="3996000"/>
          </a:xfrm>
          <a:prstGeom prst="rect">
            <a:avLst/>
          </a:prstGeom>
          <a:noFill/>
          <a:ln>
            <a:noFill/>
          </a:ln>
        </p:spPr>
      </p:pic>
      <p:sp>
        <p:nvSpPr>
          <p:cNvPr id="912" name="Google Shape;912;p104"/>
          <p:cNvSpPr txBox="1"/>
          <p:nvPr/>
        </p:nvSpPr>
        <p:spPr>
          <a:xfrm>
            <a:off x="155000" y="4700000"/>
            <a:ext cx="8796000" cy="2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900" u="none" cap="none" strike="noStrike">
                <a:solidFill>
                  <a:srgbClr val="666666"/>
                </a:solidFill>
                <a:latin typeface="Arial"/>
                <a:ea typeface="Arial"/>
                <a:cs typeface="Arial"/>
                <a:sym typeface="Arial"/>
              </a:rPr>
              <a:t>Source: Nature, MIT Sloan 2024</a:t>
            </a:r>
            <a:endParaRPr/>
          </a:p>
        </p:txBody>
      </p:sp>
      <p:sp>
        <p:nvSpPr>
          <p:cNvPr id="913" name="Google Shape;913;p104"/>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4" name="Google Shape;914;p104"/>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0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1500">
                <a:solidFill>
                  <a:srgbClr val="1B2A4A"/>
                </a:solidFill>
                <a:latin typeface="Arial"/>
                <a:ea typeface="Arial"/>
                <a:cs typeface="Arial"/>
                <a:sym typeface="Arial"/>
              </a:rPr>
              <a:t>Activity: Analyse limitations and potential biases in AI-generated content</a:t>
            </a:r>
            <a:endParaRPr/>
          </a:p>
        </p:txBody>
      </p:sp>
      <p:sp>
        <p:nvSpPr>
          <p:cNvPr id="920" name="Google Shape;920;p105"/>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Activity: AI Content Bias Assessment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Scenario: Your organization uses AI to generate marketing content for a diverse customer base. Recent feedback suggests potential bias issues in the generated materials.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1: Review provided AI-generated content samples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2: Apply NIST bias identification framework</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3: Document identified bias patterns and sources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4: Recommend specific mitigation strategies</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Step 5: Design validation process for future content</a:t>
            </a:r>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Expected Output: Comprehensive bias assessment report with actionable recommendations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Duration: 25 minutes</a:t>
            </a:r>
            <a:endParaRPr/>
          </a:p>
        </p:txBody>
      </p:sp>
      <p:sp>
        <p:nvSpPr>
          <p:cNvPr id="921" name="Google Shape;921;p105"/>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p105"/>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105"/>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27" name="Shape 927"/>
        <p:cNvGrpSpPr/>
        <p:nvPr/>
      </p:nvGrpSpPr>
      <p:grpSpPr>
        <a:xfrm>
          <a:off x="0" y="0"/>
          <a:ext cx="0" cy="0"/>
          <a:chOff x="0" y="0"/>
          <a:chExt cx="0" cy="0"/>
        </a:xfrm>
      </p:grpSpPr>
      <p:sp>
        <p:nvSpPr>
          <p:cNvPr id="928" name="Google Shape;928;p106"/>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106"/>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Summary &amp; Q&amp;A</a:t>
            </a:r>
            <a:endParaRPr/>
          </a:p>
        </p:txBody>
      </p:sp>
      <p:sp>
        <p:nvSpPr>
          <p:cNvPr id="930" name="Google Shape;930;p106"/>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4" name="Shape 934"/>
        <p:cNvGrpSpPr/>
        <p:nvPr/>
      </p:nvGrpSpPr>
      <p:grpSpPr>
        <a:xfrm>
          <a:off x="0" y="0"/>
          <a:ext cx="0" cy="0"/>
          <a:chOff x="0" y="0"/>
          <a:chExt cx="0" cy="0"/>
        </a:xfrm>
      </p:grpSpPr>
      <p:sp>
        <p:nvSpPr>
          <p:cNvPr id="935" name="Google Shape;935;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936" name="Google Shape;936;p10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Cert &amp; TRAQOM Survey (Mandatory)</a:t>
            </a:r>
            <a:endParaRPr/>
          </a:p>
          <a:p>
            <a:pPr indent="0" lvl="0" marL="0" rtl="0" algn="ctr">
              <a:spcBef>
                <a:spcPts val="0"/>
              </a:spcBef>
              <a:spcAft>
                <a:spcPts val="0"/>
              </a:spcAft>
              <a:buNone/>
            </a:pPr>
            <a:r>
              <a:rPr lang="en-US"/>
              <a:t>https://lms-tms.tertiaryinfotech.com/</a:t>
            </a:r>
            <a:endParaRPr/>
          </a:p>
        </p:txBody>
      </p:sp>
      <p:pic>
        <p:nvPicPr>
          <p:cNvPr id="937" name="Google Shape;937;p107"/>
          <p:cNvPicPr preferRelativeResize="0"/>
          <p:nvPr/>
        </p:nvPicPr>
        <p:blipFill>
          <a:blip r:embed="rId3">
            <a:alphaModFix/>
          </a:blip>
          <a:stretch>
            <a:fillRect/>
          </a:stretch>
        </p:blipFill>
        <p:spPr>
          <a:xfrm>
            <a:off x="70200" y="1276088"/>
            <a:ext cx="8839201" cy="322389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0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Digital Attendance</a:t>
            </a:r>
            <a:endParaRPr/>
          </a:p>
        </p:txBody>
      </p:sp>
      <p:sp>
        <p:nvSpPr>
          <p:cNvPr id="943" name="Google Shape;943;p108"/>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It is mandatory for you to take both AM, PM and Assessment digital attendance.</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Please scan the QR code from your mobile phone camera and submit your attendance.</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81000" lvl="0" marL="457200" rtl="0" algn="l">
              <a:lnSpc>
                <a:spcPct val="100000"/>
              </a:lnSpc>
              <a:spcBef>
                <a:spcPts val="800"/>
              </a:spcBef>
              <a:spcAft>
                <a:spcPts val="0"/>
              </a:spcAft>
              <a:buSzPts val="2400"/>
              <a:buChar char="●"/>
            </a:pPr>
            <a:r>
              <a:rPr lang="en-US" sz="1400">
                <a:solidFill>
                  <a:srgbClr val="333333"/>
                </a:solidFill>
                <a:latin typeface="Arial"/>
                <a:ea typeface="Arial"/>
                <a:cs typeface="Arial"/>
                <a:sym typeface="Arial"/>
              </a:rPr>
              <a:t>Ensure your attendance is recorded for all course days.</a:t>
            </a:r>
            <a:endParaRPr/>
          </a:p>
          <a:p>
            <a:pPr indent="-381000" lvl="0" marL="457200" rtl="0" algn="l">
              <a:lnSpc>
                <a:spcPct val="100000"/>
              </a:lnSpc>
              <a:spcBef>
                <a:spcPts val="800"/>
              </a:spcBef>
              <a:spcAft>
                <a:spcPts val="600"/>
              </a:spcAft>
              <a:buSzPts val="2400"/>
              <a:buChar char="●"/>
            </a:pPr>
            <a:r>
              <a:rPr lang="en-US" sz="1400">
                <a:solidFill>
                  <a:srgbClr val="333333"/>
                </a:solidFill>
                <a:latin typeface="Arial"/>
                <a:ea typeface="Arial"/>
                <a:cs typeface="Arial"/>
                <a:sym typeface="Arial"/>
              </a:rPr>
              <a:t>This is required for funding and certification purposes.</a:t>
            </a:r>
            <a:endParaRPr/>
          </a:p>
        </p:txBody>
      </p:sp>
      <p:sp>
        <p:nvSpPr>
          <p:cNvPr id="944" name="Google Shape;944;p108"/>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5" name="Google Shape;945;p108"/>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6" name="Google Shape;946;p108"/>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50" name="Shape 950"/>
        <p:cNvGrpSpPr/>
        <p:nvPr/>
      </p:nvGrpSpPr>
      <p:grpSpPr>
        <a:xfrm>
          <a:off x="0" y="0"/>
          <a:ext cx="0" cy="0"/>
          <a:chOff x="0" y="0"/>
          <a:chExt cx="0" cy="0"/>
        </a:xfrm>
      </p:grpSpPr>
      <p:sp>
        <p:nvSpPr>
          <p:cNvPr id="951" name="Google Shape;951;p109"/>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2" name="Google Shape;952;p109"/>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Final Assessment</a:t>
            </a:r>
            <a:endParaRPr/>
          </a:p>
        </p:txBody>
      </p:sp>
      <p:sp>
        <p:nvSpPr>
          <p:cNvPr id="953" name="Google Shape;953;p109"/>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1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b="1" lang="en-US" sz="2000">
                <a:solidFill>
                  <a:srgbClr val="1B2A4A"/>
                </a:solidFill>
                <a:latin typeface="Arial"/>
                <a:ea typeface="Arial"/>
                <a:cs typeface="Arial"/>
                <a:sym typeface="Arial"/>
              </a:rPr>
              <a:t>Support</a:t>
            </a:r>
            <a:endParaRPr/>
          </a:p>
        </p:txBody>
      </p:sp>
      <p:sp>
        <p:nvSpPr>
          <p:cNvPr id="959" name="Google Shape;959;p110"/>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p>
            <a:pPr indent="-381000" lvl="0" marL="457200" rtl="0" algn="l">
              <a:lnSpc>
                <a:spcPct val="100000"/>
              </a:lnSpc>
              <a:spcBef>
                <a:spcPts val="200"/>
              </a:spcBef>
              <a:spcAft>
                <a:spcPts val="0"/>
              </a:spcAft>
              <a:buSzPts val="2400"/>
              <a:buChar char="●"/>
            </a:pPr>
            <a:r>
              <a:rPr lang="en-US" sz="1400">
                <a:solidFill>
                  <a:srgbClr val="333333"/>
                </a:solidFill>
                <a:latin typeface="Arial"/>
                <a:ea typeface="Arial"/>
                <a:cs typeface="Arial"/>
                <a:sym typeface="Arial"/>
              </a:rPr>
              <a:t>If you have any enquiries during and after the class, you can contact us below</a:t>
            </a:r>
            <a:endParaRPr/>
          </a:p>
          <a:p>
            <a:pPr indent="-228600" lvl="0" marL="457200" rtl="0" algn="l">
              <a:lnSpc>
                <a:spcPct val="100000"/>
              </a:lnSpc>
              <a:spcBef>
                <a:spcPts val="800"/>
              </a:spcBef>
              <a:spcAft>
                <a:spcPts val="0"/>
              </a:spcAft>
              <a:buSzPts val="2400"/>
              <a:buNone/>
            </a:pPr>
            <a:r>
              <a:t/>
            </a:r>
            <a:endParaRPr sz="1400">
              <a:solidFill>
                <a:srgbClr val="333333"/>
              </a:solidFill>
              <a:latin typeface="Arial"/>
              <a:ea typeface="Arial"/>
              <a:cs typeface="Arial"/>
              <a:sym typeface="Arial"/>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Email: enquiry@tertiaryinfotech.com</a:t>
            </a:r>
            <a:endParaRPr/>
          </a:p>
          <a:p>
            <a:pPr indent="-317500" lvl="1" marL="914400" rtl="0" algn="l">
              <a:lnSpc>
                <a:spcPct val="100000"/>
              </a:lnSpc>
              <a:spcBef>
                <a:spcPts val="800"/>
              </a:spcBef>
              <a:spcAft>
                <a:spcPts val="0"/>
              </a:spcAft>
              <a:buSzPts val="1400"/>
              <a:buChar char="○"/>
            </a:pPr>
            <a:r>
              <a:rPr lang="en-US" sz="1200">
                <a:solidFill>
                  <a:srgbClr val="333333"/>
                </a:solidFill>
                <a:latin typeface="Arial"/>
                <a:ea typeface="Arial"/>
                <a:cs typeface="Arial"/>
                <a:sym typeface="Arial"/>
              </a:rPr>
              <a:t>Tel: +65 6318 4588</a:t>
            </a:r>
            <a:endParaRPr/>
          </a:p>
          <a:p>
            <a:pPr indent="-317500" lvl="1" marL="914400" rtl="0" algn="l">
              <a:lnSpc>
                <a:spcPct val="100000"/>
              </a:lnSpc>
              <a:spcBef>
                <a:spcPts val="800"/>
              </a:spcBef>
              <a:spcAft>
                <a:spcPts val="600"/>
              </a:spcAft>
              <a:buSzPts val="1400"/>
              <a:buChar char="○"/>
            </a:pPr>
            <a:r>
              <a:rPr lang="en-US" sz="1200">
                <a:solidFill>
                  <a:srgbClr val="333333"/>
                </a:solidFill>
                <a:latin typeface="Arial"/>
                <a:ea typeface="Arial"/>
                <a:cs typeface="Arial"/>
                <a:sym typeface="Arial"/>
              </a:rPr>
              <a:t>Website: www.tertiarycourses.com.sg</a:t>
            </a:r>
            <a:endParaRPr/>
          </a:p>
        </p:txBody>
      </p:sp>
      <p:sp>
        <p:nvSpPr>
          <p:cNvPr id="960" name="Google Shape;960;p110"/>
          <p:cNvSpPr/>
          <p:nvPr/>
        </p:nvSpPr>
        <p:spPr>
          <a:xfrm>
            <a:off x="151275" y="572700"/>
            <a:ext cx="8000000" cy="3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1" name="Google Shape;961;p110"/>
          <p:cNvSpPr/>
          <p:nvPr/>
        </p:nvSpPr>
        <p:spPr>
          <a:xfrm>
            <a:off x="300000" y="4920000"/>
            <a:ext cx="8544000" cy="10000"/>
          </a:xfrm>
          <a:prstGeom prst="rect">
            <a:avLst/>
          </a:prstGeom>
          <a:solidFill>
            <a:srgbClr val="99999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2" name="Google Shape;962;p110"/>
          <p:cNvSpPr txBox="1"/>
          <p:nvPr/>
        </p:nvSpPr>
        <p:spPr>
          <a:xfrm>
            <a:off x="100000" y="4940000"/>
            <a:ext cx="8944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700" u="none" cap="none" strike="noStrike">
                <a:solidFill>
                  <a:srgbClr val="666666"/>
                </a:solidFill>
                <a:latin typeface="Arial"/>
                <a:ea typeface="Arial"/>
                <a:cs typeface="Arial"/>
                <a:sym typeface="Arial"/>
              </a:rPr>
              <a:t>This material belongs to Tertiary Infotech Pte Ltd (UEN: 20120096W). All Rights Reserved</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66" name="Shape 966"/>
        <p:cNvGrpSpPr/>
        <p:nvPr/>
      </p:nvGrpSpPr>
      <p:grpSpPr>
        <a:xfrm>
          <a:off x="0" y="0"/>
          <a:ext cx="0" cy="0"/>
          <a:chOff x="0" y="0"/>
          <a:chExt cx="0" cy="0"/>
        </a:xfrm>
      </p:grpSpPr>
      <p:sp>
        <p:nvSpPr>
          <p:cNvPr id="967" name="Google Shape;967;p111"/>
          <p:cNvSpPr/>
          <p:nvPr/>
        </p:nvSpPr>
        <p:spPr>
          <a:xfrm>
            <a:off x="0" y="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8" name="Google Shape;968;p111"/>
          <p:cNvSpPr txBox="1"/>
          <p:nvPr/>
        </p:nvSpPr>
        <p:spPr>
          <a:xfrm>
            <a:off x="500000" y="1800000"/>
            <a:ext cx="8144000" cy="1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Thank You!</a:t>
            </a:r>
            <a:endParaRPr/>
          </a:p>
        </p:txBody>
      </p:sp>
      <p:sp>
        <p:nvSpPr>
          <p:cNvPr id="969" name="Google Shape;969;p111"/>
          <p:cNvSpPr/>
          <p:nvPr/>
        </p:nvSpPr>
        <p:spPr>
          <a:xfrm>
            <a:off x="0" y="5063500"/>
            <a:ext cx="9144000" cy="80000"/>
          </a:xfrm>
          <a:prstGeom prst="rect">
            <a:avLst/>
          </a:prstGeom>
          <a:solidFill>
            <a:srgbClr val="1ABC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aster WSQ Slides Templa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